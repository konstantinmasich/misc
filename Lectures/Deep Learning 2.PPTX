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g" ContentType="image/jpg"/>
  <Default Extension="jpe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gif" ContentType="image/gif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2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54" r:id="rId46"/>
    <p:sldId id="355" r:id="rId47"/>
    <p:sldId id="356" r:id="rId48"/>
    <p:sldId id="357" r:id="rId49"/>
    <p:sldId id="358" r:id="rId50"/>
    <p:sldId id="359" r:id="rId51"/>
    <p:sldId id="360" r:id="rId52"/>
    <p:sldId id="361" r:id="rId53"/>
    <p:sldId id="362" r:id="rId54"/>
    <p:sldId id="366" r:id="rId55"/>
    <p:sldId id="363" r:id="rId56"/>
    <p:sldId id="364" r:id="rId57"/>
    <p:sldId id="365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7" r:id="rId81"/>
    <p:sldId id="348" r:id="rId82"/>
    <p:sldId id="349" r:id="rId83"/>
    <p:sldId id="350" r:id="rId84"/>
    <p:sldId id="351" r:id="rId85"/>
    <p:sldId id="352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316"/>
  </p:normalViewPr>
  <p:slideViewPr>
    <p:cSldViewPr snapToGrid="0" snapToObjects="1">
      <p:cViewPr varScale="1">
        <p:scale>
          <a:sx n="80" d="100"/>
          <a:sy n="80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theme" Target="theme/theme1.xml"/><Relationship Id="rId91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4" Type="http://schemas.openxmlformats.org/officeDocument/2006/relationships/image" Target="../media/image5.wmf"/><Relationship Id="rId1" Type="http://schemas.openxmlformats.org/officeDocument/2006/relationships/image" Target="../media/image2.wmf"/><Relationship Id="rId2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4" Type="http://schemas.openxmlformats.org/officeDocument/2006/relationships/image" Target="../media/image59.wmf"/><Relationship Id="rId5" Type="http://schemas.openxmlformats.org/officeDocument/2006/relationships/image" Target="../media/image60.wmf"/><Relationship Id="rId6" Type="http://schemas.openxmlformats.org/officeDocument/2006/relationships/image" Target="../media/image61.wmf"/><Relationship Id="rId7" Type="http://schemas.openxmlformats.org/officeDocument/2006/relationships/image" Target="../media/image62.wmf"/><Relationship Id="rId1" Type="http://schemas.openxmlformats.org/officeDocument/2006/relationships/image" Target="../media/image56.wmf"/><Relationship Id="rId2" Type="http://schemas.openxmlformats.org/officeDocument/2006/relationships/image" Target="../media/image5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4" Type="http://schemas.openxmlformats.org/officeDocument/2006/relationships/image" Target="../media/image5.wmf"/><Relationship Id="rId1" Type="http://schemas.openxmlformats.org/officeDocument/2006/relationships/image" Target="../media/image2.wmf"/><Relationship Id="rId2" Type="http://schemas.openxmlformats.org/officeDocument/2006/relationships/image" Target="../media/image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4" Type="http://schemas.openxmlformats.org/officeDocument/2006/relationships/image" Target="../media/image66.wmf"/><Relationship Id="rId5" Type="http://schemas.openxmlformats.org/officeDocument/2006/relationships/image" Target="../media/image67.wmf"/><Relationship Id="rId6" Type="http://schemas.openxmlformats.org/officeDocument/2006/relationships/image" Target="../media/image68.wmf"/><Relationship Id="rId7" Type="http://schemas.openxmlformats.org/officeDocument/2006/relationships/image" Target="../media/image69.wmf"/><Relationship Id="rId8" Type="http://schemas.openxmlformats.org/officeDocument/2006/relationships/image" Target="../media/image70.wmf"/><Relationship Id="rId9" Type="http://schemas.openxmlformats.org/officeDocument/2006/relationships/image" Target="../media/image71.wmf"/><Relationship Id="rId10" Type="http://schemas.openxmlformats.org/officeDocument/2006/relationships/image" Target="../media/image72.wmf"/><Relationship Id="rId11" Type="http://schemas.openxmlformats.org/officeDocument/2006/relationships/image" Target="../media/image73.wmf"/><Relationship Id="rId1" Type="http://schemas.openxmlformats.org/officeDocument/2006/relationships/image" Target="../media/image62.wmf"/><Relationship Id="rId2" Type="http://schemas.openxmlformats.org/officeDocument/2006/relationships/image" Target="../media/image6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4" Type="http://schemas.openxmlformats.org/officeDocument/2006/relationships/image" Target="../media/image77.wmf"/><Relationship Id="rId5" Type="http://schemas.openxmlformats.org/officeDocument/2006/relationships/image" Target="../media/image78.wmf"/><Relationship Id="rId1" Type="http://schemas.openxmlformats.org/officeDocument/2006/relationships/image" Target="../media/image73.wmf"/><Relationship Id="rId2" Type="http://schemas.openxmlformats.org/officeDocument/2006/relationships/image" Target="../media/image7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4" Type="http://schemas.openxmlformats.org/officeDocument/2006/relationships/image" Target="../media/image83.wmf"/><Relationship Id="rId5" Type="http://schemas.openxmlformats.org/officeDocument/2006/relationships/image" Target="../media/image84.wmf"/><Relationship Id="rId6" Type="http://schemas.openxmlformats.org/officeDocument/2006/relationships/image" Target="../media/image85.wmf"/><Relationship Id="rId7" Type="http://schemas.openxmlformats.org/officeDocument/2006/relationships/image" Target="../media/image86.wmf"/><Relationship Id="rId8" Type="http://schemas.openxmlformats.org/officeDocument/2006/relationships/image" Target="../media/image87.wmf"/><Relationship Id="rId9" Type="http://schemas.openxmlformats.org/officeDocument/2006/relationships/image" Target="../media/image88.wmf"/><Relationship Id="rId1" Type="http://schemas.openxmlformats.org/officeDocument/2006/relationships/image" Target="../media/image80.wmf"/><Relationship Id="rId2" Type="http://schemas.openxmlformats.org/officeDocument/2006/relationships/image" Target="../media/image8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Relationship Id="rId2" Type="http://schemas.openxmlformats.org/officeDocument/2006/relationships/image" Target="../media/image9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DFD5F-0D47-B94F-AC83-06D028A6E451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EA6D8-0510-FB49-A13E-03AE67C52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01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</a:pPr>
            <a:fld id="{2A17743D-912F-8940-B339-1AD5721272D7}" type="slidenum">
              <a:rPr lang="en-US" altLang="ko-KR">
                <a:ea typeface="Malgun Gothic" charset="-127"/>
              </a:rPr>
              <a:pPr>
                <a:spcBef>
                  <a:spcPct val="0"/>
                </a:spcBef>
              </a:pPr>
              <a:t>2</a:t>
            </a:fld>
            <a:endParaRPr lang="en-US" altLang="ko-KR">
              <a:ea typeface="Malgun Gothic" charset="-127"/>
            </a:endParaRPr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GB" altLang="ko-KR">
              <a:latin typeface="Times New Roman" charset="0"/>
              <a:ea typeface="Malgun Gothic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8489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332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</a:pPr>
            <a:fld id="{CEA487D0-8618-7F41-B866-6A1EA5A96C19}" type="slidenum">
              <a:rPr lang="en-US" altLang="ko-KR">
                <a:ea typeface="Malgun Gothic" charset="-127"/>
              </a:rPr>
              <a:pPr>
                <a:spcBef>
                  <a:spcPct val="0"/>
                </a:spcBef>
              </a:pPr>
              <a:t>6</a:t>
            </a:fld>
            <a:endParaRPr lang="en-US" altLang="ko-KR">
              <a:ea typeface="Malgun Gothic" charset="-127"/>
            </a:endParaRPr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GB" altLang="ko-KR">
              <a:latin typeface="Times New Roman" charset="0"/>
              <a:ea typeface="Malgun Gothic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485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969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195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016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126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861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36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303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029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695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472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002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he-IL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958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1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6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55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1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5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4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2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25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B0163-E843-7B42-B5C8-8760D06484E7}" type="datetimeFigureOut">
              <a:rPr lang="en-US" smtClean="0"/>
              <a:t>12/22/16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BE53C-5644-F94C-A41F-A8B39C2186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8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.wmf"/><Relationship Id="rId12" Type="http://schemas.openxmlformats.org/officeDocument/2006/relationships/oleObject" Target="../embeddings/oleObject4.bin"/><Relationship Id="rId13" Type="http://schemas.openxmlformats.org/officeDocument/2006/relationships/image" Target="../media/image5.wmf"/><Relationship Id="rId14" Type="http://schemas.openxmlformats.org/officeDocument/2006/relationships/image" Target="../media/image8.png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2.wmf"/><Relationship Id="rId8" Type="http://schemas.openxmlformats.org/officeDocument/2006/relationships/oleObject" Target="../embeddings/oleObject2.bin"/><Relationship Id="rId9" Type="http://schemas.openxmlformats.org/officeDocument/2006/relationships/image" Target="../media/image3.wmf"/><Relationship Id="rId10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oleObject" Target="../embeddings/oleObject5.bin"/><Relationship Id="rId5" Type="http://schemas.openxmlformats.org/officeDocument/2006/relationships/image" Target="../media/image9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4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33.jpg"/><Relationship Id="rId10" Type="http://schemas.openxmlformats.org/officeDocument/2006/relationships/image" Target="../media/image32.jpg"/><Relationship Id="rId11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35.jpg"/><Relationship Id="rId10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41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41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41.jpg"/><Relationship Id="rId6" Type="http://schemas.openxmlformats.org/officeDocument/2006/relationships/image" Target="../media/image39.jpg"/><Relationship Id="rId7" Type="http://schemas.openxmlformats.org/officeDocument/2006/relationships/image" Target="../media/image40.jp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Relationship Id="rId3" Type="http://schemas.openxmlformats.org/officeDocument/2006/relationships/image" Target="../media/image4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4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4" Type="http://schemas.openxmlformats.org/officeDocument/2006/relationships/image" Target="../media/image54.jpeg"/><Relationship Id="rId5" Type="http://schemas.openxmlformats.org/officeDocument/2006/relationships/oleObject" Target="../embeddings/oleObject6.bin"/><Relationship Id="rId6" Type="http://schemas.openxmlformats.org/officeDocument/2006/relationships/image" Target="../media/image55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10.bin"/><Relationship Id="rId12" Type="http://schemas.openxmlformats.org/officeDocument/2006/relationships/image" Target="../media/image59.wmf"/><Relationship Id="rId13" Type="http://schemas.openxmlformats.org/officeDocument/2006/relationships/oleObject" Target="../embeddings/oleObject11.bin"/><Relationship Id="rId14" Type="http://schemas.openxmlformats.org/officeDocument/2006/relationships/image" Target="../media/image60.wmf"/><Relationship Id="rId15" Type="http://schemas.openxmlformats.org/officeDocument/2006/relationships/oleObject" Target="../embeddings/oleObject12.bin"/><Relationship Id="rId16" Type="http://schemas.openxmlformats.org/officeDocument/2006/relationships/image" Target="../media/image61.wmf"/><Relationship Id="rId17" Type="http://schemas.openxmlformats.org/officeDocument/2006/relationships/oleObject" Target="../embeddings/oleObject13.bin"/><Relationship Id="rId18" Type="http://schemas.openxmlformats.org/officeDocument/2006/relationships/image" Target="../media/image62.wmf"/><Relationship Id="rId19" Type="http://schemas.openxmlformats.org/officeDocument/2006/relationships/image" Target="../media/image64.png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63.png"/><Relationship Id="rId5" Type="http://schemas.openxmlformats.org/officeDocument/2006/relationships/oleObject" Target="../embeddings/oleObject7.bin"/><Relationship Id="rId6" Type="http://schemas.openxmlformats.org/officeDocument/2006/relationships/image" Target="../media/image56.wmf"/><Relationship Id="rId7" Type="http://schemas.openxmlformats.org/officeDocument/2006/relationships/oleObject" Target="../embeddings/oleObject8.bin"/><Relationship Id="rId8" Type="http://schemas.openxmlformats.org/officeDocument/2006/relationships/image" Target="../media/image57.wmf"/><Relationship Id="rId9" Type="http://schemas.openxmlformats.org/officeDocument/2006/relationships/oleObject" Target="../embeddings/oleObject9.bin"/><Relationship Id="rId10" Type="http://schemas.openxmlformats.org/officeDocument/2006/relationships/image" Target="../media/image58.wmf"/></Relationships>
</file>

<file path=ppt/slides/_rels/slide4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.wmf"/><Relationship Id="rId12" Type="http://schemas.openxmlformats.org/officeDocument/2006/relationships/oleObject" Target="../embeddings/oleObject17.bin"/><Relationship Id="rId13" Type="http://schemas.openxmlformats.org/officeDocument/2006/relationships/image" Target="../media/image5.wmf"/><Relationship Id="rId14" Type="http://schemas.openxmlformats.org/officeDocument/2006/relationships/image" Target="../media/image8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oleObject" Target="../embeddings/oleObject14.bin"/><Relationship Id="rId7" Type="http://schemas.openxmlformats.org/officeDocument/2006/relationships/image" Target="../media/image2.wmf"/><Relationship Id="rId8" Type="http://schemas.openxmlformats.org/officeDocument/2006/relationships/oleObject" Target="../embeddings/oleObject15.bin"/><Relationship Id="rId9" Type="http://schemas.openxmlformats.org/officeDocument/2006/relationships/image" Target="../media/image3.wmf"/><Relationship Id="rId10" Type="http://schemas.openxmlformats.org/officeDocument/2006/relationships/oleObject" Target="../embeddings/oleObject16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20" Type="http://schemas.openxmlformats.org/officeDocument/2006/relationships/oleObject" Target="../embeddings/oleObject25.bin"/><Relationship Id="rId21" Type="http://schemas.openxmlformats.org/officeDocument/2006/relationships/image" Target="../media/image70.wmf"/><Relationship Id="rId22" Type="http://schemas.openxmlformats.org/officeDocument/2006/relationships/oleObject" Target="../embeddings/oleObject26.bin"/><Relationship Id="rId23" Type="http://schemas.openxmlformats.org/officeDocument/2006/relationships/image" Target="../media/image71.wmf"/><Relationship Id="rId24" Type="http://schemas.openxmlformats.org/officeDocument/2006/relationships/oleObject" Target="../embeddings/oleObject27.bin"/><Relationship Id="rId25" Type="http://schemas.openxmlformats.org/officeDocument/2006/relationships/image" Target="../media/image72.wmf"/><Relationship Id="rId26" Type="http://schemas.openxmlformats.org/officeDocument/2006/relationships/oleObject" Target="../embeddings/oleObject28.bin"/><Relationship Id="rId27" Type="http://schemas.openxmlformats.org/officeDocument/2006/relationships/image" Target="../media/image73.wmf"/><Relationship Id="rId10" Type="http://schemas.openxmlformats.org/officeDocument/2006/relationships/oleObject" Target="../embeddings/oleObject21.bin"/><Relationship Id="rId11" Type="http://schemas.openxmlformats.org/officeDocument/2006/relationships/image" Target="../media/image66.wmf"/><Relationship Id="rId12" Type="http://schemas.openxmlformats.org/officeDocument/2006/relationships/oleObject" Target="../embeddings/oleObject22.bin"/><Relationship Id="rId13" Type="http://schemas.openxmlformats.org/officeDocument/2006/relationships/image" Target="../media/image67.wmf"/><Relationship Id="rId14" Type="http://schemas.openxmlformats.org/officeDocument/2006/relationships/oleObject" Target="../embeddings/oleObject23.bin"/><Relationship Id="rId15" Type="http://schemas.openxmlformats.org/officeDocument/2006/relationships/image" Target="../media/image68.wmf"/><Relationship Id="rId16" Type="http://schemas.openxmlformats.org/officeDocument/2006/relationships/oleObject" Target="../embeddings/oleObject24.bin"/><Relationship Id="rId17" Type="http://schemas.openxmlformats.org/officeDocument/2006/relationships/image" Target="../media/image69.wmf"/><Relationship Id="rId18" Type="http://schemas.openxmlformats.org/officeDocument/2006/relationships/image" Target="../media/image74.gif"/><Relationship Id="rId19" Type="http://schemas.openxmlformats.org/officeDocument/2006/relationships/image" Target="http://sund.de/netze/applets/BPN/bpn2/neuron.gif" TargetMode="External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62.wmf"/><Relationship Id="rId6" Type="http://schemas.openxmlformats.org/officeDocument/2006/relationships/oleObject" Target="../embeddings/oleObject19.bin"/><Relationship Id="rId7" Type="http://schemas.openxmlformats.org/officeDocument/2006/relationships/image" Target="../media/image65.wmf"/><Relationship Id="rId8" Type="http://schemas.openxmlformats.org/officeDocument/2006/relationships/oleObject" Target="../embeddings/oleObject20.bin"/></Relationships>
</file>

<file path=ppt/slides/_rels/slide50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32.bin"/><Relationship Id="rId12" Type="http://schemas.openxmlformats.org/officeDocument/2006/relationships/oleObject" Target="../embeddings/oleObject33.bin"/><Relationship Id="rId13" Type="http://schemas.openxmlformats.org/officeDocument/2006/relationships/oleObject" Target="../embeddings/oleObject34.bin"/><Relationship Id="rId14" Type="http://schemas.openxmlformats.org/officeDocument/2006/relationships/image" Target="../media/image77.wmf"/><Relationship Id="rId15" Type="http://schemas.openxmlformats.org/officeDocument/2006/relationships/oleObject" Target="../embeddings/oleObject35.bin"/><Relationship Id="rId16" Type="http://schemas.openxmlformats.org/officeDocument/2006/relationships/image" Target="../media/image78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Relationship Id="rId4" Type="http://schemas.openxmlformats.org/officeDocument/2006/relationships/oleObject" Target="../embeddings/oleObject29.bin"/><Relationship Id="rId5" Type="http://schemas.openxmlformats.org/officeDocument/2006/relationships/image" Target="../media/image73.wmf"/><Relationship Id="rId6" Type="http://schemas.openxmlformats.org/officeDocument/2006/relationships/oleObject" Target="../embeddings/oleObject30.bin"/><Relationship Id="rId7" Type="http://schemas.openxmlformats.org/officeDocument/2006/relationships/image" Target="../media/image75.wmf"/><Relationship Id="rId8" Type="http://schemas.openxmlformats.org/officeDocument/2006/relationships/image" Target="../media/image79.png"/><Relationship Id="rId9" Type="http://schemas.openxmlformats.org/officeDocument/2006/relationships/oleObject" Target="../embeddings/oleObject31.bin"/><Relationship Id="rId10" Type="http://schemas.openxmlformats.org/officeDocument/2006/relationships/image" Target="../media/image76.wmf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wmf"/><Relationship Id="rId20" Type="http://schemas.openxmlformats.org/officeDocument/2006/relationships/oleObject" Target="../embeddings/oleObject44.bin"/><Relationship Id="rId21" Type="http://schemas.openxmlformats.org/officeDocument/2006/relationships/image" Target="../media/image88.wmf"/><Relationship Id="rId10" Type="http://schemas.openxmlformats.org/officeDocument/2006/relationships/oleObject" Target="../embeddings/oleObject39.bin"/><Relationship Id="rId11" Type="http://schemas.openxmlformats.org/officeDocument/2006/relationships/image" Target="../media/image83.wmf"/><Relationship Id="rId12" Type="http://schemas.openxmlformats.org/officeDocument/2006/relationships/oleObject" Target="../embeddings/oleObject40.bin"/><Relationship Id="rId13" Type="http://schemas.openxmlformats.org/officeDocument/2006/relationships/image" Target="../media/image84.wmf"/><Relationship Id="rId14" Type="http://schemas.openxmlformats.org/officeDocument/2006/relationships/oleObject" Target="../embeddings/oleObject41.bin"/><Relationship Id="rId15" Type="http://schemas.openxmlformats.org/officeDocument/2006/relationships/image" Target="../media/image85.wmf"/><Relationship Id="rId16" Type="http://schemas.openxmlformats.org/officeDocument/2006/relationships/oleObject" Target="../embeddings/oleObject42.bin"/><Relationship Id="rId17" Type="http://schemas.openxmlformats.org/officeDocument/2006/relationships/image" Target="../media/image86.wmf"/><Relationship Id="rId18" Type="http://schemas.openxmlformats.org/officeDocument/2006/relationships/oleObject" Target="../embeddings/oleObject43.bin"/><Relationship Id="rId19" Type="http://schemas.openxmlformats.org/officeDocument/2006/relationships/image" Target="../media/image87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Relationship Id="rId4" Type="http://schemas.openxmlformats.org/officeDocument/2006/relationships/oleObject" Target="../embeddings/oleObject36.bin"/><Relationship Id="rId5" Type="http://schemas.openxmlformats.org/officeDocument/2006/relationships/image" Target="../media/image80.wmf"/><Relationship Id="rId6" Type="http://schemas.openxmlformats.org/officeDocument/2006/relationships/oleObject" Target="../embeddings/oleObject37.bin"/><Relationship Id="rId7" Type="http://schemas.openxmlformats.org/officeDocument/2006/relationships/image" Target="../media/image81.wmf"/><Relationship Id="rId8" Type="http://schemas.openxmlformats.org/officeDocument/2006/relationships/oleObject" Target="../embeddings/oleObject38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4" Type="http://schemas.openxmlformats.org/officeDocument/2006/relationships/oleObject" Target="../embeddings/oleObject45.bin"/><Relationship Id="rId5" Type="http://schemas.openxmlformats.org/officeDocument/2006/relationships/image" Target="../media/image89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oleObject46.bin"/><Relationship Id="rId5" Type="http://schemas.openxmlformats.org/officeDocument/2006/relationships/image" Target="../media/image91.w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47.bin"/><Relationship Id="rId5" Type="http://schemas.openxmlformats.org/officeDocument/2006/relationships/image" Target="../media/image92.wmf"/><Relationship Id="rId6" Type="http://schemas.openxmlformats.org/officeDocument/2006/relationships/oleObject" Target="../embeddings/oleObject48.bin"/><Relationship Id="rId7" Type="http://schemas.openxmlformats.org/officeDocument/2006/relationships/image" Target="../media/image93.wmf"/><Relationship Id="rId8" Type="http://schemas.openxmlformats.org/officeDocument/2006/relationships/oleObject" Target="../embeddings/oleObject49.bin"/><Relationship Id="rId9" Type="http://schemas.openxmlformats.org/officeDocument/2006/relationships/oleObject" Target="../embeddings/oleObject50.bin"/><Relationship Id="rId10" Type="http://schemas.openxmlformats.org/officeDocument/2006/relationships/oleObject" Target="../embeddings/oleObject51.bin"/><Relationship Id="rId11" Type="http://schemas.openxmlformats.org/officeDocument/2006/relationships/oleObject" Target="../embeddings/oleObject52.bin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4" Type="http://schemas.openxmlformats.org/officeDocument/2006/relationships/oleObject" Target="../embeddings/oleObject53.bin"/><Relationship Id="rId5" Type="http://schemas.openxmlformats.org/officeDocument/2006/relationships/image" Target="../media/image94.w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Relationship Id="rId3" Type="http://schemas.openxmlformats.org/officeDocument/2006/relationships/image" Target="../media/image95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4" Type="http://schemas.openxmlformats.org/officeDocument/2006/relationships/image" Target="../media/image98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jp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9.jpg"/><Relationship Id="rId3" Type="http://schemas.openxmlformats.org/officeDocument/2006/relationships/image" Target="../media/image100.jp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jpg"/><Relationship Id="rId3" Type="http://schemas.openxmlformats.org/officeDocument/2006/relationships/image" Target="../media/image102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4" Type="http://schemas.openxmlformats.org/officeDocument/2006/relationships/image" Target="../media/image103.jpg"/><Relationship Id="rId5" Type="http://schemas.openxmlformats.org/officeDocument/2006/relationships/image" Target="../media/image104.jpg"/><Relationship Id="rId6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jp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Relationship Id="rId3" Type="http://schemas.openxmlformats.org/officeDocument/2006/relationships/image" Target="../media/image107.jp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8.jpg"/><Relationship Id="rId3" Type="http://schemas.openxmlformats.org/officeDocument/2006/relationships/image" Target="../media/image109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4" Type="http://schemas.openxmlformats.org/officeDocument/2006/relationships/image" Target="../media/image111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jp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jp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3.jpg"/><Relationship Id="rId3" Type="http://schemas.openxmlformats.org/officeDocument/2006/relationships/image" Target="../media/image114.jp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jp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jpg"/><Relationship Id="rId3" Type="http://schemas.openxmlformats.org/officeDocument/2006/relationships/image" Target="../media/image116.jp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jpg"/><Relationship Id="rId3" Type="http://schemas.openxmlformats.org/officeDocument/2006/relationships/image" Target="../media/image116.jp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g"/><Relationship Id="rId4" Type="http://schemas.openxmlformats.org/officeDocument/2006/relationships/image" Target="../media/image117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jp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g"/><Relationship Id="rId4" Type="http://schemas.openxmlformats.org/officeDocument/2006/relationships/image" Target="../media/image118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5.jp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jpg"/><Relationship Id="rId3" Type="http://schemas.openxmlformats.org/officeDocument/2006/relationships/hyperlink" Target="http://iamtrask.github.io/2015/07/12/basic-python-network/" TargetMode="Externa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g"/><Relationship Id="rId4" Type="http://schemas.openxmlformats.org/officeDocument/2006/relationships/image" Target="../media/image123.jpg"/><Relationship Id="rId5" Type="http://schemas.openxmlformats.org/officeDocument/2006/relationships/image" Target="../media/image124.jpg"/><Relationship Id="rId6" Type="http://schemas.openxmlformats.org/officeDocument/2006/relationships/image" Target="../media/image125.jpg"/><Relationship Id="rId7" Type="http://schemas.openxmlformats.org/officeDocument/2006/relationships/image" Target="../media/image126.jpg"/><Relationship Id="rId8" Type="http://schemas.openxmlformats.org/officeDocument/2006/relationships/image" Target="../media/image127.jpg"/><Relationship Id="rId9" Type="http://schemas.openxmlformats.org/officeDocument/2006/relationships/image" Target="../media/image128.jp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1.jp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jpg"/><Relationship Id="rId3" Type="http://schemas.openxmlformats.org/officeDocument/2006/relationships/image" Target="../media/image130.jp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jp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jpg"/><Relationship Id="rId3" Type="http://schemas.openxmlformats.org/officeDocument/2006/relationships/image" Target="../media/image132.jp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jp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jpg"/><Relationship Id="rId3" Type="http://schemas.openxmlformats.org/officeDocument/2006/relationships/hyperlink" Target="http://cs.stanford.edu/people/karpathy/convnetjs/demo/classify2d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BACK - PROPAGATION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293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1" y="457200"/>
            <a:ext cx="5699125" cy="609600"/>
          </a:xfrm>
        </p:spPr>
        <p:txBody>
          <a:bodyPr>
            <a:normAutofit fontScale="90000"/>
          </a:bodyPr>
          <a:lstStyle/>
          <a:p>
            <a:r>
              <a:rPr lang="en-US" altLang="ko-KR">
                <a:ea typeface="Gulim" charset="-127"/>
              </a:rPr>
              <a:t>multi-layer perceptron</a:t>
            </a:r>
          </a:p>
        </p:txBody>
      </p:sp>
      <p:sp>
        <p:nvSpPr>
          <p:cNvPr id="67586" name="Rectangle 99"/>
          <p:cNvSpPr>
            <a:spLocks noGrp="1" noChangeArrowheads="1"/>
          </p:cNvSpPr>
          <p:nvPr>
            <p:ph type="body" idx="1"/>
          </p:nvPr>
        </p:nvSpPr>
        <p:spPr>
          <a:xfrm>
            <a:off x="1981200" y="1265238"/>
            <a:ext cx="4114800" cy="4221162"/>
          </a:xfrm>
        </p:spPr>
        <p:txBody>
          <a:bodyPr/>
          <a:lstStyle/>
          <a:p>
            <a:r>
              <a:rPr lang="en-US" altLang="ko-KR">
                <a:ea typeface="Gulim" charset="-127"/>
              </a:rPr>
              <a:t>One or more hidden layers</a:t>
            </a:r>
          </a:p>
          <a:p>
            <a:r>
              <a:rPr lang="en-US" altLang="ko-KR">
                <a:ea typeface="Gulim" charset="-127"/>
              </a:rPr>
              <a:t>Sigmoid activations functions</a:t>
            </a:r>
          </a:p>
          <a:p>
            <a:endParaRPr lang="en-GB" altLang="ko-KR">
              <a:ea typeface="Gulim" charset="-127"/>
            </a:endParaRPr>
          </a:p>
        </p:txBody>
      </p:sp>
      <p:grpSp>
        <p:nvGrpSpPr>
          <p:cNvPr id="67587" name="Group 97"/>
          <p:cNvGrpSpPr>
            <a:grpSpLocks/>
          </p:cNvGrpSpPr>
          <p:nvPr/>
        </p:nvGrpSpPr>
        <p:grpSpPr bwMode="auto">
          <a:xfrm>
            <a:off x="6096000" y="1295400"/>
            <a:ext cx="4464050" cy="4273550"/>
            <a:chOff x="-23" y="1344"/>
            <a:chExt cx="2812" cy="2692"/>
          </a:xfrm>
        </p:grpSpPr>
        <p:sp>
          <p:nvSpPr>
            <p:cNvPr id="67588" name="Text Box 90"/>
            <p:cNvSpPr txBox="1">
              <a:spLocks noChangeArrowheads="1"/>
            </p:cNvSpPr>
            <p:nvPr/>
          </p:nvSpPr>
          <p:spPr bwMode="auto">
            <a:xfrm>
              <a:off x="0" y="2754"/>
              <a:ext cx="97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r" rtl="1">
                <a:spcBef>
                  <a:spcPct val="0"/>
                </a:spcBef>
                <a:buFontTx/>
                <a:buNone/>
              </a:pPr>
              <a:r>
                <a:rPr lang="en-US" altLang="ko-KR" sz="1800">
                  <a:latin typeface="Arial" charset="0"/>
                  <a:ea typeface="Gulim" charset="-127"/>
                </a:rPr>
                <a:t>1st hidden </a:t>
              </a:r>
            </a:p>
            <a:p>
              <a:pPr algn="r" rtl="1">
                <a:spcBef>
                  <a:spcPct val="0"/>
                </a:spcBef>
                <a:buFontTx/>
                <a:buNone/>
              </a:pPr>
              <a:r>
                <a:rPr lang="en-US" altLang="ko-KR" sz="1800">
                  <a:latin typeface="Arial" charset="0"/>
                  <a:ea typeface="Gulim" charset="-127"/>
                </a:rPr>
                <a:t>layer</a:t>
              </a:r>
            </a:p>
          </p:txBody>
        </p:sp>
        <p:sp>
          <p:nvSpPr>
            <p:cNvPr id="67589" name="Text Box 91"/>
            <p:cNvSpPr txBox="1">
              <a:spLocks noChangeArrowheads="1"/>
            </p:cNvSpPr>
            <p:nvPr/>
          </p:nvSpPr>
          <p:spPr bwMode="auto">
            <a:xfrm>
              <a:off x="0" y="2169"/>
              <a:ext cx="97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r" rtl="1">
                <a:spcBef>
                  <a:spcPct val="0"/>
                </a:spcBef>
                <a:buFontTx/>
                <a:buNone/>
              </a:pPr>
              <a:r>
                <a:rPr lang="en-US" altLang="ko-KR" sz="1800">
                  <a:latin typeface="Arial" charset="0"/>
                  <a:ea typeface="Gulim" charset="-127"/>
                </a:rPr>
                <a:t>2nd hidden</a:t>
              </a:r>
            </a:p>
            <a:p>
              <a:pPr algn="r" rtl="1">
                <a:spcBef>
                  <a:spcPct val="0"/>
                </a:spcBef>
                <a:buFontTx/>
                <a:buNone/>
              </a:pPr>
              <a:r>
                <a:rPr lang="en-US" altLang="ko-KR" sz="1800">
                  <a:latin typeface="Arial" charset="0"/>
                  <a:ea typeface="Gulim" charset="-127"/>
                </a:rPr>
                <a:t>layer</a:t>
              </a:r>
            </a:p>
          </p:txBody>
        </p:sp>
        <p:sp>
          <p:nvSpPr>
            <p:cNvPr id="67590" name="Text Box 92"/>
            <p:cNvSpPr txBox="1">
              <a:spLocks noChangeArrowheads="1"/>
            </p:cNvSpPr>
            <p:nvPr/>
          </p:nvSpPr>
          <p:spPr bwMode="auto">
            <a:xfrm>
              <a:off x="-23" y="1666"/>
              <a:ext cx="97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r" rtl="1">
                <a:spcBef>
                  <a:spcPct val="0"/>
                </a:spcBef>
                <a:buFontTx/>
                <a:buNone/>
              </a:pPr>
              <a:r>
                <a:rPr lang="en-US" altLang="ko-KR" sz="1800">
                  <a:latin typeface="Arial" charset="0"/>
                  <a:ea typeface="Gulim" charset="-127"/>
                </a:rPr>
                <a:t>Output layer</a:t>
              </a:r>
            </a:p>
          </p:txBody>
        </p:sp>
        <p:grpSp>
          <p:nvGrpSpPr>
            <p:cNvPr id="67591" name="Group 96"/>
            <p:cNvGrpSpPr>
              <a:grpSpLocks/>
            </p:cNvGrpSpPr>
            <p:nvPr/>
          </p:nvGrpSpPr>
          <p:grpSpPr bwMode="auto">
            <a:xfrm>
              <a:off x="476" y="1344"/>
              <a:ext cx="2313" cy="2313"/>
              <a:chOff x="476" y="1344"/>
              <a:chExt cx="2313" cy="2313"/>
            </a:xfrm>
          </p:grpSpPr>
          <p:sp>
            <p:nvSpPr>
              <p:cNvPr id="67593" name="Oval 4"/>
              <p:cNvSpPr>
                <a:spLocks noChangeArrowheads="1"/>
              </p:cNvSpPr>
              <p:nvPr/>
            </p:nvSpPr>
            <p:spPr bwMode="auto">
              <a:xfrm>
                <a:off x="839" y="2750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594" name="Oval 5"/>
              <p:cNvSpPr>
                <a:spLocks noChangeArrowheads="1"/>
              </p:cNvSpPr>
              <p:nvPr/>
            </p:nvSpPr>
            <p:spPr bwMode="auto">
              <a:xfrm>
                <a:off x="1202" y="2750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595" name="Oval 6"/>
              <p:cNvSpPr>
                <a:spLocks noChangeArrowheads="1"/>
              </p:cNvSpPr>
              <p:nvPr/>
            </p:nvSpPr>
            <p:spPr bwMode="auto">
              <a:xfrm>
                <a:off x="1565" y="2750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596" name="Oval 7"/>
              <p:cNvSpPr>
                <a:spLocks noChangeArrowheads="1"/>
              </p:cNvSpPr>
              <p:nvPr/>
            </p:nvSpPr>
            <p:spPr bwMode="auto">
              <a:xfrm>
                <a:off x="1973" y="2750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597" name="Oval 8"/>
              <p:cNvSpPr>
                <a:spLocks noChangeArrowheads="1"/>
              </p:cNvSpPr>
              <p:nvPr/>
            </p:nvSpPr>
            <p:spPr bwMode="auto">
              <a:xfrm>
                <a:off x="2381" y="2750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598" name="Oval 9"/>
              <p:cNvSpPr>
                <a:spLocks noChangeArrowheads="1"/>
              </p:cNvSpPr>
              <p:nvPr/>
            </p:nvSpPr>
            <p:spPr bwMode="auto">
              <a:xfrm>
                <a:off x="839" y="2206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599" name="Oval 10"/>
              <p:cNvSpPr>
                <a:spLocks noChangeArrowheads="1"/>
              </p:cNvSpPr>
              <p:nvPr/>
            </p:nvSpPr>
            <p:spPr bwMode="auto">
              <a:xfrm>
                <a:off x="1202" y="2206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00" name="Oval 11"/>
              <p:cNvSpPr>
                <a:spLocks noChangeArrowheads="1"/>
              </p:cNvSpPr>
              <p:nvPr/>
            </p:nvSpPr>
            <p:spPr bwMode="auto">
              <a:xfrm>
                <a:off x="1565" y="2206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01" name="Oval 12"/>
              <p:cNvSpPr>
                <a:spLocks noChangeArrowheads="1"/>
              </p:cNvSpPr>
              <p:nvPr/>
            </p:nvSpPr>
            <p:spPr bwMode="auto">
              <a:xfrm>
                <a:off x="1973" y="2206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02" name="Oval 13"/>
              <p:cNvSpPr>
                <a:spLocks noChangeArrowheads="1"/>
              </p:cNvSpPr>
              <p:nvPr/>
            </p:nvSpPr>
            <p:spPr bwMode="auto">
              <a:xfrm>
                <a:off x="2381" y="2206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03" name="Rectangle 14"/>
              <p:cNvSpPr>
                <a:spLocks noChangeArrowheads="1"/>
              </p:cNvSpPr>
              <p:nvPr/>
            </p:nvSpPr>
            <p:spPr bwMode="auto">
              <a:xfrm>
                <a:off x="476" y="3476"/>
                <a:ext cx="181" cy="181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04" name="Rectangle 15"/>
              <p:cNvSpPr>
                <a:spLocks noChangeArrowheads="1"/>
              </p:cNvSpPr>
              <p:nvPr/>
            </p:nvSpPr>
            <p:spPr bwMode="auto">
              <a:xfrm>
                <a:off x="794" y="3476"/>
                <a:ext cx="181" cy="181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05" name="Rectangle 16"/>
              <p:cNvSpPr>
                <a:spLocks noChangeArrowheads="1"/>
              </p:cNvSpPr>
              <p:nvPr/>
            </p:nvSpPr>
            <p:spPr bwMode="auto">
              <a:xfrm>
                <a:off x="1157" y="3476"/>
                <a:ext cx="181" cy="181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06" name="Rectangle 17"/>
              <p:cNvSpPr>
                <a:spLocks noChangeArrowheads="1"/>
              </p:cNvSpPr>
              <p:nvPr/>
            </p:nvSpPr>
            <p:spPr bwMode="auto">
              <a:xfrm>
                <a:off x="1520" y="3476"/>
                <a:ext cx="181" cy="181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07" name="Rectangle 18"/>
              <p:cNvSpPr>
                <a:spLocks noChangeArrowheads="1"/>
              </p:cNvSpPr>
              <p:nvPr/>
            </p:nvSpPr>
            <p:spPr bwMode="auto">
              <a:xfrm>
                <a:off x="1883" y="3476"/>
                <a:ext cx="181" cy="181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08" name="Rectangle 19"/>
              <p:cNvSpPr>
                <a:spLocks noChangeArrowheads="1"/>
              </p:cNvSpPr>
              <p:nvPr/>
            </p:nvSpPr>
            <p:spPr bwMode="auto">
              <a:xfrm>
                <a:off x="2245" y="3476"/>
                <a:ext cx="181" cy="181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09" name="Rectangle 20"/>
              <p:cNvSpPr>
                <a:spLocks noChangeArrowheads="1"/>
              </p:cNvSpPr>
              <p:nvPr/>
            </p:nvSpPr>
            <p:spPr bwMode="auto">
              <a:xfrm>
                <a:off x="2608" y="3476"/>
                <a:ext cx="181" cy="181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10" name="Oval 21"/>
              <p:cNvSpPr>
                <a:spLocks noChangeArrowheads="1"/>
              </p:cNvSpPr>
              <p:nvPr/>
            </p:nvSpPr>
            <p:spPr bwMode="auto">
              <a:xfrm>
                <a:off x="1383" y="1662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11" name="Oval 22"/>
              <p:cNvSpPr>
                <a:spLocks noChangeArrowheads="1"/>
              </p:cNvSpPr>
              <p:nvPr/>
            </p:nvSpPr>
            <p:spPr bwMode="auto">
              <a:xfrm>
                <a:off x="1791" y="1662"/>
                <a:ext cx="272" cy="272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67612" name="Line 23"/>
              <p:cNvSpPr>
                <a:spLocks noChangeShapeType="1"/>
              </p:cNvSpPr>
              <p:nvPr/>
            </p:nvSpPr>
            <p:spPr bwMode="auto">
              <a:xfrm flipV="1">
                <a:off x="975" y="1933"/>
                <a:ext cx="544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13" name="Line 24"/>
              <p:cNvSpPr>
                <a:spLocks noChangeShapeType="1"/>
              </p:cNvSpPr>
              <p:nvPr/>
            </p:nvSpPr>
            <p:spPr bwMode="auto">
              <a:xfrm flipV="1">
                <a:off x="1383" y="1933"/>
                <a:ext cx="136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14" name="Line 25"/>
              <p:cNvSpPr>
                <a:spLocks noChangeShapeType="1"/>
              </p:cNvSpPr>
              <p:nvPr/>
            </p:nvSpPr>
            <p:spPr bwMode="auto">
              <a:xfrm flipV="1">
                <a:off x="1383" y="1933"/>
                <a:ext cx="544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15" name="Line 26"/>
              <p:cNvSpPr>
                <a:spLocks noChangeShapeType="1"/>
              </p:cNvSpPr>
              <p:nvPr/>
            </p:nvSpPr>
            <p:spPr bwMode="auto">
              <a:xfrm flipH="1" flipV="1">
                <a:off x="1519" y="1933"/>
                <a:ext cx="18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16" name="Line 27"/>
              <p:cNvSpPr>
                <a:spLocks noChangeShapeType="1"/>
              </p:cNvSpPr>
              <p:nvPr/>
            </p:nvSpPr>
            <p:spPr bwMode="auto">
              <a:xfrm flipH="1" flipV="1">
                <a:off x="1519" y="1933"/>
                <a:ext cx="59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17" name="Line 28"/>
              <p:cNvSpPr>
                <a:spLocks noChangeShapeType="1"/>
              </p:cNvSpPr>
              <p:nvPr/>
            </p:nvSpPr>
            <p:spPr bwMode="auto">
              <a:xfrm flipH="1" flipV="1">
                <a:off x="1519" y="1933"/>
                <a:ext cx="998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18" name="Line 29"/>
              <p:cNvSpPr>
                <a:spLocks noChangeShapeType="1"/>
              </p:cNvSpPr>
              <p:nvPr/>
            </p:nvSpPr>
            <p:spPr bwMode="auto">
              <a:xfrm flipV="1">
                <a:off x="975" y="1933"/>
                <a:ext cx="95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19" name="Line 30"/>
              <p:cNvSpPr>
                <a:spLocks noChangeShapeType="1"/>
              </p:cNvSpPr>
              <p:nvPr/>
            </p:nvSpPr>
            <p:spPr bwMode="auto">
              <a:xfrm flipV="1">
                <a:off x="1701" y="1933"/>
                <a:ext cx="226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20" name="Line 31"/>
              <p:cNvSpPr>
                <a:spLocks noChangeShapeType="1"/>
              </p:cNvSpPr>
              <p:nvPr/>
            </p:nvSpPr>
            <p:spPr bwMode="auto">
              <a:xfrm flipH="1" flipV="1">
                <a:off x="1927" y="1933"/>
                <a:ext cx="18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21" name="Line 32"/>
              <p:cNvSpPr>
                <a:spLocks noChangeShapeType="1"/>
              </p:cNvSpPr>
              <p:nvPr/>
            </p:nvSpPr>
            <p:spPr bwMode="auto">
              <a:xfrm flipH="1" flipV="1">
                <a:off x="1927" y="1933"/>
                <a:ext cx="59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22" name="Line 33"/>
              <p:cNvSpPr>
                <a:spLocks noChangeShapeType="1"/>
              </p:cNvSpPr>
              <p:nvPr/>
            </p:nvSpPr>
            <p:spPr bwMode="auto">
              <a:xfrm flipV="1">
                <a:off x="567" y="3022"/>
                <a:ext cx="408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23" name="Line 34"/>
              <p:cNvSpPr>
                <a:spLocks noChangeShapeType="1"/>
              </p:cNvSpPr>
              <p:nvPr/>
            </p:nvSpPr>
            <p:spPr bwMode="auto">
              <a:xfrm flipV="1">
                <a:off x="567" y="3022"/>
                <a:ext cx="771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24" name="Line 35"/>
              <p:cNvSpPr>
                <a:spLocks noChangeShapeType="1"/>
              </p:cNvSpPr>
              <p:nvPr/>
            </p:nvSpPr>
            <p:spPr bwMode="auto">
              <a:xfrm flipV="1">
                <a:off x="567" y="3022"/>
                <a:ext cx="1134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25" name="Line 36"/>
              <p:cNvSpPr>
                <a:spLocks noChangeShapeType="1"/>
              </p:cNvSpPr>
              <p:nvPr/>
            </p:nvSpPr>
            <p:spPr bwMode="auto">
              <a:xfrm flipV="1">
                <a:off x="612" y="3022"/>
                <a:ext cx="1497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26" name="Line 37"/>
              <p:cNvSpPr>
                <a:spLocks noChangeShapeType="1"/>
              </p:cNvSpPr>
              <p:nvPr/>
            </p:nvSpPr>
            <p:spPr bwMode="auto">
              <a:xfrm flipV="1">
                <a:off x="612" y="3022"/>
                <a:ext cx="1905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27" name="Line 38"/>
              <p:cNvSpPr>
                <a:spLocks noChangeShapeType="1"/>
              </p:cNvSpPr>
              <p:nvPr/>
            </p:nvSpPr>
            <p:spPr bwMode="auto">
              <a:xfrm flipH="1" flipV="1">
                <a:off x="975" y="3022"/>
                <a:ext cx="1724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28" name="Line 39"/>
              <p:cNvSpPr>
                <a:spLocks noChangeShapeType="1"/>
              </p:cNvSpPr>
              <p:nvPr/>
            </p:nvSpPr>
            <p:spPr bwMode="auto">
              <a:xfrm flipH="1" flipV="1">
                <a:off x="1338" y="3022"/>
                <a:ext cx="1361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29" name="Line 40"/>
              <p:cNvSpPr>
                <a:spLocks noChangeShapeType="1"/>
              </p:cNvSpPr>
              <p:nvPr/>
            </p:nvSpPr>
            <p:spPr bwMode="auto">
              <a:xfrm flipH="1" flipV="1">
                <a:off x="1701" y="3022"/>
                <a:ext cx="998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30" name="Line 41"/>
              <p:cNvSpPr>
                <a:spLocks noChangeShapeType="1"/>
              </p:cNvSpPr>
              <p:nvPr/>
            </p:nvSpPr>
            <p:spPr bwMode="auto">
              <a:xfrm flipH="1" flipV="1">
                <a:off x="2109" y="3022"/>
                <a:ext cx="590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31" name="Line 42"/>
              <p:cNvSpPr>
                <a:spLocks noChangeShapeType="1"/>
              </p:cNvSpPr>
              <p:nvPr/>
            </p:nvSpPr>
            <p:spPr bwMode="auto">
              <a:xfrm flipH="1" flipV="1">
                <a:off x="2517" y="3022"/>
                <a:ext cx="182" cy="4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32" name="Line 43"/>
              <p:cNvSpPr>
                <a:spLocks noChangeShapeType="1"/>
              </p:cNvSpPr>
              <p:nvPr/>
            </p:nvSpPr>
            <p:spPr bwMode="auto">
              <a:xfrm flipV="1">
                <a:off x="1519" y="1344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33" name="Line 44"/>
              <p:cNvSpPr>
                <a:spLocks noChangeShapeType="1"/>
              </p:cNvSpPr>
              <p:nvPr/>
            </p:nvSpPr>
            <p:spPr bwMode="auto">
              <a:xfrm flipV="1">
                <a:off x="1927" y="1344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34" name="Line 45"/>
              <p:cNvSpPr>
                <a:spLocks noChangeShapeType="1"/>
              </p:cNvSpPr>
              <p:nvPr/>
            </p:nvSpPr>
            <p:spPr bwMode="auto">
              <a:xfrm>
                <a:off x="839" y="288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35" name="Line 46"/>
              <p:cNvSpPr>
                <a:spLocks noChangeShapeType="1"/>
              </p:cNvSpPr>
              <p:nvPr/>
            </p:nvSpPr>
            <p:spPr bwMode="auto">
              <a:xfrm>
                <a:off x="1202" y="288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36" name="Line 47"/>
              <p:cNvSpPr>
                <a:spLocks noChangeShapeType="1"/>
              </p:cNvSpPr>
              <p:nvPr/>
            </p:nvSpPr>
            <p:spPr bwMode="auto">
              <a:xfrm>
                <a:off x="1565" y="288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37" name="Line 48"/>
              <p:cNvSpPr>
                <a:spLocks noChangeShapeType="1"/>
              </p:cNvSpPr>
              <p:nvPr/>
            </p:nvSpPr>
            <p:spPr bwMode="auto">
              <a:xfrm>
                <a:off x="1973" y="288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38" name="Line 49"/>
              <p:cNvSpPr>
                <a:spLocks noChangeShapeType="1"/>
              </p:cNvSpPr>
              <p:nvPr/>
            </p:nvSpPr>
            <p:spPr bwMode="auto">
              <a:xfrm>
                <a:off x="2381" y="2886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39" name="Line 50"/>
              <p:cNvSpPr>
                <a:spLocks noChangeShapeType="1"/>
              </p:cNvSpPr>
              <p:nvPr/>
            </p:nvSpPr>
            <p:spPr bwMode="auto">
              <a:xfrm>
                <a:off x="2381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40" name="Line 51"/>
              <p:cNvSpPr>
                <a:spLocks noChangeShapeType="1"/>
              </p:cNvSpPr>
              <p:nvPr/>
            </p:nvSpPr>
            <p:spPr bwMode="auto">
              <a:xfrm>
                <a:off x="1973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41" name="Line 52"/>
              <p:cNvSpPr>
                <a:spLocks noChangeShapeType="1"/>
              </p:cNvSpPr>
              <p:nvPr/>
            </p:nvSpPr>
            <p:spPr bwMode="auto">
              <a:xfrm>
                <a:off x="1565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42" name="Line 53"/>
              <p:cNvSpPr>
                <a:spLocks noChangeShapeType="1"/>
              </p:cNvSpPr>
              <p:nvPr/>
            </p:nvSpPr>
            <p:spPr bwMode="auto">
              <a:xfrm>
                <a:off x="1202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43" name="Line 54"/>
              <p:cNvSpPr>
                <a:spLocks noChangeShapeType="1"/>
              </p:cNvSpPr>
              <p:nvPr/>
            </p:nvSpPr>
            <p:spPr bwMode="auto">
              <a:xfrm>
                <a:off x="839" y="2341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44" name="Line 55"/>
              <p:cNvSpPr>
                <a:spLocks noChangeShapeType="1"/>
              </p:cNvSpPr>
              <p:nvPr/>
            </p:nvSpPr>
            <p:spPr bwMode="auto">
              <a:xfrm flipV="1">
                <a:off x="975" y="2478"/>
                <a:ext cx="154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45" name="Line 56"/>
              <p:cNvSpPr>
                <a:spLocks noChangeShapeType="1"/>
              </p:cNvSpPr>
              <p:nvPr/>
            </p:nvSpPr>
            <p:spPr bwMode="auto">
              <a:xfrm flipV="1">
                <a:off x="975" y="2478"/>
                <a:ext cx="1134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46" name="Line 57"/>
              <p:cNvSpPr>
                <a:spLocks noChangeShapeType="1"/>
              </p:cNvSpPr>
              <p:nvPr/>
            </p:nvSpPr>
            <p:spPr bwMode="auto">
              <a:xfrm flipV="1">
                <a:off x="975" y="2478"/>
                <a:ext cx="726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47" name="Line 58"/>
              <p:cNvSpPr>
                <a:spLocks noChangeShapeType="1"/>
              </p:cNvSpPr>
              <p:nvPr/>
            </p:nvSpPr>
            <p:spPr bwMode="auto">
              <a:xfrm flipV="1">
                <a:off x="975" y="2478"/>
                <a:ext cx="363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48" name="Line 59"/>
              <p:cNvSpPr>
                <a:spLocks noChangeShapeType="1"/>
              </p:cNvSpPr>
              <p:nvPr/>
            </p:nvSpPr>
            <p:spPr bwMode="auto">
              <a:xfrm flipV="1">
                <a:off x="975" y="2664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49" name="Line 60"/>
              <p:cNvSpPr>
                <a:spLocks noChangeShapeType="1"/>
              </p:cNvSpPr>
              <p:nvPr/>
            </p:nvSpPr>
            <p:spPr bwMode="auto">
              <a:xfrm>
                <a:off x="975" y="2478"/>
                <a:ext cx="154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50" name="Line 61"/>
              <p:cNvSpPr>
                <a:spLocks noChangeShapeType="1"/>
              </p:cNvSpPr>
              <p:nvPr/>
            </p:nvSpPr>
            <p:spPr bwMode="auto">
              <a:xfrm>
                <a:off x="1338" y="2478"/>
                <a:ext cx="1179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51" name="Line 62"/>
              <p:cNvSpPr>
                <a:spLocks noChangeShapeType="1"/>
              </p:cNvSpPr>
              <p:nvPr/>
            </p:nvSpPr>
            <p:spPr bwMode="auto">
              <a:xfrm>
                <a:off x="1701" y="2478"/>
                <a:ext cx="861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52" name="Line 63"/>
              <p:cNvSpPr>
                <a:spLocks noChangeShapeType="1"/>
              </p:cNvSpPr>
              <p:nvPr/>
            </p:nvSpPr>
            <p:spPr bwMode="auto">
              <a:xfrm>
                <a:off x="2109" y="2478"/>
                <a:ext cx="408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53" name="Line 64"/>
              <p:cNvSpPr>
                <a:spLocks noChangeShapeType="1"/>
              </p:cNvSpPr>
              <p:nvPr/>
            </p:nvSpPr>
            <p:spPr bwMode="auto">
              <a:xfrm>
                <a:off x="2517" y="2478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54" name="Line 65"/>
              <p:cNvSpPr>
                <a:spLocks noChangeShapeType="1"/>
              </p:cNvSpPr>
              <p:nvPr/>
            </p:nvSpPr>
            <p:spPr bwMode="auto">
              <a:xfrm flipH="1" flipV="1">
                <a:off x="975" y="2478"/>
                <a:ext cx="363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55" name="Line 66"/>
              <p:cNvSpPr>
                <a:spLocks noChangeShapeType="1"/>
              </p:cNvSpPr>
              <p:nvPr/>
            </p:nvSpPr>
            <p:spPr bwMode="auto">
              <a:xfrm flipV="1">
                <a:off x="1338" y="2478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56" name="Line 67"/>
              <p:cNvSpPr>
                <a:spLocks noChangeShapeType="1"/>
              </p:cNvSpPr>
              <p:nvPr/>
            </p:nvSpPr>
            <p:spPr bwMode="auto">
              <a:xfrm flipV="1">
                <a:off x="1338" y="2478"/>
                <a:ext cx="363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57" name="Line 68"/>
              <p:cNvSpPr>
                <a:spLocks noChangeShapeType="1"/>
              </p:cNvSpPr>
              <p:nvPr/>
            </p:nvSpPr>
            <p:spPr bwMode="auto">
              <a:xfrm flipV="1">
                <a:off x="1338" y="2478"/>
                <a:ext cx="771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58" name="Line 69"/>
              <p:cNvSpPr>
                <a:spLocks noChangeShapeType="1"/>
              </p:cNvSpPr>
              <p:nvPr/>
            </p:nvSpPr>
            <p:spPr bwMode="auto">
              <a:xfrm flipV="1">
                <a:off x="1383" y="2478"/>
                <a:ext cx="1134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59" name="Line 70"/>
              <p:cNvSpPr>
                <a:spLocks noChangeShapeType="1"/>
              </p:cNvSpPr>
              <p:nvPr/>
            </p:nvSpPr>
            <p:spPr bwMode="auto">
              <a:xfrm>
                <a:off x="975" y="2478"/>
                <a:ext cx="726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60" name="Line 71"/>
              <p:cNvSpPr>
                <a:spLocks noChangeShapeType="1"/>
              </p:cNvSpPr>
              <p:nvPr/>
            </p:nvSpPr>
            <p:spPr bwMode="auto">
              <a:xfrm>
                <a:off x="1338" y="2478"/>
                <a:ext cx="363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61" name="Line 72"/>
              <p:cNvSpPr>
                <a:spLocks noChangeShapeType="1"/>
              </p:cNvSpPr>
              <p:nvPr/>
            </p:nvSpPr>
            <p:spPr bwMode="auto">
              <a:xfrm>
                <a:off x="1701" y="2478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62" name="Line 73"/>
              <p:cNvSpPr>
                <a:spLocks noChangeShapeType="1"/>
              </p:cNvSpPr>
              <p:nvPr/>
            </p:nvSpPr>
            <p:spPr bwMode="auto">
              <a:xfrm flipV="1">
                <a:off x="1701" y="2478"/>
                <a:ext cx="408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63" name="Line 74"/>
              <p:cNvSpPr>
                <a:spLocks noChangeShapeType="1"/>
              </p:cNvSpPr>
              <p:nvPr/>
            </p:nvSpPr>
            <p:spPr bwMode="auto">
              <a:xfrm flipV="1">
                <a:off x="1701" y="2478"/>
                <a:ext cx="816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64" name="Line 75"/>
              <p:cNvSpPr>
                <a:spLocks noChangeShapeType="1"/>
              </p:cNvSpPr>
              <p:nvPr/>
            </p:nvSpPr>
            <p:spPr bwMode="auto">
              <a:xfrm>
                <a:off x="930" y="2478"/>
                <a:ext cx="1179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65" name="Line 76"/>
              <p:cNvSpPr>
                <a:spLocks noChangeShapeType="1"/>
              </p:cNvSpPr>
              <p:nvPr/>
            </p:nvSpPr>
            <p:spPr bwMode="auto">
              <a:xfrm>
                <a:off x="1338" y="2478"/>
                <a:ext cx="771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66" name="Line 77"/>
              <p:cNvSpPr>
                <a:spLocks noChangeShapeType="1"/>
              </p:cNvSpPr>
              <p:nvPr/>
            </p:nvSpPr>
            <p:spPr bwMode="auto">
              <a:xfrm>
                <a:off x="1701" y="2478"/>
                <a:ext cx="408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67" name="Line 78"/>
              <p:cNvSpPr>
                <a:spLocks noChangeShapeType="1"/>
              </p:cNvSpPr>
              <p:nvPr/>
            </p:nvSpPr>
            <p:spPr bwMode="auto">
              <a:xfrm>
                <a:off x="2109" y="2478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68" name="Line 79"/>
              <p:cNvSpPr>
                <a:spLocks noChangeShapeType="1"/>
              </p:cNvSpPr>
              <p:nvPr/>
            </p:nvSpPr>
            <p:spPr bwMode="auto">
              <a:xfrm flipV="1">
                <a:off x="2109" y="2478"/>
                <a:ext cx="363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69" name="Freeform 80"/>
              <p:cNvSpPr>
                <a:spLocks/>
              </p:cNvSpPr>
              <p:nvPr/>
            </p:nvSpPr>
            <p:spPr bwMode="auto">
              <a:xfrm>
                <a:off x="2427" y="2251"/>
                <a:ext cx="181" cy="44"/>
              </a:xfrm>
              <a:custGeom>
                <a:avLst/>
                <a:gdLst>
                  <a:gd name="T0" fmla="*/ 0 w 205"/>
                  <a:gd name="T1" fmla="*/ 7 h 106"/>
                  <a:gd name="T2" fmla="*/ 76 w 205"/>
                  <a:gd name="T3" fmla="*/ 5 h 106"/>
                  <a:gd name="T4" fmla="*/ 81 w 205"/>
                  <a:gd name="T5" fmla="*/ 2 h 106"/>
                  <a:gd name="T6" fmla="*/ 115 w 205"/>
                  <a:gd name="T7" fmla="*/ 0 h 106"/>
                  <a:gd name="T8" fmla="*/ 141 w 205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106"/>
                  <a:gd name="T17" fmla="*/ 205 w 20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106">
                    <a:moveTo>
                      <a:pt x="0" y="95"/>
                    </a:moveTo>
                    <a:cubicBezTo>
                      <a:pt x="44" y="91"/>
                      <a:pt x="86" y="106"/>
                      <a:pt x="110" y="64"/>
                    </a:cubicBezTo>
                    <a:cubicBezTo>
                      <a:pt x="115" y="54"/>
                      <a:pt x="111" y="40"/>
                      <a:pt x="118" y="32"/>
                    </a:cubicBezTo>
                    <a:cubicBezTo>
                      <a:pt x="131" y="18"/>
                      <a:pt x="166" y="0"/>
                      <a:pt x="166" y="0"/>
                    </a:cubicBezTo>
                    <a:cubicBezTo>
                      <a:pt x="179" y="3"/>
                      <a:pt x="205" y="8"/>
                      <a:pt x="205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70" name="Freeform 81"/>
              <p:cNvSpPr>
                <a:spLocks/>
              </p:cNvSpPr>
              <p:nvPr/>
            </p:nvSpPr>
            <p:spPr bwMode="auto">
              <a:xfrm>
                <a:off x="2019" y="2251"/>
                <a:ext cx="181" cy="44"/>
              </a:xfrm>
              <a:custGeom>
                <a:avLst/>
                <a:gdLst>
                  <a:gd name="T0" fmla="*/ 0 w 205"/>
                  <a:gd name="T1" fmla="*/ 7 h 106"/>
                  <a:gd name="T2" fmla="*/ 76 w 205"/>
                  <a:gd name="T3" fmla="*/ 5 h 106"/>
                  <a:gd name="T4" fmla="*/ 81 w 205"/>
                  <a:gd name="T5" fmla="*/ 2 h 106"/>
                  <a:gd name="T6" fmla="*/ 115 w 205"/>
                  <a:gd name="T7" fmla="*/ 0 h 106"/>
                  <a:gd name="T8" fmla="*/ 141 w 205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106"/>
                  <a:gd name="T17" fmla="*/ 205 w 20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106">
                    <a:moveTo>
                      <a:pt x="0" y="95"/>
                    </a:moveTo>
                    <a:cubicBezTo>
                      <a:pt x="44" y="91"/>
                      <a:pt x="86" y="106"/>
                      <a:pt x="110" y="64"/>
                    </a:cubicBezTo>
                    <a:cubicBezTo>
                      <a:pt x="115" y="54"/>
                      <a:pt x="111" y="40"/>
                      <a:pt x="118" y="32"/>
                    </a:cubicBezTo>
                    <a:cubicBezTo>
                      <a:pt x="131" y="18"/>
                      <a:pt x="166" y="0"/>
                      <a:pt x="166" y="0"/>
                    </a:cubicBezTo>
                    <a:cubicBezTo>
                      <a:pt x="179" y="3"/>
                      <a:pt x="205" y="8"/>
                      <a:pt x="205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71" name="Freeform 82"/>
              <p:cNvSpPr>
                <a:spLocks/>
              </p:cNvSpPr>
              <p:nvPr/>
            </p:nvSpPr>
            <p:spPr bwMode="auto">
              <a:xfrm>
                <a:off x="1610" y="2251"/>
                <a:ext cx="181" cy="44"/>
              </a:xfrm>
              <a:custGeom>
                <a:avLst/>
                <a:gdLst>
                  <a:gd name="T0" fmla="*/ 0 w 205"/>
                  <a:gd name="T1" fmla="*/ 7 h 106"/>
                  <a:gd name="T2" fmla="*/ 76 w 205"/>
                  <a:gd name="T3" fmla="*/ 5 h 106"/>
                  <a:gd name="T4" fmla="*/ 81 w 205"/>
                  <a:gd name="T5" fmla="*/ 2 h 106"/>
                  <a:gd name="T6" fmla="*/ 115 w 205"/>
                  <a:gd name="T7" fmla="*/ 0 h 106"/>
                  <a:gd name="T8" fmla="*/ 141 w 205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106"/>
                  <a:gd name="T17" fmla="*/ 205 w 20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106">
                    <a:moveTo>
                      <a:pt x="0" y="95"/>
                    </a:moveTo>
                    <a:cubicBezTo>
                      <a:pt x="44" y="91"/>
                      <a:pt x="86" y="106"/>
                      <a:pt x="110" y="64"/>
                    </a:cubicBezTo>
                    <a:cubicBezTo>
                      <a:pt x="115" y="54"/>
                      <a:pt x="111" y="40"/>
                      <a:pt x="118" y="32"/>
                    </a:cubicBezTo>
                    <a:cubicBezTo>
                      <a:pt x="131" y="18"/>
                      <a:pt x="166" y="0"/>
                      <a:pt x="166" y="0"/>
                    </a:cubicBezTo>
                    <a:cubicBezTo>
                      <a:pt x="179" y="3"/>
                      <a:pt x="205" y="8"/>
                      <a:pt x="205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72" name="Freeform 83"/>
              <p:cNvSpPr>
                <a:spLocks/>
              </p:cNvSpPr>
              <p:nvPr/>
            </p:nvSpPr>
            <p:spPr bwMode="auto">
              <a:xfrm>
                <a:off x="1248" y="2251"/>
                <a:ext cx="181" cy="44"/>
              </a:xfrm>
              <a:custGeom>
                <a:avLst/>
                <a:gdLst>
                  <a:gd name="T0" fmla="*/ 0 w 205"/>
                  <a:gd name="T1" fmla="*/ 7 h 106"/>
                  <a:gd name="T2" fmla="*/ 76 w 205"/>
                  <a:gd name="T3" fmla="*/ 5 h 106"/>
                  <a:gd name="T4" fmla="*/ 81 w 205"/>
                  <a:gd name="T5" fmla="*/ 2 h 106"/>
                  <a:gd name="T6" fmla="*/ 115 w 205"/>
                  <a:gd name="T7" fmla="*/ 0 h 106"/>
                  <a:gd name="T8" fmla="*/ 141 w 205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106"/>
                  <a:gd name="T17" fmla="*/ 205 w 20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106">
                    <a:moveTo>
                      <a:pt x="0" y="95"/>
                    </a:moveTo>
                    <a:cubicBezTo>
                      <a:pt x="44" y="91"/>
                      <a:pt x="86" y="106"/>
                      <a:pt x="110" y="64"/>
                    </a:cubicBezTo>
                    <a:cubicBezTo>
                      <a:pt x="115" y="54"/>
                      <a:pt x="111" y="40"/>
                      <a:pt x="118" y="32"/>
                    </a:cubicBezTo>
                    <a:cubicBezTo>
                      <a:pt x="131" y="18"/>
                      <a:pt x="166" y="0"/>
                      <a:pt x="166" y="0"/>
                    </a:cubicBezTo>
                    <a:cubicBezTo>
                      <a:pt x="179" y="3"/>
                      <a:pt x="205" y="8"/>
                      <a:pt x="205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73" name="Freeform 84"/>
              <p:cNvSpPr>
                <a:spLocks/>
              </p:cNvSpPr>
              <p:nvPr/>
            </p:nvSpPr>
            <p:spPr bwMode="auto">
              <a:xfrm>
                <a:off x="885" y="2251"/>
                <a:ext cx="181" cy="44"/>
              </a:xfrm>
              <a:custGeom>
                <a:avLst/>
                <a:gdLst>
                  <a:gd name="T0" fmla="*/ 0 w 205"/>
                  <a:gd name="T1" fmla="*/ 7 h 106"/>
                  <a:gd name="T2" fmla="*/ 76 w 205"/>
                  <a:gd name="T3" fmla="*/ 5 h 106"/>
                  <a:gd name="T4" fmla="*/ 81 w 205"/>
                  <a:gd name="T5" fmla="*/ 2 h 106"/>
                  <a:gd name="T6" fmla="*/ 115 w 205"/>
                  <a:gd name="T7" fmla="*/ 0 h 106"/>
                  <a:gd name="T8" fmla="*/ 141 w 205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106"/>
                  <a:gd name="T17" fmla="*/ 205 w 20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106">
                    <a:moveTo>
                      <a:pt x="0" y="95"/>
                    </a:moveTo>
                    <a:cubicBezTo>
                      <a:pt x="44" y="91"/>
                      <a:pt x="86" y="106"/>
                      <a:pt x="110" y="64"/>
                    </a:cubicBezTo>
                    <a:cubicBezTo>
                      <a:pt x="115" y="54"/>
                      <a:pt x="111" y="40"/>
                      <a:pt x="118" y="32"/>
                    </a:cubicBezTo>
                    <a:cubicBezTo>
                      <a:pt x="131" y="18"/>
                      <a:pt x="166" y="0"/>
                      <a:pt x="166" y="0"/>
                    </a:cubicBezTo>
                    <a:cubicBezTo>
                      <a:pt x="179" y="3"/>
                      <a:pt x="205" y="8"/>
                      <a:pt x="205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74" name="Freeform 85"/>
              <p:cNvSpPr>
                <a:spLocks/>
              </p:cNvSpPr>
              <p:nvPr/>
            </p:nvSpPr>
            <p:spPr bwMode="auto">
              <a:xfrm>
                <a:off x="2426" y="2795"/>
                <a:ext cx="181" cy="44"/>
              </a:xfrm>
              <a:custGeom>
                <a:avLst/>
                <a:gdLst>
                  <a:gd name="T0" fmla="*/ 0 w 205"/>
                  <a:gd name="T1" fmla="*/ 7 h 106"/>
                  <a:gd name="T2" fmla="*/ 76 w 205"/>
                  <a:gd name="T3" fmla="*/ 5 h 106"/>
                  <a:gd name="T4" fmla="*/ 81 w 205"/>
                  <a:gd name="T5" fmla="*/ 2 h 106"/>
                  <a:gd name="T6" fmla="*/ 115 w 205"/>
                  <a:gd name="T7" fmla="*/ 0 h 106"/>
                  <a:gd name="T8" fmla="*/ 141 w 205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106"/>
                  <a:gd name="T17" fmla="*/ 205 w 20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106">
                    <a:moveTo>
                      <a:pt x="0" y="95"/>
                    </a:moveTo>
                    <a:cubicBezTo>
                      <a:pt x="44" y="91"/>
                      <a:pt x="86" y="106"/>
                      <a:pt x="110" y="64"/>
                    </a:cubicBezTo>
                    <a:cubicBezTo>
                      <a:pt x="115" y="54"/>
                      <a:pt x="111" y="40"/>
                      <a:pt x="118" y="32"/>
                    </a:cubicBezTo>
                    <a:cubicBezTo>
                      <a:pt x="131" y="18"/>
                      <a:pt x="166" y="0"/>
                      <a:pt x="166" y="0"/>
                    </a:cubicBezTo>
                    <a:cubicBezTo>
                      <a:pt x="179" y="3"/>
                      <a:pt x="205" y="8"/>
                      <a:pt x="205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75" name="Freeform 86"/>
              <p:cNvSpPr>
                <a:spLocks/>
              </p:cNvSpPr>
              <p:nvPr/>
            </p:nvSpPr>
            <p:spPr bwMode="auto">
              <a:xfrm>
                <a:off x="2018" y="2795"/>
                <a:ext cx="181" cy="44"/>
              </a:xfrm>
              <a:custGeom>
                <a:avLst/>
                <a:gdLst>
                  <a:gd name="T0" fmla="*/ 0 w 205"/>
                  <a:gd name="T1" fmla="*/ 7 h 106"/>
                  <a:gd name="T2" fmla="*/ 76 w 205"/>
                  <a:gd name="T3" fmla="*/ 5 h 106"/>
                  <a:gd name="T4" fmla="*/ 81 w 205"/>
                  <a:gd name="T5" fmla="*/ 2 h 106"/>
                  <a:gd name="T6" fmla="*/ 115 w 205"/>
                  <a:gd name="T7" fmla="*/ 0 h 106"/>
                  <a:gd name="T8" fmla="*/ 141 w 205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106"/>
                  <a:gd name="T17" fmla="*/ 205 w 20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106">
                    <a:moveTo>
                      <a:pt x="0" y="95"/>
                    </a:moveTo>
                    <a:cubicBezTo>
                      <a:pt x="44" y="91"/>
                      <a:pt x="86" y="106"/>
                      <a:pt x="110" y="64"/>
                    </a:cubicBezTo>
                    <a:cubicBezTo>
                      <a:pt x="115" y="54"/>
                      <a:pt x="111" y="40"/>
                      <a:pt x="118" y="32"/>
                    </a:cubicBezTo>
                    <a:cubicBezTo>
                      <a:pt x="131" y="18"/>
                      <a:pt x="166" y="0"/>
                      <a:pt x="166" y="0"/>
                    </a:cubicBezTo>
                    <a:cubicBezTo>
                      <a:pt x="179" y="3"/>
                      <a:pt x="205" y="8"/>
                      <a:pt x="205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76" name="Freeform 87"/>
              <p:cNvSpPr>
                <a:spLocks/>
              </p:cNvSpPr>
              <p:nvPr/>
            </p:nvSpPr>
            <p:spPr bwMode="auto">
              <a:xfrm>
                <a:off x="1610" y="2795"/>
                <a:ext cx="181" cy="44"/>
              </a:xfrm>
              <a:custGeom>
                <a:avLst/>
                <a:gdLst>
                  <a:gd name="T0" fmla="*/ 0 w 205"/>
                  <a:gd name="T1" fmla="*/ 7 h 106"/>
                  <a:gd name="T2" fmla="*/ 76 w 205"/>
                  <a:gd name="T3" fmla="*/ 5 h 106"/>
                  <a:gd name="T4" fmla="*/ 81 w 205"/>
                  <a:gd name="T5" fmla="*/ 2 h 106"/>
                  <a:gd name="T6" fmla="*/ 115 w 205"/>
                  <a:gd name="T7" fmla="*/ 0 h 106"/>
                  <a:gd name="T8" fmla="*/ 141 w 205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106"/>
                  <a:gd name="T17" fmla="*/ 205 w 20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106">
                    <a:moveTo>
                      <a:pt x="0" y="95"/>
                    </a:moveTo>
                    <a:cubicBezTo>
                      <a:pt x="44" y="91"/>
                      <a:pt x="86" y="106"/>
                      <a:pt x="110" y="64"/>
                    </a:cubicBezTo>
                    <a:cubicBezTo>
                      <a:pt x="115" y="54"/>
                      <a:pt x="111" y="40"/>
                      <a:pt x="118" y="32"/>
                    </a:cubicBezTo>
                    <a:cubicBezTo>
                      <a:pt x="131" y="18"/>
                      <a:pt x="166" y="0"/>
                      <a:pt x="166" y="0"/>
                    </a:cubicBezTo>
                    <a:cubicBezTo>
                      <a:pt x="179" y="3"/>
                      <a:pt x="205" y="8"/>
                      <a:pt x="205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77" name="Freeform 88"/>
              <p:cNvSpPr>
                <a:spLocks/>
              </p:cNvSpPr>
              <p:nvPr/>
            </p:nvSpPr>
            <p:spPr bwMode="auto">
              <a:xfrm>
                <a:off x="1248" y="2795"/>
                <a:ext cx="181" cy="44"/>
              </a:xfrm>
              <a:custGeom>
                <a:avLst/>
                <a:gdLst>
                  <a:gd name="T0" fmla="*/ 0 w 205"/>
                  <a:gd name="T1" fmla="*/ 7 h 106"/>
                  <a:gd name="T2" fmla="*/ 76 w 205"/>
                  <a:gd name="T3" fmla="*/ 5 h 106"/>
                  <a:gd name="T4" fmla="*/ 81 w 205"/>
                  <a:gd name="T5" fmla="*/ 2 h 106"/>
                  <a:gd name="T6" fmla="*/ 115 w 205"/>
                  <a:gd name="T7" fmla="*/ 0 h 106"/>
                  <a:gd name="T8" fmla="*/ 141 w 205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106"/>
                  <a:gd name="T17" fmla="*/ 205 w 20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106">
                    <a:moveTo>
                      <a:pt x="0" y="95"/>
                    </a:moveTo>
                    <a:cubicBezTo>
                      <a:pt x="44" y="91"/>
                      <a:pt x="86" y="106"/>
                      <a:pt x="110" y="64"/>
                    </a:cubicBezTo>
                    <a:cubicBezTo>
                      <a:pt x="115" y="54"/>
                      <a:pt x="111" y="40"/>
                      <a:pt x="118" y="32"/>
                    </a:cubicBezTo>
                    <a:cubicBezTo>
                      <a:pt x="131" y="18"/>
                      <a:pt x="166" y="0"/>
                      <a:pt x="166" y="0"/>
                    </a:cubicBezTo>
                    <a:cubicBezTo>
                      <a:pt x="179" y="3"/>
                      <a:pt x="205" y="8"/>
                      <a:pt x="205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78" name="Freeform 89"/>
              <p:cNvSpPr>
                <a:spLocks/>
              </p:cNvSpPr>
              <p:nvPr/>
            </p:nvSpPr>
            <p:spPr bwMode="auto">
              <a:xfrm>
                <a:off x="884" y="2795"/>
                <a:ext cx="181" cy="44"/>
              </a:xfrm>
              <a:custGeom>
                <a:avLst/>
                <a:gdLst>
                  <a:gd name="T0" fmla="*/ 0 w 205"/>
                  <a:gd name="T1" fmla="*/ 7 h 106"/>
                  <a:gd name="T2" fmla="*/ 76 w 205"/>
                  <a:gd name="T3" fmla="*/ 5 h 106"/>
                  <a:gd name="T4" fmla="*/ 81 w 205"/>
                  <a:gd name="T5" fmla="*/ 2 h 106"/>
                  <a:gd name="T6" fmla="*/ 115 w 205"/>
                  <a:gd name="T7" fmla="*/ 0 h 106"/>
                  <a:gd name="T8" fmla="*/ 141 w 205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5"/>
                  <a:gd name="T16" fmla="*/ 0 h 106"/>
                  <a:gd name="T17" fmla="*/ 205 w 20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5" h="106">
                    <a:moveTo>
                      <a:pt x="0" y="95"/>
                    </a:moveTo>
                    <a:cubicBezTo>
                      <a:pt x="44" y="91"/>
                      <a:pt x="86" y="106"/>
                      <a:pt x="110" y="64"/>
                    </a:cubicBezTo>
                    <a:cubicBezTo>
                      <a:pt x="115" y="54"/>
                      <a:pt x="111" y="40"/>
                      <a:pt x="118" y="32"/>
                    </a:cubicBezTo>
                    <a:cubicBezTo>
                      <a:pt x="131" y="18"/>
                      <a:pt x="166" y="0"/>
                      <a:pt x="166" y="0"/>
                    </a:cubicBezTo>
                    <a:cubicBezTo>
                      <a:pt x="179" y="3"/>
                      <a:pt x="205" y="8"/>
                      <a:pt x="205" y="8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79" name="Line 93"/>
              <p:cNvSpPr>
                <a:spLocks noChangeShapeType="1"/>
              </p:cNvSpPr>
              <p:nvPr/>
            </p:nvSpPr>
            <p:spPr bwMode="auto">
              <a:xfrm>
                <a:off x="1383" y="1797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7680" name="Line 94"/>
              <p:cNvSpPr>
                <a:spLocks noChangeShapeType="1"/>
              </p:cNvSpPr>
              <p:nvPr/>
            </p:nvSpPr>
            <p:spPr bwMode="auto">
              <a:xfrm>
                <a:off x="1792" y="1797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67592" name="Text Box 95"/>
            <p:cNvSpPr txBox="1">
              <a:spLocks noChangeArrowheads="1"/>
            </p:cNvSpPr>
            <p:nvPr/>
          </p:nvSpPr>
          <p:spPr bwMode="auto">
            <a:xfrm>
              <a:off x="1353" y="3805"/>
              <a:ext cx="7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r" rtl="1">
                <a:spcBef>
                  <a:spcPct val="0"/>
                </a:spcBef>
                <a:buFontTx/>
                <a:buNone/>
              </a:pPr>
              <a:r>
                <a:rPr lang="en-US" altLang="ko-KR" sz="1800">
                  <a:latin typeface="Arial" charset="0"/>
                  <a:ea typeface="Gulim" charset="-127"/>
                </a:rPr>
                <a:t>Input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797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ChangeArrowheads="1"/>
          </p:cNvSpPr>
          <p:nvPr/>
        </p:nvSpPr>
        <p:spPr bwMode="auto">
          <a:xfrm>
            <a:off x="6629400" y="1066800"/>
            <a:ext cx="4038600" cy="457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pic>
        <p:nvPicPr>
          <p:cNvPr id="69634" name="Picture 2" descr="ANN 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1" r="12852"/>
          <a:stretch>
            <a:fillRect/>
          </a:stretch>
        </p:blipFill>
        <p:spPr bwMode="auto">
          <a:xfrm>
            <a:off x="6515100" y="1066800"/>
            <a:ext cx="38481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2209800" y="5181600"/>
            <a:ext cx="419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None/>
            </a:pPr>
            <a:r>
              <a:rPr lang="en-GB" altLang="ko-KR" sz="1400">
                <a:solidFill>
                  <a:schemeClr val="accent2"/>
                </a:solidFill>
                <a:latin typeface="Century Gothic" charset="0"/>
                <a:ea typeface="Gulim" charset="-127"/>
              </a:rPr>
              <a:t>Internal representation (interpretation) of data</a:t>
            </a:r>
          </a:p>
        </p:txBody>
      </p:sp>
      <p:sp>
        <p:nvSpPr>
          <p:cNvPr id="69636" name="Line 4"/>
          <p:cNvSpPr>
            <a:spLocks noChangeShapeType="1"/>
          </p:cNvSpPr>
          <p:nvPr/>
        </p:nvSpPr>
        <p:spPr bwMode="auto">
          <a:xfrm flipV="1">
            <a:off x="6324600" y="4876800"/>
            <a:ext cx="1981200" cy="4572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4953000" cy="609600"/>
          </a:xfrm>
        </p:spPr>
        <p:txBody>
          <a:bodyPr>
            <a:normAutofit fontScale="90000"/>
          </a:bodyPr>
          <a:lstStyle/>
          <a:p>
            <a:r>
              <a:rPr lang="en-GB" altLang="ko-KR">
                <a:ea typeface="Gulim" charset="-127"/>
              </a:rPr>
              <a:t>feed-forward nets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981200" y="1265238"/>
            <a:ext cx="4114800" cy="4221162"/>
          </a:xfrm>
        </p:spPr>
        <p:txBody>
          <a:bodyPr/>
          <a:lstStyle/>
          <a:p>
            <a:r>
              <a:rPr lang="en-GB" altLang="ko-KR" sz="2000">
                <a:ea typeface="Gulim" charset="-127"/>
              </a:rPr>
              <a:t>Information flow is unidirectional</a:t>
            </a:r>
          </a:p>
          <a:p>
            <a:pPr lvl="1"/>
            <a:r>
              <a:rPr lang="en-GB" altLang="ko-KR" sz="2000">
                <a:ea typeface="Gulim" charset="-127"/>
              </a:rPr>
              <a:t>Data is presented to </a:t>
            </a:r>
            <a:r>
              <a:rPr lang="en-GB" altLang="ko-KR" sz="2000" i="1">
                <a:ea typeface="Gulim" charset="-127"/>
              </a:rPr>
              <a:t>Input layer</a:t>
            </a:r>
          </a:p>
          <a:p>
            <a:pPr lvl="1"/>
            <a:r>
              <a:rPr lang="en-GB" altLang="ko-KR" sz="2000">
                <a:ea typeface="Gulim" charset="-127"/>
              </a:rPr>
              <a:t>Passed on to </a:t>
            </a:r>
            <a:r>
              <a:rPr lang="en-GB" altLang="ko-KR" sz="2000" i="1">
                <a:ea typeface="Gulim" charset="-127"/>
              </a:rPr>
              <a:t>Hidden Layer</a:t>
            </a:r>
          </a:p>
          <a:p>
            <a:pPr lvl="1"/>
            <a:r>
              <a:rPr lang="en-GB" altLang="ko-KR" sz="2000">
                <a:ea typeface="Gulim" charset="-127"/>
              </a:rPr>
              <a:t>Passed on to </a:t>
            </a:r>
            <a:r>
              <a:rPr lang="en-GB" altLang="ko-KR" sz="2000" i="1">
                <a:ea typeface="Gulim" charset="-127"/>
              </a:rPr>
              <a:t>Output layer</a:t>
            </a:r>
            <a:endParaRPr lang="en-GB" altLang="ko-KR" sz="2000">
              <a:ea typeface="Gulim" charset="-127"/>
            </a:endParaRPr>
          </a:p>
          <a:p>
            <a:r>
              <a:rPr lang="en-GB" altLang="ko-KR" sz="2000">
                <a:ea typeface="Gulim" charset="-127"/>
              </a:rPr>
              <a:t>Information is distributed</a:t>
            </a:r>
          </a:p>
          <a:p>
            <a:r>
              <a:rPr lang="en-GB" altLang="ko-KR" sz="2000">
                <a:ea typeface="Gulim" charset="-127"/>
              </a:rPr>
              <a:t>Information processing is parallel</a:t>
            </a:r>
          </a:p>
          <a:p>
            <a:endParaRPr lang="en-GB" altLang="ko-KR" sz="2000">
              <a:ea typeface="Gulim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254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989139"/>
            <a:ext cx="7319963" cy="487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58" name="Picture 2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026" y="863600"/>
            <a:ext cx="248602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100013"/>
            <a:ext cx="7772400" cy="1143001"/>
          </a:xfrm>
        </p:spPr>
        <p:txBody>
          <a:bodyPr/>
          <a:lstStyle/>
          <a:p>
            <a:pPr eaLnBrk="1" hangingPunct="1"/>
            <a:r>
              <a:rPr lang="he-IL" altLang="en-US"/>
              <a:t>מבנה מתמטי</a:t>
            </a:r>
            <a:endParaRPr lang="en-US" altLang="en-US"/>
          </a:p>
        </p:txBody>
      </p:sp>
      <p:sp>
        <p:nvSpPr>
          <p:cNvPr id="70660" name="Rectangle 6"/>
          <p:cNvSpPr>
            <a:spLocks noChangeArrowheads="1"/>
          </p:cNvSpPr>
          <p:nvPr/>
        </p:nvSpPr>
        <p:spPr bwMode="auto">
          <a:xfrm>
            <a:off x="10483270" y="30204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4800601" y="4278313"/>
          <a:ext cx="1439863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משוואה" r:id="rId6" imgW="875920" imgH="444307" progId="Equation.3">
                  <p:embed/>
                </p:oleObj>
              </mc:Choice>
              <mc:Fallback>
                <p:oleObj name="משוואה" r:id="rId6" imgW="875920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4278313"/>
                        <a:ext cx="1439863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Rectangle 8"/>
          <p:cNvSpPr>
            <a:spLocks noChangeArrowheads="1"/>
          </p:cNvSpPr>
          <p:nvPr/>
        </p:nvSpPr>
        <p:spPr bwMode="auto">
          <a:xfrm>
            <a:off x="10483270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70663" name="Object 7"/>
          <p:cNvGraphicFramePr>
            <a:graphicFrameLocks noChangeAspect="1"/>
          </p:cNvGraphicFramePr>
          <p:nvPr/>
        </p:nvGraphicFramePr>
        <p:xfrm>
          <a:off x="6589714" y="4437064"/>
          <a:ext cx="145097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משוואה" r:id="rId8" imgW="1016000" imgH="228600" progId="Equation.3">
                  <p:embed/>
                </p:oleObj>
              </mc:Choice>
              <mc:Fallback>
                <p:oleObj name="משוואה" r:id="rId8" imgW="1016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9714" y="4437064"/>
                        <a:ext cx="1450975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4" name="Rectangle 10"/>
          <p:cNvSpPr>
            <a:spLocks noChangeArrowheads="1"/>
          </p:cNvSpPr>
          <p:nvPr/>
        </p:nvSpPr>
        <p:spPr bwMode="auto">
          <a:xfrm>
            <a:off x="10483270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70665" name="Object 9"/>
          <p:cNvGraphicFramePr>
            <a:graphicFrameLocks noChangeAspect="1"/>
          </p:cNvGraphicFramePr>
          <p:nvPr/>
        </p:nvGraphicFramePr>
        <p:xfrm>
          <a:off x="6888163" y="4797425"/>
          <a:ext cx="762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משוואה" r:id="rId10" imgW="761669" imgH="228501" progId="Equation.3">
                  <p:embed/>
                </p:oleObj>
              </mc:Choice>
              <mc:Fallback>
                <p:oleObj name="משוואה" r:id="rId10" imgW="761669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4797425"/>
                        <a:ext cx="7620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6" name="Rectangle 14"/>
          <p:cNvSpPr>
            <a:spLocks noChangeArrowheads="1"/>
          </p:cNvSpPr>
          <p:nvPr/>
        </p:nvSpPr>
        <p:spPr bwMode="auto">
          <a:xfrm>
            <a:off x="10483270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70667" name="Object 13"/>
          <p:cNvGraphicFramePr>
            <a:graphicFrameLocks noChangeAspect="1"/>
          </p:cNvGraphicFramePr>
          <p:nvPr/>
        </p:nvGraphicFramePr>
        <p:xfrm>
          <a:off x="6651626" y="2146300"/>
          <a:ext cx="11652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12" imgW="1168400" imgH="419100" progId="Equation.3">
                  <p:embed/>
                </p:oleObj>
              </mc:Choice>
              <mc:Fallback>
                <p:oleObj name="Equation" r:id="rId12" imgW="11684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6" y="2146300"/>
                        <a:ext cx="11652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8" name="Rectangle 15"/>
          <p:cNvSpPr>
            <a:spLocks noChangeArrowheads="1"/>
          </p:cNvSpPr>
          <p:nvPr/>
        </p:nvSpPr>
        <p:spPr bwMode="auto">
          <a:xfrm>
            <a:off x="10483270" y="319816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2400"/>
          </a:p>
        </p:txBody>
      </p:sp>
      <p:pic>
        <p:nvPicPr>
          <p:cNvPr id="70669" name="Picture 1" descr="http://upload.wikimedia.org/wikipedia/commons/thumb/e/e4/Artificial_neural_network.svg/350px-Artificial_neural_network.svg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163" y="4872038"/>
            <a:ext cx="2220912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70" name="Oval 23"/>
          <p:cNvSpPr>
            <a:spLocks noChangeArrowheads="1"/>
          </p:cNvSpPr>
          <p:nvPr/>
        </p:nvSpPr>
        <p:spPr bwMode="auto">
          <a:xfrm>
            <a:off x="9155114" y="4919664"/>
            <a:ext cx="719137" cy="7191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sp>
        <p:nvSpPr>
          <p:cNvPr id="70671" name="Line 24"/>
          <p:cNvSpPr>
            <a:spLocks noChangeShapeType="1"/>
          </p:cNvSpPr>
          <p:nvPr/>
        </p:nvSpPr>
        <p:spPr bwMode="auto">
          <a:xfrm flipH="1" flipV="1">
            <a:off x="8543925" y="4652963"/>
            <a:ext cx="6477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ChangeArrowheads="1"/>
          </p:cNvSpPr>
          <p:nvPr/>
        </p:nvSpPr>
        <p:spPr bwMode="auto">
          <a:xfrm>
            <a:off x="1752600" y="1066800"/>
            <a:ext cx="8915400" cy="3429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pic>
        <p:nvPicPr>
          <p:cNvPr id="72706" name="Picture 2" descr="ANNexamp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01" r="18993" b="30003"/>
          <a:stretch>
            <a:fillRect/>
          </a:stretch>
        </p:blipFill>
        <p:spPr bwMode="auto">
          <a:xfrm>
            <a:off x="2971800" y="1066801"/>
            <a:ext cx="5486400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2707" name="Object 2"/>
          <p:cNvGraphicFramePr>
            <a:graphicFrameLocks noChangeAspect="1"/>
          </p:cNvGraphicFramePr>
          <p:nvPr/>
        </p:nvGraphicFramePr>
        <p:xfrm>
          <a:off x="5016500" y="5013325"/>
          <a:ext cx="19050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r:id="rId4" imgW="1016000" imgH="393700" progId="Equation.3">
                  <p:embed/>
                </p:oleObj>
              </mc:Choice>
              <mc:Fallback>
                <p:oleObj r:id="rId4" imgW="1016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5013325"/>
                        <a:ext cx="1905000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8" name="Text Box 5"/>
          <p:cNvSpPr txBox="1">
            <a:spLocks noChangeArrowheads="1"/>
          </p:cNvSpPr>
          <p:nvPr/>
        </p:nvSpPr>
        <p:spPr bwMode="auto">
          <a:xfrm>
            <a:off x="2971800" y="5105401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None/>
            </a:pPr>
            <a:r>
              <a:rPr lang="en-GB" altLang="ko-KR" sz="1800">
                <a:solidFill>
                  <a:schemeClr val="accent2"/>
                </a:solidFill>
                <a:latin typeface="Century Gothic" charset="0"/>
                <a:ea typeface="Gulim" charset="-127"/>
              </a:rPr>
              <a:t>activation</a:t>
            </a:r>
          </a:p>
        </p:txBody>
      </p:sp>
      <p:sp>
        <p:nvSpPr>
          <p:cNvPr id="72709" name="Rectangle 6"/>
          <p:cNvSpPr>
            <a:spLocks noChangeArrowheads="1"/>
          </p:cNvSpPr>
          <p:nvPr/>
        </p:nvSpPr>
        <p:spPr bwMode="auto">
          <a:xfrm>
            <a:off x="3861556" y="4495800"/>
            <a:ext cx="4977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buClr>
                <a:schemeClr val="folHlink"/>
              </a:buClr>
              <a:buFont typeface="Marlett" charset="2"/>
              <a:buNone/>
            </a:pPr>
            <a:r>
              <a:rPr lang="en-GB" altLang="ko-KR" sz="1800">
                <a:solidFill>
                  <a:schemeClr val="accent2"/>
                </a:solidFill>
                <a:ea typeface="Gulim" charset="-127"/>
              </a:rPr>
              <a:t>(1 </a:t>
            </a:r>
            <a:r>
              <a:rPr lang="en-GB" altLang="ko-KR" sz="1800">
                <a:solidFill>
                  <a:schemeClr val="accent2"/>
                </a:solidFill>
                <a:ea typeface="Gulim" charset="-127"/>
                <a:sym typeface="Symbol" charset="2"/>
              </a:rPr>
              <a:t></a:t>
            </a:r>
            <a:r>
              <a:rPr lang="en-GB" altLang="ko-KR" sz="1800">
                <a:solidFill>
                  <a:schemeClr val="accent2"/>
                </a:solidFill>
                <a:ea typeface="Gulim" charset="-127"/>
              </a:rPr>
              <a:t> 0.25) + (0.5 </a:t>
            </a:r>
            <a:r>
              <a:rPr lang="en-GB" altLang="ko-KR" sz="1800">
                <a:solidFill>
                  <a:schemeClr val="accent2"/>
                </a:solidFill>
                <a:ea typeface="Gulim" charset="-127"/>
                <a:sym typeface="Symbol" charset="2"/>
              </a:rPr>
              <a:t></a:t>
            </a:r>
            <a:r>
              <a:rPr lang="en-GB" altLang="ko-KR" sz="1800">
                <a:solidFill>
                  <a:schemeClr val="accent2"/>
                </a:solidFill>
                <a:ea typeface="Gulim" charset="-127"/>
              </a:rPr>
              <a:t> (-1.5)) = 0.25 + (-0.75)   =  - 0.5</a:t>
            </a:r>
            <a:r>
              <a:rPr lang="en-GB" altLang="ko-KR" sz="1800">
                <a:ea typeface="Gulim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638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77" name="Group 194"/>
          <p:cNvGrpSpPr>
            <a:grpSpLocks/>
          </p:cNvGrpSpPr>
          <p:nvPr/>
        </p:nvGrpSpPr>
        <p:grpSpPr bwMode="auto">
          <a:xfrm>
            <a:off x="1905001" y="1066800"/>
            <a:ext cx="8751801" cy="4572000"/>
            <a:chOff x="193" y="672"/>
            <a:chExt cx="5564" cy="2929"/>
          </a:xfrm>
        </p:grpSpPr>
        <p:sp>
          <p:nvSpPr>
            <p:cNvPr id="75779" name="Freeform 2"/>
            <p:cNvSpPr>
              <a:spLocks/>
            </p:cNvSpPr>
            <p:nvPr/>
          </p:nvSpPr>
          <p:spPr bwMode="auto">
            <a:xfrm>
              <a:off x="3937" y="2976"/>
              <a:ext cx="721" cy="577"/>
            </a:xfrm>
            <a:custGeom>
              <a:avLst/>
              <a:gdLst>
                <a:gd name="T0" fmla="*/ 0 w 721"/>
                <a:gd name="T1" fmla="*/ 528 h 577"/>
                <a:gd name="T2" fmla="*/ 96 w 721"/>
                <a:gd name="T3" fmla="*/ 384 h 577"/>
                <a:gd name="T4" fmla="*/ 288 w 721"/>
                <a:gd name="T5" fmla="*/ 384 h 577"/>
                <a:gd name="T6" fmla="*/ 288 w 721"/>
                <a:gd name="T7" fmla="*/ 192 h 577"/>
                <a:gd name="T8" fmla="*/ 48 w 721"/>
                <a:gd name="T9" fmla="*/ 144 h 577"/>
                <a:gd name="T10" fmla="*/ 192 w 721"/>
                <a:gd name="T11" fmla="*/ 0 h 577"/>
                <a:gd name="T12" fmla="*/ 576 w 721"/>
                <a:gd name="T13" fmla="*/ 48 h 577"/>
                <a:gd name="T14" fmla="*/ 720 w 721"/>
                <a:gd name="T15" fmla="*/ 384 h 577"/>
                <a:gd name="T16" fmla="*/ 432 w 721"/>
                <a:gd name="T17" fmla="*/ 576 h 577"/>
                <a:gd name="T18" fmla="*/ 0 w 721"/>
                <a:gd name="T19" fmla="*/ 528 h 57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21"/>
                <a:gd name="T31" fmla="*/ 0 h 577"/>
                <a:gd name="T32" fmla="*/ 721 w 721"/>
                <a:gd name="T33" fmla="*/ 577 h 57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21" h="577">
                  <a:moveTo>
                    <a:pt x="0" y="528"/>
                  </a:moveTo>
                  <a:lnTo>
                    <a:pt x="96" y="384"/>
                  </a:lnTo>
                  <a:lnTo>
                    <a:pt x="288" y="384"/>
                  </a:lnTo>
                  <a:lnTo>
                    <a:pt x="288" y="192"/>
                  </a:lnTo>
                  <a:lnTo>
                    <a:pt x="48" y="144"/>
                  </a:lnTo>
                  <a:lnTo>
                    <a:pt x="192" y="0"/>
                  </a:lnTo>
                  <a:lnTo>
                    <a:pt x="576" y="48"/>
                  </a:lnTo>
                  <a:lnTo>
                    <a:pt x="720" y="384"/>
                  </a:lnTo>
                  <a:lnTo>
                    <a:pt x="432" y="576"/>
                  </a:lnTo>
                  <a:lnTo>
                    <a:pt x="0" y="528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80" name="Freeform 3"/>
            <p:cNvSpPr>
              <a:spLocks/>
            </p:cNvSpPr>
            <p:nvPr/>
          </p:nvSpPr>
          <p:spPr bwMode="auto">
            <a:xfrm>
              <a:off x="3985" y="1968"/>
              <a:ext cx="721" cy="817"/>
            </a:xfrm>
            <a:custGeom>
              <a:avLst/>
              <a:gdLst>
                <a:gd name="T0" fmla="*/ 0 w 721"/>
                <a:gd name="T1" fmla="*/ 336 h 817"/>
                <a:gd name="T2" fmla="*/ 720 w 721"/>
                <a:gd name="T3" fmla="*/ 0 h 817"/>
                <a:gd name="T4" fmla="*/ 720 w 721"/>
                <a:gd name="T5" fmla="*/ 816 h 817"/>
                <a:gd name="T6" fmla="*/ 0 w 721"/>
                <a:gd name="T7" fmla="*/ 336 h 81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1"/>
                <a:gd name="T13" fmla="*/ 0 h 817"/>
                <a:gd name="T14" fmla="*/ 721 w 721"/>
                <a:gd name="T15" fmla="*/ 817 h 81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1" h="817">
                  <a:moveTo>
                    <a:pt x="0" y="336"/>
                  </a:moveTo>
                  <a:lnTo>
                    <a:pt x="720" y="0"/>
                  </a:lnTo>
                  <a:lnTo>
                    <a:pt x="720" y="816"/>
                  </a:lnTo>
                  <a:lnTo>
                    <a:pt x="0" y="336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81" name="Freeform 4"/>
            <p:cNvSpPr>
              <a:spLocks/>
            </p:cNvSpPr>
            <p:nvPr/>
          </p:nvSpPr>
          <p:spPr bwMode="auto">
            <a:xfrm>
              <a:off x="4033" y="1152"/>
              <a:ext cx="673" cy="817"/>
            </a:xfrm>
            <a:custGeom>
              <a:avLst/>
              <a:gdLst>
                <a:gd name="T0" fmla="*/ 0 w 673"/>
                <a:gd name="T1" fmla="*/ 0 h 817"/>
                <a:gd name="T2" fmla="*/ 288 w 673"/>
                <a:gd name="T3" fmla="*/ 816 h 817"/>
                <a:gd name="T4" fmla="*/ 672 w 673"/>
                <a:gd name="T5" fmla="*/ 816 h 817"/>
                <a:gd name="T6" fmla="*/ 672 w 673"/>
                <a:gd name="T7" fmla="*/ 0 h 817"/>
                <a:gd name="T8" fmla="*/ 0 w 673"/>
                <a:gd name="T9" fmla="*/ 0 h 8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3"/>
                <a:gd name="T16" fmla="*/ 0 h 817"/>
                <a:gd name="T17" fmla="*/ 673 w 673"/>
                <a:gd name="T18" fmla="*/ 817 h 8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3" h="817">
                  <a:moveTo>
                    <a:pt x="0" y="0"/>
                  </a:moveTo>
                  <a:lnTo>
                    <a:pt x="288" y="816"/>
                  </a:lnTo>
                  <a:lnTo>
                    <a:pt x="672" y="816"/>
                  </a:lnTo>
                  <a:lnTo>
                    <a:pt x="672" y="0"/>
                  </a:lnTo>
                  <a:lnTo>
                    <a:pt x="0" y="0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82" name="Freeform 5"/>
            <p:cNvSpPr>
              <a:spLocks/>
            </p:cNvSpPr>
            <p:nvPr/>
          </p:nvSpPr>
          <p:spPr bwMode="auto">
            <a:xfrm>
              <a:off x="3169" y="3168"/>
              <a:ext cx="433" cy="433"/>
            </a:xfrm>
            <a:custGeom>
              <a:avLst/>
              <a:gdLst>
                <a:gd name="T0" fmla="*/ 48 w 433"/>
                <a:gd name="T1" fmla="*/ 432 h 433"/>
                <a:gd name="T2" fmla="*/ 0 w 433"/>
                <a:gd name="T3" fmla="*/ 240 h 433"/>
                <a:gd name="T4" fmla="*/ 48 w 433"/>
                <a:gd name="T5" fmla="*/ 0 h 433"/>
                <a:gd name="T6" fmla="*/ 432 w 433"/>
                <a:gd name="T7" fmla="*/ 96 h 433"/>
                <a:gd name="T8" fmla="*/ 432 w 433"/>
                <a:gd name="T9" fmla="*/ 432 h 433"/>
                <a:gd name="T10" fmla="*/ 48 w 433"/>
                <a:gd name="T11" fmla="*/ 432 h 4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3"/>
                <a:gd name="T19" fmla="*/ 0 h 433"/>
                <a:gd name="T20" fmla="*/ 433 w 433"/>
                <a:gd name="T21" fmla="*/ 433 h 4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3" h="433">
                  <a:moveTo>
                    <a:pt x="48" y="432"/>
                  </a:moveTo>
                  <a:lnTo>
                    <a:pt x="0" y="240"/>
                  </a:lnTo>
                  <a:lnTo>
                    <a:pt x="48" y="0"/>
                  </a:lnTo>
                  <a:lnTo>
                    <a:pt x="432" y="96"/>
                  </a:lnTo>
                  <a:lnTo>
                    <a:pt x="432" y="432"/>
                  </a:lnTo>
                  <a:lnTo>
                    <a:pt x="48" y="432"/>
                  </a:lnTo>
                </a:path>
              </a:pathLst>
            </a:custGeom>
            <a:solidFill>
              <a:srgbClr val="00AE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83" name="Freeform 6"/>
            <p:cNvSpPr>
              <a:spLocks/>
            </p:cNvSpPr>
            <p:nvPr/>
          </p:nvSpPr>
          <p:spPr bwMode="auto">
            <a:xfrm>
              <a:off x="2497" y="2832"/>
              <a:ext cx="481" cy="337"/>
            </a:xfrm>
            <a:custGeom>
              <a:avLst/>
              <a:gdLst>
                <a:gd name="T0" fmla="*/ 96 w 481"/>
                <a:gd name="T1" fmla="*/ 336 h 337"/>
                <a:gd name="T2" fmla="*/ 0 w 481"/>
                <a:gd name="T3" fmla="*/ 0 h 337"/>
                <a:gd name="T4" fmla="*/ 480 w 481"/>
                <a:gd name="T5" fmla="*/ 0 h 337"/>
                <a:gd name="T6" fmla="*/ 384 w 481"/>
                <a:gd name="T7" fmla="*/ 288 h 337"/>
                <a:gd name="T8" fmla="*/ 96 w 481"/>
                <a:gd name="T9" fmla="*/ 336 h 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1"/>
                <a:gd name="T16" fmla="*/ 0 h 337"/>
                <a:gd name="T17" fmla="*/ 481 w 481"/>
                <a:gd name="T18" fmla="*/ 337 h 3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1" h="337">
                  <a:moveTo>
                    <a:pt x="96" y="336"/>
                  </a:moveTo>
                  <a:lnTo>
                    <a:pt x="0" y="0"/>
                  </a:lnTo>
                  <a:lnTo>
                    <a:pt x="480" y="0"/>
                  </a:lnTo>
                  <a:lnTo>
                    <a:pt x="384" y="288"/>
                  </a:lnTo>
                  <a:lnTo>
                    <a:pt x="96" y="336"/>
                  </a:lnTo>
                </a:path>
              </a:pathLst>
            </a:custGeom>
            <a:solidFill>
              <a:srgbClr val="00AE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84" name="Freeform 7"/>
            <p:cNvSpPr>
              <a:spLocks/>
            </p:cNvSpPr>
            <p:nvPr/>
          </p:nvSpPr>
          <p:spPr bwMode="auto">
            <a:xfrm>
              <a:off x="2449" y="1968"/>
              <a:ext cx="1153" cy="817"/>
            </a:xfrm>
            <a:custGeom>
              <a:avLst/>
              <a:gdLst>
                <a:gd name="T0" fmla="*/ 0 w 1153"/>
                <a:gd name="T1" fmla="*/ 288 h 817"/>
                <a:gd name="T2" fmla="*/ 960 w 1153"/>
                <a:gd name="T3" fmla="*/ 816 h 817"/>
                <a:gd name="T4" fmla="*/ 1152 w 1153"/>
                <a:gd name="T5" fmla="*/ 816 h 817"/>
                <a:gd name="T6" fmla="*/ 1152 w 1153"/>
                <a:gd name="T7" fmla="*/ 576 h 817"/>
                <a:gd name="T8" fmla="*/ 240 w 1153"/>
                <a:gd name="T9" fmla="*/ 0 h 817"/>
                <a:gd name="T10" fmla="*/ 0 w 1153"/>
                <a:gd name="T11" fmla="*/ 0 h 817"/>
                <a:gd name="T12" fmla="*/ 0 w 1153"/>
                <a:gd name="T13" fmla="*/ 288 h 8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53"/>
                <a:gd name="T22" fmla="*/ 0 h 817"/>
                <a:gd name="T23" fmla="*/ 1153 w 1153"/>
                <a:gd name="T24" fmla="*/ 817 h 8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53" h="817">
                  <a:moveTo>
                    <a:pt x="0" y="288"/>
                  </a:moveTo>
                  <a:lnTo>
                    <a:pt x="960" y="816"/>
                  </a:lnTo>
                  <a:lnTo>
                    <a:pt x="1152" y="816"/>
                  </a:lnTo>
                  <a:lnTo>
                    <a:pt x="1152" y="576"/>
                  </a:lnTo>
                  <a:lnTo>
                    <a:pt x="240" y="0"/>
                  </a:lnTo>
                  <a:lnTo>
                    <a:pt x="0" y="0"/>
                  </a:lnTo>
                  <a:lnTo>
                    <a:pt x="0" y="288"/>
                  </a:lnTo>
                </a:path>
              </a:pathLst>
            </a:custGeom>
            <a:solidFill>
              <a:srgbClr val="00AE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85" name="Freeform 8"/>
            <p:cNvSpPr>
              <a:spLocks/>
            </p:cNvSpPr>
            <p:nvPr/>
          </p:nvSpPr>
          <p:spPr bwMode="auto">
            <a:xfrm>
              <a:off x="2449" y="1152"/>
              <a:ext cx="865" cy="577"/>
            </a:xfrm>
            <a:custGeom>
              <a:avLst/>
              <a:gdLst>
                <a:gd name="T0" fmla="*/ 0 w 865"/>
                <a:gd name="T1" fmla="*/ 576 h 577"/>
                <a:gd name="T2" fmla="*/ 864 w 865"/>
                <a:gd name="T3" fmla="*/ 0 h 577"/>
                <a:gd name="T4" fmla="*/ 0 w 865"/>
                <a:gd name="T5" fmla="*/ 0 h 577"/>
                <a:gd name="T6" fmla="*/ 0 w 865"/>
                <a:gd name="T7" fmla="*/ 576 h 57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5"/>
                <a:gd name="T13" fmla="*/ 0 h 577"/>
                <a:gd name="T14" fmla="*/ 865 w 865"/>
                <a:gd name="T15" fmla="*/ 577 h 57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5" h="577">
                  <a:moveTo>
                    <a:pt x="0" y="576"/>
                  </a:moveTo>
                  <a:lnTo>
                    <a:pt x="864" y="0"/>
                  </a:lnTo>
                  <a:lnTo>
                    <a:pt x="0" y="0"/>
                  </a:lnTo>
                  <a:lnTo>
                    <a:pt x="0" y="576"/>
                  </a:lnTo>
                </a:path>
              </a:pathLst>
            </a:custGeom>
            <a:solidFill>
              <a:srgbClr val="00AE00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786" name="Rectangle 9"/>
            <p:cNvSpPr>
              <a:spLocks noChangeArrowheads="1"/>
            </p:cNvSpPr>
            <p:nvPr/>
          </p:nvSpPr>
          <p:spPr bwMode="auto">
            <a:xfrm>
              <a:off x="197" y="676"/>
              <a:ext cx="5512" cy="29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r" rtl="1" eaLnBrk="1" hangingPunct="1">
                <a:spcBef>
                  <a:spcPct val="0"/>
                </a:spcBef>
                <a:buFontTx/>
                <a:buNone/>
              </a:pPr>
              <a:endParaRPr lang="he-IL" altLang="en-US" sz="1800"/>
            </a:p>
          </p:txBody>
        </p:sp>
        <p:sp>
          <p:nvSpPr>
            <p:cNvPr id="75787" name="Line 10"/>
            <p:cNvSpPr>
              <a:spLocks noChangeShapeType="1"/>
            </p:cNvSpPr>
            <p:nvPr/>
          </p:nvSpPr>
          <p:spPr bwMode="auto">
            <a:xfrm>
              <a:off x="1249" y="672"/>
              <a:ext cx="0" cy="2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88" name="Line 11"/>
            <p:cNvSpPr>
              <a:spLocks noChangeShapeType="1"/>
            </p:cNvSpPr>
            <p:nvPr/>
          </p:nvSpPr>
          <p:spPr bwMode="auto">
            <a:xfrm>
              <a:off x="2449" y="672"/>
              <a:ext cx="0" cy="2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89" name="Line 12"/>
            <p:cNvSpPr>
              <a:spLocks noChangeShapeType="1"/>
            </p:cNvSpPr>
            <p:nvPr/>
          </p:nvSpPr>
          <p:spPr bwMode="auto">
            <a:xfrm>
              <a:off x="3601" y="672"/>
              <a:ext cx="0" cy="2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90" name="Line 13"/>
            <p:cNvSpPr>
              <a:spLocks noChangeShapeType="1"/>
            </p:cNvSpPr>
            <p:nvPr/>
          </p:nvSpPr>
          <p:spPr bwMode="auto">
            <a:xfrm>
              <a:off x="4705" y="672"/>
              <a:ext cx="0" cy="2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91" name="Line 14"/>
            <p:cNvSpPr>
              <a:spLocks noChangeShapeType="1"/>
            </p:cNvSpPr>
            <p:nvPr/>
          </p:nvSpPr>
          <p:spPr bwMode="auto">
            <a:xfrm>
              <a:off x="193" y="1152"/>
              <a:ext cx="5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92" name="Line 15"/>
            <p:cNvSpPr>
              <a:spLocks noChangeShapeType="1"/>
            </p:cNvSpPr>
            <p:nvPr/>
          </p:nvSpPr>
          <p:spPr bwMode="auto">
            <a:xfrm>
              <a:off x="193" y="1968"/>
              <a:ext cx="5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93" name="Line 16"/>
            <p:cNvSpPr>
              <a:spLocks noChangeShapeType="1"/>
            </p:cNvSpPr>
            <p:nvPr/>
          </p:nvSpPr>
          <p:spPr bwMode="auto">
            <a:xfrm>
              <a:off x="193" y="2784"/>
              <a:ext cx="55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94" name="Rectangle 17"/>
            <p:cNvSpPr>
              <a:spLocks noChangeArrowheads="1"/>
            </p:cNvSpPr>
            <p:nvPr/>
          </p:nvSpPr>
          <p:spPr bwMode="auto">
            <a:xfrm>
              <a:off x="369" y="788"/>
              <a:ext cx="677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Structure</a:t>
              </a:r>
            </a:p>
          </p:txBody>
        </p:sp>
        <p:sp>
          <p:nvSpPr>
            <p:cNvPr id="75795" name="Rectangle 18"/>
            <p:cNvSpPr>
              <a:spLocks noChangeArrowheads="1"/>
            </p:cNvSpPr>
            <p:nvPr/>
          </p:nvSpPr>
          <p:spPr bwMode="auto">
            <a:xfrm>
              <a:off x="1248" y="692"/>
              <a:ext cx="1170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Types of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Decision Regions</a:t>
              </a:r>
            </a:p>
          </p:txBody>
        </p:sp>
        <p:sp>
          <p:nvSpPr>
            <p:cNvPr id="75796" name="Rectangle 19"/>
            <p:cNvSpPr>
              <a:spLocks noChangeArrowheads="1"/>
            </p:cNvSpPr>
            <p:nvPr/>
          </p:nvSpPr>
          <p:spPr bwMode="auto">
            <a:xfrm>
              <a:off x="2596" y="692"/>
              <a:ext cx="902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Exclusive-OR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Problem</a:t>
              </a:r>
            </a:p>
          </p:txBody>
        </p:sp>
        <p:sp>
          <p:nvSpPr>
            <p:cNvPr id="75797" name="Rectangle 20"/>
            <p:cNvSpPr>
              <a:spLocks noChangeArrowheads="1"/>
            </p:cNvSpPr>
            <p:nvPr/>
          </p:nvSpPr>
          <p:spPr bwMode="auto">
            <a:xfrm>
              <a:off x="3601" y="692"/>
              <a:ext cx="1116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Classes with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Meshed regions</a:t>
              </a:r>
            </a:p>
          </p:txBody>
        </p:sp>
        <p:sp>
          <p:nvSpPr>
            <p:cNvPr id="75798" name="Rectangle 21"/>
            <p:cNvSpPr>
              <a:spLocks noChangeArrowheads="1"/>
            </p:cNvSpPr>
            <p:nvPr/>
          </p:nvSpPr>
          <p:spPr bwMode="auto">
            <a:xfrm>
              <a:off x="4704" y="692"/>
              <a:ext cx="1053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Most General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Region Shapes</a:t>
              </a:r>
            </a:p>
          </p:txBody>
        </p:sp>
        <p:sp>
          <p:nvSpPr>
            <p:cNvPr id="75799" name="Rectangle 22"/>
            <p:cNvSpPr>
              <a:spLocks noChangeArrowheads="1"/>
            </p:cNvSpPr>
            <p:nvPr/>
          </p:nvSpPr>
          <p:spPr bwMode="auto">
            <a:xfrm>
              <a:off x="232" y="1172"/>
              <a:ext cx="865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Single-Layer</a:t>
              </a:r>
            </a:p>
          </p:txBody>
        </p:sp>
        <p:grpSp>
          <p:nvGrpSpPr>
            <p:cNvPr id="75800" name="Group 23"/>
            <p:cNvGrpSpPr>
              <a:grpSpLocks/>
            </p:cNvGrpSpPr>
            <p:nvPr/>
          </p:nvGrpSpPr>
          <p:grpSpPr bwMode="auto">
            <a:xfrm>
              <a:off x="481" y="1444"/>
              <a:ext cx="432" cy="332"/>
              <a:chOff x="384" y="1924"/>
              <a:chExt cx="432" cy="332"/>
            </a:xfrm>
          </p:grpSpPr>
          <p:sp>
            <p:nvSpPr>
              <p:cNvPr id="75965" name="Oval 24"/>
              <p:cNvSpPr>
                <a:spLocks noChangeArrowheads="1"/>
              </p:cNvSpPr>
              <p:nvPr/>
            </p:nvSpPr>
            <p:spPr bwMode="auto">
              <a:xfrm>
                <a:off x="532" y="1924"/>
                <a:ext cx="136" cy="1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75966" name="Line 25"/>
              <p:cNvSpPr>
                <a:spLocks noChangeShapeType="1"/>
              </p:cNvSpPr>
              <p:nvPr/>
            </p:nvSpPr>
            <p:spPr bwMode="auto">
              <a:xfrm flipH="1">
                <a:off x="384" y="2064"/>
                <a:ext cx="192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67" name="Line 26"/>
              <p:cNvSpPr>
                <a:spLocks noChangeShapeType="1"/>
              </p:cNvSpPr>
              <p:nvPr/>
            </p:nvSpPr>
            <p:spPr bwMode="auto">
              <a:xfrm>
                <a:off x="624" y="2064"/>
                <a:ext cx="192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5801" name="Rectangle 27"/>
            <p:cNvSpPr>
              <a:spLocks noChangeArrowheads="1"/>
            </p:cNvSpPr>
            <p:nvPr/>
          </p:nvSpPr>
          <p:spPr bwMode="auto">
            <a:xfrm>
              <a:off x="280" y="1988"/>
              <a:ext cx="746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Two-Layer</a:t>
              </a:r>
            </a:p>
          </p:txBody>
        </p:sp>
        <p:grpSp>
          <p:nvGrpSpPr>
            <p:cNvPr id="75802" name="Group 28"/>
            <p:cNvGrpSpPr>
              <a:grpSpLocks/>
            </p:cNvGrpSpPr>
            <p:nvPr/>
          </p:nvGrpSpPr>
          <p:grpSpPr bwMode="auto">
            <a:xfrm>
              <a:off x="437" y="2212"/>
              <a:ext cx="520" cy="524"/>
              <a:chOff x="340" y="2692"/>
              <a:chExt cx="520" cy="524"/>
            </a:xfrm>
          </p:grpSpPr>
          <p:sp>
            <p:nvSpPr>
              <p:cNvPr id="75956" name="Oval 29"/>
              <p:cNvSpPr>
                <a:spLocks noChangeArrowheads="1"/>
              </p:cNvSpPr>
              <p:nvPr/>
            </p:nvSpPr>
            <p:spPr bwMode="auto">
              <a:xfrm>
                <a:off x="532" y="2692"/>
                <a:ext cx="136" cy="1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75957" name="Line 30"/>
              <p:cNvSpPr>
                <a:spLocks noChangeShapeType="1"/>
              </p:cNvSpPr>
              <p:nvPr/>
            </p:nvSpPr>
            <p:spPr bwMode="auto">
              <a:xfrm flipH="1">
                <a:off x="432" y="2832"/>
                <a:ext cx="14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58" name="Line 31"/>
              <p:cNvSpPr>
                <a:spLocks noChangeShapeType="1"/>
              </p:cNvSpPr>
              <p:nvPr/>
            </p:nvSpPr>
            <p:spPr bwMode="auto">
              <a:xfrm>
                <a:off x="624" y="2832"/>
                <a:ext cx="14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59" name="Oval 32"/>
              <p:cNvSpPr>
                <a:spLocks noChangeArrowheads="1"/>
              </p:cNvSpPr>
              <p:nvPr/>
            </p:nvSpPr>
            <p:spPr bwMode="auto">
              <a:xfrm>
                <a:off x="724" y="2980"/>
                <a:ext cx="136" cy="1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75960" name="Oval 33"/>
              <p:cNvSpPr>
                <a:spLocks noChangeArrowheads="1"/>
              </p:cNvSpPr>
              <p:nvPr/>
            </p:nvSpPr>
            <p:spPr bwMode="auto">
              <a:xfrm>
                <a:off x="340" y="2980"/>
                <a:ext cx="136" cy="1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 eaLnBrk="1" hangingPunct="1">
                  <a:spcBef>
                    <a:spcPct val="0"/>
                  </a:spcBef>
                  <a:buFontTx/>
                  <a:buNone/>
                </a:pPr>
                <a:endParaRPr lang="he-IL" altLang="en-US" sz="1800"/>
              </a:p>
            </p:txBody>
          </p:sp>
          <p:sp>
            <p:nvSpPr>
              <p:cNvPr id="75961" name="Line 34"/>
              <p:cNvSpPr>
                <a:spLocks noChangeShapeType="1"/>
              </p:cNvSpPr>
              <p:nvPr/>
            </p:nvSpPr>
            <p:spPr bwMode="auto">
              <a:xfrm>
                <a:off x="408" y="312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62" name="Line 35"/>
              <p:cNvSpPr>
                <a:spLocks noChangeShapeType="1"/>
              </p:cNvSpPr>
              <p:nvPr/>
            </p:nvSpPr>
            <p:spPr bwMode="auto">
              <a:xfrm>
                <a:off x="792" y="312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63" name="Line 36"/>
              <p:cNvSpPr>
                <a:spLocks noChangeShapeType="1"/>
              </p:cNvSpPr>
              <p:nvPr/>
            </p:nvSpPr>
            <p:spPr bwMode="auto">
              <a:xfrm flipV="1">
                <a:off x="408" y="3060"/>
                <a:ext cx="315" cy="1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64" name="Line 37"/>
              <p:cNvSpPr>
                <a:spLocks noChangeShapeType="1"/>
              </p:cNvSpPr>
              <p:nvPr/>
            </p:nvSpPr>
            <p:spPr bwMode="auto">
              <a:xfrm flipH="1" flipV="1">
                <a:off x="473" y="3060"/>
                <a:ext cx="315" cy="15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5803" name="Rectangle 38"/>
            <p:cNvSpPr>
              <a:spLocks noChangeArrowheads="1"/>
            </p:cNvSpPr>
            <p:nvPr/>
          </p:nvSpPr>
          <p:spPr bwMode="auto">
            <a:xfrm>
              <a:off x="272" y="2804"/>
              <a:ext cx="84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Three-Layer</a:t>
              </a:r>
            </a:p>
          </p:txBody>
        </p:sp>
        <p:sp>
          <p:nvSpPr>
            <p:cNvPr id="75804" name="Oval 39"/>
            <p:cNvSpPr>
              <a:spLocks noChangeArrowheads="1"/>
            </p:cNvSpPr>
            <p:nvPr/>
          </p:nvSpPr>
          <p:spPr bwMode="auto">
            <a:xfrm>
              <a:off x="677" y="3028"/>
              <a:ext cx="88" cy="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r" rtl="1" eaLnBrk="1" hangingPunct="1">
                <a:spcBef>
                  <a:spcPct val="0"/>
                </a:spcBef>
                <a:buFontTx/>
                <a:buNone/>
              </a:pPr>
              <a:endParaRPr lang="he-IL" altLang="en-US" sz="1800"/>
            </a:p>
          </p:txBody>
        </p:sp>
        <p:grpSp>
          <p:nvGrpSpPr>
            <p:cNvPr id="75805" name="Group 40"/>
            <p:cNvGrpSpPr>
              <a:grpSpLocks/>
            </p:cNvGrpSpPr>
            <p:nvPr/>
          </p:nvGrpSpPr>
          <p:grpSpPr bwMode="auto">
            <a:xfrm>
              <a:off x="341" y="3172"/>
              <a:ext cx="760" cy="280"/>
              <a:chOff x="244" y="3652"/>
              <a:chExt cx="760" cy="280"/>
            </a:xfrm>
          </p:grpSpPr>
          <p:grpSp>
            <p:nvGrpSpPr>
              <p:cNvPr id="75946" name="Group 41"/>
              <p:cNvGrpSpPr>
                <a:grpSpLocks/>
              </p:cNvGrpSpPr>
              <p:nvPr/>
            </p:nvGrpSpPr>
            <p:grpSpPr bwMode="auto">
              <a:xfrm>
                <a:off x="244" y="3652"/>
                <a:ext cx="328" cy="280"/>
                <a:chOff x="244" y="3652"/>
                <a:chExt cx="328" cy="280"/>
              </a:xfrm>
            </p:grpSpPr>
            <p:sp>
              <p:nvSpPr>
                <p:cNvPr id="75952" name="Oval 42"/>
                <p:cNvSpPr>
                  <a:spLocks noChangeArrowheads="1"/>
                </p:cNvSpPr>
                <p:nvPr/>
              </p:nvSpPr>
              <p:spPr bwMode="auto">
                <a:xfrm>
                  <a:off x="364" y="3652"/>
                  <a:ext cx="88" cy="8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grpSp>
              <p:nvGrpSpPr>
                <p:cNvPr id="75953" name="Group 43"/>
                <p:cNvGrpSpPr>
                  <a:grpSpLocks/>
                </p:cNvGrpSpPr>
                <p:nvPr/>
              </p:nvGrpSpPr>
              <p:grpSpPr bwMode="auto">
                <a:xfrm>
                  <a:off x="244" y="3844"/>
                  <a:ext cx="328" cy="88"/>
                  <a:chOff x="244" y="3844"/>
                  <a:chExt cx="328" cy="88"/>
                </a:xfrm>
              </p:grpSpPr>
              <p:sp>
                <p:nvSpPr>
                  <p:cNvPr id="75954" name="Oval 44"/>
                  <p:cNvSpPr>
                    <a:spLocks noChangeArrowheads="1"/>
                  </p:cNvSpPr>
                  <p:nvPr/>
                </p:nvSpPr>
                <p:spPr bwMode="auto">
                  <a:xfrm>
                    <a:off x="244" y="3844"/>
                    <a:ext cx="88" cy="88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9pPr>
                  </a:lstStyle>
                  <a:p>
                    <a:pPr algn="r" rtl="1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he-IL" altLang="en-US" sz="1800"/>
                  </a:p>
                </p:txBody>
              </p:sp>
              <p:sp>
                <p:nvSpPr>
                  <p:cNvPr id="75955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484" y="3844"/>
                    <a:ext cx="88" cy="88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9pPr>
                  </a:lstStyle>
                  <a:p>
                    <a:pPr algn="r" rtl="1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he-IL" altLang="en-US" sz="1800"/>
                  </a:p>
                </p:txBody>
              </p:sp>
            </p:grpSp>
          </p:grpSp>
          <p:grpSp>
            <p:nvGrpSpPr>
              <p:cNvPr id="75947" name="Group 46"/>
              <p:cNvGrpSpPr>
                <a:grpSpLocks/>
              </p:cNvGrpSpPr>
              <p:nvPr/>
            </p:nvGrpSpPr>
            <p:grpSpPr bwMode="auto">
              <a:xfrm>
                <a:off x="676" y="3652"/>
                <a:ext cx="328" cy="280"/>
                <a:chOff x="676" y="3652"/>
                <a:chExt cx="328" cy="280"/>
              </a:xfrm>
            </p:grpSpPr>
            <p:sp>
              <p:nvSpPr>
                <p:cNvPr id="75948" name="Oval 47"/>
                <p:cNvSpPr>
                  <a:spLocks noChangeArrowheads="1"/>
                </p:cNvSpPr>
                <p:nvPr/>
              </p:nvSpPr>
              <p:spPr bwMode="auto">
                <a:xfrm>
                  <a:off x="796" y="3652"/>
                  <a:ext cx="88" cy="8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grpSp>
              <p:nvGrpSpPr>
                <p:cNvPr id="75949" name="Group 48"/>
                <p:cNvGrpSpPr>
                  <a:grpSpLocks/>
                </p:cNvGrpSpPr>
                <p:nvPr/>
              </p:nvGrpSpPr>
              <p:grpSpPr bwMode="auto">
                <a:xfrm>
                  <a:off x="676" y="3844"/>
                  <a:ext cx="328" cy="88"/>
                  <a:chOff x="676" y="3844"/>
                  <a:chExt cx="328" cy="88"/>
                </a:xfrm>
              </p:grpSpPr>
              <p:sp>
                <p:nvSpPr>
                  <p:cNvPr id="75950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676" y="3844"/>
                    <a:ext cx="88" cy="88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9pPr>
                  </a:lstStyle>
                  <a:p>
                    <a:pPr algn="r" rtl="1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he-IL" altLang="en-US" sz="1800"/>
                  </a:p>
                </p:txBody>
              </p:sp>
              <p:sp>
                <p:nvSpPr>
                  <p:cNvPr id="75951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916" y="3844"/>
                    <a:ext cx="88" cy="88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charset="0"/>
                        <a:ea typeface="Arial" charset="0"/>
                        <a:cs typeface="Arial" charset="0"/>
                      </a:defRPr>
                    </a:lvl9pPr>
                  </a:lstStyle>
                  <a:p>
                    <a:pPr algn="r" rtl="1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he-IL" altLang="en-US" sz="1800"/>
                  </a:p>
                </p:txBody>
              </p:sp>
            </p:grpSp>
          </p:grpSp>
        </p:grpSp>
        <p:sp>
          <p:nvSpPr>
            <p:cNvPr id="75806" name="Line 51"/>
            <p:cNvSpPr>
              <a:spLocks noChangeShapeType="1"/>
            </p:cNvSpPr>
            <p:nvPr/>
          </p:nvSpPr>
          <p:spPr bwMode="auto">
            <a:xfrm flipV="1">
              <a:off x="541" y="3099"/>
              <a:ext cx="141" cy="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07" name="Line 52"/>
            <p:cNvSpPr>
              <a:spLocks noChangeShapeType="1"/>
            </p:cNvSpPr>
            <p:nvPr/>
          </p:nvSpPr>
          <p:spPr bwMode="auto">
            <a:xfrm flipH="1" flipV="1">
              <a:off x="756" y="3102"/>
              <a:ext cx="141" cy="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08" name="Line 53"/>
            <p:cNvSpPr>
              <a:spLocks noChangeShapeType="1"/>
            </p:cNvSpPr>
            <p:nvPr/>
          </p:nvSpPr>
          <p:spPr bwMode="auto">
            <a:xfrm flipV="1">
              <a:off x="391" y="3261"/>
              <a:ext cx="111" cy="1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09" name="Line 54"/>
            <p:cNvSpPr>
              <a:spLocks noChangeShapeType="1"/>
            </p:cNvSpPr>
            <p:nvPr/>
          </p:nvSpPr>
          <p:spPr bwMode="auto">
            <a:xfrm>
              <a:off x="517" y="3258"/>
              <a:ext cx="105" cy="1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10" name="Line 55"/>
            <p:cNvSpPr>
              <a:spLocks noChangeShapeType="1"/>
            </p:cNvSpPr>
            <p:nvPr/>
          </p:nvSpPr>
          <p:spPr bwMode="auto">
            <a:xfrm>
              <a:off x="532" y="3252"/>
              <a:ext cx="285" cy="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11" name="Line 56"/>
            <p:cNvSpPr>
              <a:spLocks noChangeShapeType="1"/>
            </p:cNvSpPr>
            <p:nvPr/>
          </p:nvSpPr>
          <p:spPr bwMode="auto">
            <a:xfrm>
              <a:off x="544" y="3249"/>
              <a:ext cx="483" cy="1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12" name="Line 57"/>
            <p:cNvSpPr>
              <a:spLocks noChangeShapeType="1"/>
            </p:cNvSpPr>
            <p:nvPr/>
          </p:nvSpPr>
          <p:spPr bwMode="auto">
            <a:xfrm flipH="1">
              <a:off x="423" y="3252"/>
              <a:ext cx="483" cy="1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13" name="Line 58"/>
            <p:cNvSpPr>
              <a:spLocks noChangeShapeType="1"/>
            </p:cNvSpPr>
            <p:nvPr/>
          </p:nvSpPr>
          <p:spPr bwMode="auto">
            <a:xfrm flipH="1">
              <a:off x="625" y="3255"/>
              <a:ext cx="290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14" name="Line 59"/>
            <p:cNvSpPr>
              <a:spLocks noChangeShapeType="1"/>
            </p:cNvSpPr>
            <p:nvPr/>
          </p:nvSpPr>
          <p:spPr bwMode="auto">
            <a:xfrm flipH="1">
              <a:off x="816" y="3258"/>
              <a:ext cx="105" cy="1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15" name="Line 60"/>
            <p:cNvSpPr>
              <a:spLocks noChangeShapeType="1"/>
            </p:cNvSpPr>
            <p:nvPr/>
          </p:nvSpPr>
          <p:spPr bwMode="auto">
            <a:xfrm flipH="1" flipV="1">
              <a:off x="942" y="3261"/>
              <a:ext cx="111" cy="1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16" name="Line 61"/>
            <p:cNvSpPr>
              <a:spLocks noChangeShapeType="1"/>
            </p:cNvSpPr>
            <p:nvPr/>
          </p:nvSpPr>
          <p:spPr bwMode="auto">
            <a:xfrm>
              <a:off x="394" y="3459"/>
              <a:ext cx="111" cy="1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17" name="Line 62"/>
            <p:cNvSpPr>
              <a:spLocks noChangeShapeType="1"/>
            </p:cNvSpPr>
            <p:nvPr/>
          </p:nvSpPr>
          <p:spPr bwMode="auto">
            <a:xfrm flipV="1">
              <a:off x="511" y="3446"/>
              <a:ext cx="105" cy="1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18" name="Line 63"/>
            <p:cNvSpPr>
              <a:spLocks noChangeShapeType="1"/>
            </p:cNvSpPr>
            <p:nvPr/>
          </p:nvSpPr>
          <p:spPr bwMode="auto">
            <a:xfrm flipV="1">
              <a:off x="505" y="3443"/>
              <a:ext cx="285" cy="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19" name="Line 64"/>
            <p:cNvSpPr>
              <a:spLocks noChangeShapeType="1"/>
            </p:cNvSpPr>
            <p:nvPr/>
          </p:nvSpPr>
          <p:spPr bwMode="auto">
            <a:xfrm flipV="1">
              <a:off x="499" y="3435"/>
              <a:ext cx="522" cy="1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20" name="Line 65"/>
            <p:cNvSpPr>
              <a:spLocks noChangeShapeType="1"/>
            </p:cNvSpPr>
            <p:nvPr/>
          </p:nvSpPr>
          <p:spPr bwMode="auto">
            <a:xfrm flipH="1" flipV="1">
              <a:off x="427" y="3432"/>
              <a:ext cx="503" cy="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21" name="Line 66"/>
            <p:cNvSpPr>
              <a:spLocks noChangeShapeType="1"/>
            </p:cNvSpPr>
            <p:nvPr/>
          </p:nvSpPr>
          <p:spPr bwMode="auto">
            <a:xfrm flipH="1" flipV="1">
              <a:off x="645" y="3446"/>
              <a:ext cx="285" cy="1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22" name="Line 67"/>
            <p:cNvSpPr>
              <a:spLocks noChangeShapeType="1"/>
            </p:cNvSpPr>
            <p:nvPr/>
          </p:nvSpPr>
          <p:spPr bwMode="auto">
            <a:xfrm flipH="1" flipV="1">
              <a:off x="810" y="3446"/>
              <a:ext cx="121" cy="1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23" name="Line 68"/>
            <p:cNvSpPr>
              <a:spLocks noChangeShapeType="1"/>
            </p:cNvSpPr>
            <p:nvPr/>
          </p:nvSpPr>
          <p:spPr bwMode="auto">
            <a:xfrm flipH="1">
              <a:off x="934" y="3450"/>
              <a:ext cx="113" cy="1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24" name="Rectangle 69"/>
            <p:cNvSpPr>
              <a:spLocks noChangeArrowheads="1"/>
            </p:cNvSpPr>
            <p:nvPr/>
          </p:nvSpPr>
          <p:spPr bwMode="auto">
            <a:xfrm>
              <a:off x="1404" y="1220"/>
              <a:ext cx="882" cy="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Half Plane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Bounded By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Hyperplane</a:t>
              </a:r>
            </a:p>
          </p:txBody>
        </p:sp>
        <p:sp>
          <p:nvSpPr>
            <p:cNvPr id="75825" name="Rectangle 70"/>
            <p:cNvSpPr>
              <a:spLocks noChangeArrowheads="1"/>
            </p:cNvSpPr>
            <p:nvPr/>
          </p:nvSpPr>
          <p:spPr bwMode="auto">
            <a:xfrm>
              <a:off x="1305" y="2036"/>
              <a:ext cx="1079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Convex Open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Or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 i="1">
                  <a:solidFill>
                    <a:schemeClr val="accent2"/>
                  </a:solidFill>
                  <a:latin typeface="Century Gothic" charset="0"/>
                </a:rPr>
                <a:t>Closed Regions</a:t>
              </a:r>
            </a:p>
          </p:txBody>
        </p:sp>
        <p:sp>
          <p:nvSpPr>
            <p:cNvPr id="75826" name="Rectangle 71"/>
            <p:cNvSpPr>
              <a:spLocks noChangeArrowheads="1"/>
            </p:cNvSpPr>
            <p:nvPr/>
          </p:nvSpPr>
          <p:spPr bwMode="auto">
            <a:xfrm>
              <a:off x="1337" y="2756"/>
              <a:ext cx="1018" cy="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>
                  <a:solidFill>
                    <a:schemeClr val="accent2"/>
                  </a:solidFill>
                  <a:latin typeface="Century Gothic" charset="0"/>
                </a:rPr>
                <a:t>Abitrary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>
                  <a:solidFill>
                    <a:schemeClr val="accent2"/>
                  </a:solidFill>
                  <a:latin typeface="Century Gothic" charset="0"/>
                </a:rPr>
                <a:t>(Complexity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>
                  <a:solidFill>
                    <a:schemeClr val="accent2"/>
                  </a:solidFill>
                  <a:latin typeface="Century Gothic" charset="0"/>
                </a:rPr>
                <a:t>Limited by No.</a:t>
              </a:r>
            </a:p>
            <a:p>
              <a:pPr algn="ctr" rtl="1">
                <a:spcBef>
                  <a:spcPct val="0"/>
                </a:spcBef>
                <a:buFontTx/>
                <a:buNone/>
              </a:pPr>
              <a:r>
                <a:rPr lang="en-GB" altLang="en-US" sz="1600">
                  <a:solidFill>
                    <a:schemeClr val="accent2"/>
                  </a:solidFill>
                  <a:latin typeface="Century Gothic" charset="0"/>
                </a:rPr>
                <a:t>of Nodes)</a:t>
              </a:r>
            </a:p>
          </p:txBody>
        </p:sp>
        <p:grpSp>
          <p:nvGrpSpPr>
            <p:cNvPr id="75827" name="Group 72"/>
            <p:cNvGrpSpPr>
              <a:grpSpLocks/>
            </p:cNvGrpSpPr>
            <p:nvPr/>
          </p:nvGrpSpPr>
          <p:grpSpPr bwMode="auto">
            <a:xfrm>
              <a:off x="2592" y="1229"/>
              <a:ext cx="856" cy="624"/>
              <a:chOff x="2495" y="1709"/>
              <a:chExt cx="856" cy="624"/>
            </a:xfrm>
          </p:grpSpPr>
          <p:grpSp>
            <p:nvGrpSpPr>
              <p:cNvPr id="75934" name="Group 73"/>
              <p:cNvGrpSpPr>
                <a:grpSpLocks/>
              </p:cNvGrpSpPr>
              <p:nvPr/>
            </p:nvGrpSpPr>
            <p:grpSpPr bwMode="auto">
              <a:xfrm>
                <a:off x="2495" y="1709"/>
                <a:ext cx="232" cy="240"/>
                <a:chOff x="2495" y="1709"/>
                <a:chExt cx="232" cy="240"/>
              </a:xfrm>
            </p:grpSpPr>
            <p:sp>
              <p:nvSpPr>
                <p:cNvPr id="75944" name="Oval 74"/>
                <p:cNvSpPr>
                  <a:spLocks noChangeArrowheads="1"/>
                </p:cNvSpPr>
                <p:nvPr/>
              </p:nvSpPr>
              <p:spPr bwMode="auto">
                <a:xfrm>
                  <a:off x="2495" y="1717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45" name="Rectangle 75"/>
                <p:cNvSpPr>
                  <a:spLocks noChangeArrowheads="1"/>
                </p:cNvSpPr>
                <p:nvPr/>
              </p:nvSpPr>
              <p:spPr bwMode="auto">
                <a:xfrm>
                  <a:off x="2496" y="1709"/>
                  <a:ext cx="211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A</a:t>
                  </a:r>
                </a:p>
              </p:txBody>
            </p:sp>
          </p:grpSp>
          <p:grpSp>
            <p:nvGrpSpPr>
              <p:cNvPr id="75935" name="Group 76"/>
              <p:cNvGrpSpPr>
                <a:grpSpLocks/>
              </p:cNvGrpSpPr>
              <p:nvPr/>
            </p:nvGrpSpPr>
            <p:grpSpPr bwMode="auto">
              <a:xfrm>
                <a:off x="3119" y="2093"/>
                <a:ext cx="232" cy="240"/>
                <a:chOff x="3119" y="2093"/>
                <a:chExt cx="232" cy="240"/>
              </a:xfrm>
            </p:grpSpPr>
            <p:sp>
              <p:nvSpPr>
                <p:cNvPr id="75942" name="Oval 77"/>
                <p:cNvSpPr>
                  <a:spLocks noChangeArrowheads="1"/>
                </p:cNvSpPr>
                <p:nvPr/>
              </p:nvSpPr>
              <p:spPr bwMode="auto">
                <a:xfrm>
                  <a:off x="3119" y="2101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43" name="Rectangle 78"/>
                <p:cNvSpPr>
                  <a:spLocks noChangeArrowheads="1"/>
                </p:cNvSpPr>
                <p:nvPr/>
              </p:nvSpPr>
              <p:spPr bwMode="auto">
                <a:xfrm>
                  <a:off x="3120" y="2093"/>
                  <a:ext cx="211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A</a:t>
                  </a:r>
                </a:p>
              </p:txBody>
            </p:sp>
          </p:grpSp>
          <p:grpSp>
            <p:nvGrpSpPr>
              <p:cNvPr id="75936" name="Group 79"/>
              <p:cNvGrpSpPr>
                <a:grpSpLocks/>
              </p:cNvGrpSpPr>
              <p:nvPr/>
            </p:nvGrpSpPr>
            <p:grpSpPr bwMode="auto">
              <a:xfrm>
                <a:off x="2495" y="2093"/>
                <a:ext cx="232" cy="240"/>
                <a:chOff x="2495" y="2093"/>
                <a:chExt cx="232" cy="240"/>
              </a:xfrm>
            </p:grpSpPr>
            <p:sp>
              <p:nvSpPr>
                <p:cNvPr id="75940" name="Oval 80"/>
                <p:cNvSpPr>
                  <a:spLocks noChangeArrowheads="1"/>
                </p:cNvSpPr>
                <p:nvPr/>
              </p:nvSpPr>
              <p:spPr bwMode="auto">
                <a:xfrm>
                  <a:off x="2495" y="2101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41" name="Rectangle 81"/>
                <p:cNvSpPr>
                  <a:spLocks noChangeArrowheads="1"/>
                </p:cNvSpPr>
                <p:nvPr/>
              </p:nvSpPr>
              <p:spPr bwMode="auto">
                <a:xfrm>
                  <a:off x="2501" y="2093"/>
                  <a:ext cx="190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B</a:t>
                  </a:r>
                </a:p>
              </p:txBody>
            </p:sp>
          </p:grpSp>
          <p:grpSp>
            <p:nvGrpSpPr>
              <p:cNvPr id="75937" name="Group 82"/>
              <p:cNvGrpSpPr>
                <a:grpSpLocks/>
              </p:cNvGrpSpPr>
              <p:nvPr/>
            </p:nvGrpSpPr>
            <p:grpSpPr bwMode="auto">
              <a:xfrm>
                <a:off x="3119" y="1709"/>
                <a:ext cx="232" cy="240"/>
                <a:chOff x="3119" y="1709"/>
                <a:chExt cx="232" cy="240"/>
              </a:xfrm>
            </p:grpSpPr>
            <p:sp>
              <p:nvSpPr>
                <p:cNvPr id="75938" name="Oval 83"/>
                <p:cNvSpPr>
                  <a:spLocks noChangeArrowheads="1"/>
                </p:cNvSpPr>
                <p:nvPr/>
              </p:nvSpPr>
              <p:spPr bwMode="auto">
                <a:xfrm>
                  <a:off x="3119" y="1717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39" name="Rectangle 84"/>
                <p:cNvSpPr>
                  <a:spLocks noChangeArrowheads="1"/>
                </p:cNvSpPr>
                <p:nvPr/>
              </p:nvSpPr>
              <p:spPr bwMode="auto">
                <a:xfrm>
                  <a:off x="3125" y="1709"/>
                  <a:ext cx="190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B</a:t>
                  </a:r>
                </a:p>
              </p:txBody>
            </p:sp>
          </p:grpSp>
        </p:grpSp>
        <p:grpSp>
          <p:nvGrpSpPr>
            <p:cNvPr id="75828" name="Group 85"/>
            <p:cNvGrpSpPr>
              <a:grpSpLocks/>
            </p:cNvGrpSpPr>
            <p:nvPr/>
          </p:nvGrpSpPr>
          <p:grpSpPr bwMode="auto">
            <a:xfrm>
              <a:off x="2592" y="2045"/>
              <a:ext cx="856" cy="624"/>
              <a:chOff x="2495" y="2525"/>
              <a:chExt cx="856" cy="624"/>
            </a:xfrm>
          </p:grpSpPr>
          <p:grpSp>
            <p:nvGrpSpPr>
              <p:cNvPr id="75922" name="Group 86"/>
              <p:cNvGrpSpPr>
                <a:grpSpLocks/>
              </p:cNvGrpSpPr>
              <p:nvPr/>
            </p:nvGrpSpPr>
            <p:grpSpPr bwMode="auto">
              <a:xfrm>
                <a:off x="2495" y="2525"/>
                <a:ext cx="232" cy="240"/>
                <a:chOff x="2495" y="2525"/>
                <a:chExt cx="232" cy="240"/>
              </a:xfrm>
            </p:grpSpPr>
            <p:sp>
              <p:nvSpPr>
                <p:cNvPr id="75932" name="Oval 87"/>
                <p:cNvSpPr>
                  <a:spLocks noChangeArrowheads="1"/>
                </p:cNvSpPr>
                <p:nvPr/>
              </p:nvSpPr>
              <p:spPr bwMode="auto">
                <a:xfrm>
                  <a:off x="2495" y="2533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33" name="Rectangle 88"/>
                <p:cNvSpPr>
                  <a:spLocks noChangeArrowheads="1"/>
                </p:cNvSpPr>
                <p:nvPr/>
              </p:nvSpPr>
              <p:spPr bwMode="auto">
                <a:xfrm>
                  <a:off x="2496" y="2525"/>
                  <a:ext cx="211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A</a:t>
                  </a:r>
                </a:p>
              </p:txBody>
            </p:sp>
          </p:grpSp>
          <p:grpSp>
            <p:nvGrpSpPr>
              <p:cNvPr id="75923" name="Group 89"/>
              <p:cNvGrpSpPr>
                <a:grpSpLocks/>
              </p:cNvGrpSpPr>
              <p:nvPr/>
            </p:nvGrpSpPr>
            <p:grpSpPr bwMode="auto">
              <a:xfrm>
                <a:off x="3119" y="2908"/>
                <a:ext cx="232" cy="241"/>
                <a:chOff x="3119" y="2908"/>
                <a:chExt cx="232" cy="241"/>
              </a:xfrm>
            </p:grpSpPr>
            <p:sp>
              <p:nvSpPr>
                <p:cNvPr id="75930" name="Oval 90"/>
                <p:cNvSpPr>
                  <a:spLocks noChangeArrowheads="1"/>
                </p:cNvSpPr>
                <p:nvPr/>
              </p:nvSpPr>
              <p:spPr bwMode="auto">
                <a:xfrm>
                  <a:off x="3119" y="2917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31" name="Rectangle 91"/>
                <p:cNvSpPr>
                  <a:spLocks noChangeArrowheads="1"/>
                </p:cNvSpPr>
                <p:nvPr/>
              </p:nvSpPr>
              <p:spPr bwMode="auto">
                <a:xfrm>
                  <a:off x="3120" y="2908"/>
                  <a:ext cx="211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A</a:t>
                  </a:r>
                </a:p>
              </p:txBody>
            </p:sp>
          </p:grpSp>
          <p:grpSp>
            <p:nvGrpSpPr>
              <p:cNvPr id="75924" name="Group 92"/>
              <p:cNvGrpSpPr>
                <a:grpSpLocks/>
              </p:cNvGrpSpPr>
              <p:nvPr/>
            </p:nvGrpSpPr>
            <p:grpSpPr bwMode="auto">
              <a:xfrm>
                <a:off x="2495" y="2908"/>
                <a:ext cx="232" cy="241"/>
                <a:chOff x="2495" y="2908"/>
                <a:chExt cx="232" cy="241"/>
              </a:xfrm>
            </p:grpSpPr>
            <p:sp>
              <p:nvSpPr>
                <p:cNvPr id="75928" name="Oval 93"/>
                <p:cNvSpPr>
                  <a:spLocks noChangeArrowheads="1"/>
                </p:cNvSpPr>
                <p:nvPr/>
              </p:nvSpPr>
              <p:spPr bwMode="auto">
                <a:xfrm>
                  <a:off x="2495" y="2917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29" name="Rectangle 94"/>
                <p:cNvSpPr>
                  <a:spLocks noChangeArrowheads="1"/>
                </p:cNvSpPr>
                <p:nvPr/>
              </p:nvSpPr>
              <p:spPr bwMode="auto">
                <a:xfrm>
                  <a:off x="2501" y="2908"/>
                  <a:ext cx="190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B</a:t>
                  </a:r>
                </a:p>
              </p:txBody>
            </p:sp>
          </p:grpSp>
          <p:grpSp>
            <p:nvGrpSpPr>
              <p:cNvPr id="75925" name="Group 95"/>
              <p:cNvGrpSpPr>
                <a:grpSpLocks/>
              </p:cNvGrpSpPr>
              <p:nvPr/>
            </p:nvGrpSpPr>
            <p:grpSpPr bwMode="auto">
              <a:xfrm>
                <a:off x="3119" y="2525"/>
                <a:ext cx="232" cy="240"/>
                <a:chOff x="3119" y="2525"/>
                <a:chExt cx="232" cy="240"/>
              </a:xfrm>
            </p:grpSpPr>
            <p:sp>
              <p:nvSpPr>
                <p:cNvPr id="75926" name="Oval 96"/>
                <p:cNvSpPr>
                  <a:spLocks noChangeArrowheads="1"/>
                </p:cNvSpPr>
                <p:nvPr/>
              </p:nvSpPr>
              <p:spPr bwMode="auto">
                <a:xfrm>
                  <a:off x="3119" y="2533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27" name="Rectangle 97"/>
                <p:cNvSpPr>
                  <a:spLocks noChangeArrowheads="1"/>
                </p:cNvSpPr>
                <p:nvPr/>
              </p:nvSpPr>
              <p:spPr bwMode="auto">
                <a:xfrm>
                  <a:off x="3125" y="2525"/>
                  <a:ext cx="190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B</a:t>
                  </a:r>
                </a:p>
              </p:txBody>
            </p:sp>
          </p:grpSp>
        </p:grpSp>
        <p:grpSp>
          <p:nvGrpSpPr>
            <p:cNvPr id="75829" name="Group 98"/>
            <p:cNvGrpSpPr>
              <a:grpSpLocks/>
            </p:cNvGrpSpPr>
            <p:nvPr/>
          </p:nvGrpSpPr>
          <p:grpSpPr bwMode="auto">
            <a:xfrm>
              <a:off x="2592" y="2861"/>
              <a:ext cx="856" cy="624"/>
              <a:chOff x="2495" y="3341"/>
              <a:chExt cx="856" cy="624"/>
            </a:xfrm>
          </p:grpSpPr>
          <p:grpSp>
            <p:nvGrpSpPr>
              <p:cNvPr id="75910" name="Group 99"/>
              <p:cNvGrpSpPr>
                <a:grpSpLocks/>
              </p:cNvGrpSpPr>
              <p:nvPr/>
            </p:nvGrpSpPr>
            <p:grpSpPr bwMode="auto">
              <a:xfrm>
                <a:off x="2495" y="3341"/>
                <a:ext cx="232" cy="240"/>
                <a:chOff x="2495" y="3341"/>
                <a:chExt cx="232" cy="240"/>
              </a:xfrm>
            </p:grpSpPr>
            <p:sp>
              <p:nvSpPr>
                <p:cNvPr id="75920" name="Oval 100"/>
                <p:cNvSpPr>
                  <a:spLocks noChangeArrowheads="1"/>
                </p:cNvSpPr>
                <p:nvPr/>
              </p:nvSpPr>
              <p:spPr bwMode="auto">
                <a:xfrm>
                  <a:off x="2495" y="3349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21" name="Rectangle 101"/>
                <p:cNvSpPr>
                  <a:spLocks noChangeArrowheads="1"/>
                </p:cNvSpPr>
                <p:nvPr/>
              </p:nvSpPr>
              <p:spPr bwMode="auto">
                <a:xfrm>
                  <a:off x="2496" y="3341"/>
                  <a:ext cx="211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A</a:t>
                  </a:r>
                </a:p>
              </p:txBody>
            </p:sp>
          </p:grpSp>
          <p:grpSp>
            <p:nvGrpSpPr>
              <p:cNvPr id="75911" name="Group 102"/>
              <p:cNvGrpSpPr>
                <a:grpSpLocks/>
              </p:cNvGrpSpPr>
              <p:nvPr/>
            </p:nvGrpSpPr>
            <p:grpSpPr bwMode="auto">
              <a:xfrm>
                <a:off x="3119" y="3725"/>
                <a:ext cx="232" cy="240"/>
                <a:chOff x="3119" y="3725"/>
                <a:chExt cx="232" cy="240"/>
              </a:xfrm>
            </p:grpSpPr>
            <p:sp>
              <p:nvSpPr>
                <p:cNvPr id="75918" name="Oval 103"/>
                <p:cNvSpPr>
                  <a:spLocks noChangeArrowheads="1"/>
                </p:cNvSpPr>
                <p:nvPr/>
              </p:nvSpPr>
              <p:spPr bwMode="auto">
                <a:xfrm>
                  <a:off x="3119" y="3733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19" name="Rectangle 104"/>
                <p:cNvSpPr>
                  <a:spLocks noChangeArrowheads="1"/>
                </p:cNvSpPr>
                <p:nvPr/>
              </p:nvSpPr>
              <p:spPr bwMode="auto">
                <a:xfrm>
                  <a:off x="3120" y="3725"/>
                  <a:ext cx="211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A</a:t>
                  </a:r>
                </a:p>
              </p:txBody>
            </p:sp>
          </p:grpSp>
          <p:grpSp>
            <p:nvGrpSpPr>
              <p:cNvPr id="75912" name="Group 105"/>
              <p:cNvGrpSpPr>
                <a:grpSpLocks/>
              </p:cNvGrpSpPr>
              <p:nvPr/>
            </p:nvGrpSpPr>
            <p:grpSpPr bwMode="auto">
              <a:xfrm>
                <a:off x="2495" y="3725"/>
                <a:ext cx="232" cy="240"/>
                <a:chOff x="2495" y="3725"/>
                <a:chExt cx="232" cy="240"/>
              </a:xfrm>
            </p:grpSpPr>
            <p:sp>
              <p:nvSpPr>
                <p:cNvPr id="75916" name="Oval 106"/>
                <p:cNvSpPr>
                  <a:spLocks noChangeArrowheads="1"/>
                </p:cNvSpPr>
                <p:nvPr/>
              </p:nvSpPr>
              <p:spPr bwMode="auto">
                <a:xfrm>
                  <a:off x="2495" y="3733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17" name="Rectangle 107"/>
                <p:cNvSpPr>
                  <a:spLocks noChangeArrowheads="1"/>
                </p:cNvSpPr>
                <p:nvPr/>
              </p:nvSpPr>
              <p:spPr bwMode="auto">
                <a:xfrm>
                  <a:off x="2501" y="3725"/>
                  <a:ext cx="190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B</a:t>
                  </a:r>
                </a:p>
              </p:txBody>
            </p:sp>
          </p:grpSp>
          <p:grpSp>
            <p:nvGrpSpPr>
              <p:cNvPr id="75913" name="Group 108"/>
              <p:cNvGrpSpPr>
                <a:grpSpLocks/>
              </p:cNvGrpSpPr>
              <p:nvPr/>
            </p:nvGrpSpPr>
            <p:grpSpPr bwMode="auto">
              <a:xfrm>
                <a:off x="3119" y="3341"/>
                <a:ext cx="232" cy="240"/>
                <a:chOff x="3119" y="3341"/>
                <a:chExt cx="232" cy="240"/>
              </a:xfrm>
            </p:grpSpPr>
            <p:sp>
              <p:nvSpPr>
                <p:cNvPr id="75914" name="Oval 109"/>
                <p:cNvSpPr>
                  <a:spLocks noChangeArrowheads="1"/>
                </p:cNvSpPr>
                <p:nvPr/>
              </p:nvSpPr>
              <p:spPr bwMode="auto">
                <a:xfrm>
                  <a:off x="3119" y="3349"/>
                  <a:ext cx="232" cy="23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 eaLnBrk="1" hangingPunct="1">
                    <a:spcBef>
                      <a:spcPct val="0"/>
                    </a:spcBef>
                    <a:buFontTx/>
                    <a:buNone/>
                  </a:pPr>
                  <a:endParaRPr lang="he-IL" altLang="en-US" sz="1800"/>
                </a:p>
              </p:txBody>
            </p:sp>
            <p:sp>
              <p:nvSpPr>
                <p:cNvPr id="75915" name="Rectangle 110"/>
                <p:cNvSpPr>
                  <a:spLocks noChangeArrowheads="1"/>
                </p:cNvSpPr>
                <p:nvPr/>
              </p:nvSpPr>
              <p:spPr bwMode="auto">
                <a:xfrm>
                  <a:off x="3125" y="3341"/>
                  <a:ext cx="190" cy="2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 algn="r" rtl="1">
                    <a:spcBef>
                      <a:spcPct val="0"/>
                    </a:spcBef>
                    <a:buFontTx/>
                    <a:buNone/>
                  </a:pPr>
                  <a:r>
                    <a:rPr lang="en-GB" altLang="en-US" sz="1600">
                      <a:solidFill>
                        <a:schemeClr val="accent2"/>
                      </a:solidFill>
                      <a:latin typeface="Century Gothic" charset="0"/>
                    </a:rPr>
                    <a:t>B</a:t>
                  </a:r>
                </a:p>
              </p:txBody>
            </p:sp>
          </p:grpSp>
        </p:grpSp>
        <p:grpSp>
          <p:nvGrpSpPr>
            <p:cNvPr id="75830" name="Group 111"/>
            <p:cNvGrpSpPr>
              <a:grpSpLocks/>
            </p:cNvGrpSpPr>
            <p:nvPr/>
          </p:nvGrpSpPr>
          <p:grpSpPr bwMode="auto">
            <a:xfrm>
              <a:off x="3769" y="1248"/>
              <a:ext cx="769" cy="625"/>
              <a:chOff x="3672" y="1728"/>
              <a:chExt cx="769" cy="625"/>
            </a:xfrm>
          </p:grpSpPr>
          <p:grpSp>
            <p:nvGrpSpPr>
              <p:cNvPr id="75886" name="Group 112"/>
              <p:cNvGrpSpPr>
                <a:grpSpLocks/>
              </p:cNvGrpSpPr>
              <p:nvPr/>
            </p:nvGrpSpPr>
            <p:grpSpPr bwMode="auto">
              <a:xfrm>
                <a:off x="3672" y="1728"/>
                <a:ext cx="481" cy="481"/>
                <a:chOff x="3672" y="1728"/>
                <a:chExt cx="481" cy="481"/>
              </a:xfrm>
            </p:grpSpPr>
            <p:sp>
              <p:nvSpPr>
                <p:cNvPr id="75900" name="Arc 113"/>
                <p:cNvSpPr>
                  <a:spLocks/>
                </p:cNvSpPr>
                <p:nvPr/>
              </p:nvSpPr>
              <p:spPr bwMode="auto">
                <a:xfrm>
                  <a:off x="3673" y="1729"/>
                  <a:ext cx="384" cy="24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1" name="Arc 114"/>
                <p:cNvSpPr>
                  <a:spLocks/>
                </p:cNvSpPr>
                <p:nvPr/>
              </p:nvSpPr>
              <p:spPr bwMode="auto">
                <a:xfrm rot="10800000">
                  <a:off x="3672" y="1969"/>
                  <a:ext cx="385" cy="240"/>
                </a:xfrm>
                <a:custGeom>
                  <a:avLst/>
                  <a:gdLst>
                    <a:gd name="T0" fmla="*/ 0 w 21656"/>
                    <a:gd name="T1" fmla="*/ 0 h 21600"/>
                    <a:gd name="T2" fmla="*/ 0 w 21656"/>
                    <a:gd name="T3" fmla="*/ 0 h 21600"/>
                    <a:gd name="T4" fmla="*/ 0 w 2165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56"/>
                    <a:gd name="T10" fmla="*/ 0 h 21600"/>
                    <a:gd name="T11" fmla="*/ 21656 w 2165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56" h="21600" fill="none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</a:path>
                    <a:path w="21656" h="21600" stroke="0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  <a:lnTo>
                        <a:pt x="56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2" name="Arc 115"/>
                <p:cNvSpPr>
                  <a:spLocks/>
                </p:cNvSpPr>
                <p:nvPr/>
              </p:nvSpPr>
              <p:spPr bwMode="auto">
                <a:xfrm>
                  <a:off x="3865" y="1825"/>
                  <a:ext cx="192" cy="14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3" name="Arc 116"/>
                <p:cNvSpPr>
                  <a:spLocks/>
                </p:cNvSpPr>
                <p:nvPr/>
              </p:nvSpPr>
              <p:spPr bwMode="auto">
                <a:xfrm rot="10800000">
                  <a:off x="3864" y="1969"/>
                  <a:ext cx="193" cy="144"/>
                </a:xfrm>
                <a:custGeom>
                  <a:avLst/>
                  <a:gdLst>
                    <a:gd name="T0" fmla="*/ 0 w 21712"/>
                    <a:gd name="T1" fmla="*/ 0 h 21600"/>
                    <a:gd name="T2" fmla="*/ 0 w 21712"/>
                    <a:gd name="T3" fmla="*/ 0 h 21600"/>
                    <a:gd name="T4" fmla="*/ 0 w 2171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712"/>
                    <a:gd name="T10" fmla="*/ 0 h 21600"/>
                    <a:gd name="T11" fmla="*/ 21712 w 2171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12" h="21600" fill="none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</a:path>
                    <a:path w="21712" h="21600" stroke="0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  <a:lnTo>
                        <a:pt x="112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4" name="Arc 117"/>
                <p:cNvSpPr>
                  <a:spLocks/>
                </p:cNvSpPr>
                <p:nvPr/>
              </p:nvSpPr>
              <p:spPr bwMode="auto">
                <a:xfrm>
                  <a:off x="4056" y="2113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5" name="Arc 118"/>
                <p:cNvSpPr>
                  <a:spLocks/>
                </p:cNvSpPr>
                <p:nvPr/>
              </p:nvSpPr>
              <p:spPr bwMode="auto">
                <a:xfrm rot="10800000">
                  <a:off x="4057" y="2161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6" name="Arc 119"/>
                <p:cNvSpPr>
                  <a:spLocks/>
                </p:cNvSpPr>
                <p:nvPr/>
              </p:nvSpPr>
              <p:spPr bwMode="auto">
                <a:xfrm>
                  <a:off x="4104" y="1729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7" name="Arc 120"/>
                <p:cNvSpPr>
                  <a:spLocks/>
                </p:cNvSpPr>
                <p:nvPr/>
              </p:nvSpPr>
              <p:spPr bwMode="auto">
                <a:xfrm rot="10800000">
                  <a:off x="4105" y="1777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8" name="Line 121"/>
                <p:cNvSpPr>
                  <a:spLocks noChangeShapeType="1"/>
                </p:cNvSpPr>
                <p:nvPr/>
              </p:nvSpPr>
              <p:spPr bwMode="auto">
                <a:xfrm>
                  <a:off x="4056" y="1824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909" name="Line 122"/>
                <p:cNvSpPr>
                  <a:spLocks noChangeShapeType="1"/>
                </p:cNvSpPr>
                <p:nvPr/>
              </p:nvSpPr>
              <p:spPr bwMode="auto">
                <a:xfrm>
                  <a:off x="4056" y="1728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5887" name="Group 123"/>
              <p:cNvGrpSpPr>
                <a:grpSpLocks/>
              </p:cNvGrpSpPr>
              <p:nvPr/>
            </p:nvGrpSpPr>
            <p:grpSpPr bwMode="auto">
              <a:xfrm>
                <a:off x="3960" y="1872"/>
                <a:ext cx="481" cy="481"/>
                <a:chOff x="3960" y="1872"/>
                <a:chExt cx="481" cy="481"/>
              </a:xfrm>
            </p:grpSpPr>
            <p:sp>
              <p:nvSpPr>
                <p:cNvPr id="75890" name="Arc 124"/>
                <p:cNvSpPr>
                  <a:spLocks/>
                </p:cNvSpPr>
                <p:nvPr/>
              </p:nvSpPr>
              <p:spPr bwMode="auto">
                <a:xfrm>
                  <a:off x="4056" y="1873"/>
                  <a:ext cx="385" cy="240"/>
                </a:xfrm>
                <a:custGeom>
                  <a:avLst/>
                  <a:gdLst>
                    <a:gd name="T0" fmla="*/ 0 w 21656"/>
                    <a:gd name="T1" fmla="*/ 0 h 21600"/>
                    <a:gd name="T2" fmla="*/ 0 w 21656"/>
                    <a:gd name="T3" fmla="*/ 0 h 21600"/>
                    <a:gd name="T4" fmla="*/ 0 w 2165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56"/>
                    <a:gd name="T10" fmla="*/ 0 h 21600"/>
                    <a:gd name="T11" fmla="*/ 21656 w 2165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56" h="21600" fill="none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</a:path>
                    <a:path w="21656" h="21600" stroke="0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  <a:lnTo>
                        <a:pt x="56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1" name="Arc 125"/>
                <p:cNvSpPr>
                  <a:spLocks/>
                </p:cNvSpPr>
                <p:nvPr/>
              </p:nvSpPr>
              <p:spPr bwMode="auto">
                <a:xfrm rot="10800000">
                  <a:off x="4057" y="2113"/>
                  <a:ext cx="384" cy="24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2" name="Arc 126"/>
                <p:cNvSpPr>
                  <a:spLocks/>
                </p:cNvSpPr>
                <p:nvPr/>
              </p:nvSpPr>
              <p:spPr bwMode="auto">
                <a:xfrm>
                  <a:off x="4056" y="1969"/>
                  <a:ext cx="193" cy="144"/>
                </a:xfrm>
                <a:custGeom>
                  <a:avLst/>
                  <a:gdLst>
                    <a:gd name="T0" fmla="*/ 0 w 21712"/>
                    <a:gd name="T1" fmla="*/ 0 h 21600"/>
                    <a:gd name="T2" fmla="*/ 0 w 21712"/>
                    <a:gd name="T3" fmla="*/ 0 h 21600"/>
                    <a:gd name="T4" fmla="*/ 0 w 2171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712"/>
                    <a:gd name="T10" fmla="*/ 0 h 21600"/>
                    <a:gd name="T11" fmla="*/ 21712 w 2171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12" h="21600" fill="none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</a:path>
                    <a:path w="21712" h="21600" stroke="0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  <a:lnTo>
                        <a:pt x="112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3" name="Arc 127"/>
                <p:cNvSpPr>
                  <a:spLocks/>
                </p:cNvSpPr>
                <p:nvPr/>
              </p:nvSpPr>
              <p:spPr bwMode="auto">
                <a:xfrm rot="10800000">
                  <a:off x="4057" y="2113"/>
                  <a:ext cx="192" cy="14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4" name="Arc 128"/>
                <p:cNvSpPr>
                  <a:spLocks/>
                </p:cNvSpPr>
                <p:nvPr/>
              </p:nvSpPr>
              <p:spPr bwMode="auto">
                <a:xfrm>
                  <a:off x="4009" y="2257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5" name="Arc 129"/>
                <p:cNvSpPr>
                  <a:spLocks/>
                </p:cNvSpPr>
                <p:nvPr/>
              </p:nvSpPr>
              <p:spPr bwMode="auto">
                <a:xfrm rot="10800000">
                  <a:off x="4008" y="2305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6" name="Arc 130"/>
                <p:cNvSpPr>
                  <a:spLocks/>
                </p:cNvSpPr>
                <p:nvPr/>
              </p:nvSpPr>
              <p:spPr bwMode="auto">
                <a:xfrm>
                  <a:off x="3961" y="1873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7" name="Arc 131"/>
                <p:cNvSpPr>
                  <a:spLocks/>
                </p:cNvSpPr>
                <p:nvPr/>
              </p:nvSpPr>
              <p:spPr bwMode="auto">
                <a:xfrm rot="10800000">
                  <a:off x="3960" y="1921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8" name="Line 132"/>
                <p:cNvSpPr>
                  <a:spLocks noChangeShapeType="1"/>
                </p:cNvSpPr>
                <p:nvPr/>
              </p:nvSpPr>
              <p:spPr bwMode="auto">
                <a:xfrm flipH="1">
                  <a:off x="4008" y="1968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99" name="Line 133"/>
                <p:cNvSpPr>
                  <a:spLocks noChangeShapeType="1"/>
                </p:cNvSpPr>
                <p:nvPr/>
              </p:nvSpPr>
              <p:spPr bwMode="auto">
                <a:xfrm flipH="1">
                  <a:off x="4008" y="1872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5888" name="Rectangle 134"/>
              <p:cNvSpPr>
                <a:spLocks noChangeArrowheads="1"/>
              </p:cNvSpPr>
              <p:nvPr/>
            </p:nvSpPr>
            <p:spPr bwMode="auto">
              <a:xfrm>
                <a:off x="3673" y="1850"/>
                <a:ext cx="192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>
                  <a:spcBef>
                    <a:spcPct val="0"/>
                  </a:spcBef>
                  <a:buFontTx/>
                  <a:buNone/>
                </a:pPr>
                <a:r>
                  <a:rPr lang="en-GB" altLang="en-US" sz="1600">
                    <a:solidFill>
                      <a:schemeClr val="accent2"/>
                    </a:solidFill>
                    <a:latin typeface="Century Gothic" charset="0"/>
                  </a:rPr>
                  <a:t>B</a:t>
                </a:r>
              </a:p>
            </p:txBody>
          </p:sp>
          <p:sp>
            <p:nvSpPr>
              <p:cNvPr id="75889" name="Rectangle 135"/>
              <p:cNvSpPr>
                <a:spLocks noChangeArrowheads="1"/>
              </p:cNvSpPr>
              <p:nvPr/>
            </p:nvSpPr>
            <p:spPr bwMode="auto">
              <a:xfrm>
                <a:off x="4218" y="1973"/>
                <a:ext cx="213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>
                  <a:spcBef>
                    <a:spcPct val="0"/>
                  </a:spcBef>
                  <a:buFontTx/>
                  <a:buNone/>
                </a:pPr>
                <a:r>
                  <a:rPr lang="en-GB" altLang="en-US" sz="1600">
                    <a:solidFill>
                      <a:schemeClr val="accent2"/>
                    </a:solidFill>
                    <a:latin typeface="Century Gothic" charset="0"/>
                  </a:rPr>
                  <a:t>A</a:t>
                </a:r>
              </a:p>
            </p:txBody>
          </p:sp>
        </p:grpSp>
        <p:grpSp>
          <p:nvGrpSpPr>
            <p:cNvPr id="75831" name="Group 136"/>
            <p:cNvGrpSpPr>
              <a:grpSpLocks/>
            </p:cNvGrpSpPr>
            <p:nvPr/>
          </p:nvGrpSpPr>
          <p:grpSpPr bwMode="auto">
            <a:xfrm>
              <a:off x="3769" y="2064"/>
              <a:ext cx="769" cy="625"/>
              <a:chOff x="3672" y="2544"/>
              <a:chExt cx="769" cy="625"/>
            </a:xfrm>
          </p:grpSpPr>
          <p:grpSp>
            <p:nvGrpSpPr>
              <p:cNvPr id="75862" name="Group 137"/>
              <p:cNvGrpSpPr>
                <a:grpSpLocks/>
              </p:cNvGrpSpPr>
              <p:nvPr/>
            </p:nvGrpSpPr>
            <p:grpSpPr bwMode="auto">
              <a:xfrm>
                <a:off x="3672" y="2544"/>
                <a:ext cx="481" cy="481"/>
                <a:chOff x="3672" y="2544"/>
                <a:chExt cx="481" cy="481"/>
              </a:xfrm>
            </p:grpSpPr>
            <p:sp>
              <p:nvSpPr>
                <p:cNvPr id="75876" name="Arc 138"/>
                <p:cNvSpPr>
                  <a:spLocks/>
                </p:cNvSpPr>
                <p:nvPr/>
              </p:nvSpPr>
              <p:spPr bwMode="auto">
                <a:xfrm>
                  <a:off x="3673" y="2545"/>
                  <a:ext cx="384" cy="24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7" name="Arc 139"/>
                <p:cNvSpPr>
                  <a:spLocks/>
                </p:cNvSpPr>
                <p:nvPr/>
              </p:nvSpPr>
              <p:spPr bwMode="auto">
                <a:xfrm rot="10800000">
                  <a:off x="3672" y="2785"/>
                  <a:ext cx="385" cy="240"/>
                </a:xfrm>
                <a:custGeom>
                  <a:avLst/>
                  <a:gdLst>
                    <a:gd name="T0" fmla="*/ 0 w 21656"/>
                    <a:gd name="T1" fmla="*/ 0 h 21600"/>
                    <a:gd name="T2" fmla="*/ 0 w 21656"/>
                    <a:gd name="T3" fmla="*/ 0 h 21600"/>
                    <a:gd name="T4" fmla="*/ 0 w 2165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56"/>
                    <a:gd name="T10" fmla="*/ 0 h 21600"/>
                    <a:gd name="T11" fmla="*/ 21656 w 2165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56" h="21600" fill="none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</a:path>
                    <a:path w="21656" h="21600" stroke="0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  <a:lnTo>
                        <a:pt x="56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8" name="Arc 140"/>
                <p:cNvSpPr>
                  <a:spLocks/>
                </p:cNvSpPr>
                <p:nvPr/>
              </p:nvSpPr>
              <p:spPr bwMode="auto">
                <a:xfrm>
                  <a:off x="3865" y="2641"/>
                  <a:ext cx="192" cy="14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9" name="Arc 141"/>
                <p:cNvSpPr>
                  <a:spLocks/>
                </p:cNvSpPr>
                <p:nvPr/>
              </p:nvSpPr>
              <p:spPr bwMode="auto">
                <a:xfrm rot="10800000">
                  <a:off x="3864" y="2785"/>
                  <a:ext cx="193" cy="144"/>
                </a:xfrm>
                <a:custGeom>
                  <a:avLst/>
                  <a:gdLst>
                    <a:gd name="T0" fmla="*/ 0 w 21712"/>
                    <a:gd name="T1" fmla="*/ 0 h 21600"/>
                    <a:gd name="T2" fmla="*/ 0 w 21712"/>
                    <a:gd name="T3" fmla="*/ 0 h 21600"/>
                    <a:gd name="T4" fmla="*/ 0 w 2171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712"/>
                    <a:gd name="T10" fmla="*/ 0 h 21600"/>
                    <a:gd name="T11" fmla="*/ 21712 w 2171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12" h="21600" fill="none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</a:path>
                    <a:path w="21712" h="21600" stroke="0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  <a:lnTo>
                        <a:pt x="112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80" name="Arc 142"/>
                <p:cNvSpPr>
                  <a:spLocks/>
                </p:cNvSpPr>
                <p:nvPr/>
              </p:nvSpPr>
              <p:spPr bwMode="auto">
                <a:xfrm>
                  <a:off x="4056" y="2929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81" name="Arc 143"/>
                <p:cNvSpPr>
                  <a:spLocks/>
                </p:cNvSpPr>
                <p:nvPr/>
              </p:nvSpPr>
              <p:spPr bwMode="auto">
                <a:xfrm rot="10800000">
                  <a:off x="4057" y="2977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82" name="Arc 144"/>
                <p:cNvSpPr>
                  <a:spLocks/>
                </p:cNvSpPr>
                <p:nvPr/>
              </p:nvSpPr>
              <p:spPr bwMode="auto">
                <a:xfrm>
                  <a:off x="4104" y="2545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83" name="Arc 145"/>
                <p:cNvSpPr>
                  <a:spLocks/>
                </p:cNvSpPr>
                <p:nvPr/>
              </p:nvSpPr>
              <p:spPr bwMode="auto">
                <a:xfrm rot="10800000">
                  <a:off x="4105" y="2593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84" name="Line 146"/>
                <p:cNvSpPr>
                  <a:spLocks noChangeShapeType="1"/>
                </p:cNvSpPr>
                <p:nvPr/>
              </p:nvSpPr>
              <p:spPr bwMode="auto">
                <a:xfrm>
                  <a:off x="4056" y="2640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85" name="Line 147"/>
                <p:cNvSpPr>
                  <a:spLocks noChangeShapeType="1"/>
                </p:cNvSpPr>
                <p:nvPr/>
              </p:nvSpPr>
              <p:spPr bwMode="auto">
                <a:xfrm>
                  <a:off x="4056" y="2544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5863" name="Group 148"/>
              <p:cNvGrpSpPr>
                <a:grpSpLocks/>
              </p:cNvGrpSpPr>
              <p:nvPr/>
            </p:nvGrpSpPr>
            <p:grpSpPr bwMode="auto">
              <a:xfrm>
                <a:off x="3960" y="2688"/>
                <a:ext cx="481" cy="481"/>
                <a:chOff x="3960" y="2688"/>
                <a:chExt cx="481" cy="481"/>
              </a:xfrm>
            </p:grpSpPr>
            <p:sp>
              <p:nvSpPr>
                <p:cNvPr id="75866" name="Arc 149"/>
                <p:cNvSpPr>
                  <a:spLocks/>
                </p:cNvSpPr>
                <p:nvPr/>
              </p:nvSpPr>
              <p:spPr bwMode="auto">
                <a:xfrm>
                  <a:off x="4056" y="2689"/>
                  <a:ext cx="385" cy="240"/>
                </a:xfrm>
                <a:custGeom>
                  <a:avLst/>
                  <a:gdLst>
                    <a:gd name="T0" fmla="*/ 0 w 21656"/>
                    <a:gd name="T1" fmla="*/ 0 h 21600"/>
                    <a:gd name="T2" fmla="*/ 0 w 21656"/>
                    <a:gd name="T3" fmla="*/ 0 h 21600"/>
                    <a:gd name="T4" fmla="*/ 0 w 2165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56"/>
                    <a:gd name="T10" fmla="*/ 0 h 21600"/>
                    <a:gd name="T11" fmla="*/ 21656 w 2165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56" h="21600" fill="none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</a:path>
                    <a:path w="21656" h="21600" stroke="0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  <a:lnTo>
                        <a:pt x="56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67" name="Arc 150"/>
                <p:cNvSpPr>
                  <a:spLocks/>
                </p:cNvSpPr>
                <p:nvPr/>
              </p:nvSpPr>
              <p:spPr bwMode="auto">
                <a:xfrm rot="10800000">
                  <a:off x="4057" y="2929"/>
                  <a:ext cx="384" cy="24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68" name="Arc 151"/>
                <p:cNvSpPr>
                  <a:spLocks/>
                </p:cNvSpPr>
                <p:nvPr/>
              </p:nvSpPr>
              <p:spPr bwMode="auto">
                <a:xfrm>
                  <a:off x="4056" y="2785"/>
                  <a:ext cx="193" cy="144"/>
                </a:xfrm>
                <a:custGeom>
                  <a:avLst/>
                  <a:gdLst>
                    <a:gd name="T0" fmla="*/ 0 w 21712"/>
                    <a:gd name="T1" fmla="*/ 0 h 21600"/>
                    <a:gd name="T2" fmla="*/ 0 w 21712"/>
                    <a:gd name="T3" fmla="*/ 0 h 21600"/>
                    <a:gd name="T4" fmla="*/ 0 w 2171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712"/>
                    <a:gd name="T10" fmla="*/ 0 h 21600"/>
                    <a:gd name="T11" fmla="*/ 21712 w 2171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12" h="21600" fill="none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</a:path>
                    <a:path w="21712" h="21600" stroke="0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  <a:lnTo>
                        <a:pt x="112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69" name="Arc 152"/>
                <p:cNvSpPr>
                  <a:spLocks/>
                </p:cNvSpPr>
                <p:nvPr/>
              </p:nvSpPr>
              <p:spPr bwMode="auto">
                <a:xfrm rot="10800000">
                  <a:off x="4057" y="2929"/>
                  <a:ext cx="192" cy="14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0" name="Arc 153"/>
                <p:cNvSpPr>
                  <a:spLocks/>
                </p:cNvSpPr>
                <p:nvPr/>
              </p:nvSpPr>
              <p:spPr bwMode="auto">
                <a:xfrm>
                  <a:off x="4009" y="3073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1" name="Arc 154"/>
                <p:cNvSpPr>
                  <a:spLocks/>
                </p:cNvSpPr>
                <p:nvPr/>
              </p:nvSpPr>
              <p:spPr bwMode="auto">
                <a:xfrm rot="10800000">
                  <a:off x="4008" y="3121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2" name="Arc 155"/>
                <p:cNvSpPr>
                  <a:spLocks/>
                </p:cNvSpPr>
                <p:nvPr/>
              </p:nvSpPr>
              <p:spPr bwMode="auto">
                <a:xfrm>
                  <a:off x="3961" y="2689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3" name="Arc 156"/>
                <p:cNvSpPr>
                  <a:spLocks/>
                </p:cNvSpPr>
                <p:nvPr/>
              </p:nvSpPr>
              <p:spPr bwMode="auto">
                <a:xfrm rot="10800000">
                  <a:off x="3960" y="2737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4" name="Line 157"/>
                <p:cNvSpPr>
                  <a:spLocks noChangeShapeType="1"/>
                </p:cNvSpPr>
                <p:nvPr/>
              </p:nvSpPr>
              <p:spPr bwMode="auto">
                <a:xfrm flipH="1">
                  <a:off x="4008" y="2784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75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4008" y="2688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5864" name="Rectangle 159"/>
              <p:cNvSpPr>
                <a:spLocks noChangeArrowheads="1"/>
              </p:cNvSpPr>
              <p:nvPr/>
            </p:nvSpPr>
            <p:spPr bwMode="auto">
              <a:xfrm>
                <a:off x="3675" y="2666"/>
                <a:ext cx="190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>
                  <a:spcBef>
                    <a:spcPct val="0"/>
                  </a:spcBef>
                  <a:buFontTx/>
                  <a:buNone/>
                </a:pPr>
                <a:r>
                  <a:rPr lang="en-GB" altLang="en-US" sz="1600">
                    <a:solidFill>
                      <a:schemeClr val="accent2"/>
                    </a:solidFill>
                    <a:latin typeface="Century Gothic" charset="0"/>
                  </a:rPr>
                  <a:t>B</a:t>
                </a:r>
              </a:p>
            </p:txBody>
          </p:sp>
          <p:sp>
            <p:nvSpPr>
              <p:cNvPr id="75865" name="Rectangle 160"/>
              <p:cNvSpPr>
                <a:spLocks noChangeArrowheads="1"/>
              </p:cNvSpPr>
              <p:nvPr/>
            </p:nvSpPr>
            <p:spPr bwMode="auto">
              <a:xfrm>
                <a:off x="4220" y="2789"/>
                <a:ext cx="211" cy="2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>
                  <a:spcBef>
                    <a:spcPct val="0"/>
                  </a:spcBef>
                  <a:buFontTx/>
                  <a:buNone/>
                </a:pPr>
                <a:r>
                  <a:rPr lang="en-GB" altLang="en-US" sz="1600">
                    <a:solidFill>
                      <a:schemeClr val="accent2"/>
                    </a:solidFill>
                    <a:latin typeface="Century Gothic" charset="0"/>
                  </a:rPr>
                  <a:t>A</a:t>
                </a:r>
              </a:p>
            </p:txBody>
          </p:sp>
        </p:grpSp>
        <p:grpSp>
          <p:nvGrpSpPr>
            <p:cNvPr id="75832" name="Group 161"/>
            <p:cNvGrpSpPr>
              <a:grpSpLocks/>
            </p:cNvGrpSpPr>
            <p:nvPr/>
          </p:nvGrpSpPr>
          <p:grpSpPr bwMode="auto">
            <a:xfrm>
              <a:off x="3769" y="2880"/>
              <a:ext cx="769" cy="625"/>
              <a:chOff x="3672" y="3360"/>
              <a:chExt cx="769" cy="625"/>
            </a:xfrm>
          </p:grpSpPr>
          <p:grpSp>
            <p:nvGrpSpPr>
              <p:cNvPr id="75838" name="Group 162"/>
              <p:cNvGrpSpPr>
                <a:grpSpLocks/>
              </p:cNvGrpSpPr>
              <p:nvPr/>
            </p:nvGrpSpPr>
            <p:grpSpPr bwMode="auto">
              <a:xfrm>
                <a:off x="3672" y="3360"/>
                <a:ext cx="481" cy="481"/>
                <a:chOff x="3672" y="3360"/>
                <a:chExt cx="481" cy="481"/>
              </a:xfrm>
            </p:grpSpPr>
            <p:sp>
              <p:nvSpPr>
                <p:cNvPr id="75852" name="Arc 163"/>
                <p:cNvSpPr>
                  <a:spLocks/>
                </p:cNvSpPr>
                <p:nvPr/>
              </p:nvSpPr>
              <p:spPr bwMode="auto">
                <a:xfrm>
                  <a:off x="3673" y="3361"/>
                  <a:ext cx="384" cy="24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3" name="Arc 164"/>
                <p:cNvSpPr>
                  <a:spLocks/>
                </p:cNvSpPr>
                <p:nvPr/>
              </p:nvSpPr>
              <p:spPr bwMode="auto">
                <a:xfrm rot="10800000">
                  <a:off x="3672" y="3601"/>
                  <a:ext cx="385" cy="240"/>
                </a:xfrm>
                <a:custGeom>
                  <a:avLst/>
                  <a:gdLst>
                    <a:gd name="T0" fmla="*/ 0 w 21656"/>
                    <a:gd name="T1" fmla="*/ 0 h 21600"/>
                    <a:gd name="T2" fmla="*/ 0 w 21656"/>
                    <a:gd name="T3" fmla="*/ 0 h 21600"/>
                    <a:gd name="T4" fmla="*/ 0 w 2165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56"/>
                    <a:gd name="T10" fmla="*/ 0 h 21600"/>
                    <a:gd name="T11" fmla="*/ 21656 w 2165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56" h="21600" fill="none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</a:path>
                    <a:path w="21656" h="21600" stroke="0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  <a:lnTo>
                        <a:pt x="56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4" name="Arc 165"/>
                <p:cNvSpPr>
                  <a:spLocks/>
                </p:cNvSpPr>
                <p:nvPr/>
              </p:nvSpPr>
              <p:spPr bwMode="auto">
                <a:xfrm>
                  <a:off x="3865" y="3457"/>
                  <a:ext cx="192" cy="14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5" name="Arc 166"/>
                <p:cNvSpPr>
                  <a:spLocks/>
                </p:cNvSpPr>
                <p:nvPr/>
              </p:nvSpPr>
              <p:spPr bwMode="auto">
                <a:xfrm rot="10800000">
                  <a:off x="3864" y="3601"/>
                  <a:ext cx="193" cy="144"/>
                </a:xfrm>
                <a:custGeom>
                  <a:avLst/>
                  <a:gdLst>
                    <a:gd name="T0" fmla="*/ 0 w 21712"/>
                    <a:gd name="T1" fmla="*/ 0 h 21600"/>
                    <a:gd name="T2" fmla="*/ 0 w 21712"/>
                    <a:gd name="T3" fmla="*/ 0 h 21600"/>
                    <a:gd name="T4" fmla="*/ 0 w 2171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712"/>
                    <a:gd name="T10" fmla="*/ 0 h 21600"/>
                    <a:gd name="T11" fmla="*/ 21712 w 2171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12" h="21600" fill="none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</a:path>
                    <a:path w="21712" h="21600" stroke="0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  <a:lnTo>
                        <a:pt x="112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6" name="Arc 167"/>
                <p:cNvSpPr>
                  <a:spLocks/>
                </p:cNvSpPr>
                <p:nvPr/>
              </p:nvSpPr>
              <p:spPr bwMode="auto">
                <a:xfrm>
                  <a:off x="4056" y="3745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7" name="Arc 168"/>
                <p:cNvSpPr>
                  <a:spLocks/>
                </p:cNvSpPr>
                <p:nvPr/>
              </p:nvSpPr>
              <p:spPr bwMode="auto">
                <a:xfrm rot="10800000">
                  <a:off x="4057" y="3793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8" name="Arc 169"/>
                <p:cNvSpPr>
                  <a:spLocks/>
                </p:cNvSpPr>
                <p:nvPr/>
              </p:nvSpPr>
              <p:spPr bwMode="auto">
                <a:xfrm>
                  <a:off x="4104" y="3361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9" name="Arc 170"/>
                <p:cNvSpPr>
                  <a:spLocks/>
                </p:cNvSpPr>
                <p:nvPr/>
              </p:nvSpPr>
              <p:spPr bwMode="auto">
                <a:xfrm rot="10800000">
                  <a:off x="4105" y="3409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60" name="Line 171"/>
                <p:cNvSpPr>
                  <a:spLocks noChangeShapeType="1"/>
                </p:cNvSpPr>
                <p:nvPr/>
              </p:nvSpPr>
              <p:spPr bwMode="auto">
                <a:xfrm>
                  <a:off x="4056" y="3456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61" name="Line 172"/>
                <p:cNvSpPr>
                  <a:spLocks noChangeShapeType="1"/>
                </p:cNvSpPr>
                <p:nvPr/>
              </p:nvSpPr>
              <p:spPr bwMode="auto">
                <a:xfrm>
                  <a:off x="4056" y="3360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5839" name="Group 173"/>
              <p:cNvGrpSpPr>
                <a:grpSpLocks/>
              </p:cNvGrpSpPr>
              <p:nvPr/>
            </p:nvGrpSpPr>
            <p:grpSpPr bwMode="auto">
              <a:xfrm>
                <a:off x="3960" y="3504"/>
                <a:ext cx="481" cy="481"/>
                <a:chOff x="3960" y="3504"/>
                <a:chExt cx="481" cy="481"/>
              </a:xfrm>
            </p:grpSpPr>
            <p:sp>
              <p:nvSpPr>
                <p:cNvPr id="75842" name="Arc 174"/>
                <p:cNvSpPr>
                  <a:spLocks/>
                </p:cNvSpPr>
                <p:nvPr/>
              </p:nvSpPr>
              <p:spPr bwMode="auto">
                <a:xfrm>
                  <a:off x="4056" y="3505"/>
                  <a:ext cx="385" cy="240"/>
                </a:xfrm>
                <a:custGeom>
                  <a:avLst/>
                  <a:gdLst>
                    <a:gd name="T0" fmla="*/ 0 w 21656"/>
                    <a:gd name="T1" fmla="*/ 0 h 21600"/>
                    <a:gd name="T2" fmla="*/ 0 w 21656"/>
                    <a:gd name="T3" fmla="*/ 0 h 21600"/>
                    <a:gd name="T4" fmla="*/ 0 w 2165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56"/>
                    <a:gd name="T10" fmla="*/ 0 h 21600"/>
                    <a:gd name="T11" fmla="*/ 21656 w 2165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56" h="21600" fill="none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</a:path>
                    <a:path w="21656" h="21600" stroke="0" extrusionOk="0">
                      <a:moveTo>
                        <a:pt x="0" y="0"/>
                      </a:moveTo>
                      <a:cubicBezTo>
                        <a:pt x="18" y="0"/>
                        <a:pt x="37" y="-1"/>
                        <a:pt x="56" y="0"/>
                      </a:cubicBezTo>
                      <a:cubicBezTo>
                        <a:pt x="11985" y="0"/>
                        <a:pt x="21656" y="9670"/>
                        <a:pt x="21656" y="21600"/>
                      </a:cubicBezTo>
                      <a:lnTo>
                        <a:pt x="56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43" name="Arc 175"/>
                <p:cNvSpPr>
                  <a:spLocks/>
                </p:cNvSpPr>
                <p:nvPr/>
              </p:nvSpPr>
              <p:spPr bwMode="auto">
                <a:xfrm rot="10800000">
                  <a:off x="4057" y="3745"/>
                  <a:ext cx="384" cy="24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692"/>
                        <a:pt x="9636" y="30"/>
                        <a:pt x="21544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44" name="Arc 176"/>
                <p:cNvSpPr>
                  <a:spLocks/>
                </p:cNvSpPr>
                <p:nvPr/>
              </p:nvSpPr>
              <p:spPr bwMode="auto">
                <a:xfrm>
                  <a:off x="4056" y="3601"/>
                  <a:ext cx="193" cy="144"/>
                </a:xfrm>
                <a:custGeom>
                  <a:avLst/>
                  <a:gdLst>
                    <a:gd name="T0" fmla="*/ 0 w 21712"/>
                    <a:gd name="T1" fmla="*/ 0 h 21600"/>
                    <a:gd name="T2" fmla="*/ 0 w 21712"/>
                    <a:gd name="T3" fmla="*/ 0 h 21600"/>
                    <a:gd name="T4" fmla="*/ 0 w 2171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712"/>
                    <a:gd name="T10" fmla="*/ 0 h 21600"/>
                    <a:gd name="T11" fmla="*/ 21712 w 2171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12" h="21600" fill="none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</a:path>
                    <a:path w="21712" h="21600" stroke="0" extrusionOk="0">
                      <a:moveTo>
                        <a:pt x="0" y="0"/>
                      </a:moveTo>
                      <a:cubicBezTo>
                        <a:pt x="37" y="0"/>
                        <a:pt x="74" y="-1"/>
                        <a:pt x="112" y="0"/>
                      </a:cubicBezTo>
                      <a:cubicBezTo>
                        <a:pt x="12041" y="0"/>
                        <a:pt x="21712" y="9670"/>
                        <a:pt x="21712" y="21600"/>
                      </a:cubicBezTo>
                      <a:lnTo>
                        <a:pt x="112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45" name="Arc 177"/>
                <p:cNvSpPr>
                  <a:spLocks/>
                </p:cNvSpPr>
                <p:nvPr/>
              </p:nvSpPr>
              <p:spPr bwMode="auto">
                <a:xfrm rot="10800000">
                  <a:off x="4057" y="3745"/>
                  <a:ext cx="192" cy="14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</a:path>
                    <a:path w="21600" h="21600" stroke="0" extrusionOk="0">
                      <a:moveTo>
                        <a:pt x="0" y="21600"/>
                      </a:moveTo>
                      <a:cubicBezTo>
                        <a:pt x="0" y="9714"/>
                        <a:pt x="9602" y="61"/>
                        <a:pt x="21488" y="0"/>
                      </a:cubicBezTo>
                      <a:lnTo>
                        <a:pt x="21600" y="21600"/>
                      </a:ln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46" name="Arc 178"/>
                <p:cNvSpPr>
                  <a:spLocks/>
                </p:cNvSpPr>
                <p:nvPr/>
              </p:nvSpPr>
              <p:spPr bwMode="auto">
                <a:xfrm>
                  <a:off x="4009" y="3889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47" name="Arc 179"/>
                <p:cNvSpPr>
                  <a:spLocks/>
                </p:cNvSpPr>
                <p:nvPr/>
              </p:nvSpPr>
              <p:spPr bwMode="auto">
                <a:xfrm rot="10800000">
                  <a:off x="4008" y="3937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48" name="Arc 180"/>
                <p:cNvSpPr>
                  <a:spLocks/>
                </p:cNvSpPr>
                <p:nvPr/>
              </p:nvSpPr>
              <p:spPr bwMode="auto">
                <a:xfrm>
                  <a:off x="3961" y="3505"/>
                  <a:ext cx="48" cy="48"/>
                </a:xfrm>
                <a:custGeom>
                  <a:avLst/>
                  <a:gdLst>
                    <a:gd name="T0" fmla="*/ 0 w 21600"/>
                    <a:gd name="T1" fmla="*/ 0 h 21595"/>
                    <a:gd name="T2" fmla="*/ 0 w 21600"/>
                    <a:gd name="T3" fmla="*/ 0 h 21595"/>
                    <a:gd name="T4" fmla="*/ 0 w 21600"/>
                    <a:gd name="T5" fmla="*/ 0 h 2159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95"/>
                    <a:gd name="T11" fmla="*/ 21600 w 21600"/>
                    <a:gd name="T12" fmla="*/ 21595 h 2159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95" fill="none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21595" stroke="0" extrusionOk="0">
                      <a:moveTo>
                        <a:pt x="0" y="21595"/>
                      </a:move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0" y="21595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49" name="Arc 181"/>
                <p:cNvSpPr>
                  <a:spLocks/>
                </p:cNvSpPr>
                <p:nvPr/>
              </p:nvSpPr>
              <p:spPr bwMode="auto">
                <a:xfrm rot="10800000">
                  <a:off x="3960" y="3553"/>
                  <a:ext cx="48" cy="4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0" name="Line 182"/>
                <p:cNvSpPr>
                  <a:spLocks noChangeShapeType="1"/>
                </p:cNvSpPr>
                <p:nvPr/>
              </p:nvSpPr>
              <p:spPr bwMode="auto">
                <a:xfrm flipH="1">
                  <a:off x="4008" y="3600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851" name="Line 183"/>
                <p:cNvSpPr>
                  <a:spLocks noChangeShapeType="1"/>
                </p:cNvSpPr>
                <p:nvPr/>
              </p:nvSpPr>
              <p:spPr bwMode="auto">
                <a:xfrm flipH="1">
                  <a:off x="4008" y="3504"/>
                  <a:ext cx="48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5840" name="Rectangle 184"/>
              <p:cNvSpPr>
                <a:spLocks noChangeArrowheads="1"/>
              </p:cNvSpPr>
              <p:nvPr/>
            </p:nvSpPr>
            <p:spPr bwMode="auto">
              <a:xfrm>
                <a:off x="3673" y="3482"/>
                <a:ext cx="192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>
                  <a:spcBef>
                    <a:spcPct val="0"/>
                  </a:spcBef>
                  <a:buFontTx/>
                  <a:buNone/>
                </a:pPr>
                <a:r>
                  <a:rPr lang="en-GB" altLang="en-US" sz="1600">
                    <a:solidFill>
                      <a:schemeClr val="accent2"/>
                    </a:solidFill>
                    <a:latin typeface="Century Gothic" charset="0"/>
                  </a:rPr>
                  <a:t>B</a:t>
                </a:r>
              </a:p>
            </p:txBody>
          </p:sp>
          <p:sp>
            <p:nvSpPr>
              <p:cNvPr id="75841" name="Rectangle 185"/>
              <p:cNvSpPr>
                <a:spLocks noChangeArrowheads="1"/>
              </p:cNvSpPr>
              <p:nvPr/>
            </p:nvSpPr>
            <p:spPr bwMode="auto">
              <a:xfrm>
                <a:off x="4218" y="3605"/>
                <a:ext cx="213" cy="2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  <a:ea typeface="Arial" charset="0"/>
                    <a:cs typeface="Arial" charset="0"/>
                  </a:defRPr>
                </a:lvl9pPr>
              </a:lstStyle>
              <a:p>
                <a:pPr algn="r" rtl="1">
                  <a:spcBef>
                    <a:spcPct val="0"/>
                  </a:spcBef>
                  <a:buFontTx/>
                  <a:buNone/>
                </a:pPr>
                <a:r>
                  <a:rPr lang="en-GB" altLang="en-US" sz="1600">
                    <a:solidFill>
                      <a:schemeClr val="accent2"/>
                    </a:solidFill>
                    <a:latin typeface="Century Gothic" charset="0"/>
                  </a:rPr>
                  <a:t>A</a:t>
                </a:r>
              </a:p>
            </p:txBody>
          </p:sp>
        </p:grpSp>
        <p:sp>
          <p:nvSpPr>
            <p:cNvPr id="75833" name="Freeform 186"/>
            <p:cNvSpPr>
              <a:spLocks/>
            </p:cNvSpPr>
            <p:nvPr/>
          </p:nvSpPr>
          <p:spPr bwMode="auto">
            <a:xfrm>
              <a:off x="4705" y="1152"/>
              <a:ext cx="1009" cy="433"/>
            </a:xfrm>
            <a:custGeom>
              <a:avLst/>
              <a:gdLst>
                <a:gd name="T0" fmla="*/ 0 w 1009"/>
                <a:gd name="T1" fmla="*/ 192 h 433"/>
                <a:gd name="T2" fmla="*/ 1008 w 1009"/>
                <a:gd name="T3" fmla="*/ 432 h 433"/>
                <a:gd name="T4" fmla="*/ 1008 w 1009"/>
                <a:gd name="T5" fmla="*/ 0 h 433"/>
                <a:gd name="T6" fmla="*/ 0 w 1009"/>
                <a:gd name="T7" fmla="*/ 0 h 433"/>
                <a:gd name="T8" fmla="*/ 0 w 1009"/>
                <a:gd name="T9" fmla="*/ 192 h 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9"/>
                <a:gd name="T16" fmla="*/ 0 h 433"/>
                <a:gd name="T17" fmla="*/ 1009 w 1009"/>
                <a:gd name="T18" fmla="*/ 433 h 4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9" h="433">
                  <a:moveTo>
                    <a:pt x="0" y="192"/>
                  </a:moveTo>
                  <a:lnTo>
                    <a:pt x="1008" y="432"/>
                  </a:lnTo>
                  <a:lnTo>
                    <a:pt x="1008" y="0"/>
                  </a:lnTo>
                  <a:lnTo>
                    <a:pt x="0" y="0"/>
                  </a:lnTo>
                  <a:lnTo>
                    <a:pt x="0" y="192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34" name="Freeform 187"/>
            <p:cNvSpPr>
              <a:spLocks/>
            </p:cNvSpPr>
            <p:nvPr/>
          </p:nvSpPr>
          <p:spPr bwMode="auto">
            <a:xfrm>
              <a:off x="4993" y="1968"/>
              <a:ext cx="721" cy="817"/>
            </a:xfrm>
            <a:custGeom>
              <a:avLst/>
              <a:gdLst>
                <a:gd name="T0" fmla="*/ 96 w 721"/>
                <a:gd name="T1" fmla="*/ 0 h 817"/>
                <a:gd name="T2" fmla="*/ 0 w 721"/>
                <a:gd name="T3" fmla="*/ 336 h 817"/>
                <a:gd name="T4" fmla="*/ 96 w 721"/>
                <a:gd name="T5" fmla="*/ 624 h 817"/>
                <a:gd name="T6" fmla="*/ 576 w 721"/>
                <a:gd name="T7" fmla="*/ 816 h 817"/>
                <a:gd name="T8" fmla="*/ 720 w 721"/>
                <a:gd name="T9" fmla="*/ 816 h 817"/>
                <a:gd name="T10" fmla="*/ 720 w 721"/>
                <a:gd name="T11" fmla="*/ 0 h 817"/>
                <a:gd name="T12" fmla="*/ 96 w 721"/>
                <a:gd name="T13" fmla="*/ 0 h 8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1"/>
                <a:gd name="T22" fmla="*/ 0 h 817"/>
                <a:gd name="T23" fmla="*/ 721 w 721"/>
                <a:gd name="T24" fmla="*/ 817 h 81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1" h="817">
                  <a:moveTo>
                    <a:pt x="96" y="0"/>
                  </a:moveTo>
                  <a:lnTo>
                    <a:pt x="0" y="336"/>
                  </a:lnTo>
                  <a:lnTo>
                    <a:pt x="96" y="624"/>
                  </a:lnTo>
                  <a:lnTo>
                    <a:pt x="576" y="816"/>
                  </a:lnTo>
                  <a:lnTo>
                    <a:pt x="720" y="816"/>
                  </a:lnTo>
                  <a:lnTo>
                    <a:pt x="720" y="0"/>
                  </a:lnTo>
                  <a:lnTo>
                    <a:pt x="96" y="0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35" name="Freeform 188"/>
            <p:cNvSpPr>
              <a:spLocks/>
            </p:cNvSpPr>
            <p:nvPr/>
          </p:nvSpPr>
          <p:spPr bwMode="auto">
            <a:xfrm>
              <a:off x="4705" y="2832"/>
              <a:ext cx="289" cy="337"/>
            </a:xfrm>
            <a:custGeom>
              <a:avLst/>
              <a:gdLst>
                <a:gd name="T0" fmla="*/ 0 w 289"/>
                <a:gd name="T1" fmla="*/ 192 h 337"/>
                <a:gd name="T2" fmla="*/ 96 w 289"/>
                <a:gd name="T3" fmla="*/ 48 h 337"/>
                <a:gd name="T4" fmla="*/ 240 w 289"/>
                <a:gd name="T5" fmla="*/ 0 h 337"/>
                <a:gd name="T6" fmla="*/ 288 w 289"/>
                <a:gd name="T7" fmla="*/ 192 h 337"/>
                <a:gd name="T8" fmla="*/ 96 w 289"/>
                <a:gd name="T9" fmla="*/ 336 h 337"/>
                <a:gd name="T10" fmla="*/ 0 w 289"/>
                <a:gd name="T11" fmla="*/ 192 h 3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9"/>
                <a:gd name="T19" fmla="*/ 0 h 337"/>
                <a:gd name="T20" fmla="*/ 289 w 289"/>
                <a:gd name="T21" fmla="*/ 337 h 3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9" h="337">
                  <a:moveTo>
                    <a:pt x="0" y="192"/>
                  </a:moveTo>
                  <a:lnTo>
                    <a:pt x="96" y="48"/>
                  </a:lnTo>
                  <a:lnTo>
                    <a:pt x="240" y="0"/>
                  </a:lnTo>
                  <a:lnTo>
                    <a:pt x="288" y="192"/>
                  </a:lnTo>
                  <a:lnTo>
                    <a:pt x="96" y="336"/>
                  </a:lnTo>
                  <a:lnTo>
                    <a:pt x="0" y="192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36" name="Freeform 189"/>
            <p:cNvSpPr>
              <a:spLocks/>
            </p:cNvSpPr>
            <p:nvPr/>
          </p:nvSpPr>
          <p:spPr bwMode="auto">
            <a:xfrm>
              <a:off x="5137" y="2928"/>
              <a:ext cx="577" cy="625"/>
            </a:xfrm>
            <a:custGeom>
              <a:avLst/>
              <a:gdLst>
                <a:gd name="T0" fmla="*/ 0 w 577"/>
                <a:gd name="T1" fmla="*/ 576 h 625"/>
                <a:gd name="T2" fmla="*/ 0 w 577"/>
                <a:gd name="T3" fmla="*/ 336 h 625"/>
                <a:gd name="T4" fmla="*/ 144 w 577"/>
                <a:gd name="T5" fmla="*/ 288 h 625"/>
                <a:gd name="T6" fmla="*/ 144 w 577"/>
                <a:gd name="T7" fmla="*/ 96 h 625"/>
                <a:gd name="T8" fmla="*/ 432 w 577"/>
                <a:gd name="T9" fmla="*/ 0 h 625"/>
                <a:gd name="T10" fmla="*/ 576 w 577"/>
                <a:gd name="T11" fmla="*/ 240 h 625"/>
                <a:gd name="T12" fmla="*/ 576 w 577"/>
                <a:gd name="T13" fmla="*/ 528 h 625"/>
                <a:gd name="T14" fmla="*/ 384 w 577"/>
                <a:gd name="T15" fmla="*/ 624 h 625"/>
                <a:gd name="T16" fmla="*/ 0 w 577"/>
                <a:gd name="T17" fmla="*/ 576 h 6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77"/>
                <a:gd name="T28" fmla="*/ 0 h 625"/>
                <a:gd name="T29" fmla="*/ 577 w 577"/>
                <a:gd name="T30" fmla="*/ 625 h 6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77" h="625">
                  <a:moveTo>
                    <a:pt x="0" y="576"/>
                  </a:moveTo>
                  <a:lnTo>
                    <a:pt x="0" y="336"/>
                  </a:lnTo>
                  <a:lnTo>
                    <a:pt x="144" y="288"/>
                  </a:lnTo>
                  <a:lnTo>
                    <a:pt x="144" y="96"/>
                  </a:lnTo>
                  <a:lnTo>
                    <a:pt x="432" y="0"/>
                  </a:lnTo>
                  <a:lnTo>
                    <a:pt x="576" y="240"/>
                  </a:lnTo>
                  <a:lnTo>
                    <a:pt x="576" y="528"/>
                  </a:lnTo>
                  <a:lnTo>
                    <a:pt x="384" y="624"/>
                  </a:lnTo>
                  <a:lnTo>
                    <a:pt x="0" y="576"/>
                  </a:lnTo>
                </a:path>
              </a:pathLst>
            </a:custGeom>
            <a:solidFill>
              <a:schemeClr val="accent2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837" name="Freeform 190"/>
            <p:cNvSpPr>
              <a:spLocks/>
            </p:cNvSpPr>
            <p:nvPr/>
          </p:nvSpPr>
          <p:spPr bwMode="auto">
            <a:xfrm>
              <a:off x="5473" y="3168"/>
              <a:ext cx="193" cy="289"/>
            </a:xfrm>
            <a:custGeom>
              <a:avLst/>
              <a:gdLst>
                <a:gd name="T0" fmla="*/ 0 w 193"/>
                <a:gd name="T1" fmla="*/ 240 h 289"/>
                <a:gd name="T2" fmla="*/ 0 w 193"/>
                <a:gd name="T3" fmla="*/ 96 h 289"/>
                <a:gd name="T4" fmla="*/ 96 w 193"/>
                <a:gd name="T5" fmla="*/ 0 h 289"/>
                <a:gd name="T6" fmla="*/ 192 w 193"/>
                <a:gd name="T7" fmla="*/ 192 h 289"/>
                <a:gd name="T8" fmla="*/ 96 w 193"/>
                <a:gd name="T9" fmla="*/ 288 h 289"/>
                <a:gd name="T10" fmla="*/ 0 w 193"/>
                <a:gd name="T11" fmla="*/ 240 h 2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3"/>
                <a:gd name="T19" fmla="*/ 0 h 289"/>
                <a:gd name="T20" fmla="*/ 193 w 193"/>
                <a:gd name="T21" fmla="*/ 289 h 28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3" h="289">
                  <a:moveTo>
                    <a:pt x="0" y="240"/>
                  </a:moveTo>
                  <a:lnTo>
                    <a:pt x="0" y="96"/>
                  </a:lnTo>
                  <a:lnTo>
                    <a:pt x="96" y="0"/>
                  </a:lnTo>
                  <a:lnTo>
                    <a:pt x="192" y="192"/>
                  </a:lnTo>
                  <a:lnTo>
                    <a:pt x="96" y="288"/>
                  </a:lnTo>
                  <a:lnTo>
                    <a:pt x="0" y="240"/>
                  </a:lnTo>
                </a:path>
              </a:pathLst>
            </a:custGeom>
            <a:solidFill>
              <a:schemeClr val="bg1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5778" name="Rectangle 193"/>
          <p:cNvSpPr>
            <a:spLocks noGrp="1" noChangeArrowheads="1"/>
          </p:cNvSpPr>
          <p:nvPr>
            <p:ph type="title"/>
          </p:nvPr>
        </p:nvSpPr>
        <p:spPr>
          <a:xfrm>
            <a:off x="1992313" y="260350"/>
            <a:ext cx="8001000" cy="609600"/>
          </a:xfrm>
        </p:spPr>
        <p:txBody>
          <a:bodyPr>
            <a:normAutofit fontScale="90000"/>
          </a:bodyPr>
          <a:lstStyle/>
          <a:p>
            <a:r>
              <a:rPr lang="he-IL" altLang="ko-KR"/>
              <a:t>משטחים לא לינארים </a:t>
            </a:r>
            <a:endParaRPr lang="en-GB" altLang="ko-KR">
              <a:ea typeface="Gulim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68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6514" y="1873096"/>
            <a:ext cx="5946421" cy="6374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496529" y="1126731"/>
            <a:ext cx="3474992" cy="574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1496529" y="2575862"/>
            <a:ext cx="4591624" cy="7472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2481061" y="3761859"/>
            <a:ext cx="1156784" cy="524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2474711" y="3755526"/>
            <a:ext cx="1170092" cy="537633"/>
          </a:xfrm>
          <a:custGeom>
            <a:avLst/>
            <a:gdLst/>
            <a:ahLst/>
            <a:cxnLst/>
            <a:rect l="l" t="t" r="r" b="b"/>
            <a:pathLst>
              <a:path w="877569" h="403225">
                <a:moveTo>
                  <a:pt x="0" y="0"/>
                </a:moveTo>
                <a:lnTo>
                  <a:pt x="877110" y="0"/>
                </a:lnTo>
                <a:lnTo>
                  <a:pt x="877110" y="403124"/>
                </a:lnTo>
                <a:lnTo>
                  <a:pt x="0" y="40312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370996" y="1282637"/>
            <a:ext cx="9629987" cy="3026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82653"/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scores</a:t>
            </a:r>
            <a:r>
              <a:rPr sz="2400" spc="-9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47"/>
              </a:spcBef>
            </a:pPr>
            <a:endParaRPr sz="1867">
              <a:latin typeface="Times New Roman"/>
              <a:cs typeface="Times New Roman"/>
            </a:endParaRPr>
          </a:p>
          <a:p>
            <a:pPr marR="789920" algn="r">
              <a:spcBef>
                <a:spcPts val="7"/>
              </a:spcBef>
            </a:pP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SVM</a:t>
            </a:r>
            <a:r>
              <a:rPr sz="2400" spc="-1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loss</a:t>
            </a:r>
            <a:endParaRPr sz="2400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667">
              <a:latin typeface="Times New Roman"/>
              <a:cs typeface="Times New Roman"/>
            </a:endParaRPr>
          </a:p>
          <a:p>
            <a:pPr marL="6216918">
              <a:spcBef>
                <a:spcPts val="7"/>
              </a:spcBef>
            </a:pP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data loss +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regularization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2333">
              <a:latin typeface="Times New Roman"/>
              <a:cs typeface="Times New Roman"/>
            </a:endParaRPr>
          </a:p>
          <a:p>
            <a:pPr marL="16933"/>
            <a:r>
              <a:rPr sz="3200" spc="-7" dirty="0">
                <a:latin typeface="Arial"/>
                <a:cs typeface="Arial"/>
              </a:rPr>
              <a:t>want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8825" y="6305350"/>
            <a:ext cx="165184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4</a:t>
            </a:r>
            <a:r>
              <a:rPr sz="2667" spc="-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083125" y="6316747"/>
            <a:ext cx="22267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667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71133" y="127403"/>
            <a:ext cx="2899833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/>
              <a:t>Where we</a:t>
            </a:r>
            <a:r>
              <a:rPr sz="3200" spc="-73" dirty="0"/>
              <a:t> </a:t>
            </a:r>
            <a:r>
              <a:rPr sz="3200" spc="-7" dirty="0"/>
              <a:t>are...</a:t>
            </a: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74751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6690986" y="648432"/>
            <a:ext cx="5297521" cy="4101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10372712" y="4766402"/>
            <a:ext cx="1745827" cy="564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marR="6773">
              <a:lnSpc>
                <a:spcPts val="2200"/>
              </a:lnSpc>
            </a:pPr>
            <a:r>
              <a:rPr sz="1867" spc="-7" dirty="0">
                <a:latin typeface="Arial"/>
                <a:cs typeface="Arial"/>
              </a:rPr>
              <a:t>(image credits  to Alec</a:t>
            </a:r>
            <a:r>
              <a:rPr sz="1867" spc="-60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</a:rPr>
              <a:t>Radford)</a:t>
            </a:r>
            <a:endParaRPr sz="1867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9166" y="15529"/>
            <a:ext cx="2855807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spc="-7" dirty="0"/>
              <a:t>Optimization</a:t>
            </a:r>
            <a:endParaRPr sz="4000"/>
          </a:p>
        </p:txBody>
      </p:sp>
      <p:sp>
        <p:nvSpPr>
          <p:cNvPr id="7" name="object 7"/>
          <p:cNvSpPr/>
          <p:nvPr/>
        </p:nvSpPr>
        <p:spPr>
          <a:xfrm>
            <a:off x="344899" y="942197"/>
            <a:ext cx="5918655" cy="37058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1052681" y="3097847"/>
            <a:ext cx="450468" cy="602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584129" y="4369558"/>
            <a:ext cx="6732185" cy="12021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2577778" y="4363191"/>
            <a:ext cx="6745393" cy="1214967"/>
          </a:xfrm>
          <a:custGeom>
            <a:avLst/>
            <a:gdLst/>
            <a:ahLst/>
            <a:cxnLst/>
            <a:rect l="l" t="t" r="r" b="b"/>
            <a:pathLst>
              <a:path w="5059045" h="911225">
                <a:moveTo>
                  <a:pt x="0" y="0"/>
                </a:moveTo>
                <a:lnTo>
                  <a:pt x="5058652" y="0"/>
                </a:lnTo>
                <a:lnTo>
                  <a:pt x="5058652" y="911148"/>
                </a:lnTo>
                <a:lnTo>
                  <a:pt x="0" y="91114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7198825" y="6305350"/>
            <a:ext cx="165184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4</a:t>
            </a:r>
            <a:r>
              <a:rPr sz="2667" spc="-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083125" y="6316747"/>
            <a:ext cx="22267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6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705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3832" y="629629"/>
            <a:ext cx="9069136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98435">
              <a:lnSpc>
                <a:spcPct val="100000"/>
              </a:lnSpc>
            </a:pPr>
            <a:r>
              <a:rPr sz="4000" spc="-7" dirty="0"/>
              <a:t>Gradient</a:t>
            </a:r>
            <a:r>
              <a:rPr sz="4000" spc="-60" dirty="0"/>
              <a:t> </a:t>
            </a:r>
            <a:r>
              <a:rPr sz="4000" spc="-7" dirty="0"/>
              <a:t>Descent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3197427" y="1434163"/>
            <a:ext cx="4851389" cy="1142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534399" y="3282003"/>
            <a:ext cx="10800079" cy="2595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820"/>
              </a:lnSpc>
            </a:pPr>
            <a:r>
              <a:rPr sz="3200" b="1" spc="-7" dirty="0">
                <a:latin typeface="Arial"/>
                <a:cs typeface="Arial"/>
              </a:rPr>
              <a:t>Numerical </a:t>
            </a:r>
            <a:r>
              <a:rPr sz="3200" b="1" dirty="0">
                <a:latin typeface="Arial"/>
                <a:cs typeface="Arial"/>
              </a:rPr>
              <a:t>gradient</a:t>
            </a:r>
            <a:r>
              <a:rPr sz="3200" dirty="0">
                <a:latin typeface="Arial"/>
                <a:cs typeface="Arial"/>
              </a:rPr>
              <a:t>: </a:t>
            </a:r>
            <a:r>
              <a:rPr sz="3200" spc="-7" dirty="0">
                <a:latin typeface="Arial"/>
                <a:cs typeface="Arial"/>
              </a:rPr>
              <a:t>slow :(, approximate :(, easy to write</a:t>
            </a:r>
            <a:r>
              <a:rPr sz="3200" spc="1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:)</a:t>
            </a:r>
            <a:endParaRPr sz="3200">
              <a:latin typeface="Arial"/>
              <a:cs typeface="Arial"/>
            </a:endParaRPr>
          </a:p>
          <a:p>
            <a:pPr marL="16933">
              <a:lnSpc>
                <a:spcPts val="3820"/>
              </a:lnSpc>
            </a:pPr>
            <a:r>
              <a:rPr sz="3200" b="1" spc="-7" dirty="0">
                <a:latin typeface="Arial"/>
                <a:cs typeface="Arial"/>
              </a:rPr>
              <a:t>Analytic </a:t>
            </a:r>
            <a:r>
              <a:rPr sz="3200" b="1" dirty="0">
                <a:latin typeface="Arial"/>
                <a:cs typeface="Arial"/>
              </a:rPr>
              <a:t>gradient</a:t>
            </a:r>
            <a:r>
              <a:rPr sz="3200" dirty="0">
                <a:latin typeface="Arial"/>
                <a:cs typeface="Arial"/>
              </a:rPr>
              <a:t>: </a:t>
            </a:r>
            <a:r>
              <a:rPr sz="3200" spc="-7" dirty="0">
                <a:latin typeface="Arial"/>
                <a:cs typeface="Arial"/>
              </a:rPr>
              <a:t>fast :), exact :), error-prone</a:t>
            </a:r>
            <a:r>
              <a:rPr sz="3200" spc="6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:(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4200">
              <a:latin typeface="Times New Roman"/>
              <a:cs typeface="Times New Roman"/>
            </a:endParaRPr>
          </a:p>
          <a:p>
            <a:pPr marL="666310" marR="1589154">
              <a:lnSpc>
                <a:spcPts val="3800"/>
              </a:lnSpc>
              <a:spcBef>
                <a:spcPts val="7"/>
              </a:spcBef>
            </a:pPr>
            <a:r>
              <a:rPr sz="3200" spc="-7" dirty="0">
                <a:latin typeface="Arial"/>
                <a:cs typeface="Arial"/>
              </a:rPr>
              <a:t>In practice: Derive analytic gradient, check your  implementation with numerical</a:t>
            </a:r>
            <a:r>
              <a:rPr sz="3200" spc="6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gradient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8825" y="6305350"/>
            <a:ext cx="165184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4</a:t>
            </a:r>
            <a:r>
              <a:rPr sz="2667" spc="-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083125" y="6316747"/>
            <a:ext cx="22267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26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701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43831" y="549418"/>
            <a:ext cx="8090569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887061">
              <a:lnSpc>
                <a:spcPct val="100000"/>
              </a:lnSpc>
            </a:pPr>
            <a:r>
              <a:rPr sz="4000" spc="-7" dirty="0"/>
              <a:t>Computational</a:t>
            </a:r>
            <a:r>
              <a:rPr sz="4000" spc="-40" dirty="0"/>
              <a:t> </a:t>
            </a:r>
            <a:r>
              <a:rPr sz="4000" spc="-7" dirty="0"/>
              <a:t>Graph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2388311" y="1689730"/>
            <a:ext cx="1993896" cy="6603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2375611" y="1677029"/>
            <a:ext cx="2019300" cy="685800"/>
          </a:xfrm>
          <a:custGeom>
            <a:avLst/>
            <a:gdLst/>
            <a:ahLst/>
            <a:cxnLst/>
            <a:rect l="l" t="t" r="r" b="b"/>
            <a:pathLst>
              <a:path w="1514475" h="514350">
                <a:moveTo>
                  <a:pt x="0" y="0"/>
                </a:moveTo>
                <a:lnTo>
                  <a:pt x="1514484" y="0"/>
                </a:lnTo>
                <a:lnTo>
                  <a:pt x="1514484" y="514348"/>
                </a:lnTo>
                <a:lnTo>
                  <a:pt x="0" y="5143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1123965" y="1950597"/>
            <a:ext cx="500380" cy="792653"/>
          </a:xfrm>
          <a:prstGeom prst="rect">
            <a:avLst/>
          </a:prstGeom>
          <a:solidFill>
            <a:srgbClr val="F2F2F2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67">
              <a:latin typeface="Times New Roman"/>
              <a:cs typeface="Times New Roman"/>
            </a:endParaRPr>
          </a:p>
          <a:p>
            <a:pPr algn="ctr">
              <a:spcBef>
                <a:spcPts val="1653"/>
              </a:spcBef>
            </a:pPr>
            <a:r>
              <a:rPr sz="1867" dirty="0">
                <a:latin typeface="Arial"/>
                <a:cs typeface="Arial"/>
              </a:rPr>
              <a:t>x</a:t>
            </a:r>
            <a:endParaRPr sz="1867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29329" y="2535728"/>
            <a:ext cx="724747" cy="409787"/>
          </a:xfrm>
          <a:custGeom>
            <a:avLst/>
            <a:gdLst/>
            <a:ahLst/>
            <a:cxnLst/>
            <a:rect l="l" t="t" r="r" b="b"/>
            <a:pathLst>
              <a:path w="543560" h="307339">
                <a:moveTo>
                  <a:pt x="0" y="0"/>
                </a:moveTo>
                <a:lnTo>
                  <a:pt x="543046" y="306976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643071" y="2926767"/>
            <a:ext cx="60960" cy="47413"/>
          </a:xfrm>
          <a:custGeom>
            <a:avLst/>
            <a:gdLst/>
            <a:ahLst/>
            <a:cxnLst/>
            <a:rect l="l" t="t" r="r" b="b"/>
            <a:pathLst>
              <a:path w="45719" h="35560">
                <a:moveTo>
                  <a:pt x="0" y="27392"/>
                </a:moveTo>
                <a:lnTo>
                  <a:pt x="45369" y="34967"/>
                </a:lnTo>
                <a:lnTo>
                  <a:pt x="15482" y="0"/>
                </a:lnTo>
                <a:lnTo>
                  <a:pt x="0" y="27392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379266" y="3398526"/>
            <a:ext cx="1245447" cy="792653"/>
          </a:xfrm>
          <a:prstGeom prst="rect">
            <a:avLst/>
          </a:prstGeom>
          <a:solidFill>
            <a:srgbClr val="F2F2F2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67">
              <a:latin typeface="Times New Roman"/>
              <a:cs typeface="Times New Roman"/>
            </a:endParaRPr>
          </a:p>
          <a:p>
            <a:pPr algn="ctr">
              <a:spcBef>
                <a:spcPts val="1653"/>
              </a:spcBef>
            </a:pPr>
            <a:r>
              <a:rPr sz="1867" spc="-7" dirty="0">
                <a:latin typeface="Arial"/>
                <a:cs typeface="Arial"/>
              </a:rPr>
              <a:t>W</a:t>
            </a:r>
            <a:endParaRPr sz="1867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57946" y="3443693"/>
            <a:ext cx="844127" cy="646007"/>
          </a:xfrm>
          <a:custGeom>
            <a:avLst/>
            <a:gdLst/>
            <a:ahLst/>
            <a:cxnLst/>
            <a:rect l="l" t="t" r="r" b="b"/>
            <a:pathLst>
              <a:path w="633094" h="484505">
                <a:moveTo>
                  <a:pt x="0" y="483974"/>
                </a:moveTo>
                <a:lnTo>
                  <a:pt x="632901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689071" y="3408659"/>
            <a:ext cx="59267" cy="52493"/>
          </a:xfrm>
          <a:custGeom>
            <a:avLst/>
            <a:gdLst/>
            <a:ahLst/>
            <a:cxnLst/>
            <a:rect l="l" t="t" r="r" b="b"/>
            <a:pathLst>
              <a:path w="44450" h="39369">
                <a:moveTo>
                  <a:pt x="19114" y="38774"/>
                </a:moveTo>
                <a:lnTo>
                  <a:pt x="43894" y="0"/>
                </a:lnTo>
                <a:lnTo>
                  <a:pt x="0" y="13774"/>
                </a:lnTo>
                <a:lnTo>
                  <a:pt x="19114" y="387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921927" y="2787361"/>
            <a:ext cx="830580" cy="830580"/>
          </a:xfrm>
          <a:custGeom>
            <a:avLst/>
            <a:gdLst/>
            <a:ahLst/>
            <a:cxnLst/>
            <a:rect l="l" t="t" r="r" b="b"/>
            <a:pathLst>
              <a:path w="622935" h="622935">
                <a:moveTo>
                  <a:pt x="0" y="311249"/>
                </a:moveTo>
                <a:lnTo>
                  <a:pt x="3374" y="265255"/>
                </a:lnTo>
                <a:lnTo>
                  <a:pt x="13178" y="221356"/>
                </a:lnTo>
                <a:lnTo>
                  <a:pt x="28928" y="180034"/>
                </a:lnTo>
                <a:lnTo>
                  <a:pt x="50144" y="141771"/>
                </a:lnTo>
                <a:lnTo>
                  <a:pt x="76344" y="107047"/>
                </a:lnTo>
                <a:lnTo>
                  <a:pt x="107047" y="76344"/>
                </a:lnTo>
                <a:lnTo>
                  <a:pt x="141771" y="50144"/>
                </a:lnTo>
                <a:lnTo>
                  <a:pt x="180034" y="28928"/>
                </a:lnTo>
                <a:lnTo>
                  <a:pt x="221356" y="13178"/>
                </a:lnTo>
                <a:lnTo>
                  <a:pt x="265255" y="3374"/>
                </a:lnTo>
                <a:lnTo>
                  <a:pt x="311249" y="0"/>
                </a:lnTo>
                <a:lnTo>
                  <a:pt x="360234" y="3877"/>
                </a:lnTo>
                <a:lnTo>
                  <a:pt x="407572" y="15278"/>
                </a:lnTo>
                <a:lnTo>
                  <a:pt x="452424" y="33857"/>
                </a:lnTo>
                <a:lnTo>
                  <a:pt x="493954" y="59267"/>
                </a:lnTo>
                <a:lnTo>
                  <a:pt x="531323" y="91162"/>
                </a:lnTo>
                <a:lnTo>
                  <a:pt x="563222" y="128541"/>
                </a:lnTo>
                <a:lnTo>
                  <a:pt x="588635" y="170076"/>
                </a:lnTo>
                <a:lnTo>
                  <a:pt x="607217" y="214929"/>
                </a:lnTo>
                <a:lnTo>
                  <a:pt x="618620" y="262265"/>
                </a:lnTo>
                <a:lnTo>
                  <a:pt x="622498" y="311249"/>
                </a:lnTo>
                <a:lnTo>
                  <a:pt x="619124" y="357243"/>
                </a:lnTo>
                <a:lnTo>
                  <a:pt x="609320" y="401142"/>
                </a:lnTo>
                <a:lnTo>
                  <a:pt x="593570" y="442464"/>
                </a:lnTo>
                <a:lnTo>
                  <a:pt x="572354" y="480728"/>
                </a:lnTo>
                <a:lnTo>
                  <a:pt x="546154" y="515452"/>
                </a:lnTo>
                <a:lnTo>
                  <a:pt x="515452" y="546154"/>
                </a:lnTo>
                <a:lnTo>
                  <a:pt x="480728" y="572354"/>
                </a:lnTo>
                <a:lnTo>
                  <a:pt x="442464" y="593570"/>
                </a:lnTo>
                <a:lnTo>
                  <a:pt x="401142" y="609320"/>
                </a:lnTo>
                <a:lnTo>
                  <a:pt x="357243" y="619124"/>
                </a:lnTo>
                <a:lnTo>
                  <a:pt x="311249" y="622498"/>
                </a:lnTo>
                <a:lnTo>
                  <a:pt x="265255" y="619124"/>
                </a:lnTo>
                <a:lnTo>
                  <a:pt x="221356" y="609320"/>
                </a:lnTo>
                <a:lnTo>
                  <a:pt x="180034" y="593570"/>
                </a:lnTo>
                <a:lnTo>
                  <a:pt x="141771" y="572354"/>
                </a:lnTo>
                <a:lnTo>
                  <a:pt x="107047" y="546154"/>
                </a:lnTo>
                <a:lnTo>
                  <a:pt x="76344" y="515452"/>
                </a:lnTo>
                <a:lnTo>
                  <a:pt x="50144" y="480728"/>
                </a:lnTo>
                <a:lnTo>
                  <a:pt x="28928" y="442464"/>
                </a:lnTo>
                <a:lnTo>
                  <a:pt x="13178" y="401142"/>
                </a:lnTo>
                <a:lnTo>
                  <a:pt x="3374" y="357243"/>
                </a:lnTo>
                <a:lnTo>
                  <a:pt x="0" y="3112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3221140" y="2877245"/>
            <a:ext cx="23198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4000" spc="-7" dirty="0">
                <a:latin typeface="Arial"/>
                <a:cs typeface="Arial"/>
              </a:rPr>
              <a:t>*</a:t>
            </a:r>
            <a:endParaRPr sz="4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23226" y="3202360"/>
            <a:ext cx="1585807" cy="0"/>
          </a:xfrm>
          <a:custGeom>
            <a:avLst/>
            <a:gdLst/>
            <a:ahLst/>
            <a:cxnLst/>
            <a:rect l="l" t="t" r="r" b="b"/>
            <a:pathLst>
              <a:path w="1189354">
                <a:moveTo>
                  <a:pt x="0" y="0"/>
                </a:moveTo>
                <a:lnTo>
                  <a:pt x="1189347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5509022" y="31813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4903223" y="1685679"/>
            <a:ext cx="5946420" cy="6374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4890523" y="1672979"/>
            <a:ext cx="5972387" cy="662940"/>
          </a:xfrm>
          <a:custGeom>
            <a:avLst/>
            <a:gdLst/>
            <a:ahLst/>
            <a:cxnLst/>
            <a:rect l="l" t="t" r="r" b="b"/>
            <a:pathLst>
              <a:path w="4479290" h="497205">
                <a:moveTo>
                  <a:pt x="0" y="0"/>
                </a:moveTo>
                <a:lnTo>
                  <a:pt x="4478865" y="0"/>
                </a:lnTo>
                <a:lnTo>
                  <a:pt x="4478865" y="497173"/>
                </a:lnTo>
                <a:lnTo>
                  <a:pt x="0" y="49717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5682389" y="2787361"/>
            <a:ext cx="830580" cy="830580"/>
          </a:xfrm>
          <a:custGeom>
            <a:avLst/>
            <a:gdLst/>
            <a:ahLst/>
            <a:cxnLst/>
            <a:rect l="l" t="t" r="r" b="b"/>
            <a:pathLst>
              <a:path w="622935" h="622935">
                <a:moveTo>
                  <a:pt x="0" y="311249"/>
                </a:moveTo>
                <a:lnTo>
                  <a:pt x="3374" y="265255"/>
                </a:lnTo>
                <a:lnTo>
                  <a:pt x="13177" y="221356"/>
                </a:lnTo>
                <a:lnTo>
                  <a:pt x="28928" y="180034"/>
                </a:lnTo>
                <a:lnTo>
                  <a:pt x="50143" y="141771"/>
                </a:lnTo>
                <a:lnTo>
                  <a:pt x="76343" y="107047"/>
                </a:lnTo>
                <a:lnTo>
                  <a:pt x="107046" y="76344"/>
                </a:lnTo>
                <a:lnTo>
                  <a:pt x="141770" y="50144"/>
                </a:lnTo>
                <a:lnTo>
                  <a:pt x="180033" y="28928"/>
                </a:lnTo>
                <a:lnTo>
                  <a:pt x="221355" y="13178"/>
                </a:lnTo>
                <a:lnTo>
                  <a:pt x="265254" y="3374"/>
                </a:lnTo>
                <a:lnTo>
                  <a:pt x="311249" y="0"/>
                </a:lnTo>
                <a:lnTo>
                  <a:pt x="360234" y="3877"/>
                </a:lnTo>
                <a:lnTo>
                  <a:pt x="407572" y="15278"/>
                </a:lnTo>
                <a:lnTo>
                  <a:pt x="452424" y="33857"/>
                </a:lnTo>
                <a:lnTo>
                  <a:pt x="493954" y="59267"/>
                </a:lnTo>
                <a:lnTo>
                  <a:pt x="531323" y="91162"/>
                </a:lnTo>
                <a:lnTo>
                  <a:pt x="563222" y="128541"/>
                </a:lnTo>
                <a:lnTo>
                  <a:pt x="588635" y="170076"/>
                </a:lnTo>
                <a:lnTo>
                  <a:pt x="607217" y="214929"/>
                </a:lnTo>
                <a:lnTo>
                  <a:pt x="618620" y="262265"/>
                </a:lnTo>
                <a:lnTo>
                  <a:pt x="622498" y="311249"/>
                </a:lnTo>
                <a:lnTo>
                  <a:pt x="619124" y="357243"/>
                </a:lnTo>
                <a:lnTo>
                  <a:pt x="609320" y="401142"/>
                </a:lnTo>
                <a:lnTo>
                  <a:pt x="593570" y="442464"/>
                </a:lnTo>
                <a:lnTo>
                  <a:pt x="572354" y="480728"/>
                </a:lnTo>
                <a:lnTo>
                  <a:pt x="546154" y="515452"/>
                </a:lnTo>
                <a:lnTo>
                  <a:pt x="515452" y="546154"/>
                </a:lnTo>
                <a:lnTo>
                  <a:pt x="480728" y="572354"/>
                </a:lnTo>
                <a:lnTo>
                  <a:pt x="442464" y="593570"/>
                </a:lnTo>
                <a:lnTo>
                  <a:pt x="401142" y="609320"/>
                </a:lnTo>
                <a:lnTo>
                  <a:pt x="357243" y="619124"/>
                </a:lnTo>
                <a:lnTo>
                  <a:pt x="311249" y="622498"/>
                </a:lnTo>
                <a:lnTo>
                  <a:pt x="265254" y="619124"/>
                </a:lnTo>
                <a:lnTo>
                  <a:pt x="221355" y="609320"/>
                </a:lnTo>
                <a:lnTo>
                  <a:pt x="180033" y="593570"/>
                </a:lnTo>
                <a:lnTo>
                  <a:pt x="141770" y="572354"/>
                </a:lnTo>
                <a:lnTo>
                  <a:pt x="107046" y="546154"/>
                </a:lnTo>
                <a:lnTo>
                  <a:pt x="76343" y="515452"/>
                </a:lnTo>
                <a:lnTo>
                  <a:pt x="50143" y="480728"/>
                </a:lnTo>
                <a:lnTo>
                  <a:pt x="28928" y="442464"/>
                </a:lnTo>
                <a:lnTo>
                  <a:pt x="13177" y="401142"/>
                </a:lnTo>
                <a:lnTo>
                  <a:pt x="3374" y="357243"/>
                </a:lnTo>
                <a:lnTo>
                  <a:pt x="0" y="3112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5914888" y="3029245"/>
            <a:ext cx="365760" cy="334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805" marR="6773" indent="-45719">
              <a:lnSpc>
                <a:spcPct val="101600"/>
              </a:lnSpc>
            </a:pPr>
            <a:r>
              <a:rPr sz="1067" spc="-7" dirty="0">
                <a:latin typeface="Arial"/>
                <a:cs typeface="Arial"/>
              </a:rPr>
              <a:t>hinge  loss</a:t>
            </a:r>
            <a:endParaRPr sz="1067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51919" y="3031846"/>
            <a:ext cx="1070187" cy="164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tabLst>
                <a:tab pos="1052380" algn="l"/>
              </a:tabLst>
            </a:pPr>
            <a:r>
              <a:rPr sz="1067" u="sng" dirty="0">
                <a:latin typeface="Times New Roman"/>
                <a:cs typeface="Times New Roman"/>
              </a:rPr>
              <a:t> 	</a:t>
            </a:r>
            <a:endParaRPr sz="1067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774251" y="31813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1941330" y="3548959"/>
            <a:ext cx="6398260" cy="891540"/>
          </a:xfrm>
          <a:custGeom>
            <a:avLst/>
            <a:gdLst/>
            <a:ahLst/>
            <a:cxnLst/>
            <a:rect l="l" t="t" r="r" b="b"/>
            <a:pathLst>
              <a:path w="4798695" h="668654">
                <a:moveTo>
                  <a:pt x="0" y="668248"/>
                </a:moveTo>
                <a:lnTo>
                  <a:pt x="4798190" y="668248"/>
                </a:lnTo>
                <a:lnTo>
                  <a:pt x="4798190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8317950" y="3491326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4">
                <a:moveTo>
                  <a:pt x="31449" y="43224"/>
                </a:moveTo>
                <a:lnTo>
                  <a:pt x="15724" y="0"/>
                </a:lnTo>
                <a:lnTo>
                  <a:pt x="0" y="43224"/>
                </a:lnTo>
                <a:lnTo>
                  <a:pt x="31449" y="4322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5930187" y="3979958"/>
            <a:ext cx="830580" cy="830580"/>
          </a:xfrm>
          <a:custGeom>
            <a:avLst/>
            <a:gdLst/>
            <a:ahLst/>
            <a:cxnLst/>
            <a:rect l="l" t="t" r="r" b="b"/>
            <a:pathLst>
              <a:path w="622935" h="622935">
                <a:moveTo>
                  <a:pt x="0" y="311249"/>
                </a:moveTo>
                <a:lnTo>
                  <a:pt x="3374" y="265254"/>
                </a:lnTo>
                <a:lnTo>
                  <a:pt x="13177" y="221355"/>
                </a:lnTo>
                <a:lnTo>
                  <a:pt x="28928" y="180033"/>
                </a:lnTo>
                <a:lnTo>
                  <a:pt x="50143" y="141770"/>
                </a:lnTo>
                <a:lnTo>
                  <a:pt x="76343" y="107046"/>
                </a:lnTo>
                <a:lnTo>
                  <a:pt x="107046" y="76343"/>
                </a:lnTo>
                <a:lnTo>
                  <a:pt x="141770" y="50143"/>
                </a:lnTo>
                <a:lnTo>
                  <a:pt x="180033" y="28928"/>
                </a:lnTo>
                <a:lnTo>
                  <a:pt x="221355" y="13177"/>
                </a:lnTo>
                <a:lnTo>
                  <a:pt x="265254" y="3374"/>
                </a:lnTo>
                <a:lnTo>
                  <a:pt x="311249" y="0"/>
                </a:lnTo>
                <a:lnTo>
                  <a:pt x="360234" y="3878"/>
                </a:lnTo>
                <a:lnTo>
                  <a:pt x="407572" y="15281"/>
                </a:lnTo>
                <a:lnTo>
                  <a:pt x="452424" y="33863"/>
                </a:lnTo>
                <a:lnTo>
                  <a:pt x="493954" y="59276"/>
                </a:lnTo>
                <a:lnTo>
                  <a:pt x="531323" y="91174"/>
                </a:lnTo>
                <a:lnTo>
                  <a:pt x="563222" y="128544"/>
                </a:lnTo>
                <a:lnTo>
                  <a:pt x="588635" y="170073"/>
                </a:lnTo>
                <a:lnTo>
                  <a:pt x="607217" y="214926"/>
                </a:lnTo>
                <a:lnTo>
                  <a:pt x="618620" y="262264"/>
                </a:lnTo>
                <a:lnTo>
                  <a:pt x="622498" y="311249"/>
                </a:lnTo>
                <a:lnTo>
                  <a:pt x="619124" y="357243"/>
                </a:lnTo>
                <a:lnTo>
                  <a:pt x="609320" y="401142"/>
                </a:lnTo>
                <a:lnTo>
                  <a:pt x="593570" y="442464"/>
                </a:lnTo>
                <a:lnTo>
                  <a:pt x="572354" y="480728"/>
                </a:lnTo>
                <a:lnTo>
                  <a:pt x="546154" y="515452"/>
                </a:lnTo>
                <a:lnTo>
                  <a:pt x="515452" y="546154"/>
                </a:lnTo>
                <a:lnTo>
                  <a:pt x="480728" y="572354"/>
                </a:lnTo>
                <a:lnTo>
                  <a:pt x="442464" y="593570"/>
                </a:lnTo>
                <a:lnTo>
                  <a:pt x="401142" y="609320"/>
                </a:lnTo>
                <a:lnTo>
                  <a:pt x="357243" y="619124"/>
                </a:lnTo>
                <a:lnTo>
                  <a:pt x="311249" y="622498"/>
                </a:lnTo>
                <a:lnTo>
                  <a:pt x="265254" y="619124"/>
                </a:lnTo>
                <a:lnTo>
                  <a:pt x="221355" y="609320"/>
                </a:lnTo>
                <a:lnTo>
                  <a:pt x="180033" y="593570"/>
                </a:lnTo>
                <a:lnTo>
                  <a:pt x="141770" y="572354"/>
                </a:lnTo>
                <a:lnTo>
                  <a:pt x="107046" y="546154"/>
                </a:lnTo>
                <a:lnTo>
                  <a:pt x="76343" y="515452"/>
                </a:lnTo>
                <a:lnTo>
                  <a:pt x="50143" y="480728"/>
                </a:lnTo>
                <a:lnTo>
                  <a:pt x="28928" y="442464"/>
                </a:lnTo>
                <a:lnTo>
                  <a:pt x="13177" y="401142"/>
                </a:lnTo>
                <a:lnTo>
                  <a:pt x="3374" y="357243"/>
                </a:lnTo>
                <a:lnTo>
                  <a:pt x="0" y="3112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 txBox="1"/>
          <p:nvPr/>
        </p:nvSpPr>
        <p:spPr>
          <a:xfrm>
            <a:off x="6218197" y="4198613"/>
            <a:ext cx="25400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901586" y="4683425"/>
            <a:ext cx="1081597" cy="540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6888885" y="4670723"/>
            <a:ext cx="1107440" cy="566420"/>
          </a:xfrm>
          <a:custGeom>
            <a:avLst/>
            <a:gdLst/>
            <a:ahLst/>
            <a:cxnLst/>
            <a:rect l="l" t="t" r="r" b="b"/>
            <a:pathLst>
              <a:path w="830579" h="424814">
                <a:moveTo>
                  <a:pt x="0" y="0"/>
                </a:moveTo>
                <a:lnTo>
                  <a:pt x="830248" y="0"/>
                </a:lnTo>
                <a:lnTo>
                  <a:pt x="830248" y="424649"/>
                </a:lnTo>
                <a:lnTo>
                  <a:pt x="0" y="4246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8068517" y="2931961"/>
            <a:ext cx="541020" cy="541020"/>
          </a:xfrm>
          <a:custGeom>
            <a:avLst/>
            <a:gdLst/>
            <a:ahLst/>
            <a:cxnLst/>
            <a:rect l="l" t="t" r="r" b="b"/>
            <a:pathLst>
              <a:path w="405764" h="405764">
                <a:moveTo>
                  <a:pt x="0" y="202799"/>
                </a:moveTo>
                <a:lnTo>
                  <a:pt x="5356" y="156299"/>
                </a:lnTo>
                <a:lnTo>
                  <a:pt x="20613" y="113613"/>
                </a:lnTo>
                <a:lnTo>
                  <a:pt x="44553" y="75959"/>
                </a:lnTo>
                <a:lnTo>
                  <a:pt x="75960" y="44553"/>
                </a:lnTo>
                <a:lnTo>
                  <a:pt x="113614" y="20612"/>
                </a:lnTo>
                <a:lnTo>
                  <a:pt x="156300" y="5356"/>
                </a:lnTo>
                <a:lnTo>
                  <a:pt x="202799" y="0"/>
                </a:lnTo>
                <a:lnTo>
                  <a:pt x="242544" y="3932"/>
                </a:lnTo>
                <a:lnTo>
                  <a:pt x="280405" y="15437"/>
                </a:lnTo>
                <a:lnTo>
                  <a:pt x="315313" y="34073"/>
                </a:lnTo>
                <a:lnTo>
                  <a:pt x="346199" y="59399"/>
                </a:lnTo>
                <a:lnTo>
                  <a:pt x="371522" y="90286"/>
                </a:lnTo>
                <a:lnTo>
                  <a:pt x="390158" y="125191"/>
                </a:lnTo>
                <a:lnTo>
                  <a:pt x="401665" y="163050"/>
                </a:lnTo>
                <a:lnTo>
                  <a:pt x="405599" y="202799"/>
                </a:lnTo>
                <a:lnTo>
                  <a:pt x="400242" y="249298"/>
                </a:lnTo>
                <a:lnTo>
                  <a:pt x="384985" y="291984"/>
                </a:lnTo>
                <a:lnTo>
                  <a:pt x="361045" y="329638"/>
                </a:lnTo>
                <a:lnTo>
                  <a:pt x="329638" y="361045"/>
                </a:lnTo>
                <a:lnTo>
                  <a:pt x="291984" y="384985"/>
                </a:lnTo>
                <a:lnTo>
                  <a:pt x="249298" y="400242"/>
                </a:lnTo>
                <a:lnTo>
                  <a:pt x="202799" y="405599"/>
                </a:lnTo>
                <a:lnTo>
                  <a:pt x="156300" y="400242"/>
                </a:lnTo>
                <a:lnTo>
                  <a:pt x="113614" y="384985"/>
                </a:lnTo>
                <a:lnTo>
                  <a:pt x="75960" y="361045"/>
                </a:lnTo>
                <a:lnTo>
                  <a:pt x="44553" y="329638"/>
                </a:lnTo>
                <a:lnTo>
                  <a:pt x="20613" y="291984"/>
                </a:lnTo>
                <a:lnTo>
                  <a:pt x="5356" y="249298"/>
                </a:lnTo>
                <a:lnTo>
                  <a:pt x="0" y="20279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 txBox="1"/>
          <p:nvPr/>
        </p:nvSpPr>
        <p:spPr>
          <a:xfrm>
            <a:off x="8277487" y="3107368"/>
            <a:ext cx="122767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1200" spc="-7" dirty="0">
                <a:latin typeface="Arial"/>
                <a:cs typeface="Arial"/>
              </a:rPr>
              <a:t>+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678549" y="3202360"/>
            <a:ext cx="1005840" cy="0"/>
          </a:xfrm>
          <a:custGeom>
            <a:avLst/>
            <a:gdLst/>
            <a:ahLst/>
            <a:cxnLst/>
            <a:rect l="l" t="t" r="r" b="b"/>
            <a:pathLst>
              <a:path w="754379">
                <a:moveTo>
                  <a:pt x="0" y="0"/>
                </a:moveTo>
                <a:lnTo>
                  <a:pt x="754023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9683914" y="31813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5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 txBox="1"/>
          <p:nvPr/>
        </p:nvSpPr>
        <p:spPr>
          <a:xfrm>
            <a:off x="10013685" y="3034073"/>
            <a:ext cx="20404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L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98825" y="6305350"/>
            <a:ext cx="165184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Lecture 4</a:t>
            </a:r>
            <a:r>
              <a:rPr sz="2667" spc="-9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667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9083125" y="6316747"/>
            <a:ext cx="22267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2667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94429" y="2832873"/>
            <a:ext cx="1087967" cy="287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1867" b="1" spc="-7" dirty="0">
                <a:latin typeface="Arial"/>
                <a:cs typeface="Arial"/>
              </a:rPr>
              <a:t>s</a:t>
            </a:r>
            <a:r>
              <a:rPr sz="1867" b="1" spc="-140" dirty="0">
                <a:latin typeface="Arial"/>
                <a:cs typeface="Arial"/>
              </a:rPr>
              <a:t> </a:t>
            </a:r>
            <a:r>
              <a:rPr sz="1867" dirty="0">
                <a:latin typeface="Arial"/>
                <a:cs typeface="Arial"/>
              </a:rPr>
              <a:t>(scores)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127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269387" y="607999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366221" y="1619730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8856715" y="1142065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1294078" y="1866563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6269387" y="2682561"/>
            <a:ext cx="500380" cy="210820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5" name="object 15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 txBox="1"/>
          <p:nvPr/>
        </p:nvSpPr>
        <p:spPr>
          <a:xfrm>
            <a:off x="564399" y="5002494"/>
            <a:ext cx="10947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2667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66500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269387" y="607999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366221" y="1619730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8856715" y="1142065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1294078" y="1866563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6269387" y="2682561"/>
            <a:ext cx="500380" cy="210820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5" name="object 15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 txBox="1"/>
          <p:nvPr/>
        </p:nvSpPr>
        <p:spPr>
          <a:xfrm>
            <a:off x="564399" y="5002494"/>
            <a:ext cx="10947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11043511" y="3248160"/>
            <a:ext cx="462595" cy="7873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11030811" y="3235460"/>
            <a:ext cx="488527" cy="812800"/>
          </a:xfrm>
          <a:custGeom>
            <a:avLst/>
            <a:gdLst/>
            <a:ahLst/>
            <a:cxnLst/>
            <a:rect l="l" t="t" r="r" b="b"/>
            <a:pathLst>
              <a:path w="366395" h="609600">
                <a:moveTo>
                  <a:pt x="0" y="0"/>
                </a:moveTo>
                <a:lnTo>
                  <a:pt x="365999" y="0"/>
                </a:lnTo>
                <a:lnTo>
                  <a:pt x="365999" y="609598"/>
                </a:lnTo>
                <a:lnTo>
                  <a:pt x="0" y="6095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11274810" y="2365212"/>
            <a:ext cx="231140" cy="883073"/>
          </a:xfrm>
          <a:custGeom>
            <a:avLst/>
            <a:gdLst/>
            <a:ahLst/>
            <a:cxnLst/>
            <a:rect l="l" t="t" r="r" b="b"/>
            <a:pathLst>
              <a:path w="173354" h="662305">
                <a:moveTo>
                  <a:pt x="0" y="662211"/>
                </a:moveTo>
                <a:lnTo>
                  <a:pt x="172999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11464876" y="2253689"/>
            <a:ext cx="81280" cy="122767"/>
          </a:xfrm>
          <a:custGeom>
            <a:avLst/>
            <a:gdLst/>
            <a:ahLst/>
            <a:cxnLst/>
            <a:rect l="l" t="t" r="r" b="b"/>
            <a:pathLst>
              <a:path w="60959" h="92075">
                <a:moveTo>
                  <a:pt x="60899" y="91597"/>
                </a:moveTo>
                <a:lnTo>
                  <a:pt x="52299" y="0"/>
                </a:lnTo>
                <a:lnTo>
                  <a:pt x="0" y="75689"/>
                </a:lnTo>
                <a:lnTo>
                  <a:pt x="60899" y="91597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667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201970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269387" y="607999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366221" y="1619730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8856715" y="1142065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6269387" y="2682561"/>
            <a:ext cx="500380" cy="210820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4" name="object 14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564399" y="5002494"/>
            <a:ext cx="10947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11043511" y="3248160"/>
            <a:ext cx="462595" cy="7873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11030811" y="3235460"/>
            <a:ext cx="488527" cy="812800"/>
          </a:xfrm>
          <a:custGeom>
            <a:avLst/>
            <a:gdLst/>
            <a:ahLst/>
            <a:cxnLst/>
            <a:rect l="l" t="t" r="r" b="b"/>
            <a:pathLst>
              <a:path w="366395" h="609600">
                <a:moveTo>
                  <a:pt x="0" y="0"/>
                </a:moveTo>
                <a:lnTo>
                  <a:pt x="365999" y="0"/>
                </a:lnTo>
                <a:lnTo>
                  <a:pt x="365999" y="609598"/>
                </a:lnTo>
                <a:lnTo>
                  <a:pt x="0" y="6095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11274810" y="2365212"/>
            <a:ext cx="231140" cy="883073"/>
          </a:xfrm>
          <a:custGeom>
            <a:avLst/>
            <a:gdLst/>
            <a:ahLst/>
            <a:cxnLst/>
            <a:rect l="l" t="t" r="r" b="b"/>
            <a:pathLst>
              <a:path w="173354" h="662305">
                <a:moveTo>
                  <a:pt x="0" y="662211"/>
                </a:moveTo>
                <a:lnTo>
                  <a:pt x="172999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11464876" y="2253689"/>
            <a:ext cx="81280" cy="122767"/>
          </a:xfrm>
          <a:custGeom>
            <a:avLst/>
            <a:gdLst/>
            <a:ahLst/>
            <a:cxnLst/>
            <a:rect l="l" t="t" r="r" b="b"/>
            <a:pathLst>
              <a:path w="60959" h="92075">
                <a:moveTo>
                  <a:pt x="60899" y="91597"/>
                </a:moveTo>
                <a:lnTo>
                  <a:pt x="52299" y="0"/>
                </a:lnTo>
                <a:lnTo>
                  <a:pt x="0" y="75689"/>
                </a:lnTo>
                <a:lnTo>
                  <a:pt x="60899" y="91597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2667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201680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269387" y="607999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366221" y="1619730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8856715" y="1142065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6269387" y="2682561"/>
            <a:ext cx="500380" cy="210820"/>
          </a:xfrm>
          <a:custGeom>
            <a:avLst/>
            <a:gdLst/>
            <a:ahLst/>
            <a:cxnLst/>
            <a:rect l="l" t="t" r="r" b="b"/>
            <a:pathLst>
              <a:path w="375285" h="158114">
                <a:moveTo>
                  <a:pt x="0" y="0"/>
                </a:moveTo>
                <a:lnTo>
                  <a:pt x="374999" y="0"/>
                </a:lnTo>
                <a:lnTo>
                  <a:pt x="374999" y="158099"/>
                </a:lnTo>
                <a:lnTo>
                  <a:pt x="0" y="158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4" name="object 14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564399" y="5002494"/>
            <a:ext cx="10947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7215419" y="2783494"/>
            <a:ext cx="4059767" cy="464820"/>
          </a:xfrm>
          <a:custGeom>
            <a:avLst/>
            <a:gdLst/>
            <a:ahLst/>
            <a:cxnLst/>
            <a:rect l="l" t="t" r="r" b="b"/>
            <a:pathLst>
              <a:path w="3044825" h="348614">
                <a:moveTo>
                  <a:pt x="3044543" y="348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7100919" y="2741811"/>
            <a:ext cx="119380" cy="83820"/>
          </a:xfrm>
          <a:custGeom>
            <a:avLst/>
            <a:gdLst/>
            <a:ahLst/>
            <a:cxnLst/>
            <a:rect l="l" t="t" r="r" b="b"/>
            <a:pathLst>
              <a:path w="89535" h="62864">
                <a:moveTo>
                  <a:pt x="89449" y="0"/>
                </a:moveTo>
                <a:lnTo>
                  <a:pt x="0" y="21429"/>
                </a:lnTo>
                <a:lnTo>
                  <a:pt x="82299" y="62522"/>
                </a:lnTo>
                <a:lnTo>
                  <a:pt x="894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11170676" y="3258967"/>
            <a:ext cx="621752" cy="82559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11157977" y="3246267"/>
            <a:ext cx="647700" cy="851747"/>
          </a:xfrm>
          <a:custGeom>
            <a:avLst/>
            <a:gdLst/>
            <a:ahLst/>
            <a:cxnLst/>
            <a:rect l="l" t="t" r="r" b="b"/>
            <a:pathLst>
              <a:path w="485775" h="638810">
                <a:moveTo>
                  <a:pt x="0" y="0"/>
                </a:moveTo>
                <a:lnTo>
                  <a:pt x="485374" y="0"/>
                </a:lnTo>
                <a:lnTo>
                  <a:pt x="485374" y="638243"/>
                </a:lnTo>
                <a:lnTo>
                  <a:pt x="0" y="63824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2667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55704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269387" y="607999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366221" y="1619730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8856715" y="1142065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3" name="object 13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564399" y="5002494"/>
            <a:ext cx="10947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1170676" y="3258967"/>
            <a:ext cx="621752" cy="82559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11157977" y="3246267"/>
            <a:ext cx="647700" cy="851747"/>
          </a:xfrm>
          <a:custGeom>
            <a:avLst/>
            <a:gdLst/>
            <a:ahLst/>
            <a:cxnLst/>
            <a:rect l="l" t="t" r="r" b="b"/>
            <a:pathLst>
              <a:path w="485775" h="638810">
                <a:moveTo>
                  <a:pt x="0" y="0"/>
                </a:moveTo>
                <a:lnTo>
                  <a:pt x="485374" y="0"/>
                </a:lnTo>
                <a:lnTo>
                  <a:pt x="485374" y="638243"/>
                </a:lnTo>
                <a:lnTo>
                  <a:pt x="0" y="63824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7215419" y="2783494"/>
            <a:ext cx="4059767" cy="464820"/>
          </a:xfrm>
          <a:custGeom>
            <a:avLst/>
            <a:gdLst/>
            <a:ahLst/>
            <a:cxnLst/>
            <a:rect l="l" t="t" r="r" b="b"/>
            <a:pathLst>
              <a:path w="3044825" h="348614">
                <a:moveTo>
                  <a:pt x="3044543" y="348499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7100919" y="2741811"/>
            <a:ext cx="119380" cy="83820"/>
          </a:xfrm>
          <a:custGeom>
            <a:avLst/>
            <a:gdLst/>
            <a:ahLst/>
            <a:cxnLst/>
            <a:rect l="l" t="t" r="r" b="b"/>
            <a:pathLst>
              <a:path w="89535" h="62864">
                <a:moveTo>
                  <a:pt x="89449" y="0"/>
                </a:moveTo>
                <a:lnTo>
                  <a:pt x="0" y="21429"/>
                </a:lnTo>
                <a:lnTo>
                  <a:pt x="82299" y="62522"/>
                </a:lnTo>
                <a:lnTo>
                  <a:pt x="894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2667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37115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269387" y="607999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366221" y="1619730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8856715" y="1142065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4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3" name="object 13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564399" y="5002494"/>
            <a:ext cx="10947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1014811" y="3248160"/>
            <a:ext cx="609597" cy="9905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11002111" y="3235460"/>
            <a:ext cx="635000" cy="1016000"/>
          </a:xfrm>
          <a:custGeom>
            <a:avLst/>
            <a:gdLst/>
            <a:ahLst/>
            <a:cxnLst/>
            <a:rect l="l" t="t" r="r" b="b"/>
            <a:pathLst>
              <a:path w="476250" h="762000">
                <a:moveTo>
                  <a:pt x="0" y="0"/>
                </a:moveTo>
                <a:lnTo>
                  <a:pt x="476249" y="0"/>
                </a:lnTo>
                <a:lnTo>
                  <a:pt x="476249" y="761998"/>
                </a:lnTo>
                <a:lnTo>
                  <a:pt x="0" y="7619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9380447" y="1569247"/>
            <a:ext cx="1894840" cy="1678940"/>
          </a:xfrm>
          <a:custGeom>
            <a:avLst/>
            <a:gdLst/>
            <a:ahLst/>
            <a:cxnLst/>
            <a:rect l="l" t="t" r="r" b="b"/>
            <a:pathLst>
              <a:path w="1421129" h="1259205">
                <a:moveTo>
                  <a:pt x="1420772" y="1259184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9294181" y="1492794"/>
            <a:ext cx="114300" cy="108373"/>
          </a:xfrm>
          <a:custGeom>
            <a:avLst/>
            <a:gdLst/>
            <a:ahLst/>
            <a:cxnLst/>
            <a:rect l="l" t="t" r="r" b="b"/>
            <a:pathLst>
              <a:path w="85725" h="81280">
                <a:moveTo>
                  <a:pt x="85574" y="33789"/>
                </a:moveTo>
                <a:lnTo>
                  <a:pt x="0" y="0"/>
                </a:lnTo>
                <a:lnTo>
                  <a:pt x="43849" y="80887"/>
                </a:lnTo>
                <a:lnTo>
                  <a:pt x="85574" y="33789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2667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38031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269387" y="607999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366221" y="1619730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2" name="object 12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564399" y="5002494"/>
            <a:ext cx="10947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9380447" y="1569247"/>
            <a:ext cx="1894840" cy="1678940"/>
          </a:xfrm>
          <a:custGeom>
            <a:avLst/>
            <a:gdLst/>
            <a:ahLst/>
            <a:cxnLst/>
            <a:rect l="l" t="t" r="r" b="b"/>
            <a:pathLst>
              <a:path w="1421129" h="1259205">
                <a:moveTo>
                  <a:pt x="1420772" y="1259184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9294181" y="1492794"/>
            <a:ext cx="114300" cy="108373"/>
          </a:xfrm>
          <a:custGeom>
            <a:avLst/>
            <a:gdLst/>
            <a:ahLst/>
            <a:cxnLst/>
            <a:rect l="l" t="t" r="r" b="b"/>
            <a:pathLst>
              <a:path w="85725" h="81280">
                <a:moveTo>
                  <a:pt x="85574" y="33789"/>
                </a:moveTo>
                <a:lnTo>
                  <a:pt x="0" y="0"/>
                </a:lnTo>
                <a:lnTo>
                  <a:pt x="43849" y="80887"/>
                </a:lnTo>
                <a:lnTo>
                  <a:pt x="85574" y="33789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11014811" y="3248160"/>
            <a:ext cx="609597" cy="9905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11002111" y="3235460"/>
            <a:ext cx="635000" cy="1016000"/>
          </a:xfrm>
          <a:custGeom>
            <a:avLst/>
            <a:gdLst/>
            <a:ahLst/>
            <a:cxnLst/>
            <a:rect l="l" t="t" r="r" b="b"/>
            <a:pathLst>
              <a:path w="476250" h="762000">
                <a:moveTo>
                  <a:pt x="0" y="0"/>
                </a:moveTo>
                <a:lnTo>
                  <a:pt x="476249" y="0"/>
                </a:lnTo>
                <a:lnTo>
                  <a:pt x="476249" y="761998"/>
                </a:lnTo>
                <a:lnTo>
                  <a:pt x="0" y="7619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2667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01189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269387" y="607999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366221" y="1619730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2" name="object 12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564399" y="5002494"/>
            <a:ext cx="10947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7010952" y="1843029"/>
            <a:ext cx="4263813" cy="1405467"/>
          </a:xfrm>
          <a:custGeom>
            <a:avLst/>
            <a:gdLst/>
            <a:ahLst/>
            <a:cxnLst/>
            <a:rect l="l" t="t" r="r" b="b"/>
            <a:pathLst>
              <a:path w="3197859" h="1054100">
                <a:moveTo>
                  <a:pt x="3197743" y="1053822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6901486" y="1803184"/>
            <a:ext cx="122767" cy="80433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91949" y="0"/>
                </a:moveTo>
                <a:lnTo>
                  <a:pt x="0" y="2827"/>
                </a:lnTo>
                <a:lnTo>
                  <a:pt x="72249" y="59769"/>
                </a:lnTo>
                <a:lnTo>
                  <a:pt x="919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11029145" y="3248160"/>
            <a:ext cx="609599" cy="8255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11016444" y="3235460"/>
            <a:ext cx="635000" cy="851747"/>
          </a:xfrm>
          <a:custGeom>
            <a:avLst/>
            <a:gdLst/>
            <a:ahLst/>
            <a:cxnLst/>
            <a:rect l="l" t="t" r="r" b="b"/>
            <a:pathLst>
              <a:path w="476250" h="638810">
                <a:moveTo>
                  <a:pt x="0" y="0"/>
                </a:moveTo>
                <a:lnTo>
                  <a:pt x="476249" y="0"/>
                </a:lnTo>
                <a:lnTo>
                  <a:pt x="476249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2667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01688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269387" y="607999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1" name="object 11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7274153" y="4196591"/>
            <a:ext cx="2609193" cy="9962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7261451" y="4183891"/>
            <a:ext cx="2634827" cy="1021927"/>
          </a:xfrm>
          <a:custGeom>
            <a:avLst/>
            <a:gdLst/>
            <a:ahLst/>
            <a:cxnLst/>
            <a:rect l="l" t="t" r="r" b="b"/>
            <a:pathLst>
              <a:path w="1976120" h="766445">
                <a:moveTo>
                  <a:pt x="0" y="0"/>
                </a:moveTo>
                <a:lnTo>
                  <a:pt x="1975946" y="0"/>
                </a:lnTo>
                <a:lnTo>
                  <a:pt x="1975946" y="766223"/>
                </a:lnTo>
                <a:lnTo>
                  <a:pt x="0" y="766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564399" y="3658735"/>
            <a:ext cx="8921327" cy="18902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39107"/>
            <a:r>
              <a:rPr sz="3200" spc="-7" dirty="0">
                <a:solidFill>
                  <a:srgbClr val="38751C"/>
                </a:solidFill>
                <a:latin typeface="Arial"/>
                <a:cs typeface="Arial"/>
              </a:rPr>
              <a:t>Chain</a:t>
            </a:r>
            <a:r>
              <a:rPr sz="3200" spc="-87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38751C"/>
                </a:solidFill>
                <a:latin typeface="Arial"/>
                <a:cs typeface="Arial"/>
              </a:rPr>
              <a:t>rule: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spcBef>
                <a:spcPts val="67"/>
              </a:spcBef>
            </a:pPr>
            <a:endParaRPr sz="2600">
              <a:latin typeface="Times New Roman"/>
              <a:cs typeface="Times New Roman"/>
            </a:endParaRPr>
          </a:p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10952" y="1843029"/>
            <a:ext cx="4263813" cy="1405467"/>
          </a:xfrm>
          <a:custGeom>
            <a:avLst/>
            <a:gdLst/>
            <a:ahLst/>
            <a:cxnLst/>
            <a:rect l="l" t="t" r="r" b="b"/>
            <a:pathLst>
              <a:path w="3197859" h="1054100">
                <a:moveTo>
                  <a:pt x="3197743" y="1053822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6901486" y="1803184"/>
            <a:ext cx="122767" cy="80433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91949" y="0"/>
                </a:moveTo>
                <a:lnTo>
                  <a:pt x="0" y="2827"/>
                </a:lnTo>
                <a:lnTo>
                  <a:pt x="72249" y="59769"/>
                </a:lnTo>
                <a:lnTo>
                  <a:pt x="91949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11029145" y="3248160"/>
            <a:ext cx="609599" cy="8255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11016444" y="3235460"/>
            <a:ext cx="635000" cy="851747"/>
          </a:xfrm>
          <a:custGeom>
            <a:avLst/>
            <a:gdLst/>
            <a:ahLst/>
            <a:cxnLst/>
            <a:rect l="l" t="t" r="r" b="b"/>
            <a:pathLst>
              <a:path w="476250" h="638810">
                <a:moveTo>
                  <a:pt x="0" y="0"/>
                </a:moveTo>
                <a:lnTo>
                  <a:pt x="476249" y="0"/>
                </a:lnTo>
                <a:lnTo>
                  <a:pt x="476249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7347086" y="4228491"/>
            <a:ext cx="672597" cy="9109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9200114" y="4247891"/>
            <a:ext cx="672597" cy="91093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2667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13815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269387" y="607999"/>
            <a:ext cx="500380" cy="351367"/>
          </a:xfrm>
          <a:custGeom>
            <a:avLst/>
            <a:gdLst/>
            <a:ahLst/>
            <a:cxnLst/>
            <a:rect l="l" t="t" r="r" b="b"/>
            <a:pathLst>
              <a:path w="375285" h="263525">
                <a:moveTo>
                  <a:pt x="0" y="0"/>
                </a:moveTo>
                <a:lnTo>
                  <a:pt x="374999" y="0"/>
                </a:lnTo>
                <a:lnTo>
                  <a:pt x="374999" y="263399"/>
                </a:lnTo>
                <a:lnTo>
                  <a:pt x="0" y="2633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1" name="object 11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564399" y="5002494"/>
            <a:ext cx="10947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6903085" y="856736"/>
            <a:ext cx="4372187" cy="2391833"/>
          </a:xfrm>
          <a:custGeom>
            <a:avLst/>
            <a:gdLst/>
            <a:ahLst/>
            <a:cxnLst/>
            <a:rect l="l" t="t" r="r" b="b"/>
            <a:pathLst>
              <a:path w="3279140" h="1793875">
                <a:moveTo>
                  <a:pt x="3278618" y="1793443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6801952" y="801418"/>
            <a:ext cx="121920" cy="92287"/>
          </a:xfrm>
          <a:custGeom>
            <a:avLst/>
            <a:gdLst/>
            <a:ahLst/>
            <a:cxnLst/>
            <a:rect l="l" t="t" r="r" b="b"/>
            <a:pathLst>
              <a:path w="91439" h="69215">
                <a:moveTo>
                  <a:pt x="90949" y="13882"/>
                </a:moveTo>
                <a:lnTo>
                  <a:pt x="0" y="0"/>
                </a:lnTo>
                <a:lnTo>
                  <a:pt x="60749" y="69092"/>
                </a:lnTo>
                <a:lnTo>
                  <a:pt x="90949" y="13882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1016911" y="3247994"/>
            <a:ext cx="568632" cy="8255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11004211" y="3235293"/>
            <a:ext cx="594360" cy="851747"/>
          </a:xfrm>
          <a:custGeom>
            <a:avLst/>
            <a:gdLst/>
            <a:ahLst/>
            <a:cxnLst/>
            <a:rect l="l" t="t" r="r" b="b"/>
            <a:pathLst>
              <a:path w="445770" h="638810">
                <a:moveTo>
                  <a:pt x="0" y="0"/>
                </a:moveTo>
                <a:lnTo>
                  <a:pt x="445524" y="0"/>
                </a:lnTo>
                <a:lnTo>
                  <a:pt x="445524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2667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35350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4133" y="3330859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5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20133" y="2120762"/>
            <a:ext cx="5554980" cy="1047327"/>
          </a:xfrm>
          <a:custGeom>
            <a:avLst/>
            <a:gdLst/>
            <a:ahLst/>
            <a:cxnLst/>
            <a:rect l="l" t="t" r="r" b="b"/>
            <a:pathLst>
              <a:path w="4166235" h="785494">
                <a:moveTo>
                  <a:pt x="0" y="0"/>
                </a:moveTo>
                <a:lnTo>
                  <a:pt x="4166091" y="0"/>
                </a:lnTo>
                <a:lnTo>
                  <a:pt x="4166091" y="785398"/>
                </a:lnTo>
                <a:lnTo>
                  <a:pt x="0" y="7853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87399" y="411499"/>
            <a:ext cx="3797292" cy="584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007920" y="206232"/>
            <a:ext cx="6014253" cy="274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001587" y="199883"/>
            <a:ext cx="6027420" cy="2755052"/>
          </a:xfrm>
          <a:custGeom>
            <a:avLst/>
            <a:gdLst/>
            <a:ahLst/>
            <a:cxnLst/>
            <a:rect l="l" t="t" r="r" b="b"/>
            <a:pathLst>
              <a:path w="4520565" h="2066289">
                <a:moveTo>
                  <a:pt x="0" y="0"/>
                </a:moveTo>
                <a:lnTo>
                  <a:pt x="4520215" y="0"/>
                </a:lnTo>
                <a:lnTo>
                  <a:pt x="4520215" y="2066245"/>
                </a:lnTo>
                <a:lnTo>
                  <a:pt x="0" y="206624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2599" y="1143967"/>
            <a:ext cx="421894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>
                <a:solidFill>
                  <a:srgbClr val="38751C"/>
                </a:solidFill>
              </a:rPr>
              <a:t>e.g. </a:t>
            </a:r>
            <a:r>
              <a:rPr sz="3200" dirty="0">
                <a:solidFill>
                  <a:srgbClr val="38751C"/>
                </a:solidFill>
              </a:rPr>
              <a:t>x </a:t>
            </a:r>
            <a:r>
              <a:rPr sz="3200" spc="-7" dirty="0">
                <a:solidFill>
                  <a:srgbClr val="38751C"/>
                </a:solidFill>
              </a:rPr>
              <a:t>= -2, </a:t>
            </a:r>
            <a:r>
              <a:rPr sz="3200" dirty="0">
                <a:solidFill>
                  <a:srgbClr val="38751C"/>
                </a:solidFill>
              </a:rPr>
              <a:t>y </a:t>
            </a:r>
            <a:r>
              <a:rPr sz="3200" spc="-7" dirty="0">
                <a:solidFill>
                  <a:srgbClr val="38751C"/>
                </a:solidFill>
              </a:rPr>
              <a:t>= 5, </a:t>
            </a:r>
            <a:r>
              <a:rPr sz="3200" dirty="0">
                <a:solidFill>
                  <a:srgbClr val="38751C"/>
                </a:solidFill>
              </a:rPr>
              <a:t>z </a:t>
            </a:r>
            <a:r>
              <a:rPr sz="3200" spc="-7" dirty="0">
                <a:solidFill>
                  <a:srgbClr val="38751C"/>
                </a:solidFill>
              </a:rPr>
              <a:t>=</a:t>
            </a:r>
            <a:r>
              <a:rPr sz="3200" spc="-93" dirty="0">
                <a:solidFill>
                  <a:srgbClr val="38751C"/>
                </a:solidFill>
              </a:rPr>
              <a:t> </a:t>
            </a:r>
            <a:r>
              <a:rPr sz="3200" spc="-7" dirty="0">
                <a:solidFill>
                  <a:srgbClr val="38751C"/>
                </a:solidFill>
              </a:rPr>
              <a:t>-4</a:t>
            </a:r>
            <a:endParaRPr sz="3200"/>
          </a:p>
        </p:txBody>
      </p:sp>
      <p:sp>
        <p:nvSpPr>
          <p:cNvPr id="10" name="object 10"/>
          <p:cNvSpPr/>
          <p:nvPr/>
        </p:nvSpPr>
        <p:spPr>
          <a:xfrm>
            <a:off x="276249" y="2359661"/>
            <a:ext cx="1879596" cy="52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37333" y="3551493"/>
            <a:ext cx="1257297" cy="609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667427" y="3462592"/>
            <a:ext cx="2730493" cy="7873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628044" y="2207262"/>
            <a:ext cx="2781277" cy="8254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038128" y="4828556"/>
            <a:ext cx="2146555" cy="825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903085" y="856736"/>
            <a:ext cx="4372187" cy="2391833"/>
          </a:xfrm>
          <a:custGeom>
            <a:avLst/>
            <a:gdLst/>
            <a:ahLst/>
            <a:cxnLst/>
            <a:rect l="l" t="t" r="r" b="b"/>
            <a:pathLst>
              <a:path w="3279140" h="1793875">
                <a:moveTo>
                  <a:pt x="3278618" y="1793443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6801952" y="801418"/>
            <a:ext cx="121920" cy="92287"/>
          </a:xfrm>
          <a:custGeom>
            <a:avLst/>
            <a:gdLst/>
            <a:ahLst/>
            <a:cxnLst/>
            <a:rect l="l" t="t" r="r" b="b"/>
            <a:pathLst>
              <a:path w="91439" h="69215">
                <a:moveTo>
                  <a:pt x="90949" y="13882"/>
                </a:moveTo>
                <a:lnTo>
                  <a:pt x="0" y="0"/>
                </a:lnTo>
                <a:lnTo>
                  <a:pt x="60749" y="69092"/>
                </a:lnTo>
                <a:lnTo>
                  <a:pt x="90949" y="13882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11016911" y="3247994"/>
            <a:ext cx="568632" cy="8255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11004211" y="3235293"/>
            <a:ext cx="594360" cy="851747"/>
          </a:xfrm>
          <a:custGeom>
            <a:avLst/>
            <a:gdLst/>
            <a:ahLst/>
            <a:cxnLst/>
            <a:rect l="l" t="t" r="r" b="b"/>
            <a:pathLst>
              <a:path w="445770" h="638810">
                <a:moveTo>
                  <a:pt x="0" y="0"/>
                </a:moveTo>
                <a:lnTo>
                  <a:pt x="445524" y="0"/>
                </a:lnTo>
                <a:lnTo>
                  <a:pt x="445524" y="638248"/>
                </a:lnTo>
                <a:lnTo>
                  <a:pt x="0" y="63824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7274153" y="4207225"/>
            <a:ext cx="2609193" cy="996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7261451" y="4194525"/>
            <a:ext cx="2634827" cy="1021927"/>
          </a:xfrm>
          <a:custGeom>
            <a:avLst/>
            <a:gdLst/>
            <a:ahLst/>
            <a:cxnLst/>
            <a:rect l="l" t="t" r="r" b="b"/>
            <a:pathLst>
              <a:path w="1976120" h="766445">
                <a:moveTo>
                  <a:pt x="0" y="0"/>
                </a:moveTo>
                <a:lnTo>
                  <a:pt x="1975946" y="0"/>
                </a:lnTo>
                <a:lnTo>
                  <a:pt x="1975946" y="766223"/>
                </a:lnTo>
                <a:lnTo>
                  <a:pt x="0" y="766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564399" y="3658735"/>
            <a:ext cx="8921327" cy="18902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39107"/>
            <a:r>
              <a:rPr sz="3200" spc="-7" dirty="0">
                <a:solidFill>
                  <a:srgbClr val="38751C"/>
                </a:solidFill>
                <a:latin typeface="Arial"/>
                <a:cs typeface="Arial"/>
              </a:rPr>
              <a:t>Chain</a:t>
            </a:r>
            <a:r>
              <a:rPr sz="3200" spc="-87" dirty="0">
                <a:solidFill>
                  <a:srgbClr val="38751C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38751C"/>
                </a:solidFill>
                <a:latin typeface="Arial"/>
                <a:cs typeface="Arial"/>
              </a:rPr>
              <a:t>rule: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spcBef>
                <a:spcPts val="67"/>
              </a:spcBef>
            </a:pPr>
            <a:endParaRPr sz="2600">
              <a:latin typeface="Times New Roman"/>
              <a:cs typeface="Times New Roman"/>
            </a:endParaRPr>
          </a:p>
          <a:p>
            <a:pPr marL="16933"/>
            <a:r>
              <a:rPr sz="3200" spc="-7" dirty="0">
                <a:latin typeface="Arial"/>
                <a:cs typeface="Arial"/>
              </a:rPr>
              <a:t>Want:</a:t>
            </a:r>
            <a:endParaRPr sz="3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2667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372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968258" y="659666"/>
            <a:ext cx="4660053" cy="4660053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6168208" y="2467997"/>
            <a:ext cx="25908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6400" spc="-7" dirty="0">
                <a:latin typeface="Arial"/>
                <a:cs typeface="Arial"/>
              </a:rPr>
              <a:t>f</a:t>
            </a:r>
            <a:endParaRPr sz="6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36231" y="4016993"/>
            <a:ext cx="3069167" cy="1037167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3991626" y="3977224"/>
            <a:ext cx="122767" cy="79587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1319231" y="627699"/>
            <a:ext cx="2785533" cy="1185333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4088158" y="1774223"/>
            <a:ext cx="122767" cy="83820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8627848" y="2989460"/>
            <a:ext cx="288036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1507844" y="2947507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840679" y="310799"/>
            <a:ext cx="469899" cy="40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827979" y="298099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1733812" y="4081358"/>
            <a:ext cx="393699" cy="482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1721113" y="4068657"/>
            <a:ext cx="419100" cy="508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9661213" y="2344929"/>
            <a:ext cx="469899" cy="406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9648514" y="2332228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927022" y="2950"/>
            <a:ext cx="2433319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spc="-7" dirty="0">
                <a:solidFill>
                  <a:srgbClr val="38751C"/>
                </a:solidFill>
              </a:rPr>
              <a:t>activations</a:t>
            </a:r>
            <a:endParaRPr sz="4000"/>
          </a:p>
        </p:txBody>
      </p:sp>
      <p:sp>
        <p:nvSpPr>
          <p:cNvPr id="19" name="object 19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2667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87313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8258" y="659666"/>
            <a:ext cx="4660053" cy="4660053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936231" y="4016993"/>
            <a:ext cx="3069167" cy="1037167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991626" y="3977224"/>
            <a:ext cx="122767" cy="79587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319231" y="627699"/>
            <a:ext cx="2785533" cy="1185333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088158" y="1774223"/>
            <a:ext cx="122767" cy="83820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8627848" y="2989460"/>
            <a:ext cx="288036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1507844" y="2947507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840679" y="310799"/>
            <a:ext cx="469899" cy="40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827979" y="298099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733812" y="4081358"/>
            <a:ext cx="393699" cy="482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1721113" y="4068657"/>
            <a:ext cx="419100" cy="508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9661213" y="2344929"/>
            <a:ext cx="469899" cy="406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9648514" y="2332228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927022" y="2950"/>
            <a:ext cx="2433319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spc="-7" dirty="0">
                <a:solidFill>
                  <a:srgbClr val="38751C"/>
                </a:solidFill>
              </a:rPr>
              <a:t>activations</a:t>
            </a:r>
            <a:endParaRPr sz="4000"/>
          </a:p>
        </p:txBody>
      </p:sp>
      <p:sp>
        <p:nvSpPr>
          <p:cNvPr id="18" name="object 18"/>
          <p:cNvSpPr/>
          <p:nvPr/>
        </p:nvSpPr>
        <p:spPr>
          <a:xfrm>
            <a:off x="4531658" y="1720580"/>
            <a:ext cx="647697" cy="850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518991" y="1707879"/>
            <a:ext cx="673100" cy="876300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4531657" y="3324059"/>
            <a:ext cx="546099" cy="9397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4518991" y="3311343"/>
            <a:ext cx="571500" cy="9652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5357722" y="1293671"/>
            <a:ext cx="2048933" cy="2205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“local</a:t>
            </a:r>
            <a:r>
              <a:rPr sz="2400" spc="-4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gradient”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33">
              <a:latin typeface="Times New Roman"/>
              <a:cs typeface="Times New Roman"/>
            </a:endParaRPr>
          </a:p>
          <a:p>
            <a:pPr marR="158323" algn="ctr"/>
            <a:r>
              <a:rPr sz="6400" spc="-7" dirty="0">
                <a:latin typeface="Arial"/>
                <a:cs typeface="Arial"/>
              </a:rPr>
              <a:t>f</a:t>
            </a:r>
            <a:endParaRPr sz="6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2667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10033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968258" y="659666"/>
            <a:ext cx="4660053" cy="4660053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936231" y="4016993"/>
            <a:ext cx="3069167" cy="1037167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991626" y="3977224"/>
            <a:ext cx="122767" cy="79587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319231" y="627699"/>
            <a:ext cx="2785533" cy="1185333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088158" y="1774223"/>
            <a:ext cx="122767" cy="83820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8627848" y="2989460"/>
            <a:ext cx="288036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1507844" y="2947507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840679" y="310799"/>
            <a:ext cx="469899" cy="40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827979" y="298099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733812" y="4081358"/>
            <a:ext cx="393699" cy="482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1721113" y="4068657"/>
            <a:ext cx="419100" cy="508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9661213" y="2344929"/>
            <a:ext cx="469899" cy="406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9648514" y="2332228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927022" y="2950"/>
            <a:ext cx="2433319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spc="-7" dirty="0">
                <a:solidFill>
                  <a:srgbClr val="38751C"/>
                </a:solidFill>
              </a:rPr>
              <a:t>activations</a:t>
            </a:r>
            <a:endParaRPr sz="4000"/>
          </a:p>
        </p:txBody>
      </p:sp>
      <p:sp>
        <p:nvSpPr>
          <p:cNvPr id="18" name="object 18"/>
          <p:cNvSpPr/>
          <p:nvPr/>
        </p:nvSpPr>
        <p:spPr>
          <a:xfrm>
            <a:off x="4531658" y="1720580"/>
            <a:ext cx="647697" cy="850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518991" y="1707879"/>
            <a:ext cx="673100" cy="876300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4531657" y="3324059"/>
            <a:ext cx="546099" cy="9397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4518991" y="3311343"/>
            <a:ext cx="571500" cy="9652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8780515" y="3244827"/>
            <a:ext cx="2816013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8665250" y="3202873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9553280" y="3406926"/>
            <a:ext cx="685797" cy="9016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9540613" y="3394226"/>
            <a:ext cx="711200" cy="927100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1395662" y="907717"/>
            <a:ext cx="10475495" cy="4903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6518" marR="3753180" algn="ctr">
              <a:lnSpc>
                <a:spcPct val="100000"/>
              </a:lnSpc>
            </a:pPr>
            <a:r>
              <a:rPr spc="-7" dirty="0"/>
              <a:t>“local</a:t>
            </a:r>
            <a:r>
              <a:rPr spc="-47" dirty="0"/>
              <a:t> </a:t>
            </a:r>
            <a:r>
              <a:rPr spc="-7" dirty="0"/>
              <a:t>gradient”</a:t>
            </a:r>
          </a:p>
          <a:p>
            <a:pPr marL="4336518">
              <a:lnSpc>
                <a:spcPct val="100000"/>
              </a:lnSpc>
            </a:pPr>
            <a:endParaRPr spc="-7" dirty="0"/>
          </a:p>
          <a:p>
            <a:pPr marL="4336518">
              <a:lnSpc>
                <a:spcPct val="100000"/>
              </a:lnSpc>
            </a:pPr>
            <a:endParaRPr sz="3133" dirty="0">
              <a:latin typeface="Times New Roman"/>
              <a:cs typeface="Times New Roman"/>
            </a:endParaRPr>
          </a:p>
          <a:p>
            <a:pPr marL="4336518" marR="3921662" algn="ctr">
              <a:lnSpc>
                <a:spcPct val="100000"/>
              </a:lnSpc>
            </a:pPr>
            <a:r>
              <a:rPr sz="6400" spc="-7" dirty="0">
                <a:solidFill>
                  <a:srgbClr val="000000"/>
                </a:solidFill>
              </a:rPr>
              <a:t>f</a:t>
            </a:r>
            <a:endParaRPr sz="6400" dirty="0"/>
          </a:p>
          <a:p>
            <a:pPr marL="4336518">
              <a:lnSpc>
                <a:spcPct val="100000"/>
              </a:lnSpc>
              <a:spcBef>
                <a:spcPts val="27"/>
              </a:spcBef>
            </a:pPr>
            <a:endParaRPr sz="9400" dirty="0">
              <a:latin typeface="Times New Roman"/>
              <a:cs typeface="Times New Roman"/>
            </a:endParaRPr>
          </a:p>
          <a:p>
            <a:pPr marL="8042286">
              <a:lnSpc>
                <a:spcPct val="100000"/>
              </a:lnSpc>
            </a:pPr>
            <a:r>
              <a:rPr sz="4000" spc="-7" dirty="0"/>
              <a:t>gradients</a:t>
            </a:r>
            <a:endParaRPr sz="4000" dirty="0"/>
          </a:p>
        </p:txBody>
      </p:sp>
      <p:sp>
        <p:nvSpPr>
          <p:cNvPr id="27" name="object 2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2667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39178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968258" y="659666"/>
            <a:ext cx="4660053" cy="4660053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936231" y="4016993"/>
            <a:ext cx="3069167" cy="1037167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991626" y="3977224"/>
            <a:ext cx="122767" cy="79587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319231" y="627699"/>
            <a:ext cx="2785533" cy="1185333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088158" y="1774223"/>
            <a:ext cx="122767" cy="83820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8627848" y="2989460"/>
            <a:ext cx="288036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1507844" y="2947507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840679" y="310799"/>
            <a:ext cx="469899" cy="40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827979" y="298099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733812" y="4081358"/>
            <a:ext cx="393699" cy="482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1721113" y="4068657"/>
            <a:ext cx="419100" cy="508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9661213" y="2344929"/>
            <a:ext cx="469899" cy="406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9648514" y="2332228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8780515" y="3244827"/>
            <a:ext cx="2816013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8665250" y="3202873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927022" y="2950"/>
            <a:ext cx="2433319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spc="-7" dirty="0">
                <a:solidFill>
                  <a:srgbClr val="38751C"/>
                </a:solidFill>
              </a:rPr>
              <a:t>activations</a:t>
            </a:r>
            <a:endParaRPr sz="4000"/>
          </a:p>
        </p:txBody>
      </p:sp>
      <p:sp>
        <p:nvSpPr>
          <p:cNvPr id="20" name="object 20"/>
          <p:cNvSpPr/>
          <p:nvPr/>
        </p:nvSpPr>
        <p:spPr>
          <a:xfrm>
            <a:off x="9553280" y="3406926"/>
            <a:ext cx="685797" cy="9016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9540613" y="3394226"/>
            <a:ext cx="711200" cy="927100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4531658" y="1720580"/>
            <a:ext cx="647697" cy="8508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4518991" y="1707879"/>
            <a:ext cx="673100" cy="876300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4531657" y="3324059"/>
            <a:ext cx="546099" cy="939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4518991" y="3311343"/>
            <a:ext cx="571500" cy="9652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1058778" y="1954157"/>
            <a:ext cx="10694738" cy="4903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6518" marR="3753180" algn="ctr">
              <a:lnSpc>
                <a:spcPct val="100000"/>
              </a:lnSpc>
            </a:pPr>
            <a:r>
              <a:rPr spc="-7" dirty="0"/>
              <a:t>“local</a:t>
            </a:r>
            <a:r>
              <a:rPr spc="-47" dirty="0"/>
              <a:t> </a:t>
            </a:r>
            <a:r>
              <a:rPr spc="-7" dirty="0"/>
              <a:t>gradient”</a:t>
            </a:r>
          </a:p>
          <a:p>
            <a:pPr marL="4336518">
              <a:lnSpc>
                <a:spcPct val="100000"/>
              </a:lnSpc>
            </a:pPr>
            <a:endParaRPr spc="-7" dirty="0"/>
          </a:p>
          <a:p>
            <a:pPr marL="4336518">
              <a:lnSpc>
                <a:spcPct val="100000"/>
              </a:lnSpc>
            </a:pPr>
            <a:endParaRPr sz="3133" dirty="0">
              <a:latin typeface="Times New Roman"/>
              <a:cs typeface="Times New Roman"/>
            </a:endParaRPr>
          </a:p>
          <a:p>
            <a:pPr marL="4336518" marR="3921662" algn="ctr">
              <a:lnSpc>
                <a:spcPct val="100000"/>
              </a:lnSpc>
            </a:pPr>
            <a:r>
              <a:rPr sz="6400" spc="-7" dirty="0">
                <a:solidFill>
                  <a:srgbClr val="000000"/>
                </a:solidFill>
              </a:rPr>
              <a:t>f</a:t>
            </a:r>
            <a:endParaRPr sz="6400" dirty="0"/>
          </a:p>
          <a:p>
            <a:pPr marL="4336518">
              <a:lnSpc>
                <a:spcPct val="100000"/>
              </a:lnSpc>
              <a:spcBef>
                <a:spcPts val="27"/>
              </a:spcBef>
            </a:pPr>
            <a:endParaRPr sz="9400" dirty="0">
              <a:latin typeface="Times New Roman"/>
              <a:cs typeface="Times New Roman"/>
            </a:endParaRPr>
          </a:p>
          <a:p>
            <a:pPr marL="8042286">
              <a:lnSpc>
                <a:spcPct val="100000"/>
              </a:lnSpc>
            </a:pPr>
            <a:r>
              <a:rPr sz="4000" spc="-7" dirty="0"/>
              <a:t>gradients</a:t>
            </a:r>
            <a:endParaRPr sz="4000" dirty="0"/>
          </a:p>
        </p:txBody>
      </p:sp>
      <p:sp>
        <p:nvSpPr>
          <p:cNvPr id="27" name="object 27"/>
          <p:cNvSpPr/>
          <p:nvPr/>
        </p:nvSpPr>
        <p:spPr>
          <a:xfrm>
            <a:off x="1066032" y="949382"/>
            <a:ext cx="2839193" cy="20708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046317" y="988718"/>
            <a:ext cx="1082040" cy="1110825"/>
          </a:xfrm>
          <a:custGeom>
            <a:avLst/>
            <a:gdLst/>
            <a:ahLst/>
            <a:cxnLst/>
            <a:rect l="l" t="t" r="r" b="b"/>
            <a:pathLst>
              <a:path w="811530" h="833119">
                <a:moveTo>
                  <a:pt x="281399" y="0"/>
                </a:moveTo>
                <a:lnTo>
                  <a:pt x="811198" y="260399"/>
                </a:lnTo>
                <a:lnTo>
                  <a:pt x="529798" y="833098"/>
                </a:lnTo>
                <a:lnTo>
                  <a:pt x="0" y="572698"/>
                </a:lnTo>
                <a:lnTo>
                  <a:pt x="28139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404494" y="872888"/>
            <a:ext cx="2723727" cy="1202267"/>
          </a:xfrm>
          <a:custGeom>
            <a:avLst/>
            <a:gdLst/>
            <a:ahLst/>
            <a:cxnLst/>
            <a:rect l="l" t="t" r="r" b="b"/>
            <a:pathLst>
              <a:path w="2042795" h="901700">
                <a:moveTo>
                  <a:pt x="2042523" y="901255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299038" y="826356"/>
            <a:ext cx="122767" cy="85513"/>
          </a:xfrm>
          <a:custGeom>
            <a:avLst/>
            <a:gdLst/>
            <a:ahLst/>
            <a:cxnLst/>
            <a:rect l="l" t="t" r="r" b="b"/>
            <a:pathLst>
              <a:path w="92075" h="64134">
                <a:moveTo>
                  <a:pt x="91794" y="6112"/>
                </a:moveTo>
                <a:lnTo>
                  <a:pt x="0" y="0"/>
                </a:lnTo>
                <a:lnTo>
                  <a:pt x="66389" y="63687"/>
                </a:lnTo>
                <a:lnTo>
                  <a:pt x="91794" y="611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2667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37970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8258" y="659666"/>
            <a:ext cx="4660053" cy="4660053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936231" y="4016993"/>
            <a:ext cx="3069167" cy="1037167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991626" y="3977224"/>
            <a:ext cx="122767" cy="79587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319231" y="627699"/>
            <a:ext cx="2785533" cy="1185333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088158" y="1774223"/>
            <a:ext cx="122767" cy="83820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8627848" y="2989460"/>
            <a:ext cx="288036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1507844" y="2947507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840679" y="310799"/>
            <a:ext cx="469899" cy="40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827979" y="298099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733812" y="4081358"/>
            <a:ext cx="393699" cy="482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1721113" y="4068657"/>
            <a:ext cx="419100" cy="508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9661213" y="2344929"/>
            <a:ext cx="469899" cy="406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9648514" y="2332228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8780515" y="3244827"/>
            <a:ext cx="2816013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8665250" y="3202873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927022" y="2950"/>
            <a:ext cx="2433319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spc="-7" dirty="0">
                <a:solidFill>
                  <a:srgbClr val="38751C"/>
                </a:solidFill>
              </a:rPr>
              <a:t>activations</a:t>
            </a:r>
            <a:endParaRPr sz="4000"/>
          </a:p>
        </p:txBody>
      </p:sp>
      <p:sp>
        <p:nvSpPr>
          <p:cNvPr id="20" name="object 20"/>
          <p:cNvSpPr/>
          <p:nvPr/>
        </p:nvSpPr>
        <p:spPr>
          <a:xfrm>
            <a:off x="9553280" y="3406926"/>
            <a:ext cx="685797" cy="9016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9540613" y="3394226"/>
            <a:ext cx="711200" cy="927100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4531658" y="1720580"/>
            <a:ext cx="647697" cy="8508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4518991" y="1707879"/>
            <a:ext cx="673100" cy="876300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4531657" y="3324059"/>
            <a:ext cx="546099" cy="939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4518991" y="3311343"/>
            <a:ext cx="571500" cy="9652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/>
          <p:nvPr/>
        </p:nvSpPr>
        <p:spPr>
          <a:xfrm>
            <a:off x="1066032" y="949382"/>
            <a:ext cx="2839193" cy="20708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046317" y="988718"/>
            <a:ext cx="1082040" cy="1110825"/>
          </a:xfrm>
          <a:custGeom>
            <a:avLst/>
            <a:gdLst/>
            <a:ahLst/>
            <a:cxnLst/>
            <a:rect l="l" t="t" r="r" b="b"/>
            <a:pathLst>
              <a:path w="811530" h="833119">
                <a:moveTo>
                  <a:pt x="281399" y="0"/>
                </a:moveTo>
                <a:lnTo>
                  <a:pt x="811198" y="260399"/>
                </a:lnTo>
                <a:lnTo>
                  <a:pt x="529798" y="833098"/>
                </a:lnTo>
                <a:lnTo>
                  <a:pt x="0" y="572698"/>
                </a:lnTo>
                <a:lnTo>
                  <a:pt x="28139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603344" y="4252371"/>
            <a:ext cx="2843603" cy="176054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594563" y="4894956"/>
            <a:ext cx="1022773" cy="1061720"/>
          </a:xfrm>
          <a:custGeom>
            <a:avLst/>
            <a:gdLst/>
            <a:ahLst/>
            <a:cxnLst/>
            <a:rect l="l" t="t" r="r" b="b"/>
            <a:pathLst>
              <a:path w="767080" h="796289">
                <a:moveTo>
                  <a:pt x="0" y="193199"/>
                </a:moveTo>
                <a:lnTo>
                  <a:pt x="557698" y="0"/>
                </a:lnTo>
                <a:lnTo>
                  <a:pt x="766798" y="602998"/>
                </a:lnTo>
                <a:lnTo>
                  <a:pt x="209099" y="796198"/>
                </a:lnTo>
                <a:lnTo>
                  <a:pt x="0" y="193199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404494" y="872888"/>
            <a:ext cx="2723727" cy="1202267"/>
          </a:xfrm>
          <a:custGeom>
            <a:avLst/>
            <a:gdLst/>
            <a:ahLst/>
            <a:cxnLst/>
            <a:rect l="l" t="t" r="r" b="b"/>
            <a:pathLst>
              <a:path w="2042795" h="901700">
                <a:moveTo>
                  <a:pt x="2042523" y="901255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1299038" y="826356"/>
            <a:ext cx="122767" cy="85513"/>
          </a:xfrm>
          <a:custGeom>
            <a:avLst/>
            <a:gdLst/>
            <a:ahLst/>
            <a:cxnLst/>
            <a:rect l="l" t="t" r="r" b="b"/>
            <a:pathLst>
              <a:path w="92075" h="64134">
                <a:moveTo>
                  <a:pt x="91794" y="6112"/>
                </a:moveTo>
                <a:lnTo>
                  <a:pt x="0" y="0"/>
                </a:lnTo>
                <a:lnTo>
                  <a:pt x="66389" y="63687"/>
                </a:lnTo>
                <a:lnTo>
                  <a:pt x="91794" y="611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176678" y="4140124"/>
            <a:ext cx="3036993" cy="993987"/>
          </a:xfrm>
          <a:custGeom>
            <a:avLst/>
            <a:gdLst/>
            <a:ahLst/>
            <a:cxnLst/>
            <a:rect l="l" t="t" r="r" b="b"/>
            <a:pathLst>
              <a:path w="2277745" h="745489">
                <a:moveTo>
                  <a:pt x="2277560" y="0"/>
                </a:moveTo>
                <a:lnTo>
                  <a:pt x="0" y="745048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067125" y="5093657"/>
            <a:ext cx="122767" cy="80433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72382" y="0"/>
                </a:moveTo>
                <a:lnTo>
                  <a:pt x="0" y="56799"/>
                </a:lnTo>
                <a:lnTo>
                  <a:pt x="91947" y="59824"/>
                </a:lnTo>
                <a:lnTo>
                  <a:pt x="72382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2667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7336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968258" y="659666"/>
            <a:ext cx="4660053" cy="4660053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5"/>
                </a:lnTo>
                <a:lnTo>
                  <a:pt x="3114442" y="659087"/>
                </a:lnTo>
                <a:lnTo>
                  <a:pt x="3144493" y="697946"/>
                </a:lnTo>
                <a:lnTo>
                  <a:pt x="3173389" y="737565"/>
                </a:lnTo>
                <a:lnTo>
                  <a:pt x="3201121" y="777917"/>
                </a:lnTo>
                <a:lnTo>
                  <a:pt x="3227676" y="818975"/>
                </a:lnTo>
                <a:lnTo>
                  <a:pt x="3253044" y="860713"/>
                </a:lnTo>
                <a:lnTo>
                  <a:pt x="3277213" y="903104"/>
                </a:lnTo>
                <a:lnTo>
                  <a:pt x="3300172" y="946122"/>
                </a:lnTo>
                <a:lnTo>
                  <a:pt x="3321911" y="989739"/>
                </a:lnTo>
                <a:lnTo>
                  <a:pt x="3342419" y="1033929"/>
                </a:lnTo>
                <a:lnTo>
                  <a:pt x="3361683" y="1078665"/>
                </a:lnTo>
                <a:lnTo>
                  <a:pt x="3379694" y="1123920"/>
                </a:lnTo>
                <a:lnTo>
                  <a:pt x="3396440" y="1169668"/>
                </a:lnTo>
                <a:lnTo>
                  <a:pt x="3411910" y="1215882"/>
                </a:lnTo>
                <a:lnTo>
                  <a:pt x="3426092" y="1262535"/>
                </a:lnTo>
                <a:lnTo>
                  <a:pt x="3438977" y="1309601"/>
                </a:lnTo>
                <a:lnTo>
                  <a:pt x="3450552" y="1357052"/>
                </a:lnTo>
                <a:lnTo>
                  <a:pt x="3460807" y="1404863"/>
                </a:lnTo>
                <a:lnTo>
                  <a:pt x="3469731" y="1453006"/>
                </a:lnTo>
                <a:lnTo>
                  <a:pt x="3477312" y="1501454"/>
                </a:lnTo>
                <a:lnTo>
                  <a:pt x="3483539" y="1550182"/>
                </a:lnTo>
                <a:lnTo>
                  <a:pt x="3488402" y="1599161"/>
                </a:lnTo>
                <a:lnTo>
                  <a:pt x="3491889" y="1648366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936231" y="4016993"/>
            <a:ext cx="3069167" cy="1037167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991626" y="3977224"/>
            <a:ext cx="122767" cy="79587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319231" y="627699"/>
            <a:ext cx="2785533" cy="1185333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088158" y="1774223"/>
            <a:ext cx="122767" cy="83820"/>
          </a:xfrm>
          <a:custGeom>
            <a:avLst/>
            <a:gdLst/>
            <a:ahLst/>
            <a:cxnLst/>
            <a:rect l="l" t="t" r="r" b="b"/>
            <a:pathLst>
              <a:path w="92075" h="62865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8627848" y="2989460"/>
            <a:ext cx="288036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1507844" y="2947507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29"/>
                </a:moveTo>
                <a:lnTo>
                  <a:pt x="86449" y="31464"/>
                </a:lnTo>
                <a:lnTo>
                  <a:pt x="0" y="0"/>
                </a:lnTo>
                <a:lnTo>
                  <a:pt x="0" y="6292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840679" y="310799"/>
            <a:ext cx="469899" cy="40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827979" y="298099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733812" y="4081358"/>
            <a:ext cx="393699" cy="482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1721113" y="4068657"/>
            <a:ext cx="419100" cy="508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9661213" y="2344929"/>
            <a:ext cx="469899" cy="406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9648514" y="2332228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8780515" y="3244827"/>
            <a:ext cx="2816013" cy="0"/>
          </a:xfrm>
          <a:custGeom>
            <a:avLst/>
            <a:gdLst/>
            <a:ahLst/>
            <a:cxnLst/>
            <a:rect l="l" t="t" r="r" b="b"/>
            <a:pathLst>
              <a:path w="2112009">
                <a:moveTo>
                  <a:pt x="2111695" y="0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8665250" y="3202873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86449" y="0"/>
                </a:moveTo>
                <a:lnTo>
                  <a:pt x="0" y="31464"/>
                </a:lnTo>
                <a:lnTo>
                  <a:pt x="86449" y="62929"/>
                </a:lnTo>
                <a:lnTo>
                  <a:pt x="8644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927022" y="2950"/>
            <a:ext cx="2433319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spc="-7" dirty="0">
                <a:solidFill>
                  <a:srgbClr val="38751C"/>
                </a:solidFill>
              </a:rPr>
              <a:t>activations</a:t>
            </a:r>
            <a:endParaRPr sz="4000"/>
          </a:p>
        </p:txBody>
      </p:sp>
      <p:sp>
        <p:nvSpPr>
          <p:cNvPr id="20" name="object 20"/>
          <p:cNvSpPr/>
          <p:nvPr/>
        </p:nvSpPr>
        <p:spPr>
          <a:xfrm>
            <a:off x="9553280" y="3406926"/>
            <a:ext cx="685797" cy="9016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9540613" y="3394226"/>
            <a:ext cx="711200" cy="927100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4531658" y="1720580"/>
            <a:ext cx="647697" cy="8508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4518991" y="1707879"/>
            <a:ext cx="673100" cy="876300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4531657" y="3324059"/>
            <a:ext cx="546099" cy="9397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4518991" y="3311343"/>
            <a:ext cx="571500" cy="9652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86"/>
                </a:lnTo>
                <a:lnTo>
                  <a:pt x="0" y="72388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 txBox="1">
            <a:spLocks noGrp="1"/>
          </p:cNvSpPr>
          <p:nvPr>
            <p:ph type="body" idx="1"/>
          </p:nvPr>
        </p:nvSpPr>
        <p:spPr>
          <a:xfrm>
            <a:off x="1117600" y="2434168"/>
            <a:ext cx="14020800" cy="49038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6518" marR="3753180" algn="ctr">
              <a:lnSpc>
                <a:spcPct val="100000"/>
              </a:lnSpc>
            </a:pPr>
            <a:r>
              <a:rPr spc="-7" dirty="0"/>
              <a:t>“local</a:t>
            </a:r>
            <a:r>
              <a:rPr spc="-47" dirty="0"/>
              <a:t> </a:t>
            </a:r>
            <a:r>
              <a:rPr spc="-7" dirty="0"/>
              <a:t>gradient”</a:t>
            </a:r>
          </a:p>
          <a:p>
            <a:pPr marL="4336518">
              <a:lnSpc>
                <a:spcPct val="100000"/>
              </a:lnSpc>
            </a:pPr>
            <a:endParaRPr spc="-7" dirty="0"/>
          </a:p>
          <a:p>
            <a:pPr marL="4336518">
              <a:lnSpc>
                <a:spcPct val="100000"/>
              </a:lnSpc>
            </a:pPr>
            <a:endParaRPr sz="3133">
              <a:latin typeface="Times New Roman"/>
              <a:cs typeface="Times New Roman"/>
            </a:endParaRPr>
          </a:p>
          <a:p>
            <a:pPr marL="4336518" marR="3921662" algn="ctr">
              <a:lnSpc>
                <a:spcPct val="100000"/>
              </a:lnSpc>
            </a:pPr>
            <a:r>
              <a:rPr sz="6400" spc="-7" dirty="0">
                <a:solidFill>
                  <a:srgbClr val="000000"/>
                </a:solidFill>
              </a:rPr>
              <a:t>f</a:t>
            </a:r>
            <a:endParaRPr sz="6400"/>
          </a:p>
          <a:p>
            <a:pPr marL="4336518">
              <a:lnSpc>
                <a:spcPct val="100000"/>
              </a:lnSpc>
              <a:spcBef>
                <a:spcPts val="27"/>
              </a:spcBef>
            </a:pPr>
            <a:endParaRPr sz="9400">
              <a:latin typeface="Times New Roman"/>
              <a:cs typeface="Times New Roman"/>
            </a:endParaRPr>
          </a:p>
          <a:p>
            <a:pPr marL="8042286">
              <a:lnSpc>
                <a:spcPct val="100000"/>
              </a:lnSpc>
            </a:pPr>
            <a:r>
              <a:rPr sz="4000" spc="-7" dirty="0"/>
              <a:t>gradients</a:t>
            </a:r>
            <a:endParaRPr sz="4000"/>
          </a:p>
        </p:txBody>
      </p:sp>
      <p:sp>
        <p:nvSpPr>
          <p:cNvPr id="27" name="object 27"/>
          <p:cNvSpPr/>
          <p:nvPr/>
        </p:nvSpPr>
        <p:spPr>
          <a:xfrm>
            <a:off x="1066032" y="949382"/>
            <a:ext cx="2839193" cy="20708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1046317" y="988718"/>
            <a:ext cx="1082040" cy="1110825"/>
          </a:xfrm>
          <a:custGeom>
            <a:avLst/>
            <a:gdLst/>
            <a:ahLst/>
            <a:cxnLst/>
            <a:rect l="l" t="t" r="r" b="b"/>
            <a:pathLst>
              <a:path w="811530" h="833119">
                <a:moveTo>
                  <a:pt x="281399" y="0"/>
                </a:moveTo>
                <a:lnTo>
                  <a:pt x="811198" y="260399"/>
                </a:lnTo>
                <a:lnTo>
                  <a:pt x="529798" y="833098"/>
                </a:lnTo>
                <a:lnTo>
                  <a:pt x="0" y="572698"/>
                </a:lnTo>
                <a:lnTo>
                  <a:pt x="28139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603344" y="4252371"/>
            <a:ext cx="2843603" cy="176054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594563" y="4894956"/>
            <a:ext cx="1022773" cy="1061720"/>
          </a:xfrm>
          <a:custGeom>
            <a:avLst/>
            <a:gdLst/>
            <a:ahLst/>
            <a:cxnLst/>
            <a:rect l="l" t="t" r="r" b="b"/>
            <a:pathLst>
              <a:path w="767080" h="796289">
                <a:moveTo>
                  <a:pt x="0" y="193199"/>
                </a:moveTo>
                <a:lnTo>
                  <a:pt x="557698" y="0"/>
                </a:lnTo>
                <a:lnTo>
                  <a:pt x="766798" y="602998"/>
                </a:lnTo>
                <a:lnTo>
                  <a:pt x="209099" y="796198"/>
                </a:lnTo>
                <a:lnTo>
                  <a:pt x="0" y="193199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404494" y="872888"/>
            <a:ext cx="2723727" cy="1202267"/>
          </a:xfrm>
          <a:custGeom>
            <a:avLst/>
            <a:gdLst/>
            <a:ahLst/>
            <a:cxnLst/>
            <a:rect l="l" t="t" r="r" b="b"/>
            <a:pathLst>
              <a:path w="2042795" h="901700">
                <a:moveTo>
                  <a:pt x="2042523" y="901255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/>
          <p:nvPr/>
        </p:nvSpPr>
        <p:spPr>
          <a:xfrm>
            <a:off x="1299038" y="826356"/>
            <a:ext cx="122767" cy="85513"/>
          </a:xfrm>
          <a:custGeom>
            <a:avLst/>
            <a:gdLst/>
            <a:ahLst/>
            <a:cxnLst/>
            <a:rect l="l" t="t" r="r" b="b"/>
            <a:pathLst>
              <a:path w="92075" h="64134">
                <a:moveTo>
                  <a:pt x="91794" y="6112"/>
                </a:moveTo>
                <a:lnTo>
                  <a:pt x="0" y="0"/>
                </a:lnTo>
                <a:lnTo>
                  <a:pt x="66389" y="63687"/>
                </a:lnTo>
                <a:lnTo>
                  <a:pt x="91794" y="611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3" name="object 33"/>
          <p:cNvSpPr/>
          <p:nvPr/>
        </p:nvSpPr>
        <p:spPr>
          <a:xfrm>
            <a:off x="1176678" y="4140124"/>
            <a:ext cx="3036993" cy="993987"/>
          </a:xfrm>
          <a:custGeom>
            <a:avLst/>
            <a:gdLst/>
            <a:ahLst/>
            <a:cxnLst/>
            <a:rect l="l" t="t" r="r" b="b"/>
            <a:pathLst>
              <a:path w="2277745" h="745489">
                <a:moveTo>
                  <a:pt x="2277560" y="0"/>
                </a:moveTo>
                <a:lnTo>
                  <a:pt x="0" y="745048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4" name="object 34"/>
          <p:cNvSpPr/>
          <p:nvPr/>
        </p:nvSpPr>
        <p:spPr>
          <a:xfrm>
            <a:off x="1067125" y="5093657"/>
            <a:ext cx="122767" cy="80433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72382" y="0"/>
                </a:moveTo>
                <a:lnTo>
                  <a:pt x="0" y="56799"/>
                </a:lnTo>
                <a:lnTo>
                  <a:pt x="91947" y="59824"/>
                </a:lnTo>
                <a:lnTo>
                  <a:pt x="72382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5" name="object 35"/>
          <p:cNvSpPr/>
          <p:nvPr/>
        </p:nvSpPr>
        <p:spPr>
          <a:xfrm>
            <a:off x="1" y="1"/>
            <a:ext cx="1492673" cy="1501140"/>
          </a:xfrm>
          <a:custGeom>
            <a:avLst/>
            <a:gdLst/>
            <a:ahLst/>
            <a:cxnLst/>
            <a:rect l="l" t="t" r="r" b="b"/>
            <a:pathLst>
              <a:path w="1119505" h="1125855">
                <a:moveTo>
                  <a:pt x="1118890" y="0"/>
                </a:moveTo>
                <a:lnTo>
                  <a:pt x="1098420" y="60341"/>
                </a:lnTo>
                <a:lnTo>
                  <a:pt x="1082336" y="102963"/>
                </a:lnTo>
                <a:lnTo>
                  <a:pt x="1065182" y="145047"/>
                </a:lnTo>
                <a:lnTo>
                  <a:pt x="1046974" y="186577"/>
                </a:lnTo>
                <a:lnTo>
                  <a:pt x="1027728" y="227536"/>
                </a:lnTo>
                <a:lnTo>
                  <a:pt x="1007461" y="267907"/>
                </a:lnTo>
                <a:lnTo>
                  <a:pt x="986191" y="307674"/>
                </a:lnTo>
                <a:lnTo>
                  <a:pt x="963933" y="346820"/>
                </a:lnTo>
                <a:lnTo>
                  <a:pt x="940704" y="385328"/>
                </a:lnTo>
                <a:lnTo>
                  <a:pt x="916522" y="423182"/>
                </a:lnTo>
                <a:lnTo>
                  <a:pt x="891402" y="460365"/>
                </a:lnTo>
                <a:lnTo>
                  <a:pt x="865361" y="496861"/>
                </a:lnTo>
                <a:lnTo>
                  <a:pt x="838416" y="532652"/>
                </a:lnTo>
                <a:lnTo>
                  <a:pt x="810583" y="567722"/>
                </a:lnTo>
                <a:lnTo>
                  <a:pt x="781880" y="602055"/>
                </a:lnTo>
                <a:lnTo>
                  <a:pt x="752322" y="635634"/>
                </a:lnTo>
                <a:lnTo>
                  <a:pt x="721927" y="668441"/>
                </a:lnTo>
                <a:lnTo>
                  <a:pt x="690711" y="700461"/>
                </a:lnTo>
                <a:lnTo>
                  <a:pt x="658691" y="731677"/>
                </a:lnTo>
                <a:lnTo>
                  <a:pt x="625884" y="762072"/>
                </a:lnTo>
                <a:lnTo>
                  <a:pt x="592305" y="791630"/>
                </a:lnTo>
                <a:lnTo>
                  <a:pt x="557972" y="820333"/>
                </a:lnTo>
                <a:lnTo>
                  <a:pt x="522902" y="848166"/>
                </a:lnTo>
                <a:lnTo>
                  <a:pt x="487111" y="875111"/>
                </a:lnTo>
                <a:lnTo>
                  <a:pt x="450615" y="901152"/>
                </a:lnTo>
                <a:lnTo>
                  <a:pt x="413432" y="926272"/>
                </a:lnTo>
                <a:lnTo>
                  <a:pt x="375578" y="950455"/>
                </a:lnTo>
                <a:lnTo>
                  <a:pt x="337070" y="973683"/>
                </a:lnTo>
                <a:lnTo>
                  <a:pt x="297924" y="995941"/>
                </a:lnTo>
                <a:lnTo>
                  <a:pt x="258157" y="1017212"/>
                </a:lnTo>
                <a:lnTo>
                  <a:pt x="217786" y="1037478"/>
                </a:lnTo>
                <a:lnTo>
                  <a:pt x="176827" y="1056724"/>
                </a:lnTo>
                <a:lnTo>
                  <a:pt x="135297" y="1074932"/>
                </a:lnTo>
                <a:lnTo>
                  <a:pt x="93212" y="1092086"/>
                </a:lnTo>
                <a:lnTo>
                  <a:pt x="50590" y="1108170"/>
                </a:lnTo>
                <a:lnTo>
                  <a:pt x="7447" y="1123166"/>
                </a:lnTo>
                <a:lnTo>
                  <a:pt x="0" y="1125537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object 36"/>
          <p:cNvSpPr/>
          <p:nvPr/>
        </p:nvSpPr>
        <p:spPr>
          <a:xfrm>
            <a:off x="0" y="3964548"/>
            <a:ext cx="936413" cy="2893907"/>
          </a:xfrm>
          <a:custGeom>
            <a:avLst/>
            <a:gdLst/>
            <a:ahLst/>
            <a:cxnLst/>
            <a:rect l="l" t="t" r="r" b="b"/>
            <a:pathLst>
              <a:path w="702310" h="2170429">
                <a:moveTo>
                  <a:pt x="0" y="0"/>
                </a:moveTo>
                <a:lnTo>
                  <a:pt x="43085" y="33133"/>
                </a:lnTo>
                <a:lnTo>
                  <a:pt x="81157" y="64327"/>
                </a:lnTo>
                <a:lnTo>
                  <a:pt x="118416" y="96653"/>
                </a:lnTo>
                <a:lnTo>
                  <a:pt x="154835" y="130100"/>
                </a:lnTo>
                <a:lnTo>
                  <a:pt x="190387" y="164656"/>
                </a:lnTo>
                <a:lnTo>
                  <a:pt x="224946" y="200209"/>
                </a:lnTo>
                <a:lnTo>
                  <a:pt x="258394" y="236629"/>
                </a:lnTo>
                <a:lnTo>
                  <a:pt x="290721" y="273889"/>
                </a:lnTo>
                <a:lnTo>
                  <a:pt x="321917" y="311962"/>
                </a:lnTo>
                <a:lnTo>
                  <a:pt x="351969" y="350822"/>
                </a:lnTo>
                <a:lnTo>
                  <a:pt x="380866" y="390441"/>
                </a:lnTo>
                <a:lnTo>
                  <a:pt x="408598" y="430794"/>
                </a:lnTo>
                <a:lnTo>
                  <a:pt x="435154" y="471853"/>
                </a:lnTo>
                <a:lnTo>
                  <a:pt x="460523" y="513592"/>
                </a:lnTo>
                <a:lnTo>
                  <a:pt x="484692" y="555983"/>
                </a:lnTo>
                <a:lnTo>
                  <a:pt x="507653" y="599001"/>
                </a:lnTo>
                <a:lnTo>
                  <a:pt x="529392" y="642619"/>
                </a:lnTo>
                <a:lnTo>
                  <a:pt x="549900" y="686809"/>
                </a:lnTo>
                <a:lnTo>
                  <a:pt x="569164" y="731546"/>
                </a:lnTo>
                <a:lnTo>
                  <a:pt x="587175" y="776802"/>
                </a:lnTo>
                <a:lnTo>
                  <a:pt x="603921" y="822550"/>
                </a:lnTo>
                <a:lnTo>
                  <a:pt x="619391" y="868764"/>
                </a:lnTo>
                <a:lnTo>
                  <a:pt x="633574" y="915418"/>
                </a:lnTo>
                <a:lnTo>
                  <a:pt x="646458" y="962484"/>
                </a:lnTo>
                <a:lnTo>
                  <a:pt x="658033" y="1009936"/>
                </a:lnTo>
                <a:lnTo>
                  <a:pt x="668288" y="1057746"/>
                </a:lnTo>
                <a:lnTo>
                  <a:pt x="677212" y="1105889"/>
                </a:lnTo>
                <a:lnTo>
                  <a:pt x="684793" y="1154338"/>
                </a:lnTo>
                <a:lnTo>
                  <a:pt x="691020" y="1203065"/>
                </a:lnTo>
                <a:lnTo>
                  <a:pt x="695883" y="1252045"/>
                </a:lnTo>
                <a:lnTo>
                  <a:pt x="699370" y="1301250"/>
                </a:lnTo>
                <a:lnTo>
                  <a:pt x="701470" y="1350653"/>
                </a:lnTo>
                <a:lnTo>
                  <a:pt x="702173" y="1400229"/>
                </a:lnTo>
                <a:lnTo>
                  <a:pt x="701524" y="1448325"/>
                </a:lnTo>
                <a:lnTo>
                  <a:pt x="699588" y="1496100"/>
                </a:lnTo>
                <a:lnTo>
                  <a:pt x="696381" y="1543537"/>
                </a:lnTo>
                <a:lnTo>
                  <a:pt x="691920" y="1590620"/>
                </a:lnTo>
                <a:lnTo>
                  <a:pt x="686222" y="1637331"/>
                </a:lnTo>
                <a:lnTo>
                  <a:pt x="679303" y="1683655"/>
                </a:lnTo>
                <a:lnTo>
                  <a:pt x="671181" y="1729575"/>
                </a:lnTo>
                <a:lnTo>
                  <a:pt x="661871" y="1775073"/>
                </a:lnTo>
                <a:lnTo>
                  <a:pt x="651391" y="1820133"/>
                </a:lnTo>
                <a:lnTo>
                  <a:pt x="639756" y="1864739"/>
                </a:lnTo>
                <a:lnTo>
                  <a:pt x="626985" y="1908874"/>
                </a:lnTo>
                <a:lnTo>
                  <a:pt x="613092" y="1952522"/>
                </a:lnTo>
                <a:lnTo>
                  <a:pt x="598096" y="1995665"/>
                </a:lnTo>
                <a:lnTo>
                  <a:pt x="582012" y="2038287"/>
                </a:lnTo>
                <a:lnTo>
                  <a:pt x="564858" y="2080371"/>
                </a:lnTo>
                <a:lnTo>
                  <a:pt x="546650" y="2121901"/>
                </a:lnTo>
                <a:lnTo>
                  <a:pt x="527404" y="2162860"/>
                </a:lnTo>
                <a:lnTo>
                  <a:pt x="523781" y="2170077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7" name="object 3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2667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73135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5584088" y="327788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304"/>
                </a:lnTo>
                <a:lnTo>
                  <a:pt x="0" y="1563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6739652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7895216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9050781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40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0144812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40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2667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55544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5584088" y="327788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304"/>
                </a:lnTo>
                <a:lnTo>
                  <a:pt x="0" y="1563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6739652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7895216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9050781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40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2667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295475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8943915" y="2742027"/>
            <a:ext cx="1730587" cy="952500"/>
          </a:xfrm>
          <a:custGeom>
            <a:avLst/>
            <a:gdLst/>
            <a:ahLst/>
            <a:cxnLst/>
            <a:rect l="l" t="t" r="r" b="b"/>
            <a:pathLst>
              <a:path w="1297940" h="714375">
                <a:moveTo>
                  <a:pt x="0" y="0"/>
                </a:moveTo>
                <a:lnTo>
                  <a:pt x="1297497" y="0"/>
                </a:lnTo>
                <a:lnTo>
                  <a:pt x="1297497" y="714298"/>
                </a:lnTo>
                <a:lnTo>
                  <a:pt x="0" y="7142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6342487" y="4263025"/>
            <a:ext cx="5630333" cy="876300"/>
          </a:xfrm>
          <a:custGeom>
            <a:avLst/>
            <a:gdLst/>
            <a:ahLst/>
            <a:cxnLst/>
            <a:rect l="l" t="t" r="r" b="b"/>
            <a:pathLst>
              <a:path w="4222750" h="657225">
                <a:moveTo>
                  <a:pt x="0" y="0"/>
                </a:moveTo>
                <a:lnTo>
                  <a:pt x="4222191" y="0"/>
                </a:lnTo>
                <a:lnTo>
                  <a:pt x="4222191" y="656698"/>
                </a:lnTo>
                <a:lnTo>
                  <a:pt x="0" y="6566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584088" y="327788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304"/>
                </a:lnTo>
                <a:lnTo>
                  <a:pt x="0" y="1563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6739652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7895216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9050781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40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2667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07127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8943915" y="2742027"/>
            <a:ext cx="1730587" cy="952500"/>
          </a:xfrm>
          <a:custGeom>
            <a:avLst/>
            <a:gdLst/>
            <a:ahLst/>
            <a:cxnLst/>
            <a:rect l="l" t="t" r="r" b="b"/>
            <a:pathLst>
              <a:path w="1297940" h="714375">
                <a:moveTo>
                  <a:pt x="0" y="0"/>
                </a:moveTo>
                <a:lnTo>
                  <a:pt x="1297497" y="0"/>
                </a:lnTo>
                <a:lnTo>
                  <a:pt x="1297497" y="714298"/>
                </a:lnTo>
                <a:lnTo>
                  <a:pt x="0" y="7142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6342487" y="4263025"/>
            <a:ext cx="5630333" cy="876300"/>
          </a:xfrm>
          <a:custGeom>
            <a:avLst/>
            <a:gdLst/>
            <a:ahLst/>
            <a:cxnLst/>
            <a:rect l="l" t="t" r="r" b="b"/>
            <a:pathLst>
              <a:path w="4222750" h="657225">
                <a:moveTo>
                  <a:pt x="0" y="0"/>
                </a:moveTo>
                <a:lnTo>
                  <a:pt x="4222191" y="0"/>
                </a:lnTo>
                <a:lnTo>
                  <a:pt x="4222191" y="656698"/>
                </a:lnTo>
                <a:lnTo>
                  <a:pt x="0" y="6566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584088" y="327788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304"/>
                </a:lnTo>
                <a:lnTo>
                  <a:pt x="0" y="1563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6739652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7895216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8749450" y="2097952"/>
            <a:ext cx="2369261" cy="4527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2667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43414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7790617" y="2730261"/>
            <a:ext cx="1730587" cy="952500"/>
          </a:xfrm>
          <a:custGeom>
            <a:avLst/>
            <a:gdLst/>
            <a:ahLst/>
            <a:cxnLst/>
            <a:rect l="l" t="t" r="r" b="b"/>
            <a:pathLst>
              <a:path w="1297940" h="714375">
                <a:moveTo>
                  <a:pt x="0" y="0"/>
                </a:moveTo>
                <a:lnTo>
                  <a:pt x="1297497" y="0"/>
                </a:lnTo>
                <a:lnTo>
                  <a:pt x="1297497" y="714298"/>
                </a:lnTo>
                <a:lnTo>
                  <a:pt x="0" y="7142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6342487" y="5091056"/>
            <a:ext cx="5630333" cy="692573"/>
          </a:xfrm>
          <a:custGeom>
            <a:avLst/>
            <a:gdLst/>
            <a:ahLst/>
            <a:cxnLst/>
            <a:rect l="l" t="t" r="r" b="b"/>
            <a:pathLst>
              <a:path w="4222750" h="519429">
                <a:moveTo>
                  <a:pt x="0" y="0"/>
                </a:moveTo>
                <a:lnTo>
                  <a:pt x="4222191" y="0"/>
                </a:lnTo>
                <a:lnTo>
                  <a:pt x="4222191" y="518998"/>
                </a:lnTo>
                <a:lnTo>
                  <a:pt x="0" y="5189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584088" y="327788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304"/>
                </a:lnTo>
                <a:lnTo>
                  <a:pt x="0" y="1563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6739652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7895216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2667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69824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7790617" y="2730261"/>
            <a:ext cx="1730587" cy="952500"/>
          </a:xfrm>
          <a:custGeom>
            <a:avLst/>
            <a:gdLst/>
            <a:ahLst/>
            <a:cxnLst/>
            <a:rect l="l" t="t" r="r" b="b"/>
            <a:pathLst>
              <a:path w="1297940" h="714375">
                <a:moveTo>
                  <a:pt x="0" y="0"/>
                </a:moveTo>
                <a:lnTo>
                  <a:pt x="1297497" y="0"/>
                </a:lnTo>
                <a:lnTo>
                  <a:pt x="1297497" y="714298"/>
                </a:lnTo>
                <a:lnTo>
                  <a:pt x="0" y="7142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6342487" y="5091056"/>
            <a:ext cx="5630333" cy="692573"/>
          </a:xfrm>
          <a:custGeom>
            <a:avLst/>
            <a:gdLst/>
            <a:ahLst/>
            <a:cxnLst/>
            <a:rect l="l" t="t" r="r" b="b"/>
            <a:pathLst>
              <a:path w="4222750" h="519429">
                <a:moveTo>
                  <a:pt x="0" y="0"/>
                </a:moveTo>
                <a:lnTo>
                  <a:pt x="4222191" y="0"/>
                </a:lnTo>
                <a:lnTo>
                  <a:pt x="4222191" y="518998"/>
                </a:lnTo>
                <a:lnTo>
                  <a:pt x="0" y="5189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584088" y="327788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304"/>
                </a:lnTo>
                <a:lnTo>
                  <a:pt x="0" y="1563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6739652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7331685" y="2208762"/>
            <a:ext cx="2802527" cy="3892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2667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6540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673020" y="2730261"/>
            <a:ext cx="1730587" cy="952500"/>
          </a:xfrm>
          <a:custGeom>
            <a:avLst/>
            <a:gdLst/>
            <a:ahLst/>
            <a:cxnLst/>
            <a:rect l="l" t="t" r="r" b="b"/>
            <a:pathLst>
              <a:path w="1297939" h="714375">
                <a:moveTo>
                  <a:pt x="0" y="0"/>
                </a:moveTo>
                <a:lnTo>
                  <a:pt x="1297497" y="0"/>
                </a:lnTo>
                <a:lnTo>
                  <a:pt x="1297497" y="714298"/>
                </a:lnTo>
                <a:lnTo>
                  <a:pt x="0" y="7142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06199" y="4370524"/>
            <a:ext cx="5376333" cy="721360"/>
          </a:xfrm>
          <a:custGeom>
            <a:avLst/>
            <a:gdLst/>
            <a:ahLst/>
            <a:cxnLst/>
            <a:rect l="l" t="t" r="r" b="b"/>
            <a:pathLst>
              <a:path w="4032250" h="541020">
                <a:moveTo>
                  <a:pt x="0" y="0"/>
                </a:moveTo>
                <a:lnTo>
                  <a:pt x="4031691" y="0"/>
                </a:lnTo>
                <a:lnTo>
                  <a:pt x="4031691" y="540598"/>
                </a:lnTo>
                <a:lnTo>
                  <a:pt x="0" y="5405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584088" y="327788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304"/>
                </a:lnTo>
                <a:lnTo>
                  <a:pt x="0" y="1563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6739652" y="32778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2667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07617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673020" y="2730261"/>
            <a:ext cx="1730587" cy="952500"/>
          </a:xfrm>
          <a:custGeom>
            <a:avLst/>
            <a:gdLst/>
            <a:ahLst/>
            <a:cxnLst/>
            <a:rect l="l" t="t" r="r" b="b"/>
            <a:pathLst>
              <a:path w="1297939" h="714375">
                <a:moveTo>
                  <a:pt x="0" y="0"/>
                </a:moveTo>
                <a:lnTo>
                  <a:pt x="1297497" y="0"/>
                </a:lnTo>
                <a:lnTo>
                  <a:pt x="1297497" y="714298"/>
                </a:lnTo>
                <a:lnTo>
                  <a:pt x="0" y="7142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06199" y="4370524"/>
            <a:ext cx="5376333" cy="721360"/>
          </a:xfrm>
          <a:custGeom>
            <a:avLst/>
            <a:gdLst/>
            <a:ahLst/>
            <a:cxnLst/>
            <a:rect l="l" t="t" r="r" b="b"/>
            <a:pathLst>
              <a:path w="4032250" h="541020">
                <a:moveTo>
                  <a:pt x="0" y="0"/>
                </a:moveTo>
                <a:lnTo>
                  <a:pt x="4031691" y="0"/>
                </a:lnTo>
                <a:lnTo>
                  <a:pt x="4031691" y="540598"/>
                </a:lnTo>
                <a:lnTo>
                  <a:pt x="0" y="5405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584088" y="327788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304"/>
                </a:lnTo>
                <a:lnTo>
                  <a:pt x="0" y="1563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6243753" y="2097965"/>
            <a:ext cx="3368992" cy="4316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2667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24941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5512655" y="2730261"/>
            <a:ext cx="1730587" cy="952500"/>
          </a:xfrm>
          <a:custGeom>
            <a:avLst/>
            <a:gdLst/>
            <a:ahLst/>
            <a:cxnLst/>
            <a:rect l="l" t="t" r="r" b="b"/>
            <a:pathLst>
              <a:path w="1297939" h="714375">
                <a:moveTo>
                  <a:pt x="0" y="0"/>
                </a:moveTo>
                <a:lnTo>
                  <a:pt x="1297497" y="0"/>
                </a:lnTo>
                <a:lnTo>
                  <a:pt x="1297497" y="714298"/>
                </a:lnTo>
                <a:lnTo>
                  <a:pt x="0" y="7142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56133" y="5057090"/>
            <a:ext cx="5326380" cy="801793"/>
          </a:xfrm>
          <a:custGeom>
            <a:avLst/>
            <a:gdLst/>
            <a:ahLst/>
            <a:cxnLst/>
            <a:rect l="l" t="t" r="r" b="b"/>
            <a:pathLst>
              <a:path w="3994785" h="601345">
                <a:moveTo>
                  <a:pt x="0" y="0"/>
                </a:moveTo>
                <a:lnTo>
                  <a:pt x="3994191" y="0"/>
                </a:lnTo>
                <a:lnTo>
                  <a:pt x="3994191" y="600898"/>
                </a:lnTo>
                <a:lnTo>
                  <a:pt x="0" y="6008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5584088" y="327788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304"/>
                </a:lnTo>
                <a:lnTo>
                  <a:pt x="0" y="1563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2667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79806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5512655" y="2730261"/>
            <a:ext cx="1730587" cy="952500"/>
          </a:xfrm>
          <a:custGeom>
            <a:avLst/>
            <a:gdLst/>
            <a:ahLst/>
            <a:cxnLst/>
            <a:rect l="l" t="t" r="r" b="b"/>
            <a:pathLst>
              <a:path w="1297939" h="714375">
                <a:moveTo>
                  <a:pt x="0" y="0"/>
                </a:moveTo>
                <a:lnTo>
                  <a:pt x="1297497" y="0"/>
                </a:lnTo>
                <a:lnTo>
                  <a:pt x="1297497" y="714298"/>
                </a:lnTo>
                <a:lnTo>
                  <a:pt x="0" y="7142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56133" y="5057090"/>
            <a:ext cx="5326380" cy="801793"/>
          </a:xfrm>
          <a:custGeom>
            <a:avLst/>
            <a:gdLst/>
            <a:ahLst/>
            <a:cxnLst/>
            <a:rect l="l" t="t" r="r" b="b"/>
            <a:pathLst>
              <a:path w="3994785" h="601345">
                <a:moveTo>
                  <a:pt x="0" y="0"/>
                </a:moveTo>
                <a:lnTo>
                  <a:pt x="3994191" y="0"/>
                </a:lnTo>
                <a:lnTo>
                  <a:pt x="3994191" y="600898"/>
                </a:lnTo>
                <a:lnTo>
                  <a:pt x="0" y="6008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5524053" y="2217812"/>
            <a:ext cx="2054860" cy="287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1867" dirty="0">
                <a:solidFill>
                  <a:srgbClr val="FF0000"/>
                </a:solidFill>
                <a:latin typeface="Arial"/>
                <a:cs typeface="Arial"/>
              </a:rPr>
              <a:t>(-1) </a:t>
            </a:r>
            <a:r>
              <a:rPr sz="1867" spc="-7" dirty="0">
                <a:solidFill>
                  <a:srgbClr val="FF0000"/>
                </a:solidFill>
                <a:latin typeface="Arial"/>
                <a:cs typeface="Arial"/>
              </a:rPr>
              <a:t>* (-0.20) =</a:t>
            </a:r>
            <a:r>
              <a:rPr sz="1867" spc="-7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FF0000"/>
                </a:solidFill>
                <a:latin typeface="Arial"/>
                <a:cs typeface="Arial"/>
              </a:rPr>
              <a:t>0.20</a:t>
            </a:r>
            <a:endParaRPr sz="1867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2667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203854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4377825" y="2094762"/>
            <a:ext cx="1612900" cy="1670473"/>
          </a:xfrm>
          <a:custGeom>
            <a:avLst/>
            <a:gdLst/>
            <a:ahLst/>
            <a:cxnLst/>
            <a:rect l="l" t="t" r="r" b="b"/>
            <a:pathLst>
              <a:path w="1209675" h="1252855">
                <a:moveTo>
                  <a:pt x="0" y="0"/>
                </a:moveTo>
                <a:lnTo>
                  <a:pt x="1209297" y="0"/>
                </a:lnTo>
                <a:lnTo>
                  <a:pt x="1209297" y="1252797"/>
                </a:lnTo>
                <a:lnTo>
                  <a:pt x="0" y="1252797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787630" y="3659959"/>
            <a:ext cx="1060873" cy="800947"/>
          </a:xfrm>
          <a:custGeom>
            <a:avLst/>
            <a:gdLst/>
            <a:ahLst/>
            <a:cxnLst/>
            <a:rect l="l" t="t" r="r" b="b"/>
            <a:pathLst>
              <a:path w="795655" h="600710">
                <a:moveTo>
                  <a:pt x="0" y="0"/>
                </a:moveTo>
                <a:lnTo>
                  <a:pt x="795298" y="0"/>
                </a:lnTo>
                <a:lnTo>
                  <a:pt x="795298" y="600298"/>
                </a:lnTo>
                <a:lnTo>
                  <a:pt x="0" y="6002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147561" y="411622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388891" y="2454095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2667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81448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4377825" y="2094762"/>
            <a:ext cx="1612900" cy="1670473"/>
          </a:xfrm>
          <a:custGeom>
            <a:avLst/>
            <a:gdLst/>
            <a:ahLst/>
            <a:cxnLst/>
            <a:rect l="l" t="t" r="r" b="b"/>
            <a:pathLst>
              <a:path w="1209675" h="1252855">
                <a:moveTo>
                  <a:pt x="0" y="0"/>
                </a:moveTo>
                <a:lnTo>
                  <a:pt x="1209297" y="0"/>
                </a:lnTo>
                <a:lnTo>
                  <a:pt x="1209297" y="1252797"/>
                </a:lnTo>
                <a:lnTo>
                  <a:pt x="0" y="1252797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6278292" y="1577709"/>
            <a:ext cx="4002193" cy="1115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marR="13546">
              <a:lnSpc>
                <a:spcPct val="100699"/>
              </a:lnSpc>
            </a:pPr>
            <a:r>
              <a:rPr sz="2400" spc="-7" dirty="0">
                <a:latin typeface="Arial"/>
                <a:cs typeface="Arial"/>
              </a:rPr>
              <a:t>[local gradient] </a:t>
            </a:r>
            <a:r>
              <a:rPr sz="2400" dirty="0">
                <a:latin typeface="Arial"/>
                <a:cs typeface="Arial"/>
              </a:rPr>
              <a:t>x </a:t>
            </a:r>
            <a:r>
              <a:rPr sz="2400" spc="-7" dirty="0">
                <a:latin typeface="Arial"/>
                <a:cs typeface="Arial"/>
              </a:rPr>
              <a:t>[its gradient] 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[1]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x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[0.2] =</a:t>
            </a:r>
            <a:r>
              <a:rPr sz="2400" spc="-8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0.2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20"/>
              </a:spcBef>
            </a:pP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[1]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x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[0.2] = 0.2  (both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inputs!)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87630" y="3659959"/>
            <a:ext cx="1060873" cy="800947"/>
          </a:xfrm>
          <a:custGeom>
            <a:avLst/>
            <a:gdLst/>
            <a:ahLst/>
            <a:cxnLst/>
            <a:rect l="l" t="t" r="r" b="b"/>
            <a:pathLst>
              <a:path w="795655" h="600710">
                <a:moveTo>
                  <a:pt x="0" y="0"/>
                </a:moveTo>
                <a:lnTo>
                  <a:pt x="795298" y="0"/>
                </a:lnTo>
                <a:lnTo>
                  <a:pt x="795298" y="600298"/>
                </a:lnTo>
                <a:lnTo>
                  <a:pt x="0" y="6002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3248393" y="3089327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3248393" y="1791443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2667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95378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787630" y="964998"/>
            <a:ext cx="1978660" cy="1389380"/>
          </a:xfrm>
          <a:custGeom>
            <a:avLst/>
            <a:gdLst/>
            <a:ahLst/>
            <a:cxnLst/>
            <a:rect l="l" t="t" r="r" b="b"/>
            <a:pathLst>
              <a:path w="1483995" h="1042035">
                <a:moveTo>
                  <a:pt x="0" y="0"/>
                </a:moveTo>
                <a:lnTo>
                  <a:pt x="1483797" y="0"/>
                </a:lnTo>
                <a:lnTo>
                  <a:pt x="1483797" y="1041597"/>
                </a:lnTo>
                <a:lnTo>
                  <a:pt x="0" y="1041597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2103095" y="1438430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2103095" y="2097962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40</a:t>
            </a:r>
            <a:endParaRPr sz="2667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49884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22025" y="86700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1124321"/>
            <a:ext cx="14020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4553">
              <a:lnSpc>
                <a:spcPct val="100000"/>
              </a:lnSpc>
            </a:pPr>
            <a:r>
              <a:rPr sz="3200" spc="-7" dirty="0"/>
              <a:t>Another</a:t>
            </a:r>
            <a:r>
              <a:rPr sz="3200" spc="-53" dirty="0"/>
              <a:t> </a:t>
            </a:r>
            <a:r>
              <a:rPr sz="3200" spc="-7" dirty="0"/>
              <a:t>example: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787630" y="1144564"/>
            <a:ext cx="8783581" cy="3159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6296021" y="4409357"/>
            <a:ext cx="5676121" cy="13286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56165" y="4409357"/>
            <a:ext cx="5325688" cy="13286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990088" y="4460191"/>
            <a:ext cx="0" cy="1389380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787630" y="964998"/>
            <a:ext cx="1978660" cy="1389380"/>
          </a:xfrm>
          <a:custGeom>
            <a:avLst/>
            <a:gdLst/>
            <a:ahLst/>
            <a:cxnLst/>
            <a:rect l="l" t="t" r="r" b="b"/>
            <a:pathLst>
              <a:path w="1483995" h="1042035">
                <a:moveTo>
                  <a:pt x="0" y="0"/>
                </a:moveTo>
                <a:lnTo>
                  <a:pt x="1483797" y="0"/>
                </a:lnTo>
                <a:lnTo>
                  <a:pt x="1483797" y="1041597"/>
                </a:lnTo>
                <a:lnTo>
                  <a:pt x="0" y="1041597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6223758" y="1464350"/>
            <a:ext cx="3995420" cy="1115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marR="6773">
              <a:lnSpc>
                <a:spcPct val="100699"/>
              </a:lnSpc>
            </a:pPr>
            <a:r>
              <a:rPr sz="2400" spc="-7" dirty="0">
                <a:latin typeface="Arial"/>
                <a:cs typeface="Arial"/>
              </a:rPr>
              <a:t>[local gradient] </a:t>
            </a:r>
            <a:r>
              <a:rPr sz="2400" dirty="0">
                <a:latin typeface="Arial"/>
                <a:cs typeface="Arial"/>
              </a:rPr>
              <a:t>x </a:t>
            </a:r>
            <a:r>
              <a:rPr sz="2400" spc="-7" dirty="0">
                <a:latin typeface="Arial"/>
                <a:cs typeface="Arial"/>
              </a:rPr>
              <a:t>[its gradient] 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x0: [2]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x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[0.2] =</a:t>
            </a:r>
            <a:r>
              <a:rPr sz="2400" spc="-6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0.4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20"/>
              </a:spcBef>
            </a:pP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w0: [-1]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x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[0.2] =</a:t>
            </a:r>
            <a:r>
              <a:rPr sz="2400" spc="-53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-0.2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47561" y="3436859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103095" y="2757494"/>
            <a:ext cx="426720" cy="209127"/>
          </a:xfrm>
          <a:custGeom>
            <a:avLst/>
            <a:gdLst/>
            <a:ahLst/>
            <a:cxnLst/>
            <a:rect l="l" t="t" r="r" b="b"/>
            <a:pathLst>
              <a:path w="320039" h="156844">
                <a:moveTo>
                  <a:pt x="0" y="0"/>
                </a:moveTo>
                <a:lnTo>
                  <a:pt x="319799" y="0"/>
                </a:lnTo>
                <a:lnTo>
                  <a:pt x="319799" y="156299"/>
                </a:lnTo>
                <a:lnTo>
                  <a:pt x="0" y="1562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41</a:t>
            </a:r>
            <a:endParaRPr sz="2667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02690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121098" y="404433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6934719" y="467933"/>
            <a:ext cx="2108195" cy="825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6928353" y="461581"/>
            <a:ext cx="2120900" cy="838200"/>
          </a:xfrm>
          <a:custGeom>
            <a:avLst/>
            <a:gdLst/>
            <a:ahLst/>
            <a:cxnLst/>
            <a:rect l="l" t="t" r="r" b="b"/>
            <a:pathLst>
              <a:path w="1590675" h="628650">
                <a:moveTo>
                  <a:pt x="0" y="0"/>
                </a:moveTo>
                <a:lnTo>
                  <a:pt x="1590671" y="0"/>
                </a:lnTo>
                <a:lnTo>
                  <a:pt x="1590671" y="628648"/>
                </a:lnTo>
                <a:lnTo>
                  <a:pt x="0" y="62864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17600" y="900281"/>
            <a:ext cx="14020800" cy="940519"/>
          </a:xfrm>
          <a:prstGeom prst="rect">
            <a:avLst/>
          </a:prstGeom>
        </p:spPr>
        <p:txBody>
          <a:bodyPr vert="horz" wrap="square" lIns="0" tIns="565663" rIns="0" bIns="0" rtlCol="0" anchor="ctr">
            <a:spAutoFit/>
          </a:bodyPr>
          <a:lstStyle/>
          <a:p>
            <a:pPr marL="9198803">
              <a:lnSpc>
                <a:spcPct val="100000"/>
              </a:lnSpc>
            </a:pPr>
            <a:r>
              <a:rPr sz="2400" spc="-7" dirty="0">
                <a:solidFill>
                  <a:srgbClr val="0000FF"/>
                </a:solidFill>
              </a:rPr>
              <a:t>sigmoid</a:t>
            </a:r>
            <a:r>
              <a:rPr sz="2400" spc="-53" dirty="0">
                <a:solidFill>
                  <a:srgbClr val="0000FF"/>
                </a:solidFill>
              </a:rPr>
              <a:t> </a:t>
            </a:r>
            <a:r>
              <a:rPr sz="2400" spc="-7" dirty="0">
                <a:solidFill>
                  <a:srgbClr val="0000FF"/>
                </a:solidFill>
              </a:rPr>
              <a:t>function</a:t>
            </a:r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838698" y="1597364"/>
            <a:ext cx="9550380" cy="876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058295" y="3170661"/>
            <a:ext cx="7680184" cy="2762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 txBox="1"/>
          <p:nvPr/>
        </p:nvSpPr>
        <p:spPr>
          <a:xfrm>
            <a:off x="5754722" y="4142991"/>
            <a:ext cx="3531447" cy="324940"/>
          </a:xfrm>
          <a:prstGeom prst="rect">
            <a:avLst/>
          </a:prstGeom>
          <a:ln w="19049">
            <a:solidFill>
              <a:srgbClr val="0000FF"/>
            </a:solidFill>
          </a:ln>
        </p:spPr>
        <p:txBody>
          <a:bodyPr vert="horz" wrap="square" lIns="0" tIns="37253" rIns="0" bIns="0" rtlCol="0">
            <a:spAutoFit/>
          </a:bodyPr>
          <a:lstStyle/>
          <a:p>
            <a:pPr marL="1046454">
              <a:spcBef>
                <a:spcPts val="293"/>
              </a:spcBef>
            </a:pPr>
            <a:r>
              <a:rPr sz="1867" spc="-7" dirty="0">
                <a:solidFill>
                  <a:srgbClr val="0000FF"/>
                </a:solidFill>
                <a:latin typeface="Arial"/>
                <a:cs typeface="Arial"/>
              </a:rPr>
              <a:t>sigmoid</a:t>
            </a:r>
            <a:r>
              <a:rPr sz="1867" spc="-7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0000FF"/>
                </a:solidFill>
                <a:latin typeface="Arial"/>
                <a:cs typeface="Arial"/>
              </a:rPr>
              <a:t>gate</a:t>
            </a:r>
            <a:endParaRPr sz="186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endParaRPr sz="2667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42339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97127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1098" y="404433"/>
            <a:ext cx="4114791" cy="9524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6934719" y="467933"/>
            <a:ext cx="2108195" cy="825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6928353" y="461581"/>
            <a:ext cx="2120900" cy="838200"/>
          </a:xfrm>
          <a:custGeom>
            <a:avLst/>
            <a:gdLst/>
            <a:ahLst/>
            <a:cxnLst/>
            <a:rect l="l" t="t" r="r" b="b"/>
            <a:pathLst>
              <a:path w="1590675" h="628650">
                <a:moveTo>
                  <a:pt x="0" y="0"/>
                </a:moveTo>
                <a:lnTo>
                  <a:pt x="1590671" y="0"/>
                </a:lnTo>
                <a:lnTo>
                  <a:pt x="1590671" y="628648"/>
                </a:lnTo>
                <a:lnTo>
                  <a:pt x="0" y="62864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17600" y="900281"/>
            <a:ext cx="14020800" cy="940519"/>
          </a:xfrm>
          <a:prstGeom prst="rect">
            <a:avLst/>
          </a:prstGeom>
        </p:spPr>
        <p:txBody>
          <a:bodyPr vert="horz" wrap="square" lIns="0" tIns="565663" rIns="0" bIns="0" rtlCol="0" anchor="ctr">
            <a:spAutoFit/>
          </a:bodyPr>
          <a:lstStyle/>
          <a:p>
            <a:pPr marL="9198803">
              <a:lnSpc>
                <a:spcPct val="100000"/>
              </a:lnSpc>
            </a:pPr>
            <a:r>
              <a:rPr sz="2400" spc="-7" dirty="0">
                <a:solidFill>
                  <a:srgbClr val="0000FF"/>
                </a:solidFill>
              </a:rPr>
              <a:t>sigmoid</a:t>
            </a:r>
            <a:r>
              <a:rPr sz="2400" spc="-53" dirty="0">
                <a:solidFill>
                  <a:srgbClr val="0000FF"/>
                </a:solidFill>
              </a:rPr>
              <a:t> </a:t>
            </a:r>
            <a:r>
              <a:rPr sz="2400" spc="-7" dirty="0">
                <a:solidFill>
                  <a:srgbClr val="0000FF"/>
                </a:solidFill>
              </a:rPr>
              <a:t>function</a:t>
            </a:r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838698" y="1597364"/>
            <a:ext cx="9550380" cy="876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058295" y="3170661"/>
            <a:ext cx="7680184" cy="2762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5754722" y="4142991"/>
            <a:ext cx="3531447" cy="1242059"/>
          </a:xfrm>
          <a:custGeom>
            <a:avLst/>
            <a:gdLst/>
            <a:ahLst/>
            <a:cxnLst/>
            <a:rect l="l" t="t" r="r" b="b"/>
            <a:pathLst>
              <a:path w="2648584" h="931545">
                <a:moveTo>
                  <a:pt x="0" y="0"/>
                </a:moveTo>
                <a:lnTo>
                  <a:pt x="2648094" y="0"/>
                </a:lnTo>
                <a:lnTo>
                  <a:pt x="2648094" y="931498"/>
                </a:lnTo>
                <a:lnTo>
                  <a:pt x="0" y="9314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5754722" y="4193611"/>
            <a:ext cx="3531447" cy="1744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7572" algn="ctr"/>
            <a:r>
              <a:rPr sz="1867" spc="-7" dirty="0">
                <a:solidFill>
                  <a:srgbClr val="0000FF"/>
                </a:solidFill>
                <a:latin typeface="Arial"/>
                <a:cs typeface="Arial"/>
              </a:rPr>
              <a:t>sigmoid</a:t>
            </a:r>
            <a:r>
              <a:rPr sz="1867" spc="-7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67" spc="-7" dirty="0">
                <a:solidFill>
                  <a:srgbClr val="0000FF"/>
                </a:solidFill>
                <a:latin typeface="Arial"/>
                <a:cs typeface="Arial"/>
              </a:rPr>
              <a:t>gate</a:t>
            </a:r>
            <a:endParaRPr sz="186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67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67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67">
              <a:latin typeface="Times New Roman"/>
              <a:cs typeface="Times New Roman"/>
            </a:endParaRPr>
          </a:p>
          <a:p>
            <a:pPr>
              <a:spcBef>
                <a:spcPts val="7"/>
              </a:spcBef>
            </a:pPr>
            <a:endParaRPr sz="1467">
              <a:latin typeface="Times New Roman"/>
              <a:cs typeface="Times New Roman"/>
            </a:endParaRPr>
          </a:p>
          <a:p>
            <a:pPr marR="204042" algn="ctr"/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(0.73) * (1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-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0.73) =</a:t>
            </a:r>
            <a:r>
              <a:rPr sz="24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0.2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33889" y="5397721"/>
            <a:ext cx="121073" cy="274320"/>
          </a:xfrm>
          <a:custGeom>
            <a:avLst/>
            <a:gdLst/>
            <a:ahLst/>
            <a:cxnLst/>
            <a:rect l="l" t="t" r="r" b="b"/>
            <a:pathLst>
              <a:path w="90804" h="205739">
                <a:moveTo>
                  <a:pt x="90624" y="205424"/>
                </a:moveTo>
                <a:lnTo>
                  <a:pt x="0" y="0"/>
                </a:lnTo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5610621" y="5345022"/>
            <a:ext cx="43179" cy="61807"/>
          </a:xfrm>
          <a:custGeom>
            <a:avLst/>
            <a:gdLst/>
            <a:ahLst/>
            <a:cxnLst/>
            <a:rect l="l" t="t" r="r" b="b"/>
            <a:pathLst>
              <a:path w="32385" h="46354">
                <a:moveTo>
                  <a:pt x="31849" y="33174"/>
                </a:moveTo>
                <a:lnTo>
                  <a:pt x="0" y="0"/>
                </a:lnTo>
                <a:lnTo>
                  <a:pt x="3049" y="45874"/>
                </a:lnTo>
                <a:lnTo>
                  <a:pt x="31849" y="33174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9325082" y="4683390"/>
            <a:ext cx="515620" cy="294639"/>
          </a:xfrm>
          <a:custGeom>
            <a:avLst/>
            <a:gdLst/>
            <a:ahLst/>
            <a:cxnLst/>
            <a:rect l="l" t="t" r="r" b="b"/>
            <a:pathLst>
              <a:path w="386715" h="220979">
                <a:moveTo>
                  <a:pt x="0" y="0"/>
                </a:moveTo>
                <a:lnTo>
                  <a:pt x="386699" y="0"/>
                </a:lnTo>
                <a:lnTo>
                  <a:pt x="386699" y="220499"/>
                </a:lnTo>
                <a:lnTo>
                  <a:pt x="0" y="2204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2667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201255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7600" y="1024977"/>
            <a:ext cx="14020800" cy="691131"/>
          </a:xfrm>
          <a:prstGeom prst="rect">
            <a:avLst/>
          </a:prstGeom>
        </p:spPr>
        <p:txBody>
          <a:bodyPr vert="horz" wrap="square" lIns="0" tIns="196767" rIns="0" bIns="0" rtlCol="0" anchor="ctr">
            <a:spAutoFit/>
          </a:bodyPr>
          <a:lstStyle/>
          <a:p>
            <a:pPr marL="3597397">
              <a:lnSpc>
                <a:spcPct val="100000"/>
              </a:lnSpc>
            </a:pPr>
            <a:r>
              <a:rPr sz="3200" spc="-7" dirty="0"/>
              <a:t>Patterns in backward</a:t>
            </a:r>
            <a:r>
              <a:rPr sz="3200" spc="-13" dirty="0"/>
              <a:t> </a:t>
            </a:r>
            <a:r>
              <a:rPr sz="3200" spc="-7" dirty="0"/>
              <a:t>flow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4588934" y="1913467"/>
            <a:ext cx="6585910" cy="33085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54632" y="1505670"/>
            <a:ext cx="4402667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b="1" spc="-7" dirty="0">
                <a:latin typeface="Arial"/>
                <a:cs typeface="Arial"/>
              </a:rPr>
              <a:t>add </a:t>
            </a:r>
            <a:r>
              <a:rPr sz="2400" spc="-7" dirty="0">
                <a:latin typeface="Arial"/>
                <a:cs typeface="Arial"/>
              </a:rPr>
              <a:t>gate: gradient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distributor</a:t>
            </a:r>
            <a:endParaRPr sz="2400" dirty="0">
              <a:latin typeface="Arial"/>
              <a:cs typeface="Arial"/>
            </a:endParaRPr>
          </a:p>
          <a:p>
            <a:pPr marL="16933">
              <a:spcBef>
                <a:spcPts val="20"/>
              </a:spcBef>
            </a:pPr>
            <a:r>
              <a:rPr sz="2400" b="1" spc="-7" dirty="0">
                <a:latin typeface="Arial"/>
                <a:cs typeface="Arial"/>
              </a:rPr>
              <a:t>max </a:t>
            </a:r>
            <a:r>
              <a:rPr sz="2400" spc="-7" dirty="0">
                <a:latin typeface="Arial"/>
                <a:cs typeface="Arial"/>
              </a:rPr>
              <a:t>gate: gradient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router</a:t>
            </a:r>
            <a:endParaRPr sz="2400" dirty="0">
              <a:latin typeface="Arial"/>
              <a:cs typeface="Arial"/>
            </a:endParaRPr>
          </a:p>
          <a:p>
            <a:pPr marL="16933">
              <a:spcBef>
                <a:spcPts val="20"/>
              </a:spcBef>
            </a:pPr>
            <a:r>
              <a:rPr sz="2400" b="1" spc="-7" dirty="0">
                <a:latin typeface="Arial"/>
                <a:cs typeface="Arial"/>
              </a:rPr>
              <a:t>mul </a:t>
            </a:r>
            <a:r>
              <a:rPr sz="2400" spc="-7" dirty="0">
                <a:latin typeface="Arial"/>
                <a:cs typeface="Arial"/>
              </a:rPr>
              <a:t>gate: gradient…</a:t>
            </a:r>
            <a:r>
              <a:rPr sz="2400" spc="3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“switcher”?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209173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ChangeArrowheads="1"/>
          </p:cNvSpPr>
          <p:nvPr/>
        </p:nvSpPr>
        <p:spPr bwMode="auto">
          <a:xfrm>
            <a:off x="1981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FontTx/>
              <a:buNone/>
            </a:pPr>
            <a:r>
              <a:rPr lang="he-IL" altLang="en-US" sz="4000"/>
              <a:t>לימוד בשיטת </a:t>
            </a:r>
            <a:r>
              <a:rPr lang="en-US" altLang="en-US" sz="4000"/>
              <a:t>Back Propagation</a:t>
            </a:r>
            <a:r>
              <a:rPr lang="he-IL" altLang="en-US" sz="4000"/>
              <a:t> (1)</a:t>
            </a:r>
            <a:endParaRPr lang="en-US" altLang="en-US" sz="4000"/>
          </a:p>
        </p:txBody>
      </p:sp>
      <p:sp>
        <p:nvSpPr>
          <p:cNvPr id="77826" name="Rectangle 3"/>
          <p:cNvSpPr>
            <a:spLocks noChangeArrowheads="1"/>
          </p:cNvSpPr>
          <p:nvPr/>
        </p:nvSpPr>
        <p:spPr bwMode="auto">
          <a:xfrm>
            <a:off x="4876800" y="1981200"/>
            <a:ext cx="53340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/>
            <a:r>
              <a:rPr lang="he-IL" altLang="en-US"/>
              <a:t>זהו אלגוריתם הלימוד השימושי והידוע ביתר.</a:t>
            </a:r>
          </a:p>
          <a:p>
            <a:pPr algn="r" rtl="1" eaLnBrk="1" hangingPunct="1"/>
            <a:r>
              <a:rPr lang="he-IL" altLang="en-US"/>
              <a:t>מתבסס על רעיון ה- </a:t>
            </a:r>
            <a:r>
              <a:rPr lang="en-US" altLang="en-US"/>
              <a:t>gradient descent</a:t>
            </a:r>
            <a:r>
              <a:rPr lang="he-IL" altLang="en-US"/>
              <a:t>.</a:t>
            </a:r>
          </a:p>
          <a:p>
            <a:pPr algn="r" rtl="1" eaLnBrk="1" hangingPunct="1"/>
            <a:r>
              <a:rPr lang="he-IL" altLang="en-US"/>
              <a:t>ז"א הליכה בצעדים קטנים (</a:t>
            </a:r>
            <a:r>
              <a:rPr lang="en-US" altLang="en-US"/>
              <a:t>learning rate</a:t>
            </a:r>
            <a:r>
              <a:rPr lang="he-IL" altLang="en-US"/>
              <a:t>) בכיוון וקטור השיפוע. </a:t>
            </a:r>
          </a:p>
          <a:p>
            <a:pPr algn="r" rtl="1" eaLnBrk="1" hangingPunct="1"/>
            <a:endParaRPr lang="he-IL" altLang="en-US"/>
          </a:p>
        </p:txBody>
      </p:sp>
      <p:pic>
        <p:nvPicPr>
          <p:cNvPr id="77827" name="Picture 4" descr="err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90751"/>
            <a:ext cx="3429000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Line 9"/>
          <p:cNvSpPr>
            <a:spLocks noChangeShapeType="1"/>
          </p:cNvSpPr>
          <p:nvPr/>
        </p:nvSpPr>
        <p:spPr bwMode="auto">
          <a:xfrm flipH="1">
            <a:off x="3300414" y="3195638"/>
            <a:ext cx="476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94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ChangeArrowheads="1"/>
          </p:cNvSpPr>
          <p:nvPr/>
        </p:nvSpPr>
        <p:spPr bwMode="auto">
          <a:xfrm>
            <a:off x="1981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FontTx/>
              <a:buNone/>
            </a:pPr>
            <a:r>
              <a:rPr lang="he-IL" altLang="en-US" sz="4000"/>
              <a:t>לימוד בשיטת </a:t>
            </a:r>
            <a:r>
              <a:rPr lang="en-US" altLang="en-US" sz="4000"/>
              <a:t>Back Propagation</a:t>
            </a:r>
            <a:r>
              <a:rPr lang="he-IL" altLang="en-US" sz="4000"/>
              <a:t> (2)</a:t>
            </a:r>
            <a:endParaRPr lang="en-US" altLang="en-US" sz="4000"/>
          </a:p>
        </p:txBody>
      </p:sp>
      <p:sp>
        <p:nvSpPr>
          <p:cNvPr id="79874" name="Rectangle 3"/>
          <p:cNvSpPr>
            <a:spLocks noChangeArrowheads="1"/>
          </p:cNvSpPr>
          <p:nvPr/>
        </p:nvSpPr>
        <p:spPr bwMode="auto">
          <a:xfrm>
            <a:off x="4724400" y="1905000"/>
            <a:ext cx="5562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/>
            <a:r>
              <a:rPr lang="he-IL" altLang="en-US" sz="2800"/>
              <a:t>תהליך איטרטיבי: בכל איטרציה  כל אחת מדוגמיות הלימוד מועברת דרך הרשת ומחושב ההבדל בין הפלט הרצוי למצוי (הטעות).</a:t>
            </a:r>
            <a:endParaRPr lang="en-US" altLang="en-US" sz="2800"/>
          </a:p>
          <a:p>
            <a:pPr algn="r" rtl="1" eaLnBrk="1" hangingPunct="1"/>
            <a:r>
              <a:rPr lang="he-IL" altLang="en-US" sz="2800"/>
              <a:t>טעות זו יחד עם וקטור השיפוע של משטח הטעות משמשים לכוונון  המשקלות ע"פ </a:t>
            </a:r>
            <a:r>
              <a:rPr lang="en-US" altLang="en-US" sz="2800"/>
              <a:t>gradient descent</a:t>
            </a:r>
            <a:r>
              <a:rPr lang="he-IL" altLang="en-US" sz="2800"/>
              <a:t>.</a:t>
            </a:r>
          </a:p>
          <a:p>
            <a:pPr algn="r" rtl="1" eaLnBrk="1" hangingPunct="1"/>
            <a:r>
              <a:rPr lang="he-IL" altLang="en-US" sz="2800"/>
              <a:t>עדכון זה מתבצע החל משכבת הפלט לאחור.</a:t>
            </a:r>
            <a:endParaRPr lang="en-US" altLang="en-US" sz="2800"/>
          </a:p>
        </p:txBody>
      </p:sp>
      <p:pic>
        <p:nvPicPr>
          <p:cNvPr id="79875" name="Picture 4" descr="err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24001"/>
            <a:ext cx="3429000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6" name="Line 5"/>
          <p:cNvSpPr>
            <a:spLocks noChangeShapeType="1"/>
          </p:cNvSpPr>
          <p:nvPr/>
        </p:nvSpPr>
        <p:spPr bwMode="auto">
          <a:xfrm flipH="1">
            <a:off x="3309939" y="2514600"/>
            <a:ext cx="47625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9877" name="Object 10"/>
          <p:cNvGraphicFramePr>
            <a:graphicFrameLocks noChangeAspect="1"/>
          </p:cNvGraphicFramePr>
          <p:nvPr/>
        </p:nvGraphicFramePr>
        <p:xfrm>
          <a:off x="1828800" y="4343400"/>
          <a:ext cx="289560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Image" r:id="rId5" imgW="3670300" imgH="2755900" progId="Photoshop.Image.7">
                  <p:embed/>
                </p:oleObj>
              </mc:Choice>
              <mc:Fallback>
                <p:oleObj name="Image" r:id="rId5" imgW="3670300" imgH="2755900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343400"/>
                        <a:ext cx="2895600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37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260350"/>
            <a:ext cx="7772400" cy="1143000"/>
          </a:xfrm>
        </p:spPr>
        <p:txBody>
          <a:bodyPr/>
          <a:lstStyle/>
          <a:p>
            <a:pPr rtl="1" eaLnBrk="1" hangingPunct="1"/>
            <a:r>
              <a:rPr lang="he-IL" altLang="en-US"/>
              <a:t>המבנה המתמטי של </a:t>
            </a:r>
            <a:r>
              <a:rPr lang="en-US" altLang="en-US"/>
              <a:t>BP</a:t>
            </a:r>
          </a:p>
        </p:txBody>
      </p:sp>
      <p:pic>
        <p:nvPicPr>
          <p:cNvPr id="81922" name="Picture 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38" y="5013326"/>
            <a:ext cx="4089400" cy="154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6"/>
          <p:cNvSpPr>
            <a:spLocks noChangeArrowheads="1"/>
          </p:cNvSpPr>
          <p:nvPr/>
        </p:nvSpPr>
        <p:spPr bwMode="auto">
          <a:xfrm>
            <a:off x="10483270" y="31252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1924" name="Object 5"/>
          <p:cNvGraphicFramePr>
            <a:graphicFrameLocks noChangeAspect="1"/>
          </p:cNvGraphicFramePr>
          <p:nvPr/>
        </p:nvGraphicFramePr>
        <p:xfrm>
          <a:off x="7796214" y="1268414"/>
          <a:ext cx="2287587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9" name="משוואה" r:id="rId5" imgW="1308100" imgH="241300" progId="Equation.3">
                  <p:embed/>
                </p:oleObj>
              </mc:Choice>
              <mc:Fallback>
                <p:oleObj name="משוואה" r:id="rId5" imgW="13081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6214" y="1268414"/>
                        <a:ext cx="2287587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5" name="Rectangle 8"/>
          <p:cNvSpPr>
            <a:spLocks noChangeArrowheads="1"/>
          </p:cNvSpPr>
          <p:nvPr/>
        </p:nvSpPr>
        <p:spPr bwMode="auto">
          <a:xfrm>
            <a:off x="10483270" y="30681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1926" name="Object 7"/>
          <p:cNvGraphicFramePr>
            <a:graphicFrameLocks noChangeAspect="1"/>
          </p:cNvGraphicFramePr>
          <p:nvPr/>
        </p:nvGraphicFramePr>
        <p:xfrm>
          <a:off x="7751764" y="1989138"/>
          <a:ext cx="2160587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0" name="משוואה" r:id="rId7" imgW="1294838" imgH="355446" progId="Equation.3">
                  <p:embed/>
                </p:oleObj>
              </mc:Choice>
              <mc:Fallback>
                <p:oleObj name="משוואה" r:id="rId7" imgW="1294838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4" y="1989138"/>
                        <a:ext cx="2160587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Rectangle 10"/>
          <p:cNvSpPr>
            <a:spLocks noChangeArrowheads="1"/>
          </p:cNvSpPr>
          <p:nvPr/>
        </p:nvSpPr>
        <p:spPr bwMode="auto">
          <a:xfrm>
            <a:off x="10483270" y="3030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1928" name="Object 9"/>
          <p:cNvGraphicFramePr>
            <a:graphicFrameLocks noChangeAspect="1"/>
          </p:cNvGraphicFramePr>
          <p:nvPr/>
        </p:nvGraphicFramePr>
        <p:xfrm>
          <a:off x="7751764" y="2636838"/>
          <a:ext cx="16478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1" name="משוואה" r:id="rId9" imgW="1002865" imgH="431613" progId="Equation.3">
                  <p:embed/>
                </p:oleObj>
              </mc:Choice>
              <mc:Fallback>
                <p:oleObj name="משוואה" r:id="rId9" imgW="1002865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4" y="2636838"/>
                        <a:ext cx="164782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9" name="Rectangle 12"/>
          <p:cNvSpPr>
            <a:spLocks noChangeArrowheads="1"/>
          </p:cNvSpPr>
          <p:nvPr/>
        </p:nvSpPr>
        <p:spPr bwMode="auto">
          <a:xfrm>
            <a:off x="10483270" y="30300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sp>
        <p:nvSpPr>
          <p:cNvPr id="81930" name="Text Box 13"/>
          <p:cNvSpPr txBox="1">
            <a:spLocks noChangeArrowheads="1"/>
          </p:cNvSpPr>
          <p:nvPr/>
        </p:nvSpPr>
        <p:spPr bwMode="auto">
          <a:xfrm>
            <a:off x="6011863" y="1285876"/>
            <a:ext cx="16557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None/>
            </a:pPr>
            <a:r>
              <a:rPr lang="he-IL" altLang="en-US" sz="1800"/>
              <a:t>רצוי פחות מצוי</a:t>
            </a:r>
            <a:endParaRPr lang="en-US" altLang="en-US" sz="1800"/>
          </a:p>
        </p:txBody>
      </p:sp>
      <p:sp>
        <p:nvSpPr>
          <p:cNvPr id="81931" name="Text Box 14"/>
          <p:cNvSpPr txBox="1">
            <a:spLocks noChangeArrowheads="1"/>
          </p:cNvSpPr>
          <p:nvPr/>
        </p:nvSpPr>
        <p:spPr bwMode="auto">
          <a:xfrm>
            <a:off x="2763839" y="1989138"/>
            <a:ext cx="4916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האנרגיה של הטעות, כאשר </a:t>
            </a:r>
            <a:r>
              <a:rPr lang="en-US" altLang="en-US" sz="1800"/>
              <a:t>C</a:t>
            </a:r>
            <a:r>
              <a:rPr lang="he-IL" altLang="en-US" sz="1800"/>
              <a:t> הם הנוירונים ב</a:t>
            </a:r>
            <a:r>
              <a:rPr lang="en-US" altLang="en-US" sz="1800"/>
              <a:t>Output</a:t>
            </a:r>
          </a:p>
        </p:txBody>
      </p:sp>
      <p:sp>
        <p:nvSpPr>
          <p:cNvPr id="81932" name="Text Box 15"/>
          <p:cNvSpPr txBox="1">
            <a:spLocks noChangeArrowheads="1"/>
          </p:cNvSpPr>
          <p:nvPr/>
        </p:nvSpPr>
        <p:spPr bwMode="auto">
          <a:xfrm>
            <a:off x="2063751" y="2708275"/>
            <a:ext cx="5616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None/>
            </a:pPr>
            <a:r>
              <a:rPr lang="he-IL" altLang="en-US" sz="1800"/>
              <a:t>ממוצע תרומתו של כל נוירון לאנרגיה הכוללת של הטעות ,כאשר </a:t>
            </a:r>
            <a:r>
              <a:rPr lang="en-US" altLang="en-US" sz="1800"/>
              <a:t>N</a:t>
            </a:r>
            <a:r>
              <a:rPr lang="he-IL" altLang="en-US" sz="1800"/>
              <a:t> הוא מספר הנוירונים</a:t>
            </a:r>
            <a:endParaRPr lang="en-US" altLang="en-US" sz="1800"/>
          </a:p>
        </p:txBody>
      </p:sp>
      <p:sp>
        <p:nvSpPr>
          <p:cNvPr id="81933" name="Text Box 16"/>
          <p:cNvSpPr txBox="1">
            <a:spLocks noChangeArrowheads="1"/>
          </p:cNvSpPr>
          <p:nvPr/>
        </p:nvSpPr>
        <p:spPr bwMode="auto">
          <a:xfrm>
            <a:off x="2208214" y="3644901"/>
            <a:ext cx="7704137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None/>
            </a:pPr>
            <a:r>
              <a:rPr lang="he-IL" altLang="en-US" sz="1800"/>
              <a:t>אלגוריתם </a:t>
            </a:r>
            <a:r>
              <a:rPr lang="en-US" altLang="en-US" sz="1800"/>
              <a:t>BP</a:t>
            </a:r>
            <a:r>
              <a:rPr lang="he-IL" altLang="en-US" sz="1800"/>
              <a:t> מחבר\מחסר את                לכל משקולת            לפי החלק היחסי</a:t>
            </a:r>
          </a:p>
          <a:p>
            <a:pPr algn="r" rtl="1" eaLnBrk="1" hangingPunct="1">
              <a:spcBef>
                <a:spcPct val="50000"/>
              </a:spcBef>
              <a:buFontTx/>
              <a:buNone/>
            </a:pPr>
            <a:r>
              <a:rPr lang="he-IL" altLang="en-US" sz="1800"/>
              <a:t>של הנגזרת                             לפי</a:t>
            </a:r>
            <a:endParaRPr lang="en-US" altLang="en-US" sz="1800"/>
          </a:p>
        </p:txBody>
      </p:sp>
      <p:sp>
        <p:nvSpPr>
          <p:cNvPr id="81934" name="Rectangle 18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1935" name="Object 17"/>
          <p:cNvGraphicFramePr>
            <a:graphicFrameLocks noChangeAspect="1"/>
          </p:cNvGraphicFramePr>
          <p:nvPr/>
        </p:nvGraphicFramePr>
        <p:xfrm>
          <a:off x="6167439" y="3644900"/>
          <a:ext cx="9366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2" name="משוואה" r:id="rId11" imgW="520474" imgH="241195" progId="Equation.3">
                  <p:embed/>
                </p:oleObj>
              </mc:Choice>
              <mc:Fallback>
                <p:oleObj name="משוואה" r:id="rId11" imgW="520474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9" y="3644900"/>
                        <a:ext cx="9366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6" name="Rectangle 28"/>
          <p:cNvSpPr>
            <a:spLocks noChangeArrowheads="1"/>
          </p:cNvSpPr>
          <p:nvPr/>
        </p:nvSpPr>
        <p:spPr bwMode="auto">
          <a:xfrm>
            <a:off x="10483270" y="31252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1937" name="Object 27"/>
          <p:cNvGraphicFramePr>
            <a:graphicFrameLocks noChangeAspect="1"/>
          </p:cNvGraphicFramePr>
          <p:nvPr/>
        </p:nvGraphicFramePr>
        <p:xfrm>
          <a:off x="4310064" y="3644900"/>
          <a:ext cx="7207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3" name="משוואה" r:id="rId13" imgW="431613" imgH="241195" progId="Equation.3">
                  <p:embed/>
                </p:oleObj>
              </mc:Choice>
              <mc:Fallback>
                <p:oleObj name="משוואה" r:id="rId13" imgW="431613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064" y="3644900"/>
                        <a:ext cx="7207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8" name="Rectangle 30"/>
          <p:cNvSpPr>
            <a:spLocks noChangeArrowheads="1"/>
          </p:cNvSpPr>
          <p:nvPr/>
        </p:nvSpPr>
        <p:spPr bwMode="auto">
          <a:xfrm>
            <a:off x="10483270" y="31252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1939" name="Object 29"/>
          <p:cNvGraphicFramePr>
            <a:graphicFrameLocks noChangeAspect="1"/>
          </p:cNvGraphicFramePr>
          <p:nvPr/>
        </p:nvGraphicFramePr>
        <p:xfrm>
          <a:off x="7089775" y="4048125"/>
          <a:ext cx="17287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4" name="משוואה" r:id="rId15" imgW="927100" imgH="241300" progId="Equation.3">
                  <p:embed/>
                </p:oleObj>
              </mc:Choice>
              <mc:Fallback>
                <p:oleObj name="משוואה" r:id="rId15" imgW="9271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9775" y="4048125"/>
                        <a:ext cx="172878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40" name="Rectangle 32"/>
          <p:cNvSpPr>
            <a:spLocks noChangeArrowheads="1"/>
          </p:cNvSpPr>
          <p:nvPr/>
        </p:nvSpPr>
        <p:spPr bwMode="auto">
          <a:xfrm>
            <a:off x="10483270" y="30014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1941" name="Object 31"/>
          <p:cNvGraphicFramePr>
            <a:graphicFrameLocks noChangeAspect="1"/>
          </p:cNvGraphicFramePr>
          <p:nvPr/>
        </p:nvGraphicFramePr>
        <p:xfrm>
          <a:off x="2638426" y="4005264"/>
          <a:ext cx="38893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5" name="משוואה" r:id="rId17" imgW="2692400" imgH="482600" progId="Equation.3">
                  <p:embed/>
                </p:oleObj>
              </mc:Choice>
              <mc:Fallback>
                <p:oleObj name="משוואה" r:id="rId17" imgW="26924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6" y="4005264"/>
                        <a:ext cx="388937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42" name="Picture 25" descr="figure1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8" y="4814889"/>
            <a:ext cx="2005012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306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6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989139"/>
            <a:ext cx="7319963" cy="487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0" name="Picture 2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026" y="863600"/>
            <a:ext cx="248602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-100013"/>
            <a:ext cx="7772400" cy="1143001"/>
          </a:xfrm>
        </p:spPr>
        <p:txBody>
          <a:bodyPr/>
          <a:lstStyle/>
          <a:p>
            <a:pPr eaLnBrk="1" hangingPunct="1"/>
            <a:r>
              <a:rPr lang="he-IL" altLang="en-US"/>
              <a:t>מבנה מתמטי</a:t>
            </a:r>
            <a:endParaRPr lang="en-US" altLang="en-US"/>
          </a:p>
        </p:txBody>
      </p:sp>
      <p:sp>
        <p:nvSpPr>
          <p:cNvPr id="83972" name="Rectangle 6"/>
          <p:cNvSpPr>
            <a:spLocks noChangeArrowheads="1"/>
          </p:cNvSpPr>
          <p:nvPr/>
        </p:nvSpPr>
        <p:spPr bwMode="auto">
          <a:xfrm>
            <a:off x="10483270" y="30204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4800601" y="4278313"/>
          <a:ext cx="1439863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8" name="משוואה" r:id="rId6" imgW="875920" imgH="444307" progId="Equation.3">
                  <p:embed/>
                </p:oleObj>
              </mc:Choice>
              <mc:Fallback>
                <p:oleObj name="משוואה" r:id="rId6" imgW="875920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1" y="4278313"/>
                        <a:ext cx="1439863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4" name="Rectangle 8"/>
          <p:cNvSpPr>
            <a:spLocks noChangeArrowheads="1"/>
          </p:cNvSpPr>
          <p:nvPr/>
        </p:nvSpPr>
        <p:spPr bwMode="auto">
          <a:xfrm>
            <a:off x="10483270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3975" name="Object 7"/>
          <p:cNvGraphicFramePr>
            <a:graphicFrameLocks noChangeAspect="1"/>
          </p:cNvGraphicFramePr>
          <p:nvPr/>
        </p:nvGraphicFramePr>
        <p:xfrm>
          <a:off x="6589714" y="4437064"/>
          <a:ext cx="1450975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9" name="משוואה" r:id="rId8" imgW="1016000" imgH="228600" progId="Equation.3">
                  <p:embed/>
                </p:oleObj>
              </mc:Choice>
              <mc:Fallback>
                <p:oleObj name="משוואה" r:id="rId8" imgW="1016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9714" y="4437064"/>
                        <a:ext cx="1450975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6" name="Rectangle 10"/>
          <p:cNvSpPr>
            <a:spLocks noChangeArrowheads="1"/>
          </p:cNvSpPr>
          <p:nvPr/>
        </p:nvSpPr>
        <p:spPr bwMode="auto">
          <a:xfrm>
            <a:off x="10483270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3977" name="Object 9"/>
          <p:cNvGraphicFramePr>
            <a:graphicFrameLocks noChangeAspect="1"/>
          </p:cNvGraphicFramePr>
          <p:nvPr/>
        </p:nvGraphicFramePr>
        <p:xfrm>
          <a:off x="6888163" y="4797425"/>
          <a:ext cx="762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0" name="משוואה" r:id="rId10" imgW="761669" imgH="228501" progId="Equation.3">
                  <p:embed/>
                </p:oleObj>
              </mc:Choice>
              <mc:Fallback>
                <p:oleObj name="משוואה" r:id="rId10" imgW="761669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4797425"/>
                        <a:ext cx="7620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8" name="Rectangle 14"/>
          <p:cNvSpPr>
            <a:spLocks noChangeArrowheads="1"/>
          </p:cNvSpPr>
          <p:nvPr/>
        </p:nvSpPr>
        <p:spPr bwMode="auto">
          <a:xfrm>
            <a:off x="10483270" y="30347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3979" name="Object 13"/>
          <p:cNvGraphicFramePr>
            <a:graphicFrameLocks noChangeAspect="1"/>
          </p:cNvGraphicFramePr>
          <p:nvPr/>
        </p:nvGraphicFramePr>
        <p:xfrm>
          <a:off x="6651626" y="2146300"/>
          <a:ext cx="11652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1" name="Equation" r:id="rId12" imgW="1168400" imgH="419100" progId="Equation.3">
                  <p:embed/>
                </p:oleObj>
              </mc:Choice>
              <mc:Fallback>
                <p:oleObj name="Equation" r:id="rId12" imgW="11684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6" y="2146300"/>
                        <a:ext cx="11652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0" name="Rectangle 15"/>
          <p:cNvSpPr>
            <a:spLocks noChangeArrowheads="1"/>
          </p:cNvSpPr>
          <p:nvPr/>
        </p:nvSpPr>
        <p:spPr bwMode="auto">
          <a:xfrm>
            <a:off x="10483270" y="319816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2400"/>
          </a:p>
        </p:txBody>
      </p:sp>
      <p:pic>
        <p:nvPicPr>
          <p:cNvPr id="83981" name="Picture 1" descr="http://upload.wikimedia.org/wikipedia/commons/thumb/e/e4/Artificial_neural_network.svg/350px-Artificial_neural_network.svg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163" y="4872038"/>
            <a:ext cx="2220912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82" name="Oval 23"/>
          <p:cNvSpPr>
            <a:spLocks noChangeArrowheads="1"/>
          </p:cNvSpPr>
          <p:nvPr/>
        </p:nvSpPr>
        <p:spPr bwMode="auto">
          <a:xfrm>
            <a:off x="9155114" y="4919664"/>
            <a:ext cx="719137" cy="7191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sp>
        <p:nvSpPr>
          <p:cNvPr id="83983" name="Line 24"/>
          <p:cNvSpPr>
            <a:spLocks noChangeShapeType="1"/>
          </p:cNvSpPr>
          <p:nvPr/>
        </p:nvSpPr>
        <p:spPr bwMode="auto">
          <a:xfrm flipH="1" flipV="1">
            <a:off x="8543925" y="4652963"/>
            <a:ext cx="6477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1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17" name="Object 4"/>
          <p:cNvGraphicFramePr>
            <a:graphicFrameLocks noChangeAspect="1"/>
          </p:cNvGraphicFramePr>
          <p:nvPr/>
        </p:nvGraphicFramePr>
        <p:xfrm>
          <a:off x="3992564" y="357189"/>
          <a:ext cx="388937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7" name="משוואה" r:id="rId4" imgW="2692400" imgH="482600" progId="Equation.3">
                  <p:embed/>
                </p:oleObj>
              </mc:Choice>
              <mc:Fallback>
                <p:oleObj name="משוואה" r:id="rId4" imgW="26924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564" y="357189"/>
                        <a:ext cx="388937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18" name="TextBox 4"/>
          <p:cNvSpPr txBox="1">
            <a:spLocks noChangeArrowheads="1"/>
          </p:cNvSpPr>
          <p:nvPr/>
        </p:nvSpPr>
        <p:spPr bwMode="auto">
          <a:xfrm>
            <a:off x="6524626" y="571500"/>
            <a:ext cx="300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נגזרת מורכבת:</a:t>
            </a:r>
            <a:endParaRPr lang="en-US" altLang="en-US" sz="1800"/>
          </a:p>
        </p:txBody>
      </p:sp>
      <p:sp>
        <p:nvSpPr>
          <p:cNvPr id="86019" name="Rectangle 6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6020" name="Object 5"/>
          <p:cNvGraphicFramePr>
            <a:graphicFrameLocks noChangeAspect="1"/>
          </p:cNvGraphicFramePr>
          <p:nvPr/>
        </p:nvGraphicFramePr>
        <p:xfrm>
          <a:off x="2024064" y="1714500"/>
          <a:ext cx="13684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8" name="Equation" r:id="rId6" imgW="952087" imgH="444307" progId="Equation.3">
                  <p:embed/>
                </p:oleObj>
              </mc:Choice>
              <mc:Fallback>
                <p:oleObj name="Equation" r:id="rId6" imgW="952087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4" y="1714500"/>
                        <a:ext cx="13684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6021" name="Straight Arrow Connector 8"/>
          <p:cNvCxnSpPr>
            <a:cxnSpLocks noChangeShapeType="1"/>
          </p:cNvCxnSpPr>
          <p:nvPr/>
        </p:nvCxnSpPr>
        <p:spPr bwMode="auto">
          <a:xfrm rot="10800000" flipV="1">
            <a:off x="3024189" y="1143000"/>
            <a:ext cx="2071687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22" name="Rectangle 8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6023" name="Object 9"/>
          <p:cNvGraphicFramePr>
            <a:graphicFrameLocks noChangeAspect="1"/>
          </p:cNvGraphicFramePr>
          <p:nvPr/>
        </p:nvGraphicFramePr>
        <p:xfrm>
          <a:off x="1595438" y="2362201"/>
          <a:ext cx="12954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9" name="Equation" r:id="rId8" imgW="1294838" imgH="355446" progId="Equation.3">
                  <p:embed/>
                </p:oleObj>
              </mc:Choice>
              <mc:Fallback>
                <p:oleObj name="Equation" r:id="rId8" imgW="1294838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2362201"/>
                        <a:ext cx="12954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4" name="TextBox 14"/>
          <p:cNvSpPr txBox="1">
            <a:spLocks noChangeArrowheads="1"/>
          </p:cNvSpPr>
          <p:nvPr/>
        </p:nvSpPr>
        <p:spPr bwMode="auto">
          <a:xfrm>
            <a:off x="2809875" y="2290764"/>
            <a:ext cx="1214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*נגזרת של:</a:t>
            </a:r>
            <a:endParaRPr lang="en-US" altLang="en-US" sz="1800"/>
          </a:p>
        </p:txBody>
      </p:sp>
      <p:sp>
        <p:nvSpPr>
          <p:cNvPr id="86025" name="Rectangle 11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6026" name="Object 10"/>
          <p:cNvGraphicFramePr>
            <a:graphicFrameLocks noChangeAspect="1"/>
          </p:cNvGraphicFramePr>
          <p:nvPr/>
        </p:nvGraphicFramePr>
        <p:xfrm>
          <a:off x="4595814" y="2266950"/>
          <a:ext cx="10001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0" name="Equation" r:id="rId10" imgW="787400" imgH="469900" progId="Equation.3">
                  <p:embed/>
                </p:oleObj>
              </mc:Choice>
              <mc:Fallback>
                <p:oleObj name="Equation" r:id="rId10" imgW="787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814" y="2266950"/>
                        <a:ext cx="100012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7" name="TextBox 19"/>
          <p:cNvSpPr txBox="1">
            <a:spLocks noChangeArrowheads="1"/>
          </p:cNvSpPr>
          <p:nvPr/>
        </p:nvSpPr>
        <p:spPr bwMode="auto">
          <a:xfrm>
            <a:off x="5167314" y="2773364"/>
            <a:ext cx="12144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*נגזרת של:</a:t>
            </a:r>
            <a:endParaRPr lang="en-US" altLang="en-US" sz="1800"/>
          </a:p>
        </p:txBody>
      </p:sp>
      <p:cxnSp>
        <p:nvCxnSpPr>
          <p:cNvPr id="86028" name="Straight Arrow Connector 21"/>
          <p:cNvCxnSpPr>
            <a:cxnSpLocks noChangeShapeType="1"/>
          </p:cNvCxnSpPr>
          <p:nvPr/>
        </p:nvCxnSpPr>
        <p:spPr bwMode="auto">
          <a:xfrm rot="5400000">
            <a:off x="4953001" y="1214439"/>
            <a:ext cx="1000125" cy="714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29" name="Rectangle 14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6030" name="Object 13"/>
          <p:cNvGraphicFramePr>
            <a:graphicFrameLocks noChangeAspect="1"/>
          </p:cNvGraphicFramePr>
          <p:nvPr/>
        </p:nvGraphicFramePr>
        <p:xfrm>
          <a:off x="3595689" y="2844800"/>
          <a:ext cx="16351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1" name="Equation" r:id="rId12" imgW="1358310" imgH="241195" progId="Equation.3">
                  <p:embed/>
                </p:oleObj>
              </mc:Choice>
              <mc:Fallback>
                <p:oleObj name="Equation" r:id="rId12" imgW="135831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689" y="2844800"/>
                        <a:ext cx="1635125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31" name="Rectangle 16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6032" name="Object 15"/>
          <p:cNvGraphicFramePr>
            <a:graphicFrameLocks noChangeAspect="1"/>
          </p:cNvGraphicFramePr>
          <p:nvPr/>
        </p:nvGraphicFramePr>
        <p:xfrm>
          <a:off x="6372226" y="1428750"/>
          <a:ext cx="1795463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2" name="Equation" r:id="rId14" imgW="1269449" imgH="469696" progId="Equation.3">
                  <p:embed/>
                </p:oleObj>
              </mc:Choice>
              <mc:Fallback>
                <p:oleObj name="Equation" r:id="rId14" imgW="1269449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6" y="1428750"/>
                        <a:ext cx="1795463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6033" name="Straight Arrow Connector 28"/>
          <p:cNvCxnSpPr>
            <a:cxnSpLocks noChangeShapeType="1"/>
          </p:cNvCxnSpPr>
          <p:nvPr/>
        </p:nvCxnSpPr>
        <p:spPr bwMode="auto">
          <a:xfrm rot="16200000" flipH="1">
            <a:off x="6738938" y="1143001"/>
            <a:ext cx="285750" cy="142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34" name="TextBox 29"/>
          <p:cNvSpPr txBox="1">
            <a:spLocks noChangeArrowheads="1"/>
          </p:cNvSpPr>
          <p:nvPr/>
        </p:nvSpPr>
        <p:spPr bwMode="auto">
          <a:xfrm>
            <a:off x="7381875" y="1987550"/>
            <a:ext cx="12144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*נגזרת של:</a:t>
            </a:r>
            <a:endParaRPr lang="en-US" altLang="en-US" sz="1800"/>
          </a:p>
        </p:txBody>
      </p:sp>
      <p:sp>
        <p:nvSpPr>
          <p:cNvPr id="86035" name="Rectangle 19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6036" name="Object 18"/>
          <p:cNvGraphicFramePr>
            <a:graphicFrameLocks noChangeAspect="1"/>
          </p:cNvGraphicFramePr>
          <p:nvPr/>
        </p:nvGraphicFramePr>
        <p:xfrm>
          <a:off x="6024564" y="2041526"/>
          <a:ext cx="15001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3" name="Equation" r:id="rId16" imgW="1129810" imgH="241195" progId="Equation.3">
                  <p:embed/>
                </p:oleObj>
              </mc:Choice>
              <mc:Fallback>
                <p:oleObj name="Equation" r:id="rId16" imgW="112981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2041526"/>
                        <a:ext cx="1500187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6037" name="Picture 5" descr="http://sund.de/netze/applets/BPN/bpn2/neuron.gif"/>
          <p:cNvPicPr>
            <a:picLocks noChangeAspect="1" noChangeArrowheads="1"/>
          </p:cNvPicPr>
          <p:nvPr/>
        </p:nvPicPr>
        <p:blipFill>
          <a:blip r:embed="rId18" r:link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325" y="5340351"/>
            <a:ext cx="4114800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38" name="Rectangle 21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6039" name="Object 20"/>
          <p:cNvGraphicFramePr>
            <a:graphicFrameLocks noChangeAspect="1"/>
          </p:cNvGraphicFramePr>
          <p:nvPr/>
        </p:nvGraphicFramePr>
        <p:xfrm>
          <a:off x="8810626" y="2071688"/>
          <a:ext cx="12239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4" name="Equation" r:id="rId20" imgW="1002865" imgH="469696" progId="Equation.3">
                  <p:embed/>
                </p:oleObj>
              </mc:Choice>
              <mc:Fallback>
                <p:oleObj name="Equation" r:id="rId20" imgW="1002865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26" y="2071688"/>
                        <a:ext cx="12239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6040" name="Straight Arrow Connector 37"/>
          <p:cNvCxnSpPr>
            <a:cxnSpLocks noChangeShapeType="1"/>
          </p:cNvCxnSpPr>
          <p:nvPr/>
        </p:nvCxnSpPr>
        <p:spPr bwMode="auto">
          <a:xfrm>
            <a:off x="7810501" y="1071564"/>
            <a:ext cx="1357313" cy="9286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41" name="TextBox 38"/>
          <p:cNvSpPr txBox="1">
            <a:spLocks noChangeArrowheads="1"/>
          </p:cNvSpPr>
          <p:nvPr/>
        </p:nvSpPr>
        <p:spPr bwMode="auto">
          <a:xfrm>
            <a:off x="9525000" y="2643189"/>
            <a:ext cx="12144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*נגזרת של:</a:t>
            </a:r>
            <a:endParaRPr lang="en-US" altLang="en-US" sz="1800"/>
          </a:p>
        </p:txBody>
      </p:sp>
      <p:sp>
        <p:nvSpPr>
          <p:cNvPr id="86042" name="Rectangle 24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6043" name="Object 23"/>
          <p:cNvGraphicFramePr>
            <a:graphicFrameLocks noChangeAspect="1"/>
          </p:cNvGraphicFramePr>
          <p:nvPr/>
        </p:nvGraphicFramePr>
        <p:xfrm>
          <a:off x="7758113" y="2552700"/>
          <a:ext cx="1892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5" name="Equation" r:id="rId22" imgW="1422400" imgH="431800" progId="Equation.3">
                  <p:embed/>
                </p:oleObj>
              </mc:Choice>
              <mc:Fallback>
                <p:oleObj name="Equation" r:id="rId22" imgW="14224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8113" y="2552700"/>
                        <a:ext cx="18923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44" name="Rectangle 26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6045" name="Object 25"/>
          <p:cNvGraphicFramePr>
            <a:graphicFrameLocks noChangeAspect="1"/>
          </p:cNvGraphicFramePr>
          <p:nvPr/>
        </p:nvGraphicFramePr>
        <p:xfrm>
          <a:off x="4810126" y="3643314"/>
          <a:ext cx="32226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6" name="Equation" r:id="rId24" imgW="2019300" imgH="444500" progId="Equation.3">
                  <p:embed/>
                </p:oleObj>
              </mc:Choice>
              <mc:Fallback>
                <p:oleObj name="Equation" r:id="rId24" imgW="2019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6" y="3643314"/>
                        <a:ext cx="32226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46" name="Oval 23"/>
          <p:cNvSpPr>
            <a:spLocks noChangeArrowheads="1"/>
          </p:cNvSpPr>
          <p:nvPr/>
        </p:nvSpPr>
        <p:spPr bwMode="auto">
          <a:xfrm>
            <a:off x="2738439" y="1643064"/>
            <a:ext cx="719137" cy="7191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sp>
        <p:nvSpPr>
          <p:cNvPr id="86047" name="Oval 23"/>
          <p:cNvSpPr>
            <a:spLocks noChangeArrowheads="1"/>
          </p:cNvSpPr>
          <p:nvPr/>
        </p:nvSpPr>
        <p:spPr bwMode="auto">
          <a:xfrm>
            <a:off x="5095875" y="2214564"/>
            <a:ext cx="719138" cy="7191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sp>
        <p:nvSpPr>
          <p:cNvPr id="86048" name="Oval 23"/>
          <p:cNvSpPr>
            <a:spLocks noChangeArrowheads="1"/>
          </p:cNvSpPr>
          <p:nvPr/>
        </p:nvSpPr>
        <p:spPr bwMode="auto">
          <a:xfrm>
            <a:off x="7167563" y="1214438"/>
            <a:ext cx="1071562" cy="10715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sp>
        <p:nvSpPr>
          <p:cNvPr id="86049" name="Oval 23"/>
          <p:cNvSpPr>
            <a:spLocks noChangeArrowheads="1"/>
          </p:cNvSpPr>
          <p:nvPr/>
        </p:nvSpPr>
        <p:spPr bwMode="auto">
          <a:xfrm>
            <a:off x="9453564" y="1995489"/>
            <a:ext cx="719137" cy="71913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cxnSp>
        <p:nvCxnSpPr>
          <p:cNvPr id="86050" name="Shape 49"/>
          <p:cNvCxnSpPr>
            <a:cxnSpLocks noChangeShapeType="1"/>
            <a:stCxn id="86046" idx="6"/>
          </p:cNvCxnSpPr>
          <p:nvPr/>
        </p:nvCxnSpPr>
        <p:spPr bwMode="auto">
          <a:xfrm>
            <a:off x="3457575" y="2001839"/>
            <a:ext cx="2781300" cy="1855787"/>
          </a:xfrm>
          <a:prstGeom prst="curvedConnector3">
            <a:avLst>
              <a:gd name="adj1" fmla="val -5926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51" name="Curved Connector 55"/>
          <p:cNvCxnSpPr>
            <a:cxnSpLocks noChangeShapeType="1"/>
            <a:stCxn id="86047" idx="4"/>
          </p:cNvCxnSpPr>
          <p:nvPr/>
        </p:nvCxnSpPr>
        <p:spPr bwMode="auto">
          <a:xfrm rot="16200000" flipH="1">
            <a:off x="5206207" y="3182145"/>
            <a:ext cx="995363" cy="4984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52" name="Curved Connector 58"/>
          <p:cNvCxnSpPr>
            <a:cxnSpLocks noChangeShapeType="1"/>
            <a:stCxn id="86048" idx="4"/>
          </p:cNvCxnSpPr>
          <p:nvPr/>
        </p:nvCxnSpPr>
        <p:spPr bwMode="auto">
          <a:xfrm rot="5400000">
            <a:off x="6542882" y="2624932"/>
            <a:ext cx="1500188" cy="8223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053" name="Shape 60"/>
          <p:cNvCxnSpPr>
            <a:cxnSpLocks noChangeShapeType="1"/>
            <a:stCxn id="86049" idx="4"/>
          </p:cNvCxnSpPr>
          <p:nvPr/>
        </p:nvCxnSpPr>
        <p:spPr bwMode="auto">
          <a:xfrm rot="5400000">
            <a:off x="8312150" y="2427288"/>
            <a:ext cx="1214438" cy="1789112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054" name="Rectangle 28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6055" name="Object 27"/>
          <p:cNvGraphicFramePr>
            <a:graphicFrameLocks noChangeAspect="1"/>
          </p:cNvGraphicFramePr>
          <p:nvPr/>
        </p:nvGraphicFramePr>
        <p:xfrm>
          <a:off x="4024314" y="4357688"/>
          <a:ext cx="235743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7" name="Equation" r:id="rId26" imgW="1345616" imgH="444307" progId="Equation.3">
                  <p:embed/>
                </p:oleObj>
              </mc:Choice>
              <mc:Fallback>
                <p:oleObj name="Equation" r:id="rId26" imgW="1345616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314" y="4357688"/>
                        <a:ext cx="2357437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56" name="TextBox 63"/>
          <p:cNvSpPr txBox="1">
            <a:spLocks noChangeArrowheads="1"/>
          </p:cNvSpPr>
          <p:nvPr/>
        </p:nvSpPr>
        <p:spPr bwMode="auto">
          <a:xfrm>
            <a:off x="2667000" y="5286375"/>
            <a:ext cx="2286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קבוע הלימוד – נקבע בתחילת תהליך הלמידה , קבוע לכל הנוירונים. (סקלאר)</a:t>
            </a:r>
            <a:endParaRPr lang="en-US" altLang="en-US" sz="1800"/>
          </a:p>
        </p:txBody>
      </p:sp>
      <p:sp>
        <p:nvSpPr>
          <p:cNvPr id="86057" name="Oval 23"/>
          <p:cNvSpPr>
            <a:spLocks noChangeArrowheads="1"/>
          </p:cNvSpPr>
          <p:nvPr/>
        </p:nvSpPr>
        <p:spPr bwMode="auto">
          <a:xfrm>
            <a:off x="2667000" y="5138739"/>
            <a:ext cx="2571750" cy="15763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cxnSp>
        <p:nvCxnSpPr>
          <p:cNvPr id="86058" name="Straight Arrow Connector 68"/>
          <p:cNvCxnSpPr>
            <a:cxnSpLocks noChangeShapeType="1"/>
            <a:endCxn id="86057" idx="7"/>
          </p:cNvCxnSpPr>
          <p:nvPr/>
        </p:nvCxnSpPr>
        <p:spPr bwMode="auto">
          <a:xfrm rot="5400000">
            <a:off x="4830764" y="4889501"/>
            <a:ext cx="511175" cy="4476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10409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8066" name="Object 1"/>
          <p:cNvGraphicFramePr>
            <a:graphicFrameLocks noChangeAspect="1"/>
          </p:cNvGraphicFramePr>
          <p:nvPr/>
        </p:nvGraphicFramePr>
        <p:xfrm>
          <a:off x="6953251" y="214314"/>
          <a:ext cx="1928813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3" name="Equation" r:id="rId4" imgW="1345616" imgH="444307" progId="Equation.3">
                  <p:embed/>
                </p:oleObj>
              </mc:Choice>
              <mc:Fallback>
                <p:oleObj name="Equation" r:id="rId4" imgW="1345616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1" y="214314"/>
                        <a:ext cx="1928813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7" name="Rectangle 4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8068" name="Object 3"/>
          <p:cNvGraphicFramePr>
            <a:graphicFrameLocks noChangeAspect="1"/>
          </p:cNvGraphicFramePr>
          <p:nvPr/>
        </p:nvGraphicFramePr>
        <p:xfrm>
          <a:off x="2952751" y="285751"/>
          <a:ext cx="30400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4" name="Equation" r:id="rId6" imgW="1447800" imgH="241300" progId="Equation.3">
                  <p:embed/>
                </p:oleObj>
              </mc:Choice>
              <mc:Fallback>
                <p:oleObj name="Equation" r:id="rId6" imgW="14478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1" y="285751"/>
                        <a:ext cx="304006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8069" name="Straight Arrow Connector 8"/>
          <p:cNvCxnSpPr>
            <a:cxnSpLocks noChangeShapeType="1"/>
          </p:cNvCxnSpPr>
          <p:nvPr/>
        </p:nvCxnSpPr>
        <p:spPr bwMode="auto">
          <a:xfrm>
            <a:off x="6238875" y="500064"/>
            <a:ext cx="571500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8070" name="Picture 6" descr="http://www.cirrillian.com/images/network.gi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4" y="4114801"/>
            <a:ext cx="282892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1" name="Rectangle 8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8072" name="Object 7"/>
          <p:cNvGraphicFramePr>
            <a:graphicFrameLocks noChangeAspect="1"/>
          </p:cNvGraphicFramePr>
          <p:nvPr/>
        </p:nvGraphicFramePr>
        <p:xfrm>
          <a:off x="9339263" y="1285876"/>
          <a:ext cx="6858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5" name="Equation" r:id="rId9" imgW="380835" imgH="241195" progId="Equation.3">
                  <p:embed/>
                </p:oleObj>
              </mc:Choice>
              <mc:Fallback>
                <p:oleObj name="Equation" r:id="rId9" imgW="380835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9263" y="1285876"/>
                        <a:ext cx="6858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3" name="TextBox 12"/>
          <p:cNvSpPr txBox="1">
            <a:spLocks noChangeArrowheads="1"/>
          </p:cNvSpPr>
          <p:nvPr/>
        </p:nvSpPr>
        <p:spPr bwMode="auto">
          <a:xfrm>
            <a:off x="6596063" y="1273175"/>
            <a:ext cx="2786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הוא הגרדיאנט.</a:t>
            </a:r>
            <a:endParaRPr lang="en-US" altLang="en-US" sz="1800"/>
          </a:p>
        </p:txBody>
      </p:sp>
      <p:sp>
        <p:nvSpPr>
          <p:cNvPr id="88074" name="TextBox 13"/>
          <p:cNvSpPr txBox="1">
            <a:spLocks noChangeArrowheads="1"/>
          </p:cNvSpPr>
          <p:nvPr/>
        </p:nvSpPr>
        <p:spPr bwMode="auto">
          <a:xfrm>
            <a:off x="1524000" y="1928814"/>
            <a:ext cx="85725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נבדיל בין 2 מקרים :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כאשר          מחושב על נוירון שנמצא ב</a:t>
            </a:r>
            <a:r>
              <a:rPr lang="en-US" altLang="en-US" sz="1800"/>
              <a:t>Output</a:t>
            </a:r>
            <a:r>
              <a:rPr lang="he-IL" altLang="en-US" sz="1800"/>
              <a:t> ואז הוא תלוי בנגזרת                והטעות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כאשר          מחושב על נוירון שנמצא בשכבות הפנימיות של הרשת ואז הוא תלוי בנגזרת                ובסכום הטעויות שחושבו לפניו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  <a:p>
            <a:pPr algn="r" rtl="1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8075" name="Rectangle 10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8076" name="Object 9"/>
          <p:cNvGraphicFramePr>
            <a:graphicFrameLocks noChangeAspect="1"/>
          </p:cNvGraphicFramePr>
          <p:nvPr/>
        </p:nvGraphicFramePr>
        <p:xfrm>
          <a:off x="8901113" y="2243139"/>
          <a:ext cx="5715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6" name="Equation" r:id="rId11" imgW="380835" imgH="241195" progId="Equation.3">
                  <p:embed/>
                </p:oleObj>
              </mc:Choice>
              <mc:Fallback>
                <p:oleObj name="Equation" r:id="rId11" imgW="380835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1113" y="2243139"/>
                        <a:ext cx="5715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7" name="Object 11"/>
          <p:cNvGraphicFramePr>
            <a:graphicFrameLocks noChangeAspect="1"/>
          </p:cNvGraphicFramePr>
          <p:nvPr/>
        </p:nvGraphicFramePr>
        <p:xfrm>
          <a:off x="8924925" y="2519364"/>
          <a:ext cx="5715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7" name="Equation" r:id="rId12" imgW="380835" imgH="241195" progId="Equation.3">
                  <p:embed/>
                </p:oleObj>
              </mc:Choice>
              <mc:Fallback>
                <p:oleObj name="Equation" r:id="rId12" imgW="380835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4925" y="2519364"/>
                        <a:ext cx="5715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8" name="Rectangle 17"/>
          <p:cNvSpPr>
            <a:spLocks noChangeArrowheads="1"/>
          </p:cNvSpPr>
          <p:nvPr/>
        </p:nvSpPr>
        <p:spPr bwMode="auto">
          <a:xfrm>
            <a:off x="3159126" y="2200275"/>
            <a:ext cx="1008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f</a:t>
            </a:r>
            <a:r>
              <a:rPr lang="en-US" altLang="en-US" sz="1800" baseline="30000"/>
              <a:t>’</a:t>
            </a:r>
            <a:r>
              <a:rPr lang="en-US" altLang="en-US" sz="1800" baseline="-25000"/>
              <a:t>j</a:t>
            </a:r>
            <a:r>
              <a:rPr lang="en-US" altLang="en-US" sz="1800"/>
              <a:t>(v</a:t>
            </a:r>
            <a:r>
              <a:rPr lang="en-US" altLang="en-US" sz="1800" baseline="-25000"/>
              <a:t>j</a:t>
            </a:r>
            <a:r>
              <a:rPr lang="en-US" altLang="en-US" sz="1800"/>
              <a:t>(n)) </a:t>
            </a:r>
          </a:p>
        </p:txBody>
      </p:sp>
      <p:sp>
        <p:nvSpPr>
          <p:cNvPr id="88079" name="Rectangle 18"/>
          <p:cNvSpPr>
            <a:spLocks noChangeArrowheads="1"/>
          </p:cNvSpPr>
          <p:nvPr/>
        </p:nvSpPr>
        <p:spPr bwMode="auto">
          <a:xfrm>
            <a:off x="1809751" y="2201864"/>
            <a:ext cx="600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e</a:t>
            </a:r>
            <a:r>
              <a:rPr lang="en-US" altLang="en-US" sz="1800" baseline="-25000"/>
              <a:t>j</a:t>
            </a:r>
            <a:r>
              <a:rPr lang="en-US" altLang="en-US" sz="1800"/>
              <a:t>(n)</a:t>
            </a:r>
          </a:p>
        </p:txBody>
      </p:sp>
      <p:sp>
        <p:nvSpPr>
          <p:cNvPr id="88080" name="Rectangle 13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8081" name="Object 12"/>
          <p:cNvGraphicFramePr>
            <a:graphicFrameLocks noChangeAspect="1"/>
          </p:cNvGraphicFramePr>
          <p:nvPr/>
        </p:nvGraphicFramePr>
        <p:xfrm>
          <a:off x="4279900" y="2786063"/>
          <a:ext cx="295910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8" name="Equation" r:id="rId13" imgW="2032000" imgH="342900" progId="Equation.3">
                  <p:embed/>
                </p:oleObj>
              </mc:Choice>
              <mc:Fallback>
                <p:oleObj name="Equation" r:id="rId13" imgW="20320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2786063"/>
                        <a:ext cx="2959100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2" name="Rectangle 15"/>
          <p:cNvSpPr>
            <a:spLocks noChangeArrowheads="1"/>
          </p:cNvSpPr>
          <p:nvPr/>
        </p:nvSpPr>
        <p:spPr bwMode="auto">
          <a:xfrm>
            <a:off x="10483270" y="43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88083" name="Object 14"/>
          <p:cNvGraphicFramePr>
            <a:graphicFrameLocks noChangeAspect="1"/>
          </p:cNvGraphicFramePr>
          <p:nvPr/>
        </p:nvGraphicFramePr>
        <p:xfrm>
          <a:off x="5141914" y="4572001"/>
          <a:ext cx="474027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9" name="Equation" r:id="rId15" imgW="3479800" imgH="939800" progId="Equation.3">
                  <p:embed/>
                </p:oleObj>
              </mc:Choice>
              <mc:Fallback>
                <p:oleObj name="Equation" r:id="rId15" imgW="34798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914" y="4572001"/>
                        <a:ext cx="474027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75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extBox 4"/>
          <p:cNvSpPr txBox="1">
            <a:spLocks noChangeArrowheads="1"/>
          </p:cNvSpPr>
          <p:nvPr/>
        </p:nvSpPr>
        <p:spPr bwMode="auto">
          <a:xfrm>
            <a:off x="6667501" y="571501"/>
            <a:ext cx="3286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נחזור לרגע לפונקצית האקטיבציה </a:t>
            </a:r>
            <a:endParaRPr lang="en-US" altLang="en-US" sz="1800"/>
          </a:p>
        </p:txBody>
      </p:sp>
      <p:graphicFrame>
        <p:nvGraphicFramePr>
          <p:cNvPr id="90114" name="Object 5"/>
          <p:cNvGraphicFramePr>
            <a:graphicFrameLocks noChangeAspect="1"/>
          </p:cNvGraphicFramePr>
          <p:nvPr/>
        </p:nvGraphicFramePr>
        <p:xfrm>
          <a:off x="2835276" y="452439"/>
          <a:ext cx="177006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7" name="Equation" r:id="rId4" imgW="1383699" imgH="406224" progId="Equation.3">
                  <p:embed/>
                </p:oleObj>
              </mc:Choice>
              <mc:Fallback>
                <p:oleObj name="Equation" r:id="rId4" imgW="1383699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6" y="452439"/>
                        <a:ext cx="177006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3"/>
          <p:cNvGraphicFramePr>
            <a:graphicFrameLocks noChangeAspect="1"/>
          </p:cNvGraphicFramePr>
          <p:nvPr/>
        </p:nvGraphicFramePr>
        <p:xfrm>
          <a:off x="5067300" y="547689"/>
          <a:ext cx="1028700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8" name="Equation" r:id="rId6" imgW="1028254" imgH="241195" progId="Equation.3">
                  <p:embed/>
                </p:oleObj>
              </mc:Choice>
              <mc:Fallback>
                <p:oleObj name="Equation" r:id="rId6" imgW="1028254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547689"/>
                        <a:ext cx="1028700" cy="23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6" name="Rectangle 6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sp>
        <p:nvSpPr>
          <p:cNvPr id="90117" name="Rectangle 7"/>
          <p:cNvSpPr>
            <a:spLocks noChangeArrowheads="1"/>
          </p:cNvSpPr>
          <p:nvPr/>
        </p:nvSpPr>
        <p:spPr bwMode="auto">
          <a:xfrm flipV="1">
            <a:off x="1524000" y="242888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ea typeface="Batang" charset="-127"/>
              </a:rPr>
              <a:t>  </a:t>
            </a:r>
            <a:endParaRPr lang="en-US" altLang="en-US" sz="2400"/>
          </a:p>
        </p:txBody>
      </p:sp>
      <p:sp>
        <p:nvSpPr>
          <p:cNvPr id="90118" name="TextBox 12"/>
          <p:cNvSpPr txBox="1">
            <a:spLocks noChangeArrowheads="1"/>
          </p:cNvSpPr>
          <p:nvPr/>
        </p:nvSpPr>
        <p:spPr bwMode="auto">
          <a:xfrm>
            <a:off x="8229601" y="1357314"/>
            <a:ext cx="1724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נגזור אותה ונקבל</a:t>
            </a:r>
            <a:endParaRPr lang="en-US" altLang="en-US" sz="1800"/>
          </a:p>
        </p:txBody>
      </p:sp>
      <p:sp>
        <p:nvSpPr>
          <p:cNvPr id="90119" name="Rectangle 11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90120" name="Object 10"/>
          <p:cNvGraphicFramePr>
            <a:graphicFrameLocks noChangeAspect="1"/>
          </p:cNvGraphicFramePr>
          <p:nvPr/>
        </p:nvGraphicFramePr>
        <p:xfrm>
          <a:off x="2208213" y="1196976"/>
          <a:ext cx="582136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9" name="Equation" r:id="rId8" imgW="3594100" imgH="482600" progId="Equation.3">
                  <p:embed/>
                </p:oleObj>
              </mc:Choice>
              <mc:Fallback>
                <p:oleObj name="Equation" r:id="rId8" imgW="3594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196976"/>
                        <a:ext cx="5821362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1" name="Rectangle 13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90122" name="Object 12"/>
          <p:cNvGraphicFramePr>
            <a:graphicFrameLocks noChangeAspect="1"/>
          </p:cNvGraphicFramePr>
          <p:nvPr/>
        </p:nvGraphicFramePr>
        <p:xfrm>
          <a:off x="2147889" y="2298701"/>
          <a:ext cx="3455987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0" name="Equation" r:id="rId10" imgW="1778000" imgH="241300" progId="Equation.3">
                  <p:embed/>
                </p:oleObj>
              </mc:Choice>
              <mc:Fallback>
                <p:oleObj name="Equation" r:id="rId10" imgW="1778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9" y="2298701"/>
                        <a:ext cx="3455987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3" name="TextBox 17"/>
          <p:cNvSpPr txBox="1">
            <a:spLocks noChangeArrowheads="1"/>
          </p:cNvSpPr>
          <p:nvPr/>
        </p:nvSpPr>
        <p:spPr bwMode="auto">
          <a:xfrm>
            <a:off x="5762626" y="2357439"/>
            <a:ext cx="4143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וכאשר משתמשים ב                           נקבל</a:t>
            </a:r>
            <a:endParaRPr lang="en-US" altLang="en-US" sz="1800"/>
          </a:p>
        </p:txBody>
      </p:sp>
      <p:sp>
        <p:nvSpPr>
          <p:cNvPr id="90124" name="Rectangle 15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90125" name="Object 14"/>
          <p:cNvGraphicFramePr>
            <a:graphicFrameLocks noChangeAspect="1"/>
          </p:cNvGraphicFramePr>
          <p:nvPr/>
        </p:nvGraphicFramePr>
        <p:xfrm>
          <a:off x="6367463" y="2386014"/>
          <a:ext cx="1700212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1" name="Equation" r:id="rId12" imgW="1129810" imgH="241195" progId="Equation.3">
                  <p:embed/>
                </p:oleObj>
              </mc:Choice>
              <mc:Fallback>
                <p:oleObj name="Equation" r:id="rId12" imgW="1129810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463" y="2386014"/>
                        <a:ext cx="1700212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6" name="Rectangle 17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90127" name="Object 16"/>
          <p:cNvGraphicFramePr>
            <a:graphicFrameLocks noChangeAspect="1"/>
          </p:cNvGraphicFramePr>
          <p:nvPr/>
        </p:nvGraphicFramePr>
        <p:xfrm>
          <a:off x="2466976" y="3500438"/>
          <a:ext cx="70135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2" name="Equation" r:id="rId14" imgW="3606800" imgH="254000" progId="Equation.3">
                  <p:embed/>
                </p:oleObj>
              </mc:Choice>
              <mc:Fallback>
                <p:oleObj name="Equation" r:id="rId14" imgW="36068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6" y="3500438"/>
                        <a:ext cx="70135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8" name="Rectangle 19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90129" name="Object 18"/>
          <p:cNvGraphicFramePr>
            <a:graphicFrameLocks noChangeAspect="1"/>
          </p:cNvGraphicFramePr>
          <p:nvPr/>
        </p:nvGraphicFramePr>
        <p:xfrm>
          <a:off x="2424113" y="4652964"/>
          <a:ext cx="714375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3" name="Equation" r:id="rId16" imgW="3797300" imgH="342900" progId="Equation.3">
                  <p:embed/>
                </p:oleObj>
              </mc:Choice>
              <mc:Fallback>
                <p:oleObj name="Equation" r:id="rId16" imgW="3797300" imgH="342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652964"/>
                        <a:ext cx="7143750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30" name="TextBox 24"/>
          <p:cNvSpPr txBox="1">
            <a:spLocks noChangeArrowheads="1"/>
          </p:cNvSpPr>
          <p:nvPr/>
        </p:nvSpPr>
        <p:spPr bwMode="auto">
          <a:xfrm>
            <a:off x="6596064" y="3143250"/>
            <a:ext cx="3286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בשביל נוירון בשכבת ה</a:t>
            </a:r>
            <a:r>
              <a:rPr lang="en-US" altLang="en-US" sz="1800"/>
              <a:t>Output</a:t>
            </a:r>
            <a:r>
              <a:rPr lang="he-IL" altLang="en-US" sz="1800"/>
              <a:t> ==</a:t>
            </a:r>
            <a:endParaRPr lang="en-US" altLang="en-US" sz="1800"/>
          </a:p>
        </p:txBody>
      </p:sp>
      <p:sp>
        <p:nvSpPr>
          <p:cNvPr id="90131" name="TextBox 25"/>
          <p:cNvSpPr txBox="1">
            <a:spLocks noChangeArrowheads="1"/>
          </p:cNvSpPr>
          <p:nvPr/>
        </p:nvSpPr>
        <p:spPr bwMode="auto">
          <a:xfrm>
            <a:off x="6596064" y="4071939"/>
            <a:ext cx="3286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בשביל כל נוירון בשכבה הפנימית</a:t>
            </a:r>
            <a:endParaRPr lang="en-US" altLang="en-US" sz="1800"/>
          </a:p>
        </p:txBody>
      </p:sp>
      <p:sp>
        <p:nvSpPr>
          <p:cNvPr id="90132" name="Rectangle 21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90133" name="Object 20"/>
          <p:cNvGraphicFramePr>
            <a:graphicFrameLocks noChangeAspect="1"/>
          </p:cNvGraphicFramePr>
          <p:nvPr/>
        </p:nvGraphicFramePr>
        <p:xfrm>
          <a:off x="6281738" y="3171825"/>
          <a:ext cx="5715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4" name="Equation" r:id="rId18" imgW="380835" imgH="241195" progId="Equation.3">
                  <p:embed/>
                </p:oleObj>
              </mc:Choice>
              <mc:Fallback>
                <p:oleObj name="Equation" r:id="rId18" imgW="380835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1738" y="3171825"/>
                        <a:ext cx="5715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34" name="Rectangle 23"/>
          <p:cNvSpPr>
            <a:spLocks noChangeArrowheads="1"/>
          </p:cNvSpPr>
          <p:nvPr/>
        </p:nvSpPr>
        <p:spPr bwMode="auto">
          <a:xfrm>
            <a:off x="10483270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graphicFrame>
        <p:nvGraphicFramePr>
          <p:cNvPr id="90135" name="Object 22"/>
          <p:cNvGraphicFramePr>
            <a:graphicFrameLocks noChangeAspect="1"/>
          </p:cNvGraphicFramePr>
          <p:nvPr/>
        </p:nvGraphicFramePr>
        <p:xfrm>
          <a:off x="3432176" y="5445126"/>
          <a:ext cx="49942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5" name="Equation" r:id="rId20" imgW="2273300" imgH="241300" progId="Equation.3">
                  <p:embed/>
                </p:oleObj>
              </mc:Choice>
              <mc:Fallback>
                <p:oleObj name="Equation" r:id="rId20" imgW="22733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5445126"/>
                        <a:ext cx="49942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36" name="TextBox 33"/>
          <p:cNvSpPr txBox="1">
            <a:spLocks noChangeArrowheads="1"/>
          </p:cNvSpPr>
          <p:nvPr/>
        </p:nvSpPr>
        <p:spPr bwMode="auto">
          <a:xfrm>
            <a:off x="2640013" y="6165851"/>
            <a:ext cx="30718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קבוע קצב הלימוד (מומנטום)</a:t>
            </a:r>
            <a:endParaRPr lang="en-US" altLang="en-US" sz="1800"/>
          </a:p>
        </p:txBody>
      </p:sp>
      <p:cxnSp>
        <p:nvCxnSpPr>
          <p:cNvPr id="90137" name="Straight Arrow Connector 35"/>
          <p:cNvCxnSpPr>
            <a:cxnSpLocks noChangeShapeType="1"/>
          </p:cNvCxnSpPr>
          <p:nvPr/>
        </p:nvCxnSpPr>
        <p:spPr bwMode="auto">
          <a:xfrm rot="16200000" flipV="1">
            <a:off x="4980783" y="5912645"/>
            <a:ext cx="357187" cy="142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0138" name="TextBox 36"/>
          <p:cNvSpPr txBox="1">
            <a:spLocks noChangeArrowheads="1"/>
          </p:cNvSpPr>
          <p:nvPr/>
        </p:nvSpPr>
        <p:spPr bwMode="auto">
          <a:xfrm>
            <a:off x="1738314" y="2728913"/>
            <a:ext cx="43576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100"/>
              <a:t>לפי הסיגמויד , המקסימום כאשר </a:t>
            </a:r>
            <a:r>
              <a:rPr lang="en-US" altLang="en-US" sz="1100"/>
              <a:t>y=0.5</a:t>
            </a:r>
            <a:r>
              <a:rPr lang="he-IL" altLang="en-US" sz="1100"/>
              <a:t>, המינימום ב </a:t>
            </a:r>
            <a:r>
              <a:rPr lang="en-US" altLang="en-US" sz="1100"/>
              <a:t>y=0,y=1</a:t>
            </a:r>
            <a:r>
              <a:rPr lang="he-IL" altLang="en-US" sz="1100"/>
              <a:t> ולכן שינוי המשקלים הגדול יהיה מושפע מ"רוב" הנוירונים ולא במיעוט שנמצא בקצוות.</a:t>
            </a:r>
            <a:endParaRPr lang="en-US" altLang="en-US" sz="1100"/>
          </a:p>
        </p:txBody>
      </p:sp>
      <p:sp>
        <p:nvSpPr>
          <p:cNvPr id="90139" name="Text Box 31"/>
          <p:cNvSpPr txBox="1">
            <a:spLocks noChangeArrowheads="1"/>
          </p:cNvSpPr>
          <p:nvPr/>
        </p:nvSpPr>
        <p:spPr bwMode="auto">
          <a:xfrm>
            <a:off x="4295776" y="188913"/>
            <a:ext cx="5832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50000"/>
              </a:spcBef>
              <a:buFontTx/>
              <a:buNone/>
            </a:pPr>
            <a:r>
              <a:rPr lang="he-IL" altLang="en-US" sz="1800"/>
              <a:t>במקרה הפרטי של פונקצית אקטיבציה סיגמואיד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599792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1" name="Object 2"/>
          <p:cNvGraphicFramePr>
            <a:graphicFrameLocks noChangeAspect="1"/>
          </p:cNvGraphicFramePr>
          <p:nvPr/>
        </p:nvGraphicFramePr>
        <p:xfrm>
          <a:off x="3605214" y="415926"/>
          <a:ext cx="51339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1" name="Equation" r:id="rId4" imgW="2336800" imgH="241300" progId="Equation.3">
                  <p:embed/>
                </p:oleObj>
              </mc:Choice>
              <mc:Fallback>
                <p:oleObj name="Equation" r:id="rId4" imgW="23368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214" y="415926"/>
                        <a:ext cx="51339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2" name="TextBox 4"/>
          <p:cNvSpPr txBox="1">
            <a:spLocks noChangeArrowheads="1"/>
          </p:cNvSpPr>
          <p:nvPr/>
        </p:nvSpPr>
        <p:spPr bwMode="auto">
          <a:xfrm>
            <a:off x="2881313" y="1201739"/>
            <a:ext cx="3071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קצב הלימוד (מומנטום)</a:t>
            </a:r>
            <a:endParaRPr lang="en-US" altLang="en-US" sz="1800"/>
          </a:p>
        </p:txBody>
      </p:sp>
      <p:cxnSp>
        <p:nvCxnSpPr>
          <p:cNvPr id="92163" name="Straight Arrow Connector 5"/>
          <p:cNvCxnSpPr>
            <a:cxnSpLocks noChangeShapeType="1"/>
          </p:cNvCxnSpPr>
          <p:nvPr/>
        </p:nvCxnSpPr>
        <p:spPr bwMode="auto">
          <a:xfrm rot="16200000" flipV="1">
            <a:off x="5060157" y="951707"/>
            <a:ext cx="357188" cy="142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64" name="TextBox 6"/>
          <p:cNvSpPr txBox="1">
            <a:spLocks noChangeArrowheads="1"/>
          </p:cNvSpPr>
          <p:nvPr/>
        </p:nvSpPr>
        <p:spPr bwMode="auto">
          <a:xfrm>
            <a:off x="7081839" y="1187450"/>
            <a:ext cx="12985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קבוע הלימוד</a:t>
            </a:r>
            <a:endParaRPr lang="en-US" altLang="en-US" sz="1800"/>
          </a:p>
        </p:txBody>
      </p:sp>
      <p:cxnSp>
        <p:nvCxnSpPr>
          <p:cNvPr id="92165" name="Straight Arrow Connector 7"/>
          <p:cNvCxnSpPr>
            <a:cxnSpLocks noChangeShapeType="1"/>
          </p:cNvCxnSpPr>
          <p:nvPr/>
        </p:nvCxnSpPr>
        <p:spPr bwMode="auto">
          <a:xfrm rot="16200000" flipV="1">
            <a:off x="6988969" y="964407"/>
            <a:ext cx="357188" cy="142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66" name="TextBox 8"/>
          <p:cNvSpPr txBox="1">
            <a:spLocks noChangeArrowheads="1"/>
          </p:cNvSpPr>
          <p:nvPr/>
        </p:nvSpPr>
        <p:spPr bwMode="auto">
          <a:xfrm>
            <a:off x="3452814" y="2428875"/>
            <a:ext cx="6429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</p:txBody>
      </p:sp>
      <p:sp>
        <p:nvSpPr>
          <p:cNvPr id="92167" name="TextBox 10"/>
          <p:cNvSpPr txBox="1">
            <a:spLocks noChangeArrowheads="1"/>
          </p:cNvSpPr>
          <p:nvPr/>
        </p:nvSpPr>
        <p:spPr bwMode="auto">
          <a:xfrm>
            <a:off x="2452689" y="1714501"/>
            <a:ext cx="757237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ל</a:t>
            </a:r>
            <a:r>
              <a:rPr lang="en-US" altLang="en-US" sz="1800"/>
              <a:t>BP</a:t>
            </a:r>
            <a:r>
              <a:rPr lang="he-IL" altLang="en-US" sz="1800"/>
              <a:t> יש חסרון והוא – קצב לימוד איטי אם       קטן, אם     גדול ,קצב הלימוד יכול לטפס בצורה אקספוננציאלית ואז לפספס את המקסימום בעקומת הלימוד.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endParaRPr lang="he-IL" altLang="en-US" sz="1800"/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1800"/>
              <a:t>בשביל לפתור את הבעיה , נוסיף את הקבוע      הוא יקרא "מומנטום" (יהווה מין משקולת לקבוע הלימוד.</a:t>
            </a:r>
            <a:endParaRPr lang="en-US" altLang="en-US" sz="1800"/>
          </a:p>
        </p:txBody>
      </p:sp>
      <p:sp>
        <p:nvSpPr>
          <p:cNvPr id="92168" name="Rectangle 11"/>
          <p:cNvSpPr>
            <a:spLocks noChangeArrowheads="1"/>
          </p:cNvSpPr>
          <p:nvPr/>
        </p:nvSpPr>
        <p:spPr bwMode="auto">
          <a:xfrm>
            <a:off x="5953125" y="1673225"/>
            <a:ext cx="323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charset="2"/>
              </a:rPr>
              <a:t></a:t>
            </a:r>
            <a:endParaRPr lang="en-US" altLang="en-US" sz="1800"/>
          </a:p>
        </p:txBody>
      </p:sp>
      <p:sp>
        <p:nvSpPr>
          <p:cNvPr id="92169" name="Rectangle 12"/>
          <p:cNvSpPr>
            <a:spLocks noChangeArrowheads="1"/>
          </p:cNvSpPr>
          <p:nvPr/>
        </p:nvSpPr>
        <p:spPr bwMode="auto">
          <a:xfrm>
            <a:off x="4840288" y="1673225"/>
            <a:ext cx="323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charset="2"/>
              </a:rPr>
              <a:t></a:t>
            </a:r>
            <a:endParaRPr lang="en-US" altLang="en-US" sz="1800"/>
          </a:p>
        </p:txBody>
      </p:sp>
      <p:sp>
        <p:nvSpPr>
          <p:cNvPr id="92170" name="Rectangle 13"/>
          <p:cNvSpPr>
            <a:spLocks noChangeArrowheads="1"/>
          </p:cNvSpPr>
          <p:nvPr/>
        </p:nvSpPr>
        <p:spPr bwMode="auto">
          <a:xfrm>
            <a:off x="5795963" y="2513013"/>
            <a:ext cx="33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ym typeface="Symbol" charset="2"/>
              </a:rPr>
              <a:t></a:t>
            </a:r>
            <a:endParaRPr lang="en-US" altLang="en-US" sz="1800"/>
          </a:p>
        </p:txBody>
      </p:sp>
      <p:sp>
        <p:nvSpPr>
          <p:cNvPr id="92171" name="TextBox 14"/>
          <p:cNvSpPr txBox="1">
            <a:spLocks noChangeArrowheads="1"/>
          </p:cNvSpPr>
          <p:nvPr/>
        </p:nvSpPr>
        <p:spPr bwMode="auto">
          <a:xfrm>
            <a:off x="5167313" y="4691064"/>
            <a:ext cx="4857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2800"/>
              <a:t>מתי נדע שהרשת סיימה ללמוד?!</a:t>
            </a:r>
            <a:endParaRPr lang="en-US" altLang="en-US" sz="2800"/>
          </a:p>
        </p:txBody>
      </p:sp>
      <p:sp>
        <p:nvSpPr>
          <p:cNvPr id="92172" name="TextBox 15"/>
          <p:cNvSpPr txBox="1">
            <a:spLocks noChangeArrowheads="1"/>
          </p:cNvSpPr>
          <p:nvPr/>
        </p:nvSpPr>
        <p:spPr bwMode="auto">
          <a:xfrm>
            <a:off x="2381250" y="5140326"/>
            <a:ext cx="72151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</a:pPr>
            <a:r>
              <a:rPr lang="he-IL" altLang="en-US" sz="1800"/>
              <a:t>כאשר הנורמל האוקלידי של הגרדיאנט הגיע לערך מוסכם מראש</a:t>
            </a:r>
          </a:p>
          <a:p>
            <a:pPr algn="r" rtl="1" eaLnBrk="1" hangingPunct="1">
              <a:spcBef>
                <a:spcPct val="0"/>
              </a:spcBef>
            </a:pPr>
            <a:r>
              <a:rPr lang="he-IL" altLang="en-US" sz="1800"/>
              <a:t>כאשר דלטא הטעות קטנה מספיק (מערך שנקבע מראש)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63975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09" name="Picture 2" descr="D:\tmp\p11.bmp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524000"/>
            <a:ext cx="7315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0" name="Rectangle 3"/>
          <p:cNvSpPr>
            <a:spLocks noChangeArrowheads="1"/>
          </p:cNvSpPr>
          <p:nvPr/>
        </p:nvSpPr>
        <p:spPr bwMode="auto">
          <a:xfrm>
            <a:off x="3352800" y="457200"/>
            <a:ext cx="8001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 eaLnBrk="1" hangingPunct="1">
              <a:spcBef>
                <a:spcPct val="0"/>
              </a:spcBef>
              <a:buFontTx/>
              <a:buNone/>
            </a:pPr>
            <a:endParaRPr lang="ko-KR" altLang="ko-KR" sz="1800">
              <a:ea typeface="Gulim" charset="-127"/>
            </a:endParaRPr>
          </a:p>
        </p:txBody>
      </p:sp>
      <p:sp>
        <p:nvSpPr>
          <p:cNvPr id="94211" name="Rectangle 4"/>
          <p:cNvSpPr>
            <a:spLocks noGrp="1" noChangeArrowheads="1"/>
          </p:cNvSpPr>
          <p:nvPr>
            <p:ph type="title"/>
          </p:nvPr>
        </p:nvSpPr>
        <p:spPr>
          <a:xfrm>
            <a:off x="2971800" y="152400"/>
            <a:ext cx="7162800" cy="1143000"/>
          </a:xfrm>
          <a:noFill/>
        </p:spPr>
        <p:txBody>
          <a:bodyPr/>
          <a:lstStyle/>
          <a:p>
            <a:r>
              <a:rPr lang="en-US" altLang="ko-KR">
                <a:ea typeface="Batang" charset="-127"/>
              </a:rPr>
              <a:t>BP for MLP: </a:t>
            </a:r>
            <a:r>
              <a:rPr lang="en-US" altLang="ko-KR" sz="3200">
                <a:ea typeface="Batang" charset="-127"/>
              </a:rPr>
              <a:t>revisited</a:t>
            </a:r>
            <a:endParaRPr lang="en-US" altLang="ko-KR">
              <a:ea typeface="Gulim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019105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ext Box 2"/>
          <p:cNvSpPr txBox="1">
            <a:spLocks noChangeArrowheads="1"/>
          </p:cNvSpPr>
          <p:nvPr/>
        </p:nvSpPr>
        <p:spPr bwMode="auto">
          <a:xfrm>
            <a:off x="2755901" y="201613"/>
            <a:ext cx="68881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he-IL" altLang="en-US" sz="3600"/>
              <a:t>דוגמא להרצה (</a:t>
            </a:r>
            <a:r>
              <a:rPr lang="en-US" altLang="en-US" sz="3600"/>
              <a:t>Forward Propagation</a:t>
            </a:r>
            <a:r>
              <a:rPr lang="he-IL" altLang="en-US" sz="3600"/>
              <a:t>)</a:t>
            </a:r>
            <a:endParaRPr lang="en-US" altLang="en-US" sz="3600"/>
          </a:p>
        </p:txBody>
      </p:sp>
      <p:sp>
        <p:nvSpPr>
          <p:cNvPr id="73730" name="Oval 2"/>
          <p:cNvSpPr>
            <a:spLocks noChangeArrowheads="1"/>
          </p:cNvSpPr>
          <p:nvPr/>
        </p:nvSpPr>
        <p:spPr bwMode="auto">
          <a:xfrm>
            <a:off x="2762250" y="140335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31" name="Oval 3"/>
          <p:cNvSpPr>
            <a:spLocks noChangeArrowheads="1"/>
          </p:cNvSpPr>
          <p:nvPr/>
        </p:nvSpPr>
        <p:spPr bwMode="auto">
          <a:xfrm>
            <a:off x="2686050" y="315595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32" name="Oval 4"/>
          <p:cNvSpPr>
            <a:spLocks noChangeArrowheads="1"/>
          </p:cNvSpPr>
          <p:nvPr/>
        </p:nvSpPr>
        <p:spPr bwMode="auto">
          <a:xfrm>
            <a:off x="5657850" y="376555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33" name="Oval 5"/>
          <p:cNvSpPr>
            <a:spLocks noChangeArrowheads="1"/>
          </p:cNvSpPr>
          <p:nvPr/>
        </p:nvSpPr>
        <p:spPr bwMode="auto">
          <a:xfrm>
            <a:off x="5581650" y="277495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34" name="Oval 6"/>
          <p:cNvSpPr>
            <a:spLocks noChangeArrowheads="1"/>
          </p:cNvSpPr>
          <p:nvPr/>
        </p:nvSpPr>
        <p:spPr bwMode="auto">
          <a:xfrm>
            <a:off x="5581650" y="186055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35" name="Oval 7"/>
          <p:cNvSpPr>
            <a:spLocks noChangeArrowheads="1"/>
          </p:cNvSpPr>
          <p:nvPr/>
        </p:nvSpPr>
        <p:spPr bwMode="auto">
          <a:xfrm>
            <a:off x="7791450" y="338455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36" name="Oval 8"/>
          <p:cNvSpPr>
            <a:spLocks noChangeArrowheads="1"/>
          </p:cNvSpPr>
          <p:nvPr/>
        </p:nvSpPr>
        <p:spPr bwMode="auto">
          <a:xfrm>
            <a:off x="7715250" y="247015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37" name="Oval 9"/>
          <p:cNvSpPr>
            <a:spLocks noChangeArrowheads="1"/>
          </p:cNvSpPr>
          <p:nvPr/>
        </p:nvSpPr>
        <p:spPr bwMode="auto">
          <a:xfrm>
            <a:off x="9772650" y="292735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38" name="Oval 10"/>
          <p:cNvSpPr>
            <a:spLocks noChangeArrowheads="1"/>
          </p:cNvSpPr>
          <p:nvPr/>
        </p:nvSpPr>
        <p:spPr bwMode="auto">
          <a:xfrm>
            <a:off x="2686050" y="4375150"/>
            <a:ext cx="228600" cy="2286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39" name="Line 11"/>
          <p:cNvSpPr>
            <a:spLocks noChangeShapeType="1"/>
          </p:cNvSpPr>
          <p:nvPr/>
        </p:nvSpPr>
        <p:spPr bwMode="auto">
          <a:xfrm>
            <a:off x="3067050" y="1555750"/>
            <a:ext cx="2514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0" name="Line 12"/>
          <p:cNvSpPr>
            <a:spLocks noChangeShapeType="1"/>
          </p:cNvSpPr>
          <p:nvPr/>
        </p:nvSpPr>
        <p:spPr bwMode="auto">
          <a:xfrm>
            <a:off x="2990850" y="1631950"/>
            <a:ext cx="2514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1" name="Line 13"/>
          <p:cNvSpPr>
            <a:spLocks noChangeShapeType="1"/>
          </p:cNvSpPr>
          <p:nvPr/>
        </p:nvSpPr>
        <p:spPr bwMode="auto">
          <a:xfrm flipV="1">
            <a:off x="2990850" y="2927350"/>
            <a:ext cx="2514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2" name="Line 14"/>
          <p:cNvSpPr>
            <a:spLocks noChangeShapeType="1"/>
          </p:cNvSpPr>
          <p:nvPr/>
        </p:nvSpPr>
        <p:spPr bwMode="auto">
          <a:xfrm>
            <a:off x="2914650" y="3308350"/>
            <a:ext cx="2667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3" name="Line 15"/>
          <p:cNvSpPr>
            <a:spLocks noChangeShapeType="1"/>
          </p:cNvSpPr>
          <p:nvPr/>
        </p:nvSpPr>
        <p:spPr bwMode="auto">
          <a:xfrm flipV="1">
            <a:off x="2914650" y="2012950"/>
            <a:ext cx="25908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4" name="Line 16"/>
          <p:cNvSpPr>
            <a:spLocks noChangeShapeType="1"/>
          </p:cNvSpPr>
          <p:nvPr/>
        </p:nvSpPr>
        <p:spPr bwMode="auto">
          <a:xfrm flipV="1">
            <a:off x="2990850" y="3079750"/>
            <a:ext cx="2514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5" name="Line 17"/>
          <p:cNvSpPr>
            <a:spLocks noChangeShapeType="1"/>
          </p:cNvSpPr>
          <p:nvPr/>
        </p:nvSpPr>
        <p:spPr bwMode="auto">
          <a:xfrm flipV="1">
            <a:off x="2990850" y="3917950"/>
            <a:ext cx="2590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6" name="Line 18"/>
          <p:cNvSpPr>
            <a:spLocks noChangeShapeType="1"/>
          </p:cNvSpPr>
          <p:nvPr/>
        </p:nvSpPr>
        <p:spPr bwMode="auto">
          <a:xfrm>
            <a:off x="5886450" y="1936750"/>
            <a:ext cx="1828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7" name="Line 19"/>
          <p:cNvSpPr>
            <a:spLocks noChangeShapeType="1"/>
          </p:cNvSpPr>
          <p:nvPr/>
        </p:nvSpPr>
        <p:spPr bwMode="auto">
          <a:xfrm>
            <a:off x="5962650" y="2089150"/>
            <a:ext cx="17526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8" name="Line 20"/>
          <p:cNvSpPr>
            <a:spLocks noChangeShapeType="1"/>
          </p:cNvSpPr>
          <p:nvPr/>
        </p:nvSpPr>
        <p:spPr bwMode="auto">
          <a:xfrm flipV="1">
            <a:off x="5962650" y="2622550"/>
            <a:ext cx="1676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9" name="Line 21"/>
          <p:cNvSpPr>
            <a:spLocks noChangeShapeType="1"/>
          </p:cNvSpPr>
          <p:nvPr/>
        </p:nvSpPr>
        <p:spPr bwMode="auto">
          <a:xfrm>
            <a:off x="5886450" y="2927350"/>
            <a:ext cx="1828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50" name="Line 22"/>
          <p:cNvSpPr>
            <a:spLocks noChangeShapeType="1"/>
          </p:cNvSpPr>
          <p:nvPr/>
        </p:nvSpPr>
        <p:spPr bwMode="auto">
          <a:xfrm flipV="1">
            <a:off x="5962650" y="3613150"/>
            <a:ext cx="1752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51" name="Line 23"/>
          <p:cNvSpPr>
            <a:spLocks noChangeShapeType="1"/>
          </p:cNvSpPr>
          <p:nvPr/>
        </p:nvSpPr>
        <p:spPr bwMode="auto">
          <a:xfrm>
            <a:off x="7943850" y="2622550"/>
            <a:ext cx="167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52" name="Line 24"/>
          <p:cNvSpPr>
            <a:spLocks noChangeShapeType="1"/>
          </p:cNvSpPr>
          <p:nvPr/>
        </p:nvSpPr>
        <p:spPr bwMode="auto">
          <a:xfrm flipV="1">
            <a:off x="8020050" y="3079750"/>
            <a:ext cx="1600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53" name="Text Box 25"/>
          <p:cNvSpPr txBox="1">
            <a:spLocks noChangeArrowheads="1"/>
          </p:cNvSpPr>
          <p:nvPr/>
        </p:nvSpPr>
        <p:spPr bwMode="auto">
          <a:xfrm>
            <a:off x="2152650" y="12509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1</a:t>
            </a:r>
          </a:p>
        </p:txBody>
      </p:sp>
      <p:sp>
        <p:nvSpPr>
          <p:cNvPr id="73754" name="Text Box 26"/>
          <p:cNvSpPr txBox="1">
            <a:spLocks noChangeArrowheads="1"/>
          </p:cNvSpPr>
          <p:nvPr/>
        </p:nvSpPr>
        <p:spPr bwMode="auto">
          <a:xfrm>
            <a:off x="2076450" y="30035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0</a:t>
            </a:r>
          </a:p>
        </p:txBody>
      </p:sp>
      <p:sp>
        <p:nvSpPr>
          <p:cNvPr id="73755" name="Text Box 27"/>
          <p:cNvSpPr txBox="1">
            <a:spLocks noChangeArrowheads="1"/>
          </p:cNvSpPr>
          <p:nvPr/>
        </p:nvSpPr>
        <p:spPr bwMode="auto">
          <a:xfrm>
            <a:off x="2076450" y="41465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1</a:t>
            </a:r>
          </a:p>
        </p:txBody>
      </p:sp>
      <p:sp>
        <p:nvSpPr>
          <p:cNvPr id="73756" name="Text Box 28"/>
          <p:cNvSpPr txBox="1">
            <a:spLocks noChangeArrowheads="1"/>
          </p:cNvSpPr>
          <p:nvPr/>
        </p:nvSpPr>
        <p:spPr bwMode="auto">
          <a:xfrm>
            <a:off x="2533651" y="4679950"/>
            <a:ext cx="5127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ea typeface="Times New Roman" charset="0"/>
                <a:cs typeface="Times New Roman" charset="0"/>
              </a:rPr>
              <a:t>bias</a:t>
            </a:r>
            <a:endParaRPr lang="en-US" altLang="en-US" sz="2400">
              <a:solidFill>
                <a:srgbClr val="CC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73757" name="Text Box 29"/>
          <p:cNvSpPr txBox="1">
            <a:spLocks noChangeArrowheads="1"/>
          </p:cNvSpPr>
          <p:nvPr/>
        </p:nvSpPr>
        <p:spPr bwMode="auto">
          <a:xfrm>
            <a:off x="4438650" y="170815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58" name="Text Box 31"/>
          <p:cNvSpPr txBox="1">
            <a:spLocks noChangeArrowheads="1"/>
          </p:cNvSpPr>
          <p:nvPr/>
        </p:nvSpPr>
        <p:spPr bwMode="auto">
          <a:xfrm>
            <a:off x="4743450" y="208915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0.3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59" name="Text Box 32"/>
          <p:cNvSpPr txBox="1">
            <a:spLocks noChangeArrowheads="1"/>
          </p:cNvSpPr>
          <p:nvPr/>
        </p:nvSpPr>
        <p:spPr bwMode="auto">
          <a:xfrm>
            <a:off x="4514850" y="292735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60" name="Text Box 33"/>
          <p:cNvSpPr txBox="1">
            <a:spLocks noChangeArrowheads="1"/>
          </p:cNvSpPr>
          <p:nvPr/>
        </p:nvSpPr>
        <p:spPr bwMode="auto">
          <a:xfrm>
            <a:off x="4972050" y="323215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0.7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61" name="Text Box 34"/>
          <p:cNvSpPr txBox="1">
            <a:spLocks noChangeArrowheads="1"/>
          </p:cNvSpPr>
          <p:nvPr/>
        </p:nvSpPr>
        <p:spPr bwMode="auto">
          <a:xfrm>
            <a:off x="4514850" y="3613151"/>
            <a:ext cx="546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0.5</a:t>
            </a:r>
            <a:r>
              <a:rPr lang="he-IL" altLang="en-US" sz="1800">
                <a:ea typeface="Times New Roman" charset="0"/>
                <a:cs typeface="Times New Roman" charset="0"/>
              </a:rPr>
              <a:t>-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62" name="Text Box 35"/>
          <p:cNvSpPr txBox="1">
            <a:spLocks noChangeArrowheads="1"/>
          </p:cNvSpPr>
          <p:nvPr/>
        </p:nvSpPr>
        <p:spPr bwMode="auto">
          <a:xfrm>
            <a:off x="4286250" y="4070351"/>
            <a:ext cx="546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-0.1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63" name="Text Box 36"/>
          <p:cNvSpPr txBox="1">
            <a:spLocks noChangeArrowheads="1"/>
          </p:cNvSpPr>
          <p:nvPr/>
        </p:nvSpPr>
        <p:spPr bwMode="auto">
          <a:xfrm>
            <a:off x="4133850" y="2317751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-0.2</a:t>
            </a:r>
          </a:p>
        </p:txBody>
      </p:sp>
      <p:sp>
        <p:nvSpPr>
          <p:cNvPr id="73764" name="Text Box 37"/>
          <p:cNvSpPr txBox="1">
            <a:spLocks noChangeArrowheads="1"/>
          </p:cNvSpPr>
          <p:nvPr/>
        </p:nvSpPr>
        <p:spPr bwMode="auto">
          <a:xfrm>
            <a:off x="7105650" y="262255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65" name="Text Box 38"/>
          <p:cNvSpPr txBox="1">
            <a:spLocks noChangeArrowheads="1"/>
          </p:cNvSpPr>
          <p:nvPr/>
        </p:nvSpPr>
        <p:spPr bwMode="auto">
          <a:xfrm>
            <a:off x="6572250" y="2089151"/>
            <a:ext cx="546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-0.5</a:t>
            </a:r>
          </a:p>
        </p:txBody>
      </p:sp>
      <p:sp>
        <p:nvSpPr>
          <p:cNvPr id="73766" name="Text Box 39"/>
          <p:cNvSpPr txBox="1">
            <a:spLocks noChangeArrowheads="1"/>
          </p:cNvSpPr>
          <p:nvPr/>
        </p:nvSpPr>
        <p:spPr bwMode="auto">
          <a:xfrm>
            <a:off x="6724650" y="285115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0.3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67" name="Text Box 40"/>
          <p:cNvSpPr txBox="1">
            <a:spLocks noChangeArrowheads="1"/>
          </p:cNvSpPr>
          <p:nvPr/>
        </p:nvSpPr>
        <p:spPr bwMode="auto">
          <a:xfrm>
            <a:off x="6419850" y="315595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0.6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68" name="Text Box 41"/>
          <p:cNvSpPr txBox="1">
            <a:spLocks noChangeArrowheads="1"/>
          </p:cNvSpPr>
          <p:nvPr/>
        </p:nvSpPr>
        <p:spPr bwMode="auto">
          <a:xfrm>
            <a:off x="7181850" y="361315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69" name="Text Box 42"/>
          <p:cNvSpPr txBox="1">
            <a:spLocks noChangeArrowheads="1"/>
          </p:cNvSpPr>
          <p:nvPr/>
        </p:nvSpPr>
        <p:spPr bwMode="auto">
          <a:xfrm>
            <a:off x="8477250" y="323215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0.7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73770" name="Text Box 43"/>
          <p:cNvSpPr txBox="1">
            <a:spLocks noChangeArrowheads="1"/>
          </p:cNvSpPr>
          <p:nvPr/>
        </p:nvSpPr>
        <p:spPr bwMode="auto">
          <a:xfrm>
            <a:off x="8324850" y="269875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38960" name="Text Box 48"/>
          <p:cNvSpPr txBox="1">
            <a:spLocks noChangeArrowheads="1"/>
          </p:cNvSpPr>
          <p:nvPr/>
        </p:nvSpPr>
        <p:spPr bwMode="auto">
          <a:xfrm>
            <a:off x="5353050" y="2165351"/>
            <a:ext cx="914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sum=0.5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out=0.62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38961" name="Text Box 49"/>
          <p:cNvSpPr txBox="1">
            <a:spLocks noChangeArrowheads="1"/>
          </p:cNvSpPr>
          <p:nvPr/>
        </p:nvSpPr>
        <p:spPr bwMode="auto">
          <a:xfrm>
            <a:off x="5429250" y="3232151"/>
            <a:ext cx="1016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sum=-0.1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out=0.475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38962" name="Text Box 50"/>
          <p:cNvSpPr txBox="1">
            <a:spLocks noChangeArrowheads="1"/>
          </p:cNvSpPr>
          <p:nvPr/>
        </p:nvSpPr>
        <p:spPr bwMode="auto">
          <a:xfrm>
            <a:off x="7181851" y="1708151"/>
            <a:ext cx="10953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sum=0.097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out=0.476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38963" name="Text Box 51"/>
          <p:cNvSpPr txBox="1">
            <a:spLocks noChangeArrowheads="1"/>
          </p:cNvSpPr>
          <p:nvPr/>
        </p:nvSpPr>
        <p:spPr bwMode="auto">
          <a:xfrm>
            <a:off x="7105650" y="3917951"/>
            <a:ext cx="1016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sum=0.8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out=0.683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38964" name="Text Box 52"/>
          <p:cNvSpPr txBox="1">
            <a:spLocks noChangeArrowheads="1"/>
          </p:cNvSpPr>
          <p:nvPr/>
        </p:nvSpPr>
        <p:spPr bwMode="auto">
          <a:xfrm>
            <a:off x="9010650" y="2241551"/>
            <a:ext cx="1168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n.sum=0.7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n.out=0.672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graphicFrame>
        <p:nvGraphicFramePr>
          <p:cNvPr id="73776" name="Object 58"/>
          <p:cNvGraphicFramePr>
            <a:graphicFrameLocks noChangeAspect="1"/>
          </p:cNvGraphicFramePr>
          <p:nvPr/>
        </p:nvGraphicFramePr>
        <p:xfrm>
          <a:off x="3791745" y="4653137"/>
          <a:ext cx="4132263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4" imgW="1562100" imgH="685800" progId="Equation.3">
                  <p:embed/>
                </p:oleObj>
              </mc:Choice>
              <mc:Fallback>
                <p:oleObj name="Equation" r:id="rId4" imgW="15621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745" y="4653137"/>
                        <a:ext cx="4132263" cy="181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77" name="Text Box 59"/>
          <p:cNvSpPr txBox="1">
            <a:spLocks noChangeArrowheads="1"/>
          </p:cNvSpPr>
          <p:nvPr/>
        </p:nvSpPr>
        <p:spPr bwMode="auto">
          <a:xfrm>
            <a:off x="4743451" y="1098551"/>
            <a:ext cx="24923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sum= 0.5 * 1 + 0.3 * 1 = 0.8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 = sigmoid(0.8) = 0.69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73778" name="Line 63"/>
          <p:cNvSpPr>
            <a:spLocks noChangeShapeType="1"/>
          </p:cNvSpPr>
          <p:nvPr/>
        </p:nvSpPr>
        <p:spPr bwMode="auto">
          <a:xfrm flipH="1">
            <a:off x="2609850" y="1022350"/>
            <a:ext cx="2743200" cy="381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79" name="Line 64"/>
          <p:cNvSpPr>
            <a:spLocks noChangeShapeType="1"/>
          </p:cNvSpPr>
          <p:nvPr/>
        </p:nvSpPr>
        <p:spPr bwMode="auto">
          <a:xfrm flipH="1">
            <a:off x="4895850" y="1327150"/>
            <a:ext cx="457200" cy="4572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80" name="Line 66"/>
          <p:cNvSpPr>
            <a:spLocks noChangeShapeType="1"/>
          </p:cNvSpPr>
          <p:nvPr/>
        </p:nvSpPr>
        <p:spPr bwMode="auto">
          <a:xfrm flipH="1" flipV="1">
            <a:off x="5353050" y="1022350"/>
            <a:ext cx="457200" cy="1524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3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60" grpId="0" autoUpdateAnimBg="0"/>
      <p:bldP spid="38961" grpId="0" autoUpdateAnimBg="0"/>
      <p:bldP spid="38962" grpId="0" autoUpdateAnimBg="0"/>
      <p:bldP spid="38963" grpId="0" autoUpdateAnimBg="0"/>
      <p:bldP spid="38964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>
          <a:xfrm>
            <a:off x="2208213" y="0"/>
            <a:ext cx="7772400" cy="1143000"/>
          </a:xfrm>
        </p:spPr>
        <p:txBody>
          <a:bodyPr/>
          <a:lstStyle/>
          <a:p>
            <a:pPr algn="r"/>
            <a:r>
              <a:rPr lang="he-IL" altLang="en-US"/>
              <a:t>                חישוב הטעות</a:t>
            </a:r>
            <a:endParaRPr lang="en-US" altLang="en-US"/>
          </a:p>
        </p:txBody>
      </p:sp>
      <p:sp>
        <p:nvSpPr>
          <p:cNvPr id="95234" name="Oval 2"/>
          <p:cNvSpPr>
            <a:spLocks noChangeArrowheads="1"/>
          </p:cNvSpPr>
          <p:nvPr/>
        </p:nvSpPr>
        <p:spPr bwMode="auto">
          <a:xfrm>
            <a:off x="2819400" y="16748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35" name="Oval 3"/>
          <p:cNvSpPr>
            <a:spLocks noChangeArrowheads="1"/>
          </p:cNvSpPr>
          <p:nvPr/>
        </p:nvSpPr>
        <p:spPr bwMode="auto">
          <a:xfrm>
            <a:off x="2743200" y="34274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36" name="Oval 4"/>
          <p:cNvSpPr>
            <a:spLocks noChangeArrowheads="1"/>
          </p:cNvSpPr>
          <p:nvPr/>
        </p:nvSpPr>
        <p:spPr bwMode="auto">
          <a:xfrm>
            <a:off x="5715000" y="40370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37" name="Oval 5"/>
          <p:cNvSpPr>
            <a:spLocks noChangeArrowheads="1"/>
          </p:cNvSpPr>
          <p:nvPr/>
        </p:nvSpPr>
        <p:spPr bwMode="auto">
          <a:xfrm>
            <a:off x="5638800" y="30464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38" name="Oval 6"/>
          <p:cNvSpPr>
            <a:spLocks noChangeArrowheads="1"/>
          </p:cNvSpPr>
          <p:nvPr/>
        </p:nvSpPr>
        <p:spPr bwMode="auto">
          <a:xfrm>
            <a:off x="5638800" y="21320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39" name="Oval 7"/>
          <p:cNvSpPr>
            <a:spLocks noChangeArrowheads="1"/>
          </p:cNvSpPr>
          <p:nvPr/>
        </p:nvSpPr>
        <p:spPr bwMode="auto">
          <a:xfrm>
            <a:off x="7848600" y="36560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40" name="Oval 8"/>
          <p:cNvSpPr>
            <a:spLocks noChangeArrowheads="1"/>
          </p:cNvSpPr>
          <p:nvPr/>
        </p:nvSpPr>
        <p:spPr bwMode="auto">
          <a:xfrm>
            <a:off x="7772400" y="27416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41" name="Oval 9"/>
          <p:cNvSpPr>
            <a:spLocks noChangeArrowheads="1"/>
          </p:cNvSpPr>
          <p:nvPr/>
        </p:nvSpPr>
        <p:spPr bwMode="auto">
          <a:xfrm>
            <a:off x="9829800" y="31988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42" name="Oval 10"/>
          <p:cNvSpPr>
            <a:spLocks noChangeArrowheads="1"/>
          </p:cNvSpPr>
          <p:nvPr/>
        </p:nvSpPr>
        <p:spPr bwMode="auto">
          <a:xfrm>
            <a:off x="2743200" y="4646613"/>
            <a:ext cx="228600" cy="2286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43" name="Line 11"/>
          <p:cNvSpPr>
            <a:spLocks noChangeShapeType="1"/>
          </p:cNvSpPr>
          <p:nvPr/>
        </p:nvSpPr>
        <p:spPr bwMode="auto">
          <a:xfrm>
            <a:off x="3124200" y="1827213"/>
            <a:ext cx="2514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4" name="Line 12"/>
          <p:cNvSpPr>
            <a:spLocks noChangeShapeType="1"/>
          </p:cNvSpPr>
          <p:nvPr/>
        </p:nvSpPr>
        <p:spPr bwMode="auto">
          <a:xfrm>
            <a:off x="3048000" y="1903413"/>
            <a:ext cx="2514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5" name="Line 13"/>
          <p:cNvSpPr>
            <a:spLocks noChangeShapeType="1"/>
          </p:cNvSpPr>
          <p:nvPr/>
        </p:nvSpPr>
        <p:spPr bwMode="auto">
          <a:xfrm flipV="1">
            <a:off x="3048000" y="3198813"/>
            <a:ext cx="2514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6" name="Line 14"/>
          <p:cNvSpPr>
            <a:spLocks noChangeShapeType="1"/>
          </p:cNvSpPr>
          <p:nvPr/>
        </p:nvSpPr>
        <p:spPr bwMode="auto">
          <a:xfrm>
            <a:off x="2971800" y="3579813"/>
            <a:ext cx="2667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7" name="Line 15"/>
          <p:cNvSpPr>
            <a:spLocks noChangeShapeType="1"/>
          </p:cNvSpPr>
          <p:nvPr/>
        </p:nvSpPr>
        <p:spPr bwMode="auto">
          <a:xfrm flipV="1">
            <a:off x="2971800" y="2284413"/>
            <a:ext cx="25908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8" name="Line 16"/>
          <p:cNvSpPr>
            <a:spLocks noChangeShapeType="1"/>
          </p:cNvSpPr>
          <p:nvPr/>
        </p:nvSpPr>
        <p:spPr bwMode="auto">
          <a:xfrm flipV="1">
            <a:off x="3048000" y="3351213"/>
            <a:ext cx="2514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49" name="Line 17"/>
          <p:cNvSpPr>
            <a:spLocks noChangeShapeType="1"/>
          </p:cNvSpPr>
          <p:nvPr/>
        </p:nvSpPr>
        <p:spPr bwMode="auto">
          <a:xfrm flipV="1">
            <a:off x="3048000" y="4189413"/>
            <a:ext cx="2590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0" name="Line 18"/>
          <p:cNvSpPr>
            <a:spLocks noChangeShapeType="1"/>
          </p:cNvSpPr>
          <p:nvPr/>
        </p:nvSpPr>
        <p:spPr bwMode="auto">
          <a:xfrm>
            <a:off x="5943600" y="2208213"/>
            <a:ext cx="1828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1" name="Line 19"/>
          <p:cNvSpPr>
            <a:spLocks noChangeShapeType="1"/>
          </p:cNvSpPr>
          <p:nvPr/>
        </p:nvSpPr>
        <p:spPr bwMode="auto">
          <a:xfrm>
            <a:off x="6019800" y="2360613"/>
            <a:ext cx="17526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2" name="Line 20"/>
          <p:cNvSpPr>
            <a:spLocks noChangeShapeType="1"/>
          </p:cNvSpPr>
          <p:nvPr/>
        </p:nvSpPr>
        <p:spPr bwMode="auto">
          <a:xfrm flipV="1">
            <a:off x="6019800" y="2894013"/>
            <a:ext cx="1676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3" name="Line 21"/>
          <p:cNvSpPr>
            <a:spLocks noChangeShapeType="1"/>
          </p:cNvSpPr>
          <p:nvPr/>
        </p:nvSpPr>
        <p:spPr bwMode="auto">
          <a:xfrm>
            <a:off x="5943600" y="3198813"/>
            <a:ext cx="1828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4" name="Line 22"/>
          <p:cNvSpPr>
            <a:spLocks noChangeShapeType="1"/>
          </p:cNvSpPr>
          <p:nvPr/>
        </p:nvSpPr>
        <p:spPr bwMode="auto">
          <a:xfrm flipV="1">
            <a:off x="6019800" y="3884613"/>
            <a:ext cx="1752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5" name="Line 23"/>
          <p:cNvSpPr>
            <a:spLocks noChangeShapeType="1"/>
          </p:cNvSpPr>
          <p:nvPr/>
        </p:nvSpPr>
        <p:spPr bwMode="auto">
          <a:xfrm>
            <a:off x="8001000" y="2894013"/>
            <a:ext cx="167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6" name="Line 24"/>
          <p:cNvSpPr>
            <a:spLocks noChangeShapeType="1"/>
          </p:cNvSpPr>
          <p:nvPr/>
        </p:nvSpPr>
        <p:spPr bwMode="auto">
          <a:xfrm flipV="1">
            <a:off x="8077200" y="3351213"/>
            <a:ext cx="1600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57" name="Text Box 25"/>
          <p:cNvSpPr txBox="1">
            <a:spLocks noChangeArrowheads="1"/>
          </p:cNvSpPr>
          <p:nvPr/>
        </p:nvSpPr>
        <p:spPr bwMode="auto">
          <a:xfrm>
            <a:off x="2209800" y="15224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1</a:t>
            </a:r>
          </a:p>
        </p:txBody>
      </p:sp>
      <p:sp>
        <p:nvSpPr>
          <p:cNvPr id="95258" name="Text Box 26"/>
          <p:cNvSpPr txBox="1">
            <a:spLocks noChangeArrowheads="1"/>
          </p:cNvSpPr>
          <p:nvPr/>
        </p:nvSpPr>
        <p:spPr bwMode="auto">
          <a:xfrm>
            <a:off x="2133600" y="32750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0</a:t>
            </a:r>
          </a:p>
        </p:txBody>
      </p:sp>
      <p:sp>
        <p:nvSpPr>
          <p:cNvPr id="95259" name="Text Box 27"/>
          <p:cNvSpPr txBox="1">
            <a:spLocks noChangeArrowheads="1"/>
          </p:cNvSpPr>
          <p:nvPr/>
        </p:nvSpPr>
        <p:spPr bwMode="auto">
          <a:xfrm>
            <a:off x="2133600" y="44180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1</a:t>
            </a:r>
          </a:p>
        </p:txBody>
      </p:sp>
      <p:sp>
        <p:nvSpPr>
          <p:cNvPr id="95260" name="Text Box 28"/>
          <p:cNvSpPr txBox="1">
            <a:spLocks noChangeArrowheads="1"/>
          </p:cNvSpPr>
          <p:nvPr/>
        </p:nvSpPr>
        <p:spPr bwMode="auto">
          <a:xfrm>
            <a:off x="2590801" y="4951413"/>
            <a:ext cx="5127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ea typeface="Times New Roman" charset="0"/>
                <a:cs typeface="Times New Roman" charset="0"/>
              </a:rPr>
              <a:t>bias</a:t>
            </a:r>
            <a:endParaRPr lang="en-US" altLang="en-US" sz="2400">
              <a:solidFill>
                <a:srgbClr val="CC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95261" name="Text Box 29"/>
          <p:cNvSpPr txBox="1">
            <a:spLocks noChangeArrowheads="1"/>
          </p:cNvSpPr>
          <p:nvPr/>
        </p:nvSpPr>
        <p:spPr bwMode="auto">
          <a:xfrm>
            <a:off x="4495800" y="19796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62" name="Text Box 30"/>
          <p:cNvSpPr txBox="1">
            <a:spLocks noChangeArrowheads="1"/>
          </p:cNvSpPr>
          <p:nvPr/>
        </p:nvSpPr>
        <p:spPr bwMode="auto">
          <a:xfrm>
            <a:off x="5105400" y="25130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0.3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63" name="Text Box 31"/>
          <p:cNvSpPr txBox="1">
            <a:spLocks noChangeArrowheads="1"/>
          </p:cNvSpPr>
          <p:nvPr/>
        </p:nvSpPr>
        <p:spPr bwMode="auto">
          <a:xfrm>
            <a:off x="4572000" y="31988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64" name="Text Box 32"/>
          <p:cNvSpPr txBox="1">
            <a:spLocks noChangeArrowheads="1"/>
          </p:cNvSpPr>
          <p:nvPr/>
        </p:nvSpPr>
        <p:spPr bwMode="auto">
          <a:xfrm>
            <a:off x="5029200" y="35036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0.7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65" name="Text Box 33"/>
          <p:cNvSpPr txBox="1">
            <a:spLocks noChangeArrowheads="1"/>
          </p:cNvSpPr>
          <p:nvPr/>
        </p:nvSpPr>
        <p:spPr bwMode="auto">
          <a:xfrm>
            <a:off x="4572000" y="3884613"/>
            <a:ext cx="546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66" name="Text Box 34"/>
          <p:cNvSpPr txBox="1">
            <a:spLocks noChangeArrowheads="1"/>
          </p:cNvSpPr>
          <p:nvPr/>
        </p:nvSpPr>
        <p:spPr bwMode="auto">
          <a:xfrm>
            <a:off x="4343400" y="4341813"/>
            <a:ext cx="546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-0.1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67" name="Text Box 35"/>
          <p:cNvSpPr txBox="1">
            <a:spLocks noChangeArrowheads="1"/>
          </p:cNvSpPr>
          <p:nvPr/>
        </p:nvSpPr>
        <p:spPr bwMode="auto">
          <a:xfrm>
            <a:off x="4191000" y="25892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-0.2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68" name="Text Box 36"/>
          <p:cNvSpPr txBox="1">
            <a:spLocks noChangeArrowheads="1"/>
          </p:cNvSpPr>
          <p:nvPr/>
        </p:nvSpPr>
        <p:spPr bwMode="auto">
          <a:xfrm>
            <a:off x="7162800" y="28940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69" name="Text Box 37"/>
          <p:cNvSpPr txBox="1">
            <a:spLocks noChangeArrowheads="1"/>
          </p:cNvSpPr>
          <p:nvPr/>
        </p:nvSpPr>
        <p:spPr bwMode="auto">
          <a:xfrm>
            <a:off x="6629400" y="2360613"/>
            <a:ext cx="546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70" name="Text Box 38"/>
          <p:cNvSpPr txBox="1">
            <a:spLocks noChangeArrowheads="1"/>
          </p:cNvSpPr>
          <p:nvPr/>
        </p:nvSpPr>
        <p:spPr bwMode="auto">
          <a:xfrm>
            <a:off x="6781800" y="31226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0.3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71" name="Text Box 39"/>
          <p:cNvSpPr txBox="1">
            <a:spLocks noChangeArrowheads="1"/>
          </p:cNvSpPr>
          <p:nvPr/>
        </p:nvSpPr>
        <p:spPr bwMode="auto">
          <a:xfrm>
            <a:off x="6477000" y="34274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0.6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72" name="Text Box 40"/>
          <p:cNvSpPr txBox="1">
            <a:spLocks noChangeArrowheads="1"/>
          </p:cNvSpPr>
          <p:nvPr/>
        </p:nvSpPr>
        <p:spPr bwMode="auto">
          <a:xfrm>
            <a:off x="7239000" y="38846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73" name="Text Box 41"/>
          <p:cNvSpPr txBox="1">
            <a:spLocks noChangeArrowheads="1"/>
          </p:cNvSpPr>
          <p:nvPr/>
        </p:nvSpPr>
        <p:spPr bwMode="auto">
          <a:xfrm>
            <a:off x="8534400" y="35036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0.7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74" name="Text Box 42"/>
          <p:cNvSpPr txBox="1">
            <a:spLocks noChangeArrowheads="1"/>
          </p:cNvSpPr>
          <p:nvPr/>
        </p:nvSpPr>
        <p:spPr bwMode="auto">
          <a:xfrm>
            <a:off x="8382000" y="29702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75" name="Text Box 43"/>
          <p:cNvSpPr txBox="1">
            <a:spLocks noChangeArrowheads="1"/>
          </p:cNvSpPr>
          <p:nvPr/>
        </p:nvSpPr>
        <p:spPr bwMode="auto">
          <a:xfrm>
            <a:off x="5334000" y="1370014"/>
            <a:ext cx="914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sum=0.8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out=0.69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95276" name="Text Box 44"/>
          <p:cNvSpPr txBox="1">
            <a:spLocks noChangeArrowheads="1"/>
          </p:cNvSpPr>
          <p:nvPr/>
        </p:nvSpPr>
        <p:spPr bwMode="auto">
          <a:xfrm>
            <a:off x="5410200" y="2436814"/>
            <a:ext cx="914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sum=0.5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out=0.62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95277" name="Text Box 45"/>
          <p:cNvSpPr txBox="1">
            <a:spLocks noChangeArrowheads="1"/>
          </p:cNvSpPr>
          <p:nvPr/>
        </p:nvSpPr>
        <p:spPr bwMode="auto">
          <a:xfrm>
            <a:off x="5486400" y="3503614"/>
            <a:ext cx="1016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sum=-0.1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out=0.475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95278" name="Text Box 46"/>
          <p:cNvSpPr txBox="1">
            <a:spLocks noChangeArrowheads="1"/>
          </p:cNvSpPr>
          <p:nvPr/>
        </p:nvSpPr>
        <p:spPr bwMode="auto">
          <a:xfrm>
            <a:off x="7086601" y="1903414"/>
            <a:ext cx="10953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sum=0.097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out=0.476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95279" name="Text Box 47"/>
          <p:cNvSpPr txBox="1">
            <a:spLocks noChangeArrowheads="1"/>
          </p:cNvSpPr>
          <p:nvPr/>
        </p:nvSpPr>
        <p:spPr bwMode="auto">
          <a:xfrm>
            <a:off x="7162800" y="4189414"/>
            <a:ext cx="1016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sum=0.8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out=0.683</a:t>
            </a:r>
            <a:endParaRPr lang="en-US" altLang="en-US" sz="2400">
              <a:solidFill>
                <a:srgbClr val="99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95280" name="Text Box 48"/>
          <p:cNvSpPr txBox="1">
            <a:spLocks noChangeArrowheads="1"/>
          </p:cNvSpPr>
          <p:nvPr/>
        </p:nvSpPr>
        <p:spPr bwMode="auto">
          <a:xfrm>
            <a:off x="8229600" y="1217613"/>
            <a:ext cx="2438400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output = 0.672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error = 1-0.672 = 0.328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correct = 0.672*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(1 - 0.672) * (1 -0.672) = 0.072296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(assume 1 was expected as output)</a:t>
            </a:r>
          </a:p>
        </p:txBody>
      </p:sp>
      <p:sp>
        <p:nvSpPr>
          <p:cNvPr id="95281" name="AutoShape 62"/>
          <p:cNvSpPr>
            <a:spLocks noChangeArrowheads="1"/>
          </p:cNvSpPr>
          <p:nvPr/>
        </p:nvSpPr>
        <p:spPr bwMode="auto">
          <a:xfrm>
            <a:off x="7315201" y="303214"/>
            <a:ext cx="3821113" cy="3449637"/>
          </a:xfrm>
          <a:prstGeom prst="irregularSeal2">
            <a:avLst/>
          </a:prstGeom>
          <a:noFill/>
          <a:ln w="38100">
            <a:solidFill>
              <a:srgbClr val="66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5282" name="Text Box 63"/>
          <p:cNvSpPr txBox="1">
            <a:spLocks noChangeArrowheads="1"/>
          </p:cNvSpPr>
          <p:nvPr/>
        </p:nvSpPr>
        <p:spPr bwMode="auto">
          <a:xfrm>
            <a:off x="2135188" y="5626101"/>
            <a:ext cx="777328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LastNeuronError = DesiredOutput - Output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ea typeface="Times New Roman" charset="0"/>
              <a:cs typeface="Times New Roman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LastNeuronCorrect = Output * (1-Output) * LastNeuronError</a:t>
            </a:r>
          </a:p>
        </p:txBody>
      </p:sp>
    </p:spTree>
    <p:extLst>
      <p:ext uri="{BB962C8B-B14F-4D97-AF65-F5344CB8AC3E}">
        <p14:creationId xmlns:p14="http://schemas.microsoft.com/office/powerpoint/2010/main" val="841539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26988"/>
            <a:ext cx="7772400" cy="1143001"/>
          </a:xfrm>
        </p:spPr>
        <p:txBody>
          <a:bodyPr/>
          <a:lstStyle/>
          <a:p>
            <a:pPr rtl="1"/>
            <a:r>
              <a:rPr lang="en-US" altLang="en-US"/>
              <a:t>Error back Propagation</a:t>
            </a:r>
          </a:p>
        </p:txBody>
      </p:sp>
      <p:sp>
        <p:nvSpPr>
          <p:cNvPr id="97282" name="Oval 2"/>
          <p:cNvSpPr>
            <a:spLocks noChangeArrowheads="1"/>
          </p:cNvSpPr>
          <p:nvPr/>
        </p:nvSpPr>
        <p:spPr bwMode="auto">
          <a:xfrm>
            <a:off x="2819400" y="16113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283" name="Oval 3"/>
          <p:cNvSpPr>
            <a:spLocks noChangeArrowheads="1"/>
          </p:cNvSpPr>
          <p:nvPr/>
        </p:nvSpPr>
        <p:spPr bwMode="auto">
          <a:xfrm>
            <a:off x="2743200" y="33639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284" name="Oval 4"/>
          <p:cNvSpPr>
            <a:spLocks noChangeArrowheads="1"/>
          </p:cNvSpPr>
          <p:nvPr/>
        </p:nvSpPr>
        <p:spPr bwMode="auto">
          <a:xfrm>
            <a:off x="5715000" y="39735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285" name="Oval 5"/>
          <p:cNvSpPr>
            <a:spLocks noChangeArrowheads="1"/>
          </p:cNvSpPr>
          <p:nvPr/>
        </p:nvSpPr>
        <p:spPr bwMode="auto">
          <a:xfrm>
            <a:off x="5638800" y="29829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286" name="Oval 6"/>
          <p:cNvSpPr>
            <a:spLocks noChangeArrowheads="1"/>
          </p:cNvSpPr>
          <p:nvPr/>
        </p:nvSpPr>
        <p:spPr bwMode="auto">
          <a:xfrm>
            <a:off x="5638800" y="20685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287" name="Oval 7"/>
          <p:cNvSpPr>
            <a:spLocks noChangeArrowheads="1"/>
          </p:cNvSpPr>
          <p:nvPr/>
        </p:nvSpPr>
        <p:spPr bwMode="auto">
          <a:xfrm>
            <a:off x="7848600" y="35925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288" name="Oval 8"/>
          <p:cNvSpPr>
            <a:spLocks noChangeArrowheads="1"/>
          </p:cNvSpPr>
          <p:nvPr/>
        </p:nvSpPr>
        <p:spPr bwMode="auto">
          <a:xfrm>
            <a:off x="7772400" y="26781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289" name="Oval 9"/>
          <p:cNvSpPr>
            <a:spLocks noChangeArrowheads="1"/>
          </p:cNvSpPr>
          <p:nvPr/>
        </p:nvSpPr>
        <p:spPr bwMode="auto">
          <a:xfrm>
            <a:off x="9829800" y="3135313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290" name="Oval 10"/>
          <p:cNvSpPr>
            <a:spLocks noChangeArrowheads="1"/>
          </p:cNvSpPr>
          <p:nvPr/>
        </p:nvSpPr>
        <p:spPr bwMode="auto">
          <a:xfrm>
            <a:off x="2743200" y="4583113"/>
            <a:ext cx="228600" cy="2286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291" name="Line 11"/>
          <p:cNvSpPr>
            <a:spLocks noChangeShapeType="1"/>
          </p:cNvSpPr>
          <p:nvPr/>
        </p:nvSpPr>
        <p:spPr bwMode="auto">
          <a:xfrm>
            <a:off x="3124200" y="1763713"/>
            <a:ext cx="2514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2" name="Line 12"/>
          <p:cNvSpPr>
            <a:spLocks noChangeShapeType="1"/>
          </p:cNvSpPr>
          <p:nvPr/>
        </p:nvSpPr>
        <p:spPr bwMode="auto">
          <a:xfrm>
            <a:off x="3048000" y="1839913"/>
            <a:ext cx="2514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3" name="Line 13"/>
          <p:cNvSpPr>
            <a:spLocks noChangeShapeType="1"/>
          </p:cNvSpPr>
          <p:nvPr/>
        </p:nvSpPr>
        <p:spPr bwMode="auto">
          <a:xfrm flipV="1">
            <a:off x="3048000" y="3135313"/>
            <a:ext cx="2514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4" name="Line 14"/>
          <p:cNvSpPr>
            <a:spLocks noChangeShapeType="1"/>
          </p:cNvSpPr>
          <p:nvPr/>
        </p:nvSpPr>
        <p:spPr bwMode="auto">
          <a:xfrm>
            <a:off x="2971800" y="3516313"/>
            <a:ext cx="2667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5" name="Line 15"/>
          <p:cNvSpPr>
            <a:spLocks noChangeShapeType="1"/>
          </p:cNvSpPr>
          <p:nvPr/>
        </p:nvSpPr>
        <p:spPr bwMode="auto">
          <a:xfrm flipV="1">
            <a:off x="2971800" y="2220913"/>
            <a:ext cx="25908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6" name="Line 16"/>
          <p:cNvSpPr>
            <a:spLocks noChangeShapeType="1"/>
          </p:cNvSpPr>
          <p:nvPr/>
        </p:nvSpPr>
        <p:spPr bwMode="auto">
          <a:xfrm flipV="1">
            <a:off x="3048000" y="3287713"/>
            <a:ext cx="2514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7" name="Line 17"/>
          <p:cNvSpPr>
            <a:spLocks noChangeShapeType="1"/>
          </p:cNvSpPr>
          <p:nvPr/>
        </p:nvSpPr>
        <p:spPr bwMode="auto">
          <a:xfrm flipV="1">
            <a:off x="3048000" y="4125913"/>
            <a:ext cx="2590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8" name="Line 18"/>
          <p:cNvSpPr>
            <a:spLocks noChangeShapeType="1"/>
          </p:cNvSpPr>
          <p:nvPr/>
        </p:nvSpPr>
        <p:spPr bwMode="auto">
          <a:xfrm>
            <a:off x="5943600" y="2144713"/>
            <a:ext cx="1828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99" name="Line 19"/>
          <p:cNvSpPr>
            <a:spLocks noChangeShapeType="1"/>
          </p:cNvSpPr>
          <p:nvPr/>
        </p:nvSpPr>
        <p:spPr bwMode="auto">
          <a:xfrm>
            <a:off x="6019800" y="2297113"/>
            <a:ext cx="17526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0" name="Line 20"/>
          <p:cNvSpPr>
            <a:spLocks noChangeShapeType="1"/>
          </p:cNvSpPr>
          <p:nvPr/>
        </p:nvSpPr>
        <p:spPr bwMode="auto">
          <a:xfrm flipV="1">
            <a:off x="6019800" y="2830513"/>
            <a:ext cx="1676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1" name="Line 21"/>
          <p:cNvSpPr>
            <a:spLocks noChangeShapeType="1"/>
          </p:cNvSpPr>
          <p:nvPr/>
        </p:nvSpPr>
        <p:spPr bwMode="auto">
          <a:xfrm>
            <a:off x="5943600" y="3135313"/>
            <a:ext cx="1828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2" name="Line 22"/>
          <p:cNvSpPr>
            <a:spLocks noChangeShapeType="1"/>
          </p:cNvSpPr>
          <p:nvPr/>
        </p:nvSpPr>
        <p:spPr bwMode="auto">
          <a:xfrm flipV="1">
            <a:off x="6019800" y="3821113"/>
            <a:ext cx="1752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3" name="Line 23"/>
          <p:cNvSpPr>
            <a:spLocks noChangeShapeType="1"/>
          </p:cNvSpPr>
          <p:nvPr/>
        </p:nvSpPr>
        <p:spPr bwMode="auto">
          <a:xfrm>
            <a:off x="8001000" y="2830513"/>
            <a:ext cx="167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4" name="Line 24"/>
          <p:cNvSpPr>
            <a:spLocks noChangeShapeType="1"/>
          </p:cNvSpPr>
          <p:nvPr/>
        </p:nvSpPr>
        <p:spPr bwMode="auto">
          <a:xfrm flipV="1">
            <a:off x="8077200" y="3287713"/>
            <a:ext cx="1600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305" name="Text Box 25"/>
          <p:cNvSpPr txBox="1">
            <a:spLocks noChangeArrowheads="1"/>
          </p:cNvSpPr>
          <p:nvPr/>
        </p:nvSpPr>
        <p:spPr bwMode="auto">
          <a:xfrm>
            <a:off x="2209800" y="14589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1</a:t>
            </a:r>
          </a:p>
        </p:txBody>
      </p:sp>
      <p:sp>
        <p:nvSpPr>
          <p:cNvPr id="97306" name="Text Box 26"/>
          <p:cNvSpPr txBox="1">
            <a:spLocks noChangeArrowheads="1"/>
          </p:cNvSpPr>
          <p:nvPr/>
        </p:nvSpPr>
        <p:spPr bwMode="auto">
          <a:xfrm>
            <a:off x="2590801" y="4887913"/>
            <a:ext cx="5127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ea typeface="Times New Roman" charset="0"/>
                <a:cs typeface="Times New Roman" charset="0"/>
              </a:rPr>
              <a:t>bias</a:t>
            </a:r>
            <a:endParaRPr lang="en-US" altLang="en-US" sz="2400">
              <a:solidFill>
                <a:srgbClr val="CC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97307" name="Text Box 27"/>
          <p:cNvSpPr txBox="1">
            <a:spLocks noChangeArrowheads="1"/>
          </p:cNvSpPr>
          <p:nvPr/>
        </p:nvSpPr>
        <p:spPr bwMode="auto">
          <a:xfrm>
            <a:off x="4495800" y="19161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08" name="Text Box 28"/>
          <p:cNvSpPr txBox="1">
            <a:spLocks noChangeArrowheads="1"/>
          </p:cNvSpPr>
          <p:nvPr/>
        </p:nvSpPr>
        <p:spPr bwMode="auto">
          <a:xfrm>
            <a:off x="5105400" y="24495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0.3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09" name="Text Box 29"/>
          <p:cNvSpPr txBox="1">
            <a:spLocks noChangeArrowheads="1"/>
          </p:cNvSpPr>
          <p:nvPr/>
        </p:nvSpPr>
        <p:spPr bwMode="auto">
          <a:xfrm>
            <a:off x="4572000" y="31353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10" name="Text Box 30"/>
          <p:cNvSpPr txBox="1">
            <a:spLocks noChangeArrowheads="1"/>
          </p:cNvSpPr>
          <p:nvPr/>
        </p:nvSpPr>
        <p:spPr bwMode="auto">
          <a:xfrm>
            <a:off x="5029200" y="34401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0.7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11" name="Text Box 31"/>
          <p:cNvSpPr txBox="1">
            <a:spLocks noChangeArrowheads="1"/>
          </p:cNvSpPr>
          <p:nvPr/>
        </p:nvSpPr>
        <p:spPr bwMode="auto">
          <a:xfrm>
            <a:off x="4572000" y="3821113"/>
            <a:ext cx="546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-0.5</a:t>
            </a:r>
          </a:p>
        </p:txBody>
      </p:sp>
      <p:sp>
        <p:nvSpPr>
          <p:cNvPr id="97312" name="Text Box 32"/>
          <p:cNvSpPr txBox="1">
            <a:spLocks noChangeArrowheads="1"/>
          </p:cNvSpPr>
          <p:nvPr/>
        </p:nvSpPr>
        <p:spPr bwMode="auto">
          <a:xfrm>
            <a:off x="4343400" y="4278313"/>
            <a:ext cx="546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-0.1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13" name="Text Box 33"/>
          <p:cNvSpPr txBox="1">
            <a:spLocks noChangeArrowheads="1"/>
          </p:cNvSpPr>
          <p:nvPr/>
        </p:nvSpPr>
        <p:spPr bwMode="auto">
          <a:xfrm>
            <a:off x="4191000" y="25257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-0.2</a:t>
            </a:r>
          </a:p>
        </p:txBody>
      </p:sp>
      <p:sp>
        <p:nvSpPr>
          <p:cNvPr id="97314" name="Text Box 34"/>
          <p:cNvSpPr txBox="1">
            <a:spLocks noChangeArrowheads="1"/>
          </p:cNvSpPr>
          <p:nvPr/>
        </p:nvSpPr>
        <p:spPr bwMode="auto">
          <a:xfrm>
            <a:off x="7162800" y="28305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15" name="Text Box 35"/>
          <p:cNvSpPr txBox="1">
            <a:spLocks noChangeArrowheads="1"/>
          </p:cNvSpPr>
          <p:nvPr/>
        </p:nvSpPr>
        <p:spPr bwMode="auto">
          <a:xfrm>
            <a:off x="6629400" y="2297113"/>
            <a:ext cx="546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16" name="Text Box 36"/>
          <p:cNvSpPr txBox="1">
            <a:spLocks noChangeArrowheads="1"/>
          </p:cNvSpPr>
          <p:nvPr/>
        </p:nvSpPr>
        <p:spPr bwMode="auto">
          <a:xfrm>
            <a:off x="6781800" y="30591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0.3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17" name="Text Box 37"/>
          <p:cNvSpPr txBox="1">
            <a:spLocks noChangeArrowheads="1"/>
          </p:cNvSpPr>
          <p:nvPr/>
        </p:nvSpPr>
        <p:spPr bwMode="auto">
          <a:xfrm>
            <a:off x="6477000" y="33639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0.6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18" name="Text Box 38"/>
          <p:cNvSpPr txBox="1">
            <a:spLocks noChangeArrowheads="1"/>
          </p:cNvSpPr>
          <p:nvPr/>
        </p:nvSpPr>
        <p:spPr bwMode="auto">
          <a:xfrm>
            <a:off x="7239000" y="38211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19" name="Text Box 39"/>
          <p:cNvSpPr txBox="1">
            <a:spLocks noChangeArrowheads="1"/>
          </p:cNvSpPr>
          <p:nvPr/>
        </p:nvSpPr>
        <p:spPr bwMode="auto">
          <a:xfrm>
            <a:off x="8534400" y="34401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0.7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20" name="Text Box 40"/>
          <p:cNvSpPr txBox="1">
            <a:spLocks noChangeArrowheads="1"/>
          </p:cNvSpPr>
          <p:nvPr/>
        </p:nvSpPr>
        <p:spPr bwMode="auto">
          <a:xfrm>
            <a:off x="8382000" y="290671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21" name="Text Box 46"/>
          <p:cNvSpPr txBox="1">
            <a:spLocks noChangeArrowheads="1"/>
          </p:cNvSpPr>
          <p:nvPr/>
        </p:nvSpPr>
        <p:spPr bwMode="auto">
          <a:xfrm>
            <a:off x="9067800" y="2776538"/>
            <a:ext cx="1627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ea typeface="Times New Roman" charset="0"/>
                <a:cs typeface="Times New Roman" charset="0"/>
              </a:rPr>
              <a:t>correct=0.07229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7322" name="Text Box 51"/>
          <p:cNvSpPr txBox="1">
            <a:spLocks noChangeArrowheads="1"/>
          </p:cNvSpPr>
          <p:nvPr/>
        </p:nvSpPr>
        <p:spPr bwMode="auto">
          <a:xfrm>
            <a:off x="2133600" y="32115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0</a:t>
            </a:r>
          </a:p>
        </p:txBody>
      </p:sp>
      <p:sp>
        <p:nvSpPr>
          <p:cNvPr id="97323" name="Text Box 52"/>
          <p:cNvSpPr txBox="1">
            <a:spLocks noChangeArrowheads="1"/>
          </p:cNvSpPr>
          <p:nvPr/>
        </p:nvSpPr>
        <p:spPr bwMode="auto">
          <a:xfrm>
            <a:off x="2133600" y="43545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1</a:t>
            </a:r>
          </a:p>
        </p:txBody>
      </p:sp>
      <p:graphicFrame>
        <p:nvGraphicFramePr>
          <p:cNvPr id="97324" name="Object 64"/>
          <p:cNvGraphicFramePr>
            <a:graphicFrameLocks noChangeAspect="1"/>
          </p:cNvGraphicFramePr>
          <p:nvPr/>
        </p:nvGraphicFramePr>
        <p:xfrm>
          <a:off x="2743200" y="5649913"/>
          <a:ext cx="6781800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36" name="Equation" r:id="rId4" imgW="2933700" imgH="495300" progId="Equation.3">
                  <p:embed/>
                </p:oleObj>
              </mc:Choice>
              <mc:Fallback>
                <p:oleObj name="Equation" r:id="rId4" imgW="29337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649913"/>
                        <a:ext cx="6781800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8"/>
          <p:cNvGrpSpPr>
            <a:grpSpLocks/>
          </p:cNvGrpSpPr>
          <p:nvPr/>
        </p:nvGrpSpPr>
        <p:grpSpPr bwMode="auto">
          <a:xfrm>
            <a:off x="4876800" y="1077913"/>
            <a:ext cx="5322888" cy="1371600"/>
            <a:chOff x="2112" y="288"/>
            <a:chExt cx="3168" cy="864"/>
          </a:xfrm>
        </p:grpSpPr>
        <p:grpSp>
          <p:nvGrpSpPr>
            <p:cNvPr id="97338" name="Group 79"/>
            <p:cNvGrpSpPr>
              <a:grpSpLocks/>
            </p:cNvGrpSpPr>
            <p:nvPr/>
          </p:nvGrpSpPr>
          <p:grpSpPr bwMode="auto">
            <a:xfrm>
              <a:off x="2112" y="288"/>
              <a:ext cx="3168" cy="864"/>
              <a:chOff x="2112" y="288"/>
              <a:chExt cx="3072" cy="864"/>
            </a:xfrm>
          </p:grpSpPr>
          <p:sp>
            <p:nvSpPr>
              <p:cNvPr id="97340" name="Line 74"/>
              <p:cNvSpPr>
                <a:spLocks noChangeShapeType="1"/>
              </p:cNvSpPr>
              <p:nvPr/>
            </p:nvSpPr>
            <p:spPr bwMode="auto">
              <a:xfrm flipH="1">
                <a:off x="3408" y="768"/>
                <a:ext cx="144" cy="9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7341" name="Group 78"/>
              <p:cNvGrpSpPr>
                <a:grpSpLocks/>
              </p:cNvGrpSpPr>
              <p:nvPr/>
            </p:nvGrpSpPr>
            <p:grpSpPr bwMode="auto">
              <a:xfrm>
                <a:off x="2112" y="288"/>
                <a:ext cx="3072" cy="864"/>
                <a:chOff x="2112" y="288"/>
                <a:chExt cx="3072" cy="864"/>
              </a:xfrm>
            </p:grpSpPr>
            <p:sp>
              <p:nvSpPr>
                <p:cNvPr id="97342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400" y="288"/>
                  <a:ext cx="2688" cy="5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charset="0"/>
                      <a:ea typeface="Arial" charset="0"/>
                      <a:cs typeface="Arial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solidFill>
                        <a:srgbClr val="990000"/>
                      </a:solidFill>
                      <a:ea typeface="Times New Roman" charset="0"/>
                      <a:cs typeface="Times New Roman" charset="0"/>
                    </a:rPr>
                    <a:t>out</a:t>
                  </a:r>
                  <a:r>
                    <a:rPr lang="he-IL" altLang="en-US" sz="1600">
                      <a:solidFill>
                        <a:srgbClr val="990000"/>
                      </a:solidFill>
                      <a:ea typeface="Times New Roman" charset="0"/>
                      <a:cs typeface="Times New Roman" charset="0"/>
                    </a:rPr>
                    <a:t> </a:t>
                  </a:r>
                  <a:r>
                    <a:rPr lang="en-US" altLang="en-US" sz="1600">
                      <a:solidFill>
                        <a:srgbClr val="990000"/>
                      </a:solidFill>
                      <a:ea typeface="Times New Roman" charset="0"/>
                      <a:cs typeface="Times New Roman" charset="0"/>
                    </a:rPr>
                    <a:t>=</a:t>
                  </a:r>
                  <a:r>
                    <a:rPr lang="he-IL" altLang="en-US" sz="1600">
                      <a:solidFill>
                        <a:srgbClr val="990000"/>
                      </a:solidFill>
                      <a:ea typeface="Times New Roman" charset="0"/>
                      <a:cs typeface="Times New Roman" charset="0"/>
                    </a:rPr>
                    <a:t> </a:t>
                  </a:r>
                  <a:r>
                    <a:rPr lang="en-US" altLang="en-US" sz="1600">
                      <a:solidFill>
                        <a:srgbClr val="990000"/>
                      </a:solidFill>
                      <a:ea typeface="Times New Roman" charset="0"/>
                      <a:cs typeface="Times New Roman" charset="0"/>
                    </a:rPr>
                    <a:t>0.69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he-IL" altLang="en-US" sz="1600">
                      <a:ea typeface="Times New Roman" charset="0"/>
                      <a:cs typeface="Times New Roman" charset="0"/>
                    </a:rPr>
                    <a:t>    </a:t>
                  </a:r>
                  <a:r>
                    <a:rPr lang="en-US" altLang="en-US" sz="1600">
                      <a:ea typeface="Times New Roman" charset="0"/>
                      <a:cs typeface="Times New Roman" charset="0"/>
                    </a:rPr>
                    <a:t>=</a:t>
                  </a:r>
                  <a:r>
                    <a:rPr lang="he-IL" altLang="en-US" sz="1600">
                      <a:ea typeface="Times New Roman" charset="0"/>
                      <a:cs typeface="Times New Roman" charset="0"/>
                    </a:rPr>
                    <a:t> </a:t>
                  </a:r>
                  <a:r>
                    <a:rPr lang="en-US" altLang="en-US" sz="1600">
                      <a:ea typeface="Times New Roman" charset="0"/>
                      <a:cs typeface="Times New Roman" charset="0"/>
                    </a:rPr>
                    <a:t>-0.5 * 0.00901 + 0.3 * 0.01095 = -0.00122</a:t>
                  </a:r>
                </a:p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1600">
                      <a:ea typeface="Times New Roman" charset="0"/>
                      <a:cs typeface="Times New Roman" charset="0"/>
                    </a:rPr>
                    <a:t>correct = -0.00122 * (0.69 * (1 - 0.69)) = -0.00026</a:t>
                  </a:r>
                </a:p>
              </p:txBody>
            </p:sp>
            <p:sp>
              <p:nvSpPr>
                <p:cNvPr id="97343" name="Line 65"/>
                <p:cNvSpPr>
                  <a:spLocks noChangeShapeType="1"/>
                </p:cNvSpPr>
                <p:nvPr/>
              </p:nvSpPr>
              <p:spPr bwMode="auto">
                <a:xfrm>
                  <a:off x="2928" y="624"/>
                  <a:ext cx="336" cy="48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 type="triangl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344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3312" y="384"/>
                  <a:ext cx="240" cy="96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345" name="Line 69"/>
                <p:cNvSpPr>
                  <a:spLocks noChangeShapeType="1"/>
                </p:cNvSpPr>
                <p:nvPr/>
              </p:nvSpPr>
              <p:spPr bwMode="auto">
                <a:xfrm>
                  <a:off x="3552" y="384"/>
                  <a:ext cx="1632" cy="96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346" name="Line 71"/>
                <p:cNvSpPr>
                  <a:spLocks noChangeShapeType="1"/>
                </p:cNvSpPr>
                <p:nvPr/>
              </p:nvSpPr>
              <p:spPr bwMode="auto">
                <a:xfrm flipH="1">
                  <a:off x="5040" y="480"/>
                  <a:ext cx="144" cy="432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347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4464" y="912"/>
                  <a:ext cx="576" cy="24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 type="triangl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348" name="Line 75"/>
                <p:cNvSpPr>
                  <a:spLocks noChangeShapeType="1"/>
                </p:cNvSpPr>
                <p:nvPr/>
              </p:nvSpPr>
              <p:spPr bwMode="auto">
                <a:xfrm flipH="1" flipV="1">
                  <a:off x="2160" y="768"/>
                  <a:ext cx="1248" cy="96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349" name="Line 76"/>
                <p:cNvSpPr>
                  <a:spLocks noChangeShapeType="1"/>
                </p:cNvSpPr>
                <p:nvPr/>
              </p:nvSpPr>
              <p:spPr bwMode="auto">
                <a:xfrm flipH="1" flipV="1">
                  <a:off x="2112" y="576"/>
                  <a:ext cx="48" cy="192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350" name="Line 77"/>
                <p:cNvSpPr>
                  <a:spLocks noChangeShapeType="1"/>
                </p:cNvSpPr>
                <p:nvPr/>
              </p:nvSpPr>
              <p:spPr bwMode="auto">
                <a:xfrm flipV="1">
                  <a:off x="2112" y="432"/>
                  <a:ext cx="288" cy="144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prstDash val="dash"/>
                      <a:round/>
                      <a:headEnd/>
                      <a:tailEnd type="triangle" w="med" len="med"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97339" name="Object 82"/>
            <p:cNvGraphicFramePr>
              <a:graphicFrameLocks noChangeAspect="1"/>
            </p:cNvGraphicFramePr>
            <p:nvPr/>
          </p:nvGraphicFramePr>
          <p:xfrm>
            <a:off x="2448" y="464"/>
            <a:ext cx="18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37" name="Equation" r:id="rId6" imgW="291973" imgH="253890" progId="Equation.3">
                    <p:embed/>
                  </p:oleObj>
                </mc:Choice>
                <mc:Fallback>
                  <p:oleObj name="Equation" r:id="rId6" imgW="291973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464"/>
                          <a:ext cx="184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87"/>
          <p:cNvGrpSpPr>
            <a:grpSpLocks/>
          </p:cNvGrpSpPr>
          <p:nvPr/>
        </p:nvGrpSpPr>
        <p:grpSpPr bwMode="auto">
          <a:xfrm>
            <a:off x="7239001" y="1916114"/>
            <a:ext cx="2601913" cy="1069975"/>
            <a:chOff x="3600" y="816"/>
            <a:chExt cx="1008" cy="674"/>
          </a:xfrm>
        </p:grpSpPr>
        <p:sp>
          <p:nvSpPr>
            <p:cNvPr id="97336" name="Text Box 44"/>
            <p:cNvSpPr txBox="1">
              <a:spLocks noChangeArrowheads="1"/>
            </p:cNvSpPr>
            <p:nvPr/>
          </p:nvSpPr>
          <p:spPr bwMode="auto">
            <a:xfrm>
              <a:off x="3600" y="816"/>
              <a:ext cx="1008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  <a:ea typeface="Times New Roman" charset="0"/>
                  <a:cs typeface="Times New Roman" charset="0"/>
                </a:rPr>
                <a:t>out = 0.476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ea typeface="Times New Roman" charset="0"/>
                  <a:cs typeface="Times New Roman" charset="0"/>
                </a:rPr>
                <a:t>      = </a:t>
              </a:r>
              <a:r>
                <a:rPr lang="en-US" altLang="en-US" sz="1600">
                  <a:solidFill>
                    <a:srgbClr val="000000"/>
                  </a:solidFill>
                  <a:ea typeface="Times New Roman" charset="0"/>
                  <a:cs typeface="Times New Roman" charset="0"/>
                </a:rPr>
                <a:t>0.036148</a:t>
              </a:r>
              <a:endParaRPr lang="en-US" altLang="en-US" sz="1600">
                <a:ea typeface="Times New Roman" charset="0"/>
                <a:cs typeface="Times New Roman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ea typeface="Times New Roman" charset="0"/>
                  <a:cs typeface="Times New Roman" charset="0"/>
                </a:rPr>
                <a:t>correct = 0.00901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>
                <a:ea typeface="Times New Roman" charset="0"/>
                <a:cs typeface="Times New Roman" charset="0"/>
              </a:endParaRPr>
            </a:p>
          </p:txBody>
        </p:sp>
        <p:graphicFrame>
          <p:nvGraphicFramePr>
            <p:cNvPr id="97337" name="Object 83"/>
            <p:cNvGraphicFramePr>
              <a:graphicFrameLocks noChangeAspect="1"/>
            </p:cNvGraphicFramePr>
            <p:nvPr/>
          </p:nvGraphicFramePr>
          <p:xfrm>
            <a:off x="3640" y="992"/>
            <a:ext cx="18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38" name="Equation" r:id="rId8" imgW="291973" imgH="253890" progId="Equation.3">
                    <p:embed/>
                  </p:oleObj>
                </mc:Choice>
                <mc:Fallback>
                  <p:oleObj name="Equation" r:id="rId8" imgW="291973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0" y="992"/>
                          <a:ext cx="184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CC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91"/>
          <p:cNvGrpSpPr>
            <a:grpSpLocks/>
          </p:cNvGrpSpPr>
          <p:nvPr/>
        </p:nvGrpSpPr>
        <p:grpSpPr bwMode="auto">
          <a:xfrm>
            <a:off x="5410200" y="2297113"/>
            <a:ext cx="1627188" cy="825500"/>
            <a:chOff x="2448" y="1056"/>
            <a:chExt cx="1025" cy="520"/>
          </a:xfrm>
        </p:grpSpPr>
        <p:sp>
          <p:nvSpPr>
            <p:cNvPr id="97334" name="Text Box 42"/>
            <p:cNvSpPr txBox="1">
              <a:spLocks noChangeArrowheads="1"/>
            </p:cNvSpPr>
            <p:nvPr/>
          </p:nvSpPr>
          <p:spPr bwMode="auto">
            <a:xfrm>
              <a:off x="2448" y="1056"/>
              <a:ext cx="1025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  <a:ea typeface="Times New Roman" charset="0"/>
                  <a:cs typeface="Times New Roman" charset="0"/>
                </a:rPr>
                <a:t>out = 0.62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ea typeface="Times New Roman" charset="0"/>
                  <a:cs typeface="Times New Roman" charset="0"/>
                </a:rPr>
                <a:t>     = 0.01017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ea typeface="Times New Roman" charset="0"/>
                  <a:cs typeface="Times New Roman" charset="0"/>
                </a:rPr>
                <a:t>correct = 0.00239</a:t>
              </a:r>
              <a:endParaRPr lang="en-US" altLang="en-US" sz="2400">
                <a:ea typeface="Times New Roman" charset="0"/>
                <a:cs typeface="Times New Roman" charset="0"/>
              </a:endParaRPr>
            </a:p>
          </p:txBody>
        </p:sp>
        <p:graphicFrame>
          <p:nvGraphicFramePr>
            <p:cNvPr id="97335" name="Object 84"/>
            <p:cNvGraphicFramePr>
              <a:graphicFrameLocks noChangeAspect="1"/>
            </p:cNvGraphicFramePr>
            <p:nvPr/>
          </p:nvGraphicFramePr>
          <p:xfrm>
            <a:off x="2504" y="1232"/>
            <a:ext cx="18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39" name="Equation" r:id="rId9" imgW="291973" imgH="253890" progId="Equation.3">
                    <p:embed/>
                  </p:oleObj>
                </mc:Choice>
                <mc:Fallback>
                  <p:oleObj name="Equation" r:id="rId9" imgW="291973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4" y="1232"/>
                          <a:ext cx="184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90"/>
          <p:cNvGrpSpPr>
            <a:grpSpLocks/>
          </p:cNvGrpSpPr>
          <p:nvPr/>
        </p:nvGrpSpPr>
        <p:grpSpPr bwMode="auto">
          <a:xfrm>
            <a:off x="5181600" y="4354513"/>
            <a:ext cx="1728788" cy="825500"/>
            <a:chOff x="2304" y="2352"/>
            <a:chExt cx="1089" cy="520"/>
          </a:xfrm>
        </p:grpSpPr>
        <p:sp>
          <p:nvSpPr>
            <p:cNvPr id="97332" name="Text Box 43"/>
            <p:cNvSpPr txBox="1">
              <a:spLocks noChangeArrowheads="1"/>
            </p:cNvSpPr>
            <p:nvPr/>
          </p:nvSpPr>
          <p:spPr bwMode="auto">
            <a:xfrm>
              <a:off x="2304" y="2352"/>
              <a:ext cx="1089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  <a:ea typeface="Times New Roman" charset="0"/>
                  <a:cs typeface="Times New Roman" charset="0"/>
                </a:rPr>
                <a:t>out = 0.475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ea typeface="Times New Roman" charset="0"/>
                  <a:cs typeface="Times New Roman" charset="0"/>
                </a:rPr>
                <a:t>     = 0.00438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ea typeface="Times New Roman" charset="0"/>
                  <a:cs typeface="Times New Roman" charset="0"/>
                </a:rPr>
                <a:t>correct = 0.001092</a:t>
              </a:r>
              <a:endParaRPr lang="en-US" altLang="en-US" sz="2400">
                <a:ea typeface="Times New Roman" charset="0"/>
                <a:cs typeface="Times New Roman" charset="0"/>
              </a:endParaRPr>
            </a:p>
          </p:txBody>
        </p:sp>
        <p:graphicFrame>
          <p:nvGraphicFramePr>
            <p:cNvPr id="97333" name="Object 85"/>
            <p:cNvGraphicFramePr>
              <a:graphicFrameLocks noChangeAspect="1"/>
            </p:cNvGraphicFramePr>
            <p:nvPr/>
          </p:nvGraphicFramePr>
          <p:xfrm>
            <a:off x="2352" y="2528"/>
            <a:ext cx="18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40" name="Equation" r:id="rId10" imgW="291973" imgH="253890" progId="Equation.3">
                    <p:embed/>
                  </p:oleObj>
                </mc:Choice>
                <mc:Fallback>
                  <p:oleObj name="Equation" r:id="rId10" imgW="291973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2528"/>
                          <a:ext cx="184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89"/>
          <p:cNvGrpSpPr>
            <a:grpSpLocks/>
          </p:cNvGrpSpPr>
          <p:nvPr/>
        </p:nvGrpSpPr>
        <p:grpSpPr bwMode="auto">
          <a:xfrm>
            <a:off x="7162800" y="4125913"/>
            <a:ext cx="2317750" cy="825500"/>
            <a:chOff x="3552" y="2208"/>
            <a:chExt cx="961" cy="520"/>
          </a:xfrm>
        </p:grpSpPr>
        <p:sp>
          <p:nvSpPr>
            <p:cNvPr id="97330" name="Text Box 45"/>
            <p:cNvSpPr txBox="1">
              <a:spLocks noChangeArrowheads="1"/>
            </p:cNvSpPr>
            <p:nvPr/>
          </p:nvSpPr>
          <p:spPr bwMode="auto">
            <a:xfrm>
              <a:off x="3552" y="2208"/>
              <a:ext cx="961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charset="0"/>
                  <a:ea typeface="Arial" charset="0"/>
                  <a:cs typeface="Arial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990000"/>
                  </a:solidFill>
                  <a:ea typeface="Times New Roman" charset="0"/>
                  <a:cs typeface="Times New Roman" charset="0"/>
                </a:rPr>
                <a:t>out = 0.683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ea typeface="Times New Roman" charset="0"/>
                  <a:cs typeface="Times New Roman" charset="0"/>
                </a:rPr>
                <a:t>     = 0.0506072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ea typeface="Times New Roman" charset="0"/>
                  <a:cs typeface="Times New Roman" charset="0"/>
                </a:rPr>
                <a:t>correct = 0.01095</a:t>
              </a:r>
            </a:p>
          </p:txBody>
        </p:sp>
        <p:graphicFrame>
          <p:nvGraphicFramePr>
            <p:cNvPr id="97331" name="Object 86"/>
            <p:cNvGraphicFramePr>
              <a:graphicFrameLocks noChangeAspect="1"/>
            </p:cNvGraphicFramePr>
            <p:nvPr/>
          </p:nvGraphicFramePr>
          <p:xfrm>
            <a:off x="3600" y="2392"/>
            <a:ext cx="18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41" name="Equation" r:id="rId11" imgW="291973" imgH="253890" progId="Equation.3">
                    <p:embed/>
                  </p:oleObj>
                </mc:Choice>
                <mc:Fallback>
                  <p:oleObj name="Equation" r:id="rId11" imgW="291973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2392"/>
                          <a:ext cx="184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674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171450"/>
            <a:ext cx="7772400" cy="1143000"/>
          </a:xfrm>
        </p:spPr>
        <p:txBody>
          <a:bodyPr/>
          <a:lstStyle/>
          <a:p>
            <a:r>
              <a:rPr lang="he-IL" altLang="en-US"/>
              <a:t>חישוב המשקולות מחדש</a:t>
            </a:r>
            <a:endParaRPr lang="en-US" altLang="en-US"/>
          </a:p>
        </p:txBody>
      </p:sp>
      <p:sp>
        <p:nvSpPr>
          <p:cNvPr id="99330" name="Oval 2"/>
          <p:cNvSpPr>
            <a:spLocks noChangeArrowheads="1"/>
          </p:cNvSpPr>
          <p:nvPr/>
        </p:nvSpPr>
        <p:spPr bwMode="auto">
          <a:xfrm>
            <a:off x="2819400" y="12319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331" name="Oval 3"/>
          <p:cNvSpPr>
            <a:spLocks noChangeArrowheads="1"/>
          </p:cNvSpPr>
          <p:nvPr/>
        </p:nvSpPr>
        <p:spPr bwMode="auto">
          <a:xfrm>
            <a:off x="2743200" y="29845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332" name="Oval 4"/>
          <p:cNvSpPr>
            <a:spLocks noChangeArrowheads="1"/>
          </p:cNvSpPr>
          <p:nvPr/>
        </p:nvSpPr>
        <p:spPr bwMode="auto">
          <a:xfrm>
            <a:off x="5715000" y="35941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333" name="Oval 5"/>
          <p:cNvSpPr>
            <a:spLocks noChangeArrowheads="1"/>
          </p:cNvSpPr>
          <p:nvPr/>
        </p:nvSpPr>
        <p:spPr bwMode="auto">
          <a:xfrm>
            <a:off x="5638800" y="26035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334" name="Oval 6"/>
          <p:cNvSpPr>
            <a:spLocks noChangeArrowheads="1"/>
          </p:cNvSpPr>
          <p:nvPr/>
        </p:nvSpPr>
        <p:spPr bwMode="auto">
          <a:xfrm>
            <a:off x="5638800" y="16891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335" name="Oval 7"/>
          <p:cNvSpPr>
            <a:spLocks noChangeArrowheads="1"/>
          </p:cNvSpPr>
          <p:nvPr/>
        </p:nvSpPr>
        <p:spPr bwMode="auto">
          <a:xfrm>
            <a:off x="7848600" y="32131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336" name="Oval 8"/>
          <p:cNvSpPr>
            <a:spLocks noChangeArrowheads="1"/>
          </p:cNvSpPr>
          <p:nvPr/>
        </p:nvSpPr>
        <p:spPr bwMode="auto">
          <a:xfrm>
            <a:off x="7772400" y="22987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337" name="Oval 9"/>
          <p:cNvSpPr>
            <a:spLocks noChangeArrowheads="1"/>
          </p:cNvSpPr>
          <p:nvPr/>
        </p:nvSpPr>
        <p:spPr bwMode="auto">
          <a:xfrm>
            <a:off x="9829800" y="2755900"/>
            <a:ext cx="228600" cy="228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338" name="Oval 10"/>
          <p:cNvSpPr>
            <a:spLocks noChangeArrowheads="1"/>
          </p:cNvSpPr>
          <p:nvPr/>
        </p:nvSpPr>
        <p:spPr bwMode="auto">
          <a:xfrm>
            <a:off x="2743200" y="4203700"/>
            <a:ext cx="228600" cy="2286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he-IL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339" name="Line 11"/>
          <p:cNvSpPr>
            <a:spLocks noChangeShapeType="1"/>
          </p:cNvSpPr>
          <p:nvPr/>
        </p:nvSpPr>
        <p:spPr bwMode="auto">
          <a:xfrm>
            <a:off x="3124200" y="1384300"/>
            <a:ext cx="2514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0" name="Line 12"/>
          <p:cNvSpPr>
            <a:spLocks noChangeShapeType="1"/>
          </p:cNvSpPr>
          <p:nvPr/>
        </p:nvSpPr>
        <p:spPr bwMode="auto">
          <a:xfrm>
            <a:off x="3048000" y="1460500"/>
            <a:ext cx="25146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1" name="Line 13"/>
          <p:cNvSpPr>
            <a:spLocks noChangeShapeType="1"/>
          </p:cNvSpPr>
          <p:nvPr/>
        </p:nvSpPr>
        <p:spPr bwMode="auto">
          <a:xfrm flipV="1">
            <a:off x="3048000" y="2755900"/>
            <a:ext cx="2514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2" name="Line 14"/>
          <p:cNvSpPr>
            <a:spLocks noChangeShapeType="1"/>
          </p:cNvSpPr>
          <p:nvPr/>
        </p:nvSpPr>
        <p:spPr bwMode="auto">
          <a:xfrm>
            <a:off x="2971800" y="3136900"/>
            <a:ext cx="2667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3" name="Line 15"/>
          <p:cNvSpPr>
            <a:spLocks noChangeShapeType="1"/>
          </p:cNvSpPr>
          <p:nvPr/>
        </p:nvSpPr>
        <p:spPr bwMode="auto">
          <a:xfrm flipV="1">
            <a:off x="2971800" y="1841500"/>
            <a:ext cx="25908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4" name="Line 16"/>
          <p:cNvSpPr>
            <a:spLocks noChangeShapeType="1"/>
          </p:cNvSpPr>
          <p:nvPr/>
        </p:nvSpPr>
        <p:spPr bwMode="auto">
          <a:xfrm flipV="1">
            <a:off x="3048000" y="2908300"/>
            <a:ext cx="25146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5" name="Line 17"/>
          <p:cNvSpPr>
            <a:spLocks noChangeShapeType="1"/>
          </p:cNvSpPr>
          <p:nvPr/>
        </p:nvSpPr>
        <p:spPr bwMode="auto">
          <a:xfrm flipV="1">
            <a:off x="3048000" y="3746500"/>
            <a:ext cx="2590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6" name="Line 18"/>
          <p:cNvSpPr>
            <a:spLocks noChangeShapeType="1"/>
          </p:cNvSpPr>
          <p:nvPr/>
        </p:nvSpPr>
        <p:spPr bwMode="auto">
          <a:xfrm>
            <a:off x="5943600" y="1765300"/>
            <a:ext cx="1828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7" name="Line 19"/>
          <p:cNvSpPr>
            <a:spLocks noChangeShapeType="1"/>
          </p:cNvSpPr>
          <p:nvPr/>
        </p:nvSpPr>
        <p:spPr bwMode="auto">
          <a:xfrm>
            <a:off x="6019800" y="1917700"/>
            <a:ext cx="17526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8" name="Line 20"/>
          <p:cNvSpPr>
            <a:spLocks noChangeShapeType="1"/>
          </p:cNvSpPr>
          <p:nvPr/>
        </p:nvSpPr>
        <p:spPr bwMode="auto">
          <a:xfrm flipV="1">
            <a:off x="6019800" y="2451100"/>
            <a:ext cx="1676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49" name="Line 21"/>
          <p:cNvSpPr>
            <a:spLocks noChangeShapeType="1"/>
          </p:cNvSpPr>
          <p:nvPr/>
        </p:nvSpPr>
        <p:spPr bwMode="auto">
          <a:xfrm>
            <a:off x="5943600" y="2755900"/>
            <a:ext cx="1828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0" name="Line 22"/>
          <p:cNvSpPr>
            <a:spLocks noChangeShapeType="1"/>
          </p:cNvSpPr>
          <p:nvPr/>
        </p:nvSpPr>
        <p:spPr bwMode="auto">
          <a:xfrm flipV="1">
            <a:off x="6019800" y="3441700"/>
            <a:ext cx="1752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1" name="Line 23"/>
          <p:cNvSpPr>
            <a:spLocks noChangeShapeType="1"/>
          </p:cNvSpPr>
          <p:nvPr/>
        </p:nvSpPr>
        <p:spPr bwMode="auto">
          <a:xfrm>
            <a:off x="8001000" y="2451100"/>
            <a:ext cx="167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2" name="Line 24"/>
          <p:cNvSpPr>
            <a:spLocks noChangeShapeType="1"/>
          </p:cNvSpPr>
          <p:nvPr/>
        </p:nvSpPr>
        <p:spPr bwMode="auto">
          <a:xfrm flipV="1">
            <a:off x="8077200" y="2908300"/>
            <a:ext cx="1600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53" name="Text Box 25"/>
          <p:cNvSpPr txBox="1">
            <a:spLocks noChangeArrowheads="1"/>
          </p:cNvSpPr>
          <p:nvPr/>
        </p:nvSpPr>
        <p:spPr bwMode="auto">
          <a:xfrm>
            <a:off x="2209800" y="10795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1</a:t>
            </a:r>
          </a:p>
        </p:txBody>
      </p:sp>
      <p:sp>
        <p:nvSpPr>
          <p:cNvPr id="99354" name="Text Box 26"/>
          <p:cNvSpPr txBox="1">
            <a:spLocks noChangeArrowheads="1"/>
          </p:cNvSpPr>
          <p:nvPr/>
        </p:nvSpPr>
        <p:spPr bwMode="auto">
          <a:xfrm>
            <a:off x="2590801" y="4508500"/>
            <a:ext cx="5127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ea typeface="Times New Roman" charset="0"/>
                <a:cs typeface="Times New Roman" charset="0"/>
              </a:rPr>
              <a:t>bias</a:t>
            </a:r>
            <a:endParaRPr lang="en-US" altLang="en-US" sz="2400">
              <a:solidFill>
                <a:srgbClr val="CC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99355" name="Text Box 29"/>
          <p:cNvSpPr txBox="1">
            <a:spLocks noChangeArrowheads="1"/>
          </p:cNvSpPr>
          <p:nvPr/>
        </p:nvSpPr>
        <p:spPr bwMode="auto">
          <a:xfrm>
            <a:off x="4572000" y="275590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solidFill>
                <a:schemeClr val="accent2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99356" name="Text Box 31"/>
          <p:cNvSpPr txBox="1">
            <a:spLocks noChangeArrowheads="1"/>
          </p:cNvSpPr>
          <p:nvPr/>
        </p:nvSpPr>
        <p:spPr bwMode="auto">
          <a:xfrm>
            <a:off x="4419600" y="3441701"/>
            <a:ext cx="546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-0.5</a:t>
            </a:r>
            <a:endParaRPr lang="en-US" altLang="en-US" sz="2400">
              <a:solidFill>
                <a:schemeClr val="accent2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99357" name="Text Box 47"/>
          <p:cNvSpPr txBox="1">
            <a:spLocks noChangeArrowheads="1"/>
          </p:cNvSpPr>
          <p:nvPr/>
        </p:nvSpPr>
        <p:spPr bwMode="auto">
          <a:xfrm>
            <a:off x="2133600" y="28321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0</a:t>
            </a:r>
          </a:p>
        </p:txBody>
      </p:sp>
      <p:sp>
        <p:nvSpPr>
          <p:cNvPr id="99358" name="Text Box 48"/>
          <p:cNvSpPr txBox="1">
            <a:spLocks noChangeArrowheads="1"/>
          </p:cNvSpPr>
          <p:nvPr/>
        </p:nvSpPr>
        <p:spPr bwMode="auto">
          <a:xfrm>
            <a:off x="2133600" y="39751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2400">
                <a:ea typeface="Times New Roman" charset="0"/>
                <a:cs typeface="Times New Roman" charset="0"/>
              </a:rPr>
              <a:t>1</a:t>
            </a:r>
          </a:p>
        </p:txBody>
      </p:sp>
      <p:sp>
        <p:nvSpPr>
          <p:cNvPr id="99359" name="Text Box 101"/>
          <p:cNvSpPr txBox="1">
            <a:spLocks noChangeArrowheads="1"/>
          </p:cNvSpPr>
          <p:nvPr/>
        </p:nvSpPr>
        <p:spPr bwMode="auto">
          <a:xfrm>
            <a:off x="1524000" y="6237288"/>
            <a:ext cx="201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he-IL" altLang="en-US" sz="1800">
                <a:latin typeface="Arial Unicode MS" charset="0"/>
                <a:ea typeface="Arial Unicode MS" charset="0"/>
              </a:rPr>
              <a:t>נניח כי אלפא = 0.5.</a:t>
            </a:r>
            <a:endParaRPr lang="en-US" altLang="en-US" sz="2400">
              <a:latin typeface="Arial Unicode MS" charset="0"/>
              <a:ea typeface="Arial Unicode MS" charset="0"/>
            </a:endParaRPr>
          </a:p>
        </p:txBody>
      </p:sp>
      <p:sp>
        <p:nvSpPr>
          <p:cNvPr id="99360" name="Text Box 27"/>
          <p:cNvSpPr txBox="1">
            <a:spLocks noChangeArrowheads="1"/>
          </p:cNvSpPr>
          <p:nvPr/>
        </p:nvSpPr>
        <p:spPr bwMode="auto">
          <a:xfrm>
            <a:off x="4495800" y="153670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086" name="Line 102"/>
          <p:cNvSpPr>
            <a:spLocks noChangeShapeType="1"/>
          </p:cNvSpPr>
          <p:nvPr/>
        </p:nvSpPr>
        <p:spPr bwMode="auto">
          <a:xfrm flipH="1">
            <a:off x="4572000" y="15367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89" name="Text Box 105"/>
          <p:cNvSpPr txBox="1">
            <a:spLocks noChangeArrowheads="1"/>
          </p:cNvSpPr>
          <p:nvPr/>
        </p:nvSpPr>
        <p:spPr bwMode="auto">
          <a:xfrm>
            <a:off x="3721100" y="1993901"/>
            <a:ext cx="1155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-0.19881</a:t>
            </a:r>
          </a:p>
        </p:txBody>
      </p:sp>
      <p:sp>
        <p:nvSpPr>
          <p:cNvPr id="99363" name="Text Box 33"/>
          <p:cNvSpPr txBox="1">
            <a:spLocks noChangeArrowheads="1"/>
          </p:cNvSpPr>
          <p:nvPr/>
        </p:nvSpPr>
        <p:spPr bwMode="auto">
          <a:xfrm>
            <a:off x="4191000" y="2146301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-0.2</a:t>
            </a:r>
          </a:p>
        </p:txBody>
      </p:sp>
      <p:sp>
        <p:nvSpPr>
          <p:cNvPr id="42090" name="Line 106"/>
          <p:cNvSpPr>
            <a:spLocks noChangeShapeType="1"/>
          </p:cNvSpPr>
          <p:nvPr/>
        </p:nvSpPr>
        <p:spPr bwMode="auto">
          <a:xfrm flipH="1">
            <a:off x="4419600" y="22225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65" name="Text Box 32"/>
          <p:cNvSpPr txBox="1">
            <a:spLocks noChangeArrowheads="1"/>
          </p:cNvSpPr>
          <p:nvPr/>
        </p:nvSpPr>
        <p:spPr bwMode="auto">
          <a:xfrm>
            <a:off x="4343400" y="3898901"/>
            <a:ext cx="546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-0.1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091" name="Line 107"/>
          <p:cNvSpPr>
            <a:spLocks noChangeShapeType="1"/>
          </p:cNvSpPr>
          <p:nvPr/>
        </p:nvSpPr>
        <p:spPr bwMode="auto">
          <a:xfrm flipH="1">
            <a:off x="4495800" y="39751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92" name="Text Box 108"/>
          <p:cNvSpPr txBox="1">
            <a:spLocks noChangeArrowheads="1"/>
          </p:cNvSpPr>
          <p:nvPr/>
        </p:nvSpPr>
        <p:spPr bwMode="auto">
          <a:xfrm>
            <a:off x="3797300" y="4127501"/>
            <a:ext cx="1155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-0.09946</a:t>
            </a:r>
          </a:p>
        </p:txBody>
      </p:sp>
      <p:sp>
        <p:nvSpPr>
          <p:cNvPr id="42093" name="Text Box 109"/>
          <p:cNvSpPr txBox="1">
            <a:spLocks noChangeArrowheads="1"/>
          </p:cNvSpPr>
          <p:nvPr/>
        </p:nvSpPr>
        <p:spPr bwMode="auto">
          <a:xfrm>
            <a:off x="4953000" y="2908301"/>
            <a:ext cx="1155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0.70119</a:t>
            </a:r>
          </a:p>
        </p:txBody>
      </p:sp>
      <p:sp>
        <p:nvSpPr>
          <p:cNvPr id="99369" name="Text Box 30"/>
          <p:cNvSpPr txBox="1">
            <a:spLocks noChangeArrowheads="1"/>
          </p:cNvSpPr>
          <p:nvPr/>
        </p:nvSpPr>
        <p:spPr bwMode="auto">
          <a:xfrm>
            <a:off x="5029200" y="306070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0.7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094" name="Line 110"/>
          <p:cNvSpPr>
            <a:spLocks noChangeShapeType="1"/>
          </p:cNvSpPr>
          <p:nvPr/>
        </p:nvSpPr>
        <p:spPr bwMode="auto">
          <a:xfrm flipH="1">
            <a:off x="5105400" y="30607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95" name="Text Box 111"/>
          <p:cNvSpPr txBox="1">
            <a:spLocks noChangeArrowheads="1"/>
          </p:cNvSpPr>
          <p:nvPr/>
        </p:nvSpPr>
        <p:spPr bwMode="auto">
          <a:xfrm>
            <a:off x="4583114" y="1841501"/>
            <a:ext cx="1144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0.29987</a:t>
            </a:r>
          </a:p>
        </p:txBody>
      </p:sp>
      <p:sp>
        <p:nvSpPr>
          <p:cNvPr id="99372" name="Text Box 28"/>
          <p:cNvSpPr txBox="1">
            <a:spLocks noChangeArrowheads="1"/>
          </p:cNvSpPr>
          <p:nvPr/>
        </p:nvSpPr>
        <p:spPr bwMode="auto">
          <a:xfrm>
            <a:off x="5105400" y="207010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0.3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096" name="Line 112"/>
          <p:cNvSpPr>
            <a:spLocks noChangeShapeType="1"/>
          </p:cNvSpPr>
          <p:nvPr/>
        </p:nvSpPr>
        <p:spPr bwMode="auto">
          <a:xfrm flipH="1">
            <a:off x="5181600" y="20701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74" name="Text Box 35"/>
          <p:cNvSpPr txBox="1">
            <a:spLocks noChangeArrowheads="1"/>
          </p:cNvSpPr>
          <p:nvPr/>
        </p:nvSpPr>
        <p:spPr bwMode="auto">
          <a:xfrm>
            <a:off x="6477000" y="1917701"/>
            <a:ext cx="546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-0.5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097" name="Line 113"/>
          <p:cNvSpPr>
            <a:spLocks noChangeShapeType="1"/>
          </p:cNvSpPr>
          <p:nvPr/>
        </p:nvSpPr>
        <p:spPr bwMode="auto">
          <a:xfrm flipH="1">
            <a:off x="6600825" y="19939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98" name="Text Box 114"/>
          <p:cNvSpPr txBox="1">
            <a:spLocks noChangeArrowheads="1"/>
          </p:cNvSpPr>
          <p:nvPr/>
        </p:nvSpPr>
        <p:spPr bwMode="auto">
          <a:xfrm>
            <a:off x="6311900" y="1779588"/>
            <a:ext cx="1155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-0.49689</a:t>
            </a:r>
          </a:p>
        </p:txBody>
      </p:sp>
      <p:sp>
        <p:nvSpPr>
          <p:cNvPr id="42099" name="Text Box 115"/>
          <p:cNvSpPr txBox="1">
            <a:spLocks noChangeArrowheads="1"/>
          </p:cNvSpPr>
          <p:nvPr/>
        </p:nvSpPr>
        <p:spPr bwMode="auto">
          <a:xfrm>
            <a:off x="6743701" y="2230438"/>
            <a:ext cx="11525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0.40279</a:t>
            </a:r>
          </a:p>
        </p:txBody>
      </p:sp>
      <p:sp>
        <p:nvSpPr>
          <p:cNvPr id="99378" name="Text Box 34"/>
          <p:cNvSpPr txBox="1">
            <a:spLocks noChangeArrowheads="1"/>
          </p:cNvSpPr>
          <p:nvPr/>
        </p:nvSpPr>
        <p:spPr bwMode="auto">
          <a:xfrm>
            <a:off x="7162800" y="245110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100" name="Line 116"/>
          <p:cNvSpPr>
            <a:spLocks noChangeShapeType="1"/>
          </p:cNvSpPr>
          <p:nvPr/>
        </p:nvSpPr>
        <p:spPr bwMode="auto">
          <a:xfrm flipH="1">
            <a:off x="7239000" y="24511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80" name="Text Box 36"/>
          <p:cNvSpPr txBox="1">
            <a:spLocks noChangeArrowheads="1"/>
          </p:cNvSpPr>
          <p:nvPr/>
        </p:nvSpPr>
        <p:spPr bwMode="auto">
          <a:xfrm>
            <a:off x="6781800" y="267970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0.3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101" name="Line 117"/>
          <p:cNvSpPr>
            <a:spLocks noChangeShapeType="1"/>
          </p:cNvSpPr>
          <p:nvPr/>
        </p:nvSpPr>
        <p:spPr bwMode="auto">
          <a:xfrm flipH="1">
            <a:off x="6858000" y="26797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02" name="Text Box 118"/>
          <p:cNvSpPr txBox="1">
            <a:spLocks noChangeArrowheads="1"/>
          </p:cNvSpPr>
          <p:nvPr/>
        </p:nvSpPr>
        <p:spPr bwMode="auto">
          <a:xfrm>
            <a:off x="6400801" y="2527301"/>
            <a:ext cx="1279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0.30378</a:t>
            </a:r>
          </a:p>
        </p:txBody>
      </p:sp>
      <p:sp>
        <p:nvSpPr>
          <p:cNvPr id="42103" name="Text Box 119"/>
          <p:cNvSpPr txBox="1">
            <a:spLocks noChangeArrowheads="1"/>
          </p:cNvSpPr>
          <p:nvPr/>
        </p:nvSpPr>
        <p:spPr bwMode="auto">
          <a:xfrm>
            <a:off x="5880100" y="3159126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0.60339</a:t>
            </a:r>
          </a:p>
        </p:txBody>
      </p:sp>
      <p:sp>
        <p:nvSpPr>
          <p:cNvPr id="99384" name="Text Box 37"/>
          <p:cNvSpPr txBox="1">
            <a:spLocks noChangeArrowheads="1"/>
          </p:cNvSpPr>
          <p:nvPr/>
        </p:nvSpPr>
        <p:spPr bwMode="auto">
          <a:xfrm>
            <a:off x="6477000" y="2949576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0.6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104" name="Line 120"/>
          <p:cNvSpPr>
            <a:spLocks noChangeShapeType="1"/>
          </p:cNvSpPr>
          <p:nvPr/>
        </p:nvSpPr>
        <p:spPr bwMode="auto">
          <a:xfrm flipH="1">
            <a:off x="6629400" y="29845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05" name="Text Box 121"/>
          <p:cNvSpPr txBox="1">
            <a:spLocks noChangeArrowheads="1"/>
          </p:cNvSpPr>
          <p:nvPr/>
        </p:nvSpPr>
        <p:spPr bwMode="auto">
          <a:xfrm>
            <a:off x="6781800" y="3289301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0.4026</a:t>
            </a:r>
          </a:p>
        </p:txBody>
      </p:sp>
      <p:sp>
        <p:nvSpPr>
          <p:cNvPr id="99387" name="Text Box 38"/>
          <p:cNvSpPr txBox="1">
            <a:spLocks noChangeArrowheads="1"/>
          </p:cNvSpPr>
          <p:nvPr/>
        </p:nvSpPr>
        <p:spPr bwMode="auto">
          <a:xfrm>
            <a:off x="7239000" y="344170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0.4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106" name="Line 122"/>
          <p:cNvSpPr>
            <a:spLocks noChangeShapeType="1"/>
          </p:cNvSpPr>
          <p:nvPr/>
        </p:nvSpPr>
        <p:spPr bwMode="auto">
          <a:xfrm flipH="1">
            <a:off x="7315200" y="35179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07" name="Text Box 123"/>
          <p:cNvSpPr txBox="1">
            <a:spLocks noChangeArrowheads="1"/>
          </p:cNvSpPr>
          <p:nvPr/>
        </p:nvSpPr>
        <p:spPr bwMode="auto">
          <a:xfrm>
            <a:off x="7772400" y="2374901"/>
            <a:ext cx="1155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0.5172</a:t>
            </a:r>
          </a:p>
        </p:txBody>
      </p:sp>
      <p:sp>
        <p:nvSpPr>
          <p:cNvPr id="42108" name="Text Box 124"/>
          <p:cNvSpPr txBox="1">
            <a:spLocks noChangeArrowheads="1"/>
          </p:cNvSpPr>
          <p:nvPr/>
        </p:nvSpPr>
        <p:spPr bwMode="auto">
          <a:xfrm>
            <a:off x="8305800" y="3289301"/>
            <a:ext cx="1155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0.72468</a:t>
            </a:r>
          </a:p>
        </p:txBody>
      </p:sp>
      <p:sp>
        <p:nvSpPr>
          <p:cNvPr id="99391" name="Text Box 40"/>
          <p:cNvSpPr txBox="1">
            <a:spLocks noChangeArrowheads="1"/>
          </p:cNvSpPr>
          <p:nvPr/>
        </p:nvSpPr>
        <p:spPr bwMode="auto">
          <a:xfrm>
            <a:off x="8382000" y="2582863"/>
            <a:ext cx="469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0.5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109" name="Line 125"/>
          <p:cNvSpPr>
            <a:spLocks noChangeShapeType="1"/>
          </p:cNvSpPr>
          <p:nvPr/>
        </p:nvSpPr>
        <p:spPr bwMode="auto">
          <a:xfrm flipH="1">
            <a:off x="8458200" y="26035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393" name="Text Box 39"/>
          <p:cNvSpPr txBox="1">
            <a:spLocks noChangeArrowheads="1"/>
          </p:cNvSpPr>
          <p:nvPr/>
        </p:nvSpPr>
        <p:spPr bwMode="auto">
          <a:xfrm>
            <a:off x="8534400" y="3060701"/>
            <a:ext cx="469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 algn="r" rtl="1">
              <a:spcBef>
                <a:spcPct val="0"/>
              </a:spcBef>
              <a:buFontTx/>
              <a:buNone/>
            </a:pPr>
            <a:r>
              <a:rPr lang="en-US" altLang="en-US" sz="1800">
                <a:ea typeface="Times New Roman" charset="0"/>
                <a:cs typeface="Times New Roman" charset="0"/>
              </a:rPr>
              <a:t>0.7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42110" name="Line 126"/>
          <p:cNvSpPr>
            <a:spLocks noChangeShapeType="1"/>
          </p:cNvSpPr>
          <p:nvPr/>
        </p:nvSpPr>
        <p:spPr bwMode="auto">
          <a:xfrm flipH="1">
            <a:off x="8610600" y="3136900"/>
            <a:ext cx="304800" cy="304800"/>
          </a:xfrm>
          <a:prstGeom prst="line">
            <a:avLst/>
          </a:prstGeom>
          <a:noFill/>
          <a:ln w="317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9395" name="Object 133"/>
          <p:cNvGraphicFramePr>
            <a:graphicFrameLocks noChangeAspect="1"/>
          </p:cNvGraphicFramePr>
          <p:nvPr/>
        </p:nvGraphicFramePr>
        <p:xfrm>
          <a:off x="3429000" y="5270500"/>
          <a:ext cx="50292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9" name="Equation" r:id="rId4" imgW="1841500" imgH="241300" progId="Equation.3">
                  <p:embed/>
                </p:oleObj>
              </mc:Choice>
              <mc:Fallback>
                <p:oleObj name="Equation" r:id="rId4" imgW="18415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270500"/>
                        <a:ext cx="5029200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96" name="Text Box 104"/>
          <p:cNvSpPr txBox="1">
            <a:spLocks noChangeArrowheads="1"/>
          </p:cNvSpPr>
          <p:nvPr/>
        </p:nvSpPr>
        <p:spPr bwMode="auto">
          <a:xfrm>
            <a:off x="3352800" y="1079501"/>
            <a:ext cx="3505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accent2"/>
                </a:solidFill>
                <a:ea typeface="Times New Roman" charset="0"/>
                <a:cs typeface="Times New Roman" charset="0"/>
              </a:rPr>
              <a:t>0.5 + 0.5 * 1 * -0.00026 = 0.49987</a:t>
            </a:r>
          </a:p>
        </p:txBody>
      </p:sp>
      <p:sp>
        <p:nvSpPr>
          <p:cNvPr id="99397" name="Line 134"/>
          <p:cNvSpPr>
            <a:spLocks noChangeShapeType="1"/>
          </p:cNvSpPr>
          <p:nvPr/>
        </p:nvSpPr>
        <p:spPr bwMode="auto">
          <a:xfrm flipV="1">
            <a:off x="5257800" y="1003300"/>
            <a:ext cx="685800" cy="1524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98" name="Line 135"/>
          <p:cNvSpPr>
            <a:spLocks noChangeShapeType="1"/>
          </p:cNvSpPr>
          <p:nvPr/>
        </p:nvSpPr>
        <p:spPr bwMode="auto">
          <a:xfrm flipH="1" flipV="1">
            <a:off x="4343400" y="927100"/>
            <a:ext cx="152400" cy="1524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99" name="Line 137"/>
          <p:cNvSpPr>
            <a:spLocks noChangeShapeType="1"/>
          </p:cNvSpPr>
          <p:nvPr/>
        </p:nvSpPr>
        <p:spPr bwMode="auto">
          <a:xfrm flipH="1">
            <a:off x="2590800" y="927100"/>
            <a:ext cx="1752600" cy="3048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0" name="Line 138"/>
          <p:cNvSpPr>
            <a:spLocks noChangeShapeType="1"/>
          </p:cNvSpPr>
          <p:nvPr/>
        </p:nvSpPr>
        <p:spPr bwMode="auto">
          <a:xfrm>
            <a:off x="3581400" y="1384300"/>
            <a:ext cx="381000" cy="3048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1" name="Line 139"/>
          <p:cNvSpPr>
            <a:spLocks noChangeShapeType="1"/>
          </p:cNvSpPr>
          <p:nvPr/>
        </p:nvSpPr>
        <p:spPr bwMode="auto">
          <a:xfrm>
            <a:off x="3962400" y="1689100"/>
            <a:ext cx="5334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2" name="Line 140"/>
          <p:cNvSpPr>
            <a:spLocks noChangeShapeType="1"/>
          </p:cNvSpPr>
          <p:nvPr/>
        </p:nvSpPr>
        <p:spPr bwMode="auto">
          <a:xfrm flipH="1">
            <a:off x="2057400" y="1384300"/>
            <a:ext cx="1981200" cy="15240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3" name="Line 141"/>
          <p:cNvSpPr>
            <a:spLocks noChangeShapeType="1"/>
          </p:cNvSpPr>
          <p:nvPr/>
        </p:nvSpPr>
        <p:spPr bwMode="auto">
          <a:xfrm>
            <a:off x="2057400" y="2908300"/>
            <a:ext cx="0" cy="32766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4" name="Text Box 157"/>
          <p:cNvSpPr txBox="1">
            <a:spLocks noChangeArrowheads="1"/>
          </p:cNvSpPr>
          <p:nvPr/>
        </p:nvSpPr>
        <p:spPr bwMode="auto">
          <a:xfrm>
            <a:off x="9067800" y="2397125"/>
            <a:ext cx="16271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ea typeface="Times New Roman" charset="0"/>
                <a:cs typeface="Times New Roman" charset="0"/>
              </a:rPr>
              <a:t>correct=0.07229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405" name="Line 160"/>
          <p:cNvSpPr>
            <a:spLocks noChangeShapeType="1"/>
          </p:cNvSpPr>
          <p:nvPr/>
        </p:nvSpPr>
        <p:spPr bwMode="auto">
          <a:xfrm flipH="1">
            <a:off x="7627939" y="1460500"/>
            <a:ext cx="249237" cy="152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6" name="Text Box 162"/>
          <p:cNvSpPr txBox="1">
            <a:spLocks noChangeArrowheads="1"/>
          </p:cNvSpPr>
          <p:nvPr/>
        </p:nvSpPr>
        <p:spPr bwMode="auto">
          <a:xfrm>
            <a:off x="5880100" y="698501"/>
            <a:ext cx="23764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</a:t>
            </a:r>
            <a:r>
              <a:rPr lang="he-IL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=</a:t>
            </a:r>
            <a:r>
              <a:rPr lang="he-IL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 </a:t>
            </a: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0.69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ea typeface="Times New Roman" charset="0"/>
                <a:cs typeface="Times New Roman" charset="0"/>
              </a:rPr>
              <a:t>correct = -0.00026</a:t>
            </a:r>
          </a:p>
        </p:txBody>
      </p:sp>
      <p:sp>
        <p:nvSpPr>
          <p:cNvPr id="99407" name="Line 163"/>
          <p:cNvSpPr>
            <a:spLocks noChangeShapeType="1"/>
          </p:cNvSpPr>
          <p:nvPr/>
        </p:nvSpPr>
        <p:spPr bwMode="auto">
          <a:xfrm>
            <a:off x="6796089" y="1231900"/>
            <a:ext cx="581025" cy="7620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8" name="Line 164"/>
          <p:cNvSpPr>
            <a:spLocks noChangeShapeType="1"/>
          </p:cNvSpPr>
          <p:nvPr/>
        </p:nvSpPr>
        <p:spPr bwMode="auto">
          <a:xfrm flipV="1">
            <a:off x="7461251" y="850900"/>
            <a:ext cx="415925" cy="152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09" name="Line 165"/>
          <p:cNvSpPr>
            <a:spLocks noChangeShapeType="1"/>
          </p:cNvSpPr>
          <p:nvPr/>
        </p:nvSpPr>
        <p:spPr bwMode="auto">
          <a:xfrm>
            <a:off x="7877175" y="850900"/>
            <a:ext cx="2827338" cy="152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10" name="Line 166"/>
          <p:cNvSpPr>
            <a:spLocks noChangeShapeType="1"/>
          </p:cNvSpPr>
          <p:nvPr/>
        </p:nvSpPr>
        <p:spPr bwMode="auto">
          <a:xfrm flipH="1">
            <a:off x="10455275" y="1003300"/>
            <a:ext cx="249238" cy="6858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11" name="Line 167"/>
          <p:cNvSpPr>
            <a:spLocks noChangeShapeType="1"/>
          </p:cNvSpPr>
          <p:nvPr/>
        </p:nvSpPr>
        <p:spPr bwMode="auto">
          <a:xfrm flipH="1">
            <a:off x="9456739" y="1689100"/>
            <a:ext cx="998537" cy="3810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12" name="Line 168"/>
          <p:cNvSpPr>
            <a:spLocks noChangeShapeType="1"/>
          </p:cNvSpPr>
          <p:nvPr/>
        </p:nvSpPr>
        <p:spPr bwMode="auto">
          <a:xfrm flipH="1" flipV="1">
            <a:off x="5464176" y="1460500"/>
            <a:ext cx="2163763" cy="152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13" name="Line 169"/>
          <p:cNvSpPr>
            <a:spLocks noChangeShapeType="1"/>
          </p:cNvSpPr>
          <p:nvPr/>
        </p:nvSpPr>
        <p:spPr bwMode="auto">
          <a:xfrm flipH="1" flipV="1">
            <a:off x="5381625" y="1155700"/>
            <a:ext cx="82550" cy="3048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14" name="Line 170"/>
          <p:cNvSpPr>
            <a:spLocks noChangeShapeType="1"/>
          </p:cNvSpPr>
          <p:nvPr/>
        </p:nvSpPr>
        <p:spPr bwMode="auto">
          <a:xfrm flipV="1">
            <a:off x="5381626" y="927100"/>
            <a:ext cx="498475" cy="2286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415" name="Text Box 173"/>
          <p:cNvSpPr txBox="1">
            <a:spLocks noChangeArrowheads="1"/>
          </p:cNvSpPr>
          <p:nvPr/>
        </p:nvSpPr>
        <p:spPr bwMode="auto">
          <a:xfrm>
            <a:off x="7239001" y="1536701"/>
            <a:ext cx="26019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 = 0.476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ea typeface="Times New Roman" charset="0"/>
                <a:cs typeface="Times New Roman" charset="0"/>
              </a:rPr>
              <a:t>correct = 0.00901</a:t>
            </a:r>
          </a:p>
        </p:txBody>
      </p:sp>
      <p:sp>
        <p:nvSpPr>
          <p:cNvPr id="99416" name="Text Box 176"/>
          <p:cNvSpPr txBox="1">
            <a:spLocks noChangeArrowheads="1"/>
          </p:cNvSpPr>
          <p:nvPr/>
        </p:nvSpPr>
        <p:spPr bwMode="auto">
          <a:xfrm>
            <a:off x="5087939" y="2225676"/>
            <a:ext cx="16271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 = 0.62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ea typeface="Times New Roman" charset="0"/>
                <a:cs typeface="Times New Roman" charset="0"/>
              </a:rPr>
              <a:t>correct = 0.00239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417" name="Text Box 179"/>
          <p:cNvSpPr txBox="1">
            <a:spLocks noChangeArrowheads="1"/>
          </p:cNvSpPr>
          <p:nvPr/>
        </p:nvSpPr>
        <p:spPr bwMode="auto">
          <a:xfrm>
            <a:off x="5181600" y="3975101"/>
            <a:ext cx="16271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 = 0.475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ea typeface="Times New Roman" charset="0"/>
                <a:cs typeface="Times New Roman" charset="0"/>
              </a:rPr>
              <a:t>correct = 0.00109</a:t>
            </a:r>
            <a:endParaRPr lang="en-US" altLang="en-US" sz="2400">
              <a:ea typeface="Times New Roman" charset="0"/>
              <a:cs typeface="Times New Roman" charset="0"/>
            </a:endParaRPr>
          </a:p>
        </p:txBody>
      </p:sp>
      <p:sp>
        <p:nvSpPr>
          <p:cNvPr id="99418" name="Text Box 182"/>
          <p:cNvSpPr txBox="1">
            <a:spLocks noChangeArrowheads="1"/>
          </p:cNvSpPr>
          <p:nvPr/>
        </p:nvSpPr>
        <p:spPr bwMode="auto">
          <a:xfrm>
            <a:off x="7248525" y="3670301"/>
            <a:ext cx="23177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990000"/>
                </a:solidFill>
                <a:ea typeface="Times New Roman" charset="0"/>
                <a:cs typeface="Times New Roman" charset="0"/>
              </a:rPr>
              <a:t>out = 0.683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ea typeface="Times New Roman" charset="0"/>
                <a:cs typeface="Times New Roman" charset="0"/>
              </a:rPr>
              <a:t>correct = 0.01095</a:t>
            </a:r>
          </a:p>
        </p:txBody>
      </p:sp>
    </p:spTree>
    <p:extLst>
      <p:ext uri="{BB962C8B-B14F-4D97-AF65-F5344CB8AC3E}">
        <p14:creationId xmlns:p14="http://schemas.microsoft.com/office/powerpoint/2010/main" val="73255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4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4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4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4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4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42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7" dur="500"/>
                                        <p:tgtEl>
                                          <p:spTgt spid="4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2" dur="500"/>
                                        <p:tgtEl>
                                          <p:spTgt spid="4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7" dur="500"/>
                                        <p:tgtEl>
                                          <p:spTgt spid="4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2" dur="500"/>
                                        <p:tgtEl>
                                          <p:spTgt spid="4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7" dur="500"/>
                                        <p:tgtEl>
                                          <p:spTgt spid="4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2" dur="500"/>
                                        <p:tgtEl>
                                          <p:spTgt spid="4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67" dur="500"/>
                                        <p:tgtEl>
                                          <p:spTgt spid="4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2" dur="500"/>
                                        <p:tgtEl>
                                          <p:spTgt spid="4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7" dur="500"/>
                                        <p:tgtEl>
                                          <p:spTgt spid="4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82" dur="500"/>
                                        <p:tgtEl>
                                          <p:spTgt spid="4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87" dur="500"/>
                                        <p:tgtEl>
                                          <p:spTgt spid="4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92" dur="500"/>
                                        <p:tgtEl>
                                          <p:spTgt spid="4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97" dur="500"/>
                                        <p:tgtEl>
                                          <p:spTgt spid="4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2" dur="500"/>
                                        <p:tgtEl>
                                          <p:spTgt spid="4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7" dur="500"/>
                                        <p:tgtEl>
                                          <p:spTgt spid="4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2" dur="500"/>
                                        <p:tgtEl>
                                          <p:spTgt spid="4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7" dur="500"/>
                                        <p:tgtEl>
                                          <p:spTgt spid="4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" grpId="0" animBg="1"/>
      <p:bldP spid="42089" grpId="0" autoUpdateAnimBg="0"/>
      <p:bldP spid="42090" grpId="0" animBg="1"/>
      <p:bldP spid="42091" grpId="0" animBg="1"/>
      <p:bldP spid="42092" grpId="0" autoUpdateAnimBg="0"/>
      <p:bldP spid="42093" grpId="0" autoUpdateAnimBg="0"/>
      <p:bldP spid="42094" grpId="0" animBg="1"/>
      <p:bldP spid="42095" grpId="0" autoUpdateAnimBg="0"/>
      <p:bldP spid="42096" grpId="0" animBg="1"/>
      <p:bldP spid="42097" grpId="0" animBg="1"/>
      <p:bldP spid="42098" grpId="0" autoUpdateAnimBg="0"/>
      <p:bldP spid="42099" grpId="0" autoUpdateAnimBg="0"/>
      <p:bldP spid="42100" grpId="0" animBg="1"/>
      <p:bldP spid="42101" grpId="0" animBg="1"/>
      <p:bldP spid="42102" grpId="0" autoUpdateAnimBg="0"/>
      <p:bldP spid="42103" grpId="0" autoUpdateAnimBg="0"/>
      <p:bldP spid="42104" grpId="0" animBg="1"/>
      <p:bldP spid="42105" grpId="0" autoUpdateAnimBg="0"/>
      <p:bldP spid="42106" grpId="0" animBg="1"/>
      <p:bldP spid="42107" grpId="0" autoUpdateAnimBg="0"/>
      <p:bldP spid="42108" grpId="0" autoUpdateAnimBg="0"/>
      <p:bldP spid="42109" grpId="0" animBg="1"/>
      <p:bldP spid="4211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0299" y="180827"/>
            <a:ext cx="3928533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b="1" spc="-7" dirty="0">
                <a:latin typeface="Arial"/>
                <a:cs typeface="Arial"/>
              </a:rPr>
              <a:t>Implementation</a:t>
            </a:r>
            <a:r>
              <a:rPr sz="4000" spc="-7" dirty="0"/>
              <a:t>: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7097" y="177877"/>
            <a:ext cx="499956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4000" spc="-7" dirty="0">
                <a:latin typeface="Arial"/>
                <a:cs typeface="Arial"/>
              </a:rPr>
              <a:t>forward/backward</a:t>
            </a:r>
            <a:r>
              <a:rPr sz="4000" spc="-40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API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8132" y="1340865"/>
            <a:ext cx="4073824" cy="14653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4615558" y="1739096"/>
            <a:ext cx="7386817" cy="40680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4619586" y="1277704"/>
            <a:ext cx="599694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Graph (or Net) object. </a:t>
            </a:r>
            <a:r>
              <a:rPr sz="2400" i="1" spc="-7" dirty="0">
                <a:latin typeface="Arial"/>
                <a:cs typeface="Arial"/>
              </a:rPr>
              <a:t>(Rough psuedo</a:t>
            </a:r>
            <a:r>
              <a:rPr sz="2400" i="1" spc="100" dirty="0">
                <a:latin typeface="Arial"/>
                <a:cs typeface="Arial"/>
              </a:rPr>
              <a:t> </a:t>
            </a:r>
            <a:r>
              <a:rPr sz="2400" i="1" spc="-7" dirty="0">
                <a:latin typeface="Arial"/>
                <a:cs typeface="Arial"/>
              </a:rPr>
              <a:t>code)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46</a:t>
            </a:r>
            <a:endParaRPr sz="2667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35706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0299" y="180827"/>
            <a:ext cx="3928533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b="1" spc="-7" dirty="0">
                <a:latin typeface="Arial"/>
                <a:cs typeface="Arial"/>
              </a:rPr>
              <a:t>Implementation</a:t>
            </a:r>
            <a:r>
              <a:rPr sz="4000" spc="-7" dirty="0"/>
              <a:t>: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7097" y="177877"/>
            <a:ext cx="499956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4000" spc="-7" dirty="0">
                <a:latin typeface="Arial"/>
                <a:cs typeface="Arial"/>
              </a:rPr>
              <a:t>forward/backward</a:t>
            </a:r>
            <a:r>
              <a:rPr sz="4000" spc="-40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API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565" y="4753003"/>
            <a:ext cx="323934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(x,y,z are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scalars)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9497" y="2208962"/>
            <a:ext cx="732367" cy="732367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0" y="274349"/>
                </a:moveTo>
                <a:lnTo>
                  <a:pt x="4420" y="225034"/>
                </a:lnTo>
                <a:lnTo>
                  <a:pt x="17163" y="178619"/>
                </a:lnTo>
                <a:lnTo>
                  <a:pt x="37456" y="135879"/>
                </a:lnTo>
                <a:lnTo>
                  <a:pt x="64523" y="97589"/>
                </a:lnTo>
                <a:lnTo>
                  <a:pt x="97589" y="64523"/>
                </a:lnTo>
                <a:lnTo>
                  <a:pt x="135879" y="37456"/>
                </a:lnTo>
                <a:lnTo>
                  <a:pt x="178619" y="17163"/>
                </a:lnTo>
                <a:lnTo>
                  <a:pt x="225034" y="4420"/>
                </a:lnTo>
                <a:lnTo>
                  <a:pt x="274349" y="0"/>
                </a:lnTo>
                <a:lnTo>
                  <a:pt x="328122" y="5320"/>
                </a:lnTo>
                <a:lnTo>
                  <a:pt x="379338" y="20883"/>
                </a:lnTo>
                <a:lnTo>
                  <a:pt x="426559" y="46093"/>
                </a:lnTo>
                <a:lnTo>
                  <a:pt x="468344" y="80354"/>
                </a:lnTo>
                <a:lnTo>
                  <a:pt x="502604" y="122139"/>
                </a:lnTo>
                <a:lnTo>
                  <a:pt x="527815" y="169359"/>
                </a:lnTo>
                <a:lnTo>
                  <a:pt x="543378" y="220576"/>
                </a:lnTo>
                <a:lnTo>
                  <a:pt x="548698" y="274349"/>
                </a:lnTo>
                <a:lnTo>
                  <a:pt x="544278" y="323664"/>
                </a:lnTo>
                <a:lnTo>
                  <a:pt x="531534" y="370079"/>
                </a:lnTo>
                <a:lnTo>
                  <a:pt x="511242" y="412819"/>
                </a:lnTo>
                <a:lnTo>
                  <a:pt x="484175" y="451109"/>
                </a:lnTo>
                <a:lnTo>
                  <a:pt x="451109" y="484175"/>
                </a:lnTo>
                <a:lnTo>
                  <a:pt x="412819" y="511242"/>
                </a:lnTo>
                <a:lnTo>
                  <a:pt x="370079" y="531534"/>
                </a:lnTo>
                <a:lnTo>
                  <a:pt x="323664" y="544278"/>
                </a:lnTo>
                <a:lnTo>
                  <a:pt x="274349" y="548698"/>
                </a:lnTo>
                <a:lnTo>
                  <a:pt x="225034" y="544278"/>
                </a:lnTo>
                <a:lnTo>
                  <a:pt x="178619" y="531534"/>
                </a:lnTo>
                <a:lnTo>
                  <a:pt x="135879" y="511242"/>
                </a:lnTo>
                <a:lnTo>
                  <a:pt x="97589" y="484175"/>
                </a:lnTo>
                <a:lnTo>
                  <a:pt x="64523" y="451109"/>
                </a:lnTo>
                <a:lnTo>
                  <a:pt x="37456" y="412819"/>
                </a:lnTo>
                <a:lnTo>
                  <a:pt x="17163" y="370079"/>
                </a:lnTo>
                <a:lnTo>
                  <a:pt x="4420" y="323664"/>
                </a:lnTo>
                <a:lnTo>
                  <a:pt x="0" y="2743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1674005" y="2317210"/>
            <a:ext cx="19219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*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05037" y="1886503"/>
            <a:ext cx="511387" cy="384387"/>
          </a:xfrm>
          <a:custGeom>
            <a:avLst/>
            <a:gdLst/>
            <a:ahLst/>
            <a:cxnLst/>
            <a:rect l="l" t="t" r="r" b="b"/>
            <a:pathLst>
              <a:path w="383540" h="288289">
                <a:moveTo>
                  <a:pt x="0" y="0"/>
                </a:moveTo>
                <a:lnTo>
                  <a:pt x="383014" y="28786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503120" y="2253553"/>
            <a:ext cx="59267" cy="51647"/>
          </a:xfrm>
          <a:custGeom>
            <a:avLst/>
            <a:gdLst/>
            <a:ahLst/>
            <a:cxnLst/>
            <a:rect l="l" t="t" r="r" b="b"/>
            <a:pathLst>
              <a:path w="44450" h="38735">
                <a:moveTo>
                  <a:pt x="0" y="25152"/>
                </a:moveTo>
                <a:lnTo>
                  <a:pt x="44007" y="38547"/>
                </a:lnTo>
                <a:lnTo>
                  <a:pt x="18904" y="0"/>
                </a:lnTo>
                <a:lnTo>
                  <a:pt x="0" y="25152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910238" y="2871907"/>
            <a:ext cx="601133" cy="352213"/>
          </a:xfrm>
          <a:custGeom>
            <a:avLst/>
            <a:gdLst/>
            <a:ahLst/>
            <a:cxnLst/>
            <a:rect l="l" t="t" r="r" b="b"/>
            <a:pathLst>
              <a:path w="450850" h="264160">
                <a:moveTo>
                  <a:pt x="0" y="263634"/>
                </a:moveTo>
                <a:lnTo>
                  <a:pt x="450474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500276" y="2842798"/>
            <a:ext cx="60960" cy="47413"/>
          </a:xfrm>
          <a:custGeom>
            <a:avLst/>
            <a:gdLst/>
            <a:ahLst/>
            <a:cxnLst/>
            <a:rect l="l" t="t" r="r" b="b"/>
            <a:pathLst>
              <a:path w="45719" h="35560">
                <a:moveTo>
                  <a:pt x="15892" y="35412"/>
                </a:moveTo>
                <a:lnTo>
                  <a:pt x="45252" y="0"/>
                </a:lnTo>
                <a:lnTo>
                  <a:pt x="0" y="8254"/>
                </a:lnTo>
                <a:lnTo>
                  <a:pt x="15892" y="35412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201095" y="2574761"/>
            <a:ext cx="737447" cy="0"/>
          </a:xfrm>
          <a:custGeom>
            <a:avLst/>
            <a:gdLst/>
            <a:ahLst/>
            <a:cxnLst/>
            <a:rect l="l" t="t" r="r" b="b"/>
            <a:pathLst>
              <a:path w="553085">
                <a:moveTo>
                  <a:pt x="0" y="0"/>
                </a:moveTo>
                <a:lnTo>
                  <a:pt x="5530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938494" y="2553784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1159196" y="1532277"/>
            <a:ext cx="23706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dirty="0">
                <a:latin typeface="Arial"/>
                <a:cs typeface="Arial"/>
              </a:rPr>
              <a:t>x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0829" y="3080302"/>
            <a:ext cx="23706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dirty="0">
                <a:latin typeface="Arial"/>
                <a:cs typeface="Arial"/>
              </a:rPr>
              <a:t>y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1265" y="2041533"/>
            <a:ext cx="23706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dirty="0">
                <a:latin typeface="Arial"/>
                <a:cs typeface="Arial"/>
              </a:rPr>
              <a:t>z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39991" y="1267564"/>
            <a:ext cx="7264384" cy="40004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7853518" y="3566826"/>
            <a:ext cx="1098125" cy="906780"/>
          </a:xfrm>
          <a:custGeom>
            <a:avLst/>
            <a:gdLst/>
            <a:ahLst/>
            <a:cxnLst/>
            <a:rect l="l" t="t" r="r" b="b"/>
            <a:pathLst>
              <a:path w="823595" h="680085">
                <a:moveTo>
                  <a:pt x="823273" y="679923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7764652" y="3493426"/>
            <a:ext cx="115993" cy="105833"/>
          </a:xfrm>
          <a:custGeom>
            <a:avLst/>
            <a:gdLst/>
            <a:ahLst/>
            <a:cxnLst/>
            <a:rect l="l" t="t" r="r" b="b"/>
            <a:pathLst>
              <a:path w="86995" h="79375">
                <a:moveTo>
                  <a:pt x="86699" y="30799"/>
                </a:moveTo>
                <a:lnTo>
                  <a:pt x="0" y="0"/>
                </a:lnTo>
                <a:lnTo>
                  <a:pt x="46624" y="79324"/>
                </a:lnTo>
                <a:lnTo>
                  <a:pt x="86699" y="30799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9114082" y="4228158"/>
            <a:ext cx="622297" cy="9016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9107747" y="4221791"/>
            <a:ext cx="635000" cy="914400"/>
          </a:xfrm>
          <a:custGeom>
            <a:avLst/>
            <a:gdLst/>
            <a:ahLst/>
            <a:cxnLst/>
            <a:rect l="l" t="t" r="r" b="b"/>
            <a:pathLst>
              <a:path w="476250" h="685800">
                <a:moveTo>
                  <a:pt x="0" y="0"/>
                </a:moveTo>
                <a:lnTo>
                  <a:pt x="476249" y="0"/>
                </a:lnTo>
                <a:lnTo>
                  <a:pt x="476249" y="685798"/>
                </a:lnTo>
                <a:lnTo>
                  <a:pt x="0" y="6857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/>
          <p:nvPr/>
        </p:nvSpPr>
        <p:spPr>
          <a:xfrm>
            <a:off x="7140319" y="5138556"/>
            <a:ext cx="685797" cy="8889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/>
          <p:nvPr/>
        </p:nvSpPr>
        <p:spPr>
          <a:xfrm>
            <a:off x="7133953" y="5132223"/>
            <a:ext cx="698500" cy="901700"/>
          </a:xfrm>
          <a:custGeom>
            <a:avLst/>
            <a:gdLst/>
            <a:ahLst/>
            <a:cxnLst/>
            <a:rect l="l" t="t" r="r" b="b"/>
            <a:pathLst>
              <a:path w="523875" h="676275">
                <a:moveTo>
                  <a:pt x="0" y="0"/>
                </a:moveTo>
                <a:lnTo>
                  <a:pt x="523873" y="0"/>
                </a:lnTo>
                <a:lnTo>
                  <a:pt x="523873" y="676273"/>
                </a:lnTo>
                <a:lnTo>
                  <a:pt x="0" y="67627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7170319" y="5021257"/>
            <a:ext cx="313267" cy="117687"/>
          </a:xfrm>
          <a:custGeom>
            <a:avLst/>
            <a:gdLst/>
            <a:ahLst/>
            <a:cxnLst/>
            <a:rect l="l" t="t" r="r" b="b"/>
            <a:pathLst>
              <a:path w="234950" h="88264">
                <a:moveTo>
                  <a:pt x="234674" y="87974"/>
                </a:moveTo>
                <a:lnTo>
                  <a:pt x="0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7062386" y="4980790"/>
            <a:ext cx="122767" cy="80433"/>
          </a:xfrm>
          <a:custGeom>
            <a:avLst/>
            <a:gdLst/>
            <a:ahLst/>
            <a:cxnLst/>
            <a:rect l="l" t="t" r="r" b="b"/>
            <a:pathLst>
              <a:path w="92075" h="60325">
                <a:moveTo>
                  <a:pt x="91999" y="874"/>
                </a:moveTo>
                <a:lnTo>
                  <a:pt x="0" y="0"/>
                </a:lnTo>
                <a:lnTo>
                  <a:pt x="69899" y="59799"/>
                </a:lnTo>
                <a:lnTo>
                  <a:pt x="91999" y="874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47</a:t>
            </a:r>
            <a:endParaRPr sz="2667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98939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0299" y="180827"/>
            <a:ext cx="3928533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b="1" spc="-7" dirty="0">
                <a:latin typeface="Arial"/>
                <a:cs typeface="Arial"/>
              </a:rPr>
              <a:t>Implementation</a:t>
            </a:r>
            <a:r>
              <a:rPr sz="4000" spc="-7" dirty="0"/>
              <a:t>: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7097" y="177877"/>
            <a:ext cx="4999567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4000" spc="-7" dirty="0">
                <a:latin typeface="Arial"/>
                <a:cs typeface="Arial"/>
              </a:rPr>
              <a:t>forward/backward</a:t>
            </a:r>
            <a:r>
              <a:rPr sz="4000" spc="-40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API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565" y="4753003"/>
            <a:ext cx="323934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(x,y,z are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scalars)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69497" y="2208962"/>
            <a:ext cx="732367" cy="732367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0" y="274349"/>
                </a:moveTo>
                <a:lnTo>
                  <a:pt x="4420" y="225034"/>
                </a:lnTo>
                <a:lnTo>
                  <a:pt x="17163" y="178619"/>
                </a:lnTo>
                <a:lnTo>
                  <a:pt x="37456" y="135879"/>
                </a:lnTo>
                <a:lnTo>
                  <a:pt x="64523" y="97589"/>
                </a:lnTo>
                <a:lnTo>
                  <a:pt x="97589" y="64523"/>
                </a:lnTo>
                <a:lnTo>
                  <a:pt x="135879" y="37456"/>
                </a:lnTo>
                <a:lnTo>
                  <a:pt x="178619" y="17163"/>
                </a:lnTo>
                <a:lnTo>
                  <a:pt x="225034" y="4420"/>
                </a:lnTo>
                <a:lnTo>
                  <a:pt x="274349" y="0"/>
                </a:lnTo>
                <a:lnTo>
                  <a:pt x="328122" y="5320"/>
                </a:lnTo>
                <a:lnTo>
                  <a:pt x="379338" y="20883"/>
                </a:lnTo>
                <a:lnTo>
                  <a:pt x="426559" y="46093"/>
                </a:lnTo>
                <a:lnTo>
                  <a:pt x="468344" y="80354"/>
                </a:lnTo>
                <a:lnTo>
                  <a:pt x="502604" y="122139"/>
                </a:lnTo>
                <a:lnTo>
                  <a:pt x="527815" y="169359"/>
                </a:lnTo>
                <a:lnTo>
                  <a:pt x="543378" y="220576"/>
                </a:lnTo>
                <a:lnTo>
                  <a:pt x="548698" y="274349"/>
                </a:lnTo>
                <a:lnTo>
                  <a:pt x="544278" y="323664"/>
                </a:lnTo>
                <a:lnTo>
                  <a:pt x="531534" y="370079"/>
                </a:lnTo>
                <a:lnTo>
                  <a:pt x="511242" y="412819"/>
                </a:lnTo>
                <a:lnTo>
                  <a:pt x="484175" y="451109"/>
                </a:lnTo>
                <a:lnTo>
                  <a:pt x="451109" y="484175"/>
                </a:lnTo>
                <a:lnTo>
                  <a:pt x="412819" y="511242"/>
                </a:lnTo>
                <a:lnTo>
                  <a:pt x="370079" y="531534"/>
                </a:lnTo>
                <a:lnTo>
                  <a:pt x="323664" y="544278"/>
                </a:lnTo>
                <a:lnTo>
                  <a:pt x="274349" y="548698"/>
                </a:lnTo>
                <a:lnTo>
                  <a:pt x="225034" y="544278"/>
                </a:lnTo>
                <a:lnTo>
                  <a:pt x="178619" y="531534"/>
                </a:lnTo>
                <a:lnTo>
                  <a:pt x="135879" y="511242"/>
                </a:lnTo>
                <a:lnTo>
                  <a:pt x="97589" y="484175"/>
                </a:lnTo>
                <a:lnTo>
                  <a:pt x="64523" y="451109"/>
                </a:lnTo>
                <a:lnTo>
                  <a:pt x="37456" y="412819"/>
                </a:lnTo>
                <a:lnTo>
                  <a:pt x="17163" y="370079"/>
                </a:lnTo>
                <a:lnTo>
                  <a:pt x="4420" y="323664"/>
                </a:lnTo>
                <a:lnTo>
                  <a:pt x="0" y="274349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1674005" y="2317210"/>
            <a:ext cx="19219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*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05037" y="1886503"/>
            <a:ext cx="511387" cy="384387"/>
          </a:xfrm>
          <a:custGeom>
            <a:avLst/>
            <a:gdLst/>
            <a:ahLst/>
            <a:cxnLst/>
            <a:rect l="l" t="t" r="r" b="b"/>
            <a:pathLst>
              <a:path w="383540" h="288289">
                <a:moveTo>
                  <a:pt x="0" y="0"/>
                </a:moveTo>
                <a:lnTo>
                  <a:pt x="383014" y="28786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503120" y="2253553"/>
            <a:ext cx="59267" cy="51647"/>
          </a:xfrm>
          <a:custGeom>
            <a:avLst/>
            <a:gdLst/>
            <a:ahLst/>
            <a:cxnLst/>
            <a:rect l="l" t="t" r="r" b="b"/>
            <a:pathLst>
              <a:path w="44450" h="38735">
                <a:moveTo>
                  <a:pt x="0" y="25152"/>
                </a:moveTo>
                <a:lnTo>
                  <a:pt x="44007" y="38547"/>
                </a:lnTo>
                <a:lnTo>
                  <a:pt x="18904" y="0"/>
                </a:lnTo>
                <a:lnTo>
                  <a:pt x="0" y="25152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910238" y="2871907"/>
            <a:ext cx="601133" cy="352213"/>
          </a:xfrm>
          <a:custGeom>
            <a:avLst/>
            <a:gdLst/>
            <a:ahLst/>
            <a:cxnLst/>
            <a:rect l="l" t="t" r="r" b="b"/>
            <a:pathLst>
              <a:path w="450850" h="264160">
                <a:moveTo>
                  <a:pt x="0" y="263634"/>
                </a:moveTo>
                <a:lnTo>
                  <a:pt x="450474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500276" y="2842798"/>
            <a:ext cx="60960" cy="47413"/>
          </a:xfrm>
          <a:custGeom>
            <a:avLst/>
            <a:gdLst/>
            <a:ahLst/>
            <a:cxnLst/>
            <a:rect l="l" t="t" r="r" b="b"/>
            <a:pathLst>
              <a:path w="45719" h="35560">
                <a:moveTo>
                  <a:pt x="15892" y="35412"/>
                </a:moveTo>
                <a:lnTo>
                  <a:pt x="45252" y="0"/>
                </a:lnTo>
                <a:lnTo>
                  <a:pt x="0" y="8254"/>
                </a:lnTo>
                <a:lnTo>
                  <a:pt x="15892" y="35412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2201095" y="2574761"/>
            <a:ext cx="737447" cy="0"/>
          </a:xfrm>
          <a:custGeom>
            <a:avLst/>
            <a:gdLst/>
            <a:ahLst/>
            <a:cxnLst/>
            <a:rect l="l" t="t" r="r" b="b"/>
            <a:pathLst>
              <a:path w="553085">
                <a:moveTo>
                  <a:pt x="0" y="0"/>
                </a:moveTo>
                <a:lnTo>
                  <a:pt x="5530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938494" y="2553784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1159196" y="1532277"/>
            <a:ext cx="23706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dirty="0">
                <a:latin typeface="Arial"/>
                <a:cs typeface="Arial"/>
              </a:rPr>
              <a:t>x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0829" y="3080302"/>
            <a:ext cx="23706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dirty="0">
                <a:latin typeface="Arial"/>
                <a:cs typeface="Arial"/>
              </a:rPr>
              <a:t>y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1265" y="2041533"/>
            <a:ext cx="23706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dirty="0">
                <a:latin typeface="Arial"/>
                <a:cs typeface="Arial"/>
              </a:rPr>
              <a:t>z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03159" y="870697"/>
            <a:ext cx="8144749" cy="3920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10296112" y="4833989"/>
            <a:ext cx="1658829" cy="1142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48</a:t>
            </a:r>
            <a:endParaRPr sz="2667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57194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8699" y="2950"/>
            <a:ext cx="5619327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b="1" spc="-7" dirty="0">
                <a:latin typeface="Arial"/>
                <a:cs typeface="Arial"/>
              </a:rPr>
              <a:t>Example: Torch</a:t>
            </a:r>
            <a:r>
              <a:rPr sz="4000" b="1" spc="-47" dirty="0">
                <a:latin typeface="Arial"/>
                <a:cs typeface="Arial"/>
              </a:rPr>
              <a:t> </a:t>
            </a:r>
            <a:r>
              <a:rPr sz="4000" b="1" spc="-7" dirty="0">
                <a:latin typeface="Arial"/>
                <a:cs typeface="Arial"/>
              </a:rPr>
              <a:t>Layers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1266" y="769565"/>
            <a:ext cx="2693660" cy="522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345526" y="769565"/>
            <a:ext cx="2650993" cy="5297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49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25525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8699" y="2950"/>
            <a:ext cx="5619327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b="1" spc="-7" dirty="0">
                <a:latin typeface="Arial"/>
                <a:cs typeface="Arial"/>
              </a:rPr>
              <a:t>Example: Torch</a:t>
            </a:r>
            <a:r>
              <a:rPr sz="4000" b="1" spc="-47" dirty="0">
                <a:latin typeface="Arial"/>
                <a:cs typeface="Arial"/>
              </a:rPr>
              <a:t> </a:t>
            </a:r>
            <a:r>
              <a:rPr sz="4000" b="1" spc="-7" dirty="0">
                <a:latin typeface="Arial"/>
                <a:cs typeface="Arial"/>
              </a:rPr>
              <a:t>Layers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1266" y="786498"/>
            <a:ext cx="2693660" cy="522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345526" y="769565"/>
            <a:ext cx="2650993" cy="5297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7088685" y="175766"/>
            <a:ext cx="4430224" cy="315431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6832220" y="3507892"/>
            <a:ext cx="1919729" cy="25596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6965585" y="2588195"/>
            <a:ext cx="193040" cy="535093"/>
          </a:xfrm>
          <a:custGeom>
            <a:avLst/>
            <a:gdLst/>
            <a:ahLst/>
            <a:cxnLst/>
            <a:rect l="l" t="t" r="r" b="b"/>
            <a:pathLst>
              <a:path w="144779" h="401319">
                <a:moveTo>
                  <a:pt x="144174" y="0"/>
                </a:moveTo>
                <a:lnTo>
                  <a:pt x="0" y="40131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6945853" y="3116187"/>
            <a:ext cx="39793" cy="61807"/>
          </a:xfrm>
          <a:custGeom>
            <a:avLst/>
            <a:gdLst/>
            <a:ahLst/>
            <a:cxnLst/>
            <a:rect l="l" t="t" r="r" b="b"/>
            <a:pathLst>
              <a:path w="29845" h="46355">
                <a:moveTo>
                  <a:pt x="0" y="0"/>
                </a:moveTo>
                <a:lnTo>
                  <a:pt x="174" y="45999"/>
                </a:lnTo>
                <a:lnTo>
                  <a:pt x="29599" y="1063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6396553" y="1177444"/>
            <a:ext cx="33020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4000" spc="-7" dirty="0">
                <a:latin typeface="Arial"/>
                <a:cs typeface="Arial"/>
              </a:rPr>
              <a:t>=</a:t>
            </a:r>
            <a:endParaRPr sz="4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75849" y="3507892"/>
            <a:ext cx="1484596" cy="25596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50</a:t>
            </a:r>
            <a:endParaRPr sz="2667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1516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84732" y="75865"/>
            <a:ext cx="4580491" cy="60011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5222790" y="749931"/>
            <a:ext cx="2730493" cy="6857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69732" y="312866"/>
            <a:ext cx="4077547" cy="1668780"/>
          </a:xfrm>
          <a:custGeom>
            <a:avLst/>
            <a:gdLst/>
            <a:ahLst/>
            <a:cxnLst/>
            <a:rect l="l" t="t" r="r" b="b"/>
            <a:pathLst>
              <a:path w="3058160" h="1251585">
                <a:moveTo>
                  <a:pt x="0" y="0"/>
                </a:moveTo>
                <a:lnTo>
                  <a:pt x="3057593" y="0"/>
                </a:lnTo>
                <a:lnTo>
                  <a:pt x="3057593" y="1251297"/>
                </a:lnTo>
                <a:lnTo>
                  <a:pt x="0" y="1251297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365025" y="2070862"/>
            <a:ext cx="4077547" cy="1668780"/>
          </a:xfrm>
          <a:custGeom>
            <a:avLst/>
            <a:gdLst/>
            <a:ahLst/>
            <a:cxnLst/>
            <a:rect l="l" t="t" r="r" b="b"/>
            <a:pathLst>
              <a:path w="3058160" h="1251585">
                <a:moveTo>
                  <a:pt x="0" y="0"/>
                </a:moveTo>
                <a:lnTo>
                  <a:pt x="3057598" y="0"/>
                </a:lnTo>
                <a:lnTo>
                  <a:pt x="3057598" y="1251297"/>
                </a:lnTo>
                <a:lnTo>
                  <a:pt x="0" y="1251297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69732" y="3828859"/>
            <a:ext cx="4077547" cy="2248747"/>
          </a:xfrm>
          <a:custGeom>
            <a:avLst/>
            <a:gdLst/>
            <a:ahLst/>
            <a:cxnLst/>
            <a:rect l="l" t="t" r="r" b="b"/>
            <a:pathLst>
              <a:path w="3058160" h="1686560">
                <a:moveTo>
                  <a:pt x="0" y="0"/>
                </a:moveTo>
                <a:lnTo>
                  <a:pt x="3057593" y="0"/>
                </a:lnTo>
                <a:lnTo>
                  <a:pt x="3057593" y="1685996"/>
                </a:lnTo>
                <a:lnTo>
                  <a:pt x="0" y="1685996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4561223" y="1247431"/>
            <a:ext cx="795867" cy="696807"/>
          </a:xfrm>
          <a:custGeom>
            <a:avLst/>
            <a:gdLst/>
            <a:ahLst/>
            <a:cxnLst/>
            <a:rect l="l" t="t" r="r" b="b"/>
            <a:pathLst>
              <a:path w="596900" h="522605">
                <a:moveTo>
                  <a:pt x="596473" y="522023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4474457" y="1171518"/>
            <a:ext cx="115147" cy="107527"/>
          </a:xfrm>
          <a:custGeom>
            <a:avLst/>
            <a:gdLst/>
            <a:ahLst/>
            <a:cxnLst/>
            <a:rect l="l" t="t" r="r" b="b"/>
            <a:pathLst>
              <a:path w="86360" h="80644">
                <a:moveTo>
                  <a:pt x="85774" y="33257"/>
                </a:moveTo>
                <a:lnTo>
                  <a:pt x="0" y="0"/>
                </a:lnTo>
                <a:lnTo>
                  <a:pt x="44349" y="80612"/>
                </a:lnTo>
                <a:lnTo>
                  <a:pt x="85774" y="33257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595023" y="2834732"/>
            <a:ext cx="922020" cy="212513"/>
          </a:xfrm>
          <a:custGeom>
            <a:avLst/>
            <a:gdLst/>
            <a:ahLst/>
            <a:cxnLst/>
            <a:rect l="l" t="t" r="r" b="b"/>
            <a:pathLst>
              <a:path w="691514" h="159385">
                <a:moveTo>
                  <a:pt x="691423" y="159159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4482691" y="2793847"/>
            <a:ext cx="121920" cy="82125"/>
          </a:xfrm>
          <a:custGeom>
            <a:avLst/>
            <a:gdLst/>
            <a:ahLst/>
            <a:cxnLst/>
            <a:rect l="l" t="t" r="r" b="b"/>
            <a:pathLst>
              <a:path w="91439" h="61594">
                <a:moveTo>
                  <a:pt x="91324" y="0"/>
                </a:moveTo>
                <a:lnTo>
                  <a:pt x="0" y="11269"/>
                </a:lnTo>
                <a:lnTo>
                  <a:pt x="77199" y="61327"/>
                </a:lnTo>
                <a:lnTo>
                  <a:pt x="91324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5023444" y="1"/>
            <a:ext cx="7056120" cy="5256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4000" b="1" spc="-7" dirty="0">
                <a:latin typeface="Arial"/>
                <a:cs typeface="Arial"/>
              </a:rPr>
              <a:t>Example: Torch</a:t>
            </a:r>
            <a:r>
              <a:rPr sz="4000" b="1" spc="-27" dirty="0">
                <a:latin typeface="Arial"/>
                <a:cs typeface="Arial"/>
              </a:rPr>
              <a:t> </a:t>
            </a:r>
            <a:r>
              <a:rPr sz="4000" b="1" spc="-7" dirty="0">
                <a:latin typeface="Arial"/>
                <a:cs typeface="Arial"/>
              </a:rPr>
              <a:t>MulConstant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467">
              <a:latin typeface="Times New Roman"/>
              <a:cs typeface="Times New Roman"/>
            </a:endParaRPr>
          </a:p>
          <a:p>
            <a:pPr marL="557939" marR="3862397">
              <a:lnSpc>
                <a:spcPct val="166700"/>
              </a:lnSpc>
            </a:pPr>
            <a:r>
              <a:rPr sz="4000" spc="-7" dirty="0">
                <a:solidFill>
                  <a:srgbClr val="FF0000"/>
                </a:solidFill>
                <a:latin typeface="Arial"/>
                <a:cs typeface="Arial"/>
              </a:rPr>
              <a:t>initialization  forward()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4333">
              <a:latin typeface="Times New Roman"/>
              <a:cs typeface="Times New Roman"/>
            </a:endParaRPr>
          </a:p>
          <a:p>
            <a:pPr marL="557939"/>
            <a:r>
              <a:rPr sz="4000" spc="-7" dirty="0">
                <a:solidFill>
                  <a:srgbClr val="FF0000"/>
                </a:solidFill>
                <a:latin typeface="Arial"/>
                <a:cs typeface="Arial"/>
              </a:rPr>
              <a:t>backward()</a:t>
            </a:r>
            <a:endParaRPr sz="4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97591" y="4810057"/>
            <a:ext cx="919480" cy="122767"/>
          </a:xfrm>
          <a:custGeom>
            <a:avLst/>
            <a:gdLst/>
            <a:ahLst/>
            <a:cxnLst/>
            <a:rect l="l" t="t" r="r" b="b"/>
            <a:pathLst>
              <a:path w="689610" h="92075">
                <a:moveTo>
                  <a:pt x="689498" y="0"/>
                </a:moveTo>
                <a:lnTo>
                  <a:pt x="0" y="91974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4483324" y="4891123"/>
            <a:ext cx="120227" cy="83820"/>
          </a:xfrm>
          <a:custGeom>
            <a:avLst/>
            <a:gdLst/>
            <a:ahLst/>
            <a:cxnLst/>
            <a:rect l="l" t="t" r="r" b="b"/>
            <a:pathLst>
              <a:path w="90170" h="62864">
                <a:moveTo>
                  <a:pt x="81524" y="0"/>
                </a:moveTo>
                <a:lnTo>
                  <a:pt x="0" y="42624"/>
                </a:lnTo>
                <a:lnTo>
                  <a:pt x="89849" y="62374"/>
                </a:lnTo>
                <a:lnTo>
                  <a:pt x="81524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51</a:t>
            </a:r>
            <a:endParaRPr sz="2667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724061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8699" y="2950"/>
            <a:ext cx="5479627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000" b="1" spc="-7" dirty="0">
                <a:latin typeface="Arial"/>
                <a:cs typeface="Arial"/>
              </a:rPr>
              <a:t>Example: Caffe</a:t>
            </a:r>
            <a:r>
              <a:rPr sz="4000" b="1" spc="-40" dirty="0">
                <a:latin typeface="Arial"/>
                <a:cs typeface="Arial"/>
              </a:rPr>
              <a:t> </a:t>
            </a:r>
            <a:r>
              <a:rPr sz="4000" b="1" spc="-7" dirty="0">
                <a:latin typeface="Arial"/>
                <a:cs typeface="Arial"/>
              </a:rPr>
              <a:t>Layers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9966" y="767964"/>
            <a:ext cx="2780327" cy="52332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414325" y="767964"/>
            <a:ext cx="3255560" cy="42472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52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664244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73199" y="213121"/>
            <a:ext cx="10312399" cy="123110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6488691">
              <a:lnSpc>
                <a:spcPct val="100000"/>
              </a:lnSpc>
            </a:pPr>
            <a:r>
              <a:rPr sz="4000" b="1" spc="-7" dirty="0">
                <a:latin typeface="Arial"/>
                <a:cs typeface="Arial"/>
              </a:rPr>
              <a:t>Caffe Sigmoid</a:t>
            </a:r>
            <a:r>
              <a:rPr sz="4000" b="1" spc="-60" dirty="0">
                <a:latin typeface="Arial"/>
                <a:cs typeface="Arial"/>
              </a:rPr>
              <a:t> </a:t>
            </a:r>
            <a:r>
              <a:rPr sz="4000" b="1" spc="-7" dirty="0">
                <a:latin typeface="Arial"/>
                <a:cs typeface="Arial"/>
              </a:rPr>
              <a:t>Layer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8064" y="79700"/>
            <a:ext cx="4013691" cy="59499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5863421" y="1738297"/>
            <a:ext cx="2108195" cy="8254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5857087" y="1731945"/>
            <a:ext cx="2120900" cy="838200"/>
          </a:xfrm>
          <a:custGeom>
            <a:avLst/>
            <a:gdLst/>
            <a:ahLst/>
            <a:cxnLst/>
            <a:rect l="l" t="t" r="r" b="b"/>
            <a:pathLst>
              <a:path w="1590675" h="628650">
                <a:moveTo>
                  <a:pt x="0" y="0"/>
                </a:moveTo>
                <a:lnTo>
                  <a:pt x="1590646" y="0"/>
                </a:lnTo>
                <a:lnTo>
                  <a:pt x="1590646" y="628648"/>
                </a:lnTo>
                <a:lnTo>
                  <a:pt x="0" y="62864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776488" y="3608993"/>
            <a:ext cx="2108195" cy="876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5770155" y="3602626"/>
            <a:ext cx="2120900" cy="889847"/>
          </a:xfrm>
          <a:custGeom>
            <a:avLst/>
            <a:gdLst/>
            <a:ahLst/>
            <a:cxnLst/>
            <a:rect l="l" t="t" r="r" b="b"/>
            <a:pathLst>
              <a:path w="1590675" h="667385">
                <a:moveTo>
                  <a:pt x="0" y="0"/>
                </a:moveTo>
                <a:lnTo>
                  <a:pt x="1590671" y="0"/>
                </a:lnTo>
                <a:lnTo>
                  <a:pt x="1590671" y="666773"/>
                </a:lnTo>
                <a:lnTo>
                  <a:pt x="0" y="666773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341300" y="919598"/>
            <a:ext cx="3849793" cy="1972733"/>
          </a:xfrm>
          <a:custGeom>
            <a:avLst/>
            <a:gdLst/>
            <a:ahLst/>
            <a:cxnLst/>
            <a:rect l="l" t="t" r="r" b="b"/>
            <a:pathLst>
              <a:path w="2887345" h="1479550">
                <a:moveTo>
                  <a:pt x="0" y="0"/>
                </a:moveTo>
                <a:lnTo>
                  <a:pt x="2886894" y="0"/>
                </a:lnTo>
                <a:lnTo>
                  <a:pt x="2886894" y="1478997"/>
                </a:lnTo>
                <a:lnTo>
                  <a:pt x="0" y="1478997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340500" y="2967360"/>
            <a:ext cx="3849793" cy="1972733"/>
          </a:xfrm>
          <a:custGeom>
            <a:avLst/>
            <a:gdLst/>
            <a:ahLst/>
            <a:cxnLst/>
            <a:rect l="l" t="t" r="r" b="b"/>
            <a:pathLst>
              <a:path w="2887345" h="1479550">
                <a:moveTo>
                  <a:pt x="0" y="0"/>
                </a:moveTo>
                <a:lnTo>
                  <a:pt x="2886894" y="0"/>
                </a:lnTo>
                <a:lnTo>
                  <a:pt x="2886894" y="1478997"/>
                </a:lnTo>
                <a:lnTo>
                  <a:pt x="0" y="1478997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914259" y="4047158"/>
            <a:ext cx="1862667" cy="393700"/>
          </a:xfrm>
          <a:custGeom>
            <a:avLst/>
            <a:gdLst/>
            <a:ahLst/>
            <a:cxnLst/>
            <a:rect l="l" t="t" r="r" b="b"/>
            <a:pathLst>
              <a:path w="1397000" h="295275">
                <a:moveTo>
                  <a:pt x="1396672" y="0"/>
                </a:moveTo>
                <a:lnTo>
                  <a:pt x="0" y="294774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3857859" y="4419691"/>
            <a:ext cx="60960" cy="41487"/>
          </a:xfrm>
          <a:custGeom>
            <a:avLst/>
            <a:gdLst/>
            <a:ahLst/>
            <a:cxnLst/>
            <a:rect l="l" t="t" r="r" b="b"/>
            <a:pathLst>
              <a:path w="45719" h="31114">
                <a:moveTo>
                  <a:pt x="39049" y="0"/>
                </a:moveTo>
                <a:lnTo>
                  <a:pt x="0" y="24299"/>
                </a:lnTo>
                <a:lnTo>
                  <a:pt x="45549" y="30774"/>
                </a:lnTo>
                <a:lnTo>
                  <a:pt x="39049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2796701" y="2151046"/>
            <a:ext cx="3067473" cy="362373"/>
          </a:xfrm>
          <a:custGeom>
            <a:avLst/>
            <a:gdLst/>
            <a:ahLst/>
            <a:cxnLst/>
            <a:rect l="l" t="t" r="r" b="b"/>
            <a:pathLst>
              <a:path w="2300604" h="271780">
                <a:moveTo>
                  <a:pt x="2300040" y="0"/>
                </a:moveTo>
                <a:lnTo>
                  <a:pt x="0" y="271401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739468" y="2492082"/>
            <a:ext cx="60113" cy="42333"/>
          </a:xfrm>
          <a:custGeom>
            <a:avLst/>
            <a:gdLst/>
            <a:ahLst/>
            <a:cxnLst/>
            <a:rect l="l" t="t" r="r" b="b"/>
            <a:pathLst>
              <a:path w="45085" h="31750">
                <a:moveTo>
                  <a:pt x="41082" y="0"/>
                </a:moveTo>
                <a:lnTo>
                  <a:pt x="0" y="20689"/>
                </a:lnTo>
                <a:lnTo>
                  <a:pt x="44769" y="31249"/>
                </a:lnTo>
                <a:lnTo>
                  <a:pt x="41082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8005412" y="3845539"/>
            <a:ext cx="1524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*top_diff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53</a:t>
            </a:r>
            <a:endParaRPr sz="2667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832989" y="3845539"/>
            <a:ext cx="206586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(chain</a:t>
            </a:r>
            <a:r>
              <a:rPr sz="3200" spc="-7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rule)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303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968258" y="1269264"/>
            <a:ext cx="4660053" cy="4660053"/>
          </a:xfrm>
          <a:custGeom>
            <a:avLst/>
            <a:gdLst/>
            <a:ahLst/>
            <a:cxnLst/>
            <a:rect l="l" t="t" r="r" b="b"/>
            <a:pathLst>
              <a:path w="3495040" h="3495040">
                <a:moveTo>
                  <a:pt x="0" y="1747346"/>
                </a:moveTo>
                <a:lnTo>
                  <a:pt x="649" y="1699249"/>
                </a:lnTo>
                <a:lnTo>
                  <a:pt x="2585" y="1651474"/>
                </a:lnTo>
                <a:lnTo>
                  <a:pt x="5792" y="1604036"/>
                </a:lnTo>
                <a:lnTo>
                  <a:pt x="10253" y="1556953"/>
                </a:lnTo>
                <a:lnTo>
                  <a:pt x="15951" y="1510241"/>
                </a:lnTo>
                <a:lnTo>
                  <a:pt x="22870" y="1463917"/>
                </a:lnTo>
                <a:lnTo>
                  <a:pt x="30992" y="1417998"/>
                </a:lnTo>
                <a:lnTo>
                  <a:pt x="40302" y="1372499"/>
                </a:lnTo>
                <a:lnTo>
                  <a:pt x="50783" y="1327438"/>
                </a:lnTo>
                <a:lnTo>
                  <a:pt x="62417" y="1282832"/>
                </a:lnTo>
                <a:lnTo>
                  <a:pt x="75189" y="1238697"/>
                </a:lnTo>
                <a:lnTo>
                  <a:pt x="89081" y="1195049"/>
                </a:lnTo>
                <a:lnTo>
                  <a:pt x="104078" y="1151906"/>
                </a:lnTo>
                <a:lnTo>
                  <a:pt x="120162" y="1109284"/>
                </a:lnTo>
                <a:lnTo>
                  <a:pt x="137316" y="1067200"/>
                </a:lnTo>
                <a:lnTo>
                  <a:pt x="155525" y="1025670"/>
                </a:lnTo>
                <a:lnTo>
                  <a:pt x="174770" y="984711"/>
                </a:lnTo>
                <a:lnTo>
                  <a:pt x="195037" y="944340"/>
                </a:lnTo>
                <a:lnTo>
                  <a:pt x="216308" y="904573"/>
                </a:lnTo>
                <a:lnTo>
                  <a:pt x="238566" y="865427"/>
                </a:lnTo>
                <a:lnTo>
                  <a:pt x="261794" y="826918"/>
                </a:lnTo>
                <a:lnTo>
                  <a:pt x="285977" y="789064"/>
                </a:lnTo>
                <a:lnTo>
                  <a:pt x="311098" y="751881"/>
                </a:lnTo>
                <a:lnTo>
                  <a:pt x="337139" y="715386"/>
                </a:lnTo>
                <a:lnTo>
                  <a:pt x="364084" y="679595"/>
                </a:lnTo>
                <a:lnTo>
                  <a:pt x="391917" y="644524"/>
                </a:lnTo>
                <a:lnTo>
                  <a:pt x="420620" y="610192"/>
                </a:lnTo>
                <a:lnTo>
                  <a:pt x="450178" y="576613"/>
                </a:lnTo>
                <a:lnTo>
                  <a:pt x="480573" y="543805"/>
                </a:lnTo>
                <a:lnTo>
                  <a:pt x="511789" y="511785"/>
                </a:lnTo>
                <a:lnTo>
                  <a:pt x="543809" y="480569"/>
                </a:lnTo>
                <a:lnTo>
                  <a:pt x="576617" y="450174"/>
                </a:lnTo>
                <a:lnTo>
                  <a:pt x="610196" y="420617"/>
                </a:lnTo>
                <a:lnTo>
                  <a:pt x="644528" y="391914"/>
                </a:lnTo>
                <a:lnTo>
                  <a:pt x="679599" y="364081"/>
                </a:lnTo>
                <a:lnTo>
                  <a:pt x="715390" y="337136"/>
                </a:lnTo>
                <a:lnTo>
                  <a:pt x="751886" y="311095"/>
                </a:lnTo>
                <a:lnTo>
                  <a:pt x="789069" y="285975"/>
                </a:lnTo>
                <a:lnTo>
                  <a:pt x="826923" y="261792"/>
                </a:lnTo>
                <a:lnTo>
                  <a:pt x="865431" y="238563"/>
                </a:lnTo>
                <a:lnTo>
                  <a:pt x="904577" y="216306"/>
                </a:lnTo>
                <a:lnTo>
                  <a:pt x="944344" y="195035"/>
                </a:lnTo>
                <a:lnTo>
                  <a:pt x="984715" y="174769"/>
                </a:lnTo>
                <a:lnTo>
                  <a:pt x="1025674" y="155523"/>
                </a:lnTo>
                <a:lnTo>
                  <a:pt x="1067204" y="137315"/>
                </a:lnTo>
                <a:lnTo>
                  <a:pt x="1109288" y="120160"/>
                </a:lnTo>
                <a:lnTo>
                  <a:pt x="1151910" y="104077"/>
                </a:lnTo>
                <a:lnTo>
                  <a:pt x="1195053" y="89080"/>
                </a:lnTo>
                <a:lnTo>
                  <a:pt x="1238700" y="75188"/>
                </a:lnTo>
                <a:lnTo>
                  <a:pt x="1282835" y="62416"/>
                </a:lnTo>
                <a:lnTo>
                  <a:pt x="1327442" y="50782"/>
                </a:lnTo>
                <a:lnTo>
                  <a:pt x="1372502" y="40302"/>
                </a:lnTo>
                <a:lnTo>
                  <a:pt x="1418000" y="30992"/>
                </a:lnTo>
                <a:lnTo>
                  <a:pt x="1463920" y="22869"/>
                </a:lnTo>
                <a:lnTo>
                  <a:pt x="1510243" y="15951"/>
                </a:lnTo>
                <a:lnTo>
                  <a:pt x="1556955" y="10253"/>
                </a:lnTo>
                <a:lnTo>
                  <a:pt x="1604038" y="5792"/>
                </a:lnTo>
                <a:lnTo>
                  <a:pt x="1651475" y="2585"/>
                </a:lnTo>
                <a:lnTo>
                  <a:pt x="1699250" y="649"/>
                </a:lnTo>
                <a:lnTo>
                  <a:pt x="1747346" y="0"/>
                </a:lnTo>
                <a:lnTo>
                  <a:pt x="1796921" y="702"/>
                </a:lnTo>
                <a:lnTo>
                  <a:pt x="1846325" y="2803"/>
                </a:lnTo>
                <a:lnTo>
                  <a:pt x="1895530" y="6290"/>
                </a:lnTo>
                <a:lnTo>
                  <a:pt x="1944510" y="11153"/>
                </a:lnTo>
                <a:lnTo>
                  <a:pt x="1993237" y="17380"/>
                </a:lnTo>
                <a:lnTo>
                  <a:pt x="2041685" y="24961"/>
                </a:lnTo>
                <a:lnTo>
                  <a:pt x="2089828" y="33884"/>
                </a:lnTo>
                <a:lnTo>
                  <a:pt x="2137639" y="44139"/>
                </a:lnTo>
                <a:lnTo>
                  <a:pt x="2185091" y="55715"/>
                </a:lnTo>
                <a:lnTo>
                  <a:pt x="2232157" y="68599"/>
                </a:lnTo>
                <a:lnTo>
                  <a:pt x="2278810" y="82782"/>
                </a:lnTo>
                <a:lnTo>
                  <a:pt x="2325025" y="98252"/>
                </a:lnTo>
                <a:lnTo>
                  <a:pt x="2370773" y="114997"/>
                </a:lnTo>
                <a:lnTo>
                  <a:pt x="2416029" y="133008"/>
                </a:lnTo>
                <a:lnTo>
                  <a:pt x="2460765" y="152273"/>
                </a:lnTo>
                <a:lnTo>
                  <a:pt x="2504956" y="172781"/>
                </a:lnTo>
                <a:lnTo>
                  <a:pt x="2548573" y="194520"/>
                </a:lnTo>
                <a:lnTo>
                  <a:pt x="2591591" y="217480"/>
                </a:lnTo>
                <a:lnTo>
                  <a:pt x="2633983" y="241650"/>
                </a:lnTo>
                <a:lnTo>
                  <a:pt x="2675722" y="267018"/>
                </a:lnTo>
                <a:lnTo>
                  <a:pt x="2716781" y="293574"/>
                </a:lnTo>
                <a:lnTo>
                  <a:pt x="2757134" y="321307"/>
                </a:lnTo>
                <a:lnTo>
                  <a:pt x="2796753" y="350204"/>
                </a:lnTo>
                <a:lnTo>
                  <a:pt x="2835613" y="380256"/>
                </a:lnTo>
                <a:lnTo>
                  <a:pt x="2873686" y="411452"/>
                </a:lnTo>
                <a:lnTo>
                  <a:pt x="2910946" y="443779"/>
                </a:lnTo>
                <a:lnTo>
                  <a:pt x="2947366" y="477227"/>
                </a:lnTo>
                <a:lnTo>
                  <a:pt x="2982918" y="511786"/>
                </a:lnTo>
                <a:lnTo>
                  <a:pt x="3017475" y="547338"/>
                </a:lnTo>
                <a:lnTo>
                  <a:pt x="3050922" y="583757"/>
                </a:lnTo>
                <a:lnTo>
                  <a:pt x="3083248" y="621016"/>
                </a:lnTo>
                <a:lnTo>
                  <a:pt x="3114442" y="659088"/>
                </a:lnTo>
                <a:lnTo>
                  <a:pt x="3144493" y="697947"/>
                </a:lnTo>
                <a:lnTo>
                  <a:pt x="3173389" y="737566"/>
                </a:lnTo>
                <a:lnTo>
                  <a:pt x="3201121" y="777918"/>
                </a:lnTo>
                <a:lnTo>
                  <a:pt x="3227676" y="818977"/>
                </a:lnTo>
                <a:lnTo>
                  <a:pt x="3253044" y="860715"/>
                </a:lnTo>
                <a:lnTo>
                  <a:pt x="3277213" y="903106"/>
                </a:lnTo>
                <a:lnTo>
                  <a:pt x="3300172" y="946124"/>
                </a:lnTo>
                <a:lnTo>
                  <a:pt x="3321911" y="989741"/>
                </a:lnTo>
                <a:lnTo>
                  <a:pt x="3342419" y="1033930"/>
                </a:lnTo>
                <a:lnTo>
                  <a:pt x="3361683" y="1078666"/>
                </a:lnTo>
                <a:lnTo>
                  <a:pt x="3379694" y="1123922"/>
                </a:lnTo>
                <a:lnTo>
                  <a:pt x="3396440" y="1169670"/>
                </a:lnTo>
                <a:lnTo>
                  <a:pt x="3411910" y="1215884"/>
                </a:lnTo>
                <a:lnTo>
                  <a:pt x="3426092" y="1262537"/>
                </a:lnTo>
                <a:lnTo>
                  <a:pt x="3438977" y="1309602"/>
                </a:lnTo>
                <a:lnTo>
                  <a:pt x="3450552" y="1357054"/>
                </a:lnTo>
                <a:lnTo>
                  <a:pt x="3460807" y="1404864"/>
                </a:lnTo>
                <a:lnTo>
                  <a:pt x="3469731" y="1453007"/>
                </a:lnTo>
                <a:lnTo>
                  <a:pt x="3477312" y="1501456"/>
                </a:lnTo>
                <a:lnTo>
                  <a:pt x="3483539" y="1550183"/>
                </a:lnTo>
                <a:lnTo>
                  <a:pt x="3488402" y="1599162"/>
                </a:lnTo>
                <a:lnTo>
                  <a:pt x="3491889" y="1648367"/>
                </a:lnTo>
                <a:lnTo>
                  <a:pt x="3493990" y="1697770"/>
                </a:lnTo>
                <a:lnTo>
                  <a:pt x="3494692" y="1747346"/>
                </a:lnTo>
                <a:lnTo>
                  <a:pt x="3494043" y="1795442"/>
                </a:lnTo>
                <a:lnTo>
                  <a:pt x="3492107" y="1843217"/>
                </a:lnTo>
                <a:lnTo>
                  <a:pt x="3488900" y="1890654"/>
                </a:lnTo>
                <a:lnTo>
                  <a:pt x="3484439" y="1937737"/>
                </a:lnTo>
                <a:lnTo>
                  <a:pt x="3478741" y="1984448"/>
                </a:lnTo>
                <a:lnTo>
                  <a:pt x="3471822" y="2030772"/>
                </a:lnTo>
                <a:lnTo>
                  <a:pt x="3463700" y="2076692"/>
                </a:lnTo>
                <a:lnTo>
                  <a:pt x="3454390" y="2122190"/>
                </a:lnTo>
                <a:lnTo>
                  <a:pt x="3443909" y="2167250"/>
                </a:lnTo>
                <a:lnTo>
                  <a:pt x="3432275" y="2211857"/>
                </a:lnTo>
                <a:lnTo>
                  <a:pt x="3419503" y="2255992"/>
                </a:lnTo>
                <a:lnTo>
                  <a:pt x="3405611" y="2299639"/>
                </a:lnTo>
                <a:lnTo>
                  <a:pt x="3390614" y="2342782"/>
                </a:lnTo>
                <a:lnTo>
                  <a:pt x="3374530" y="2385404"/>
                </a:lnTo>
                <a:lnTo>
                  <a:pt x="3357376" y="2427488"/>
                </a:lnTo>
                <a:lnTo>
                  <a:pt x="3339167" y="2469018"/>
                </a:lnTo>
                <a:lnTo>
                  <a:pt x="3319922" y="2509977"/>
                </a:lnTo>
                <a:lnTo>
                  <a:pt x="3299655" y="2550348"/>
                </a:lnTo>
                <a:lnTo>
                  <a:pt x="3278384" y="2590115"/>
                </a:lnTo>
                <a:lnTo>
                  <a:pt x="3256126" y="2629261"/>
                </a:lnTo>
                <a:lnTo>
                  <a:pt x="3232897" y="2667769"/>
                </a:lnTo>
                <a:lnTo>
                  <a:pt x="3208715" y="2705623"/>
                </a:lnTo>
                <a:lnTo>
                  <a:pt x="3183594" y="2742806"/>
                </a:lnTo>
                <a:lnTo>
                  <a:pt x="3157553" y="2779302"/>
                </a:lnTo>
                <a:lnTo>
                  <a:pt x="3130608" y="2815093"/>
                </a:lnTo>
                <a:lnTo>
                  <a:pt x="3102775" y="2850164"/>
                </a:lnTo>
                <a:lnTo>
                  <a:pt x="3074072" y="2884496"/>
                </a:lnTo>
                <a:lnTo>
                  <a:pt x="3044514" y="2918075"/>
                </a:lnTo>
                <a:lnTo>
                  <a:pt x="3014119" y="2950883"/>
                </a:lnTo>
                <a:lnTo>
                  <a:pt x="2982903" y="2982903"/>
                </a:lnTo>
                <a:lnTo>
                  <a:pt x="2950883" y="3014119"/>
                </a:lnTo>
                <a:lnTo>
                  <a:pt x="2918075" y="3044514"/>
                </a:lnTo>
                <a:lnTo>
                  <a:pt x="2884496" y="3074072"/>
                </a:lnTo>
                <a:lnTo>
                  <a:pt x="2850164" y="3102775"/>
                </a:lnTo>
                <a:lnTo>
                  <a:pt x="2815093" y="3130608"/>
                </a:lnTo>
                <a:lnTo>
                  <a:pt x="2779302" y="3157553"/>
                </a:lnTo>
                <a:lnTo>
                  <a:pt x="2742806" y="3183594"/>
                </a:lnTo>
                <a:lnTo>
                  <a:pt x="2705623" y="3208715"/>
                </a:lnTo>
                <a:lnTo>
                  <a:pt x="2667769" y="3232897"/>
                </a:lnTo>
                <a:lnTo>
                  <a:pt x="2629261" y="3256126"/>
                </a:lnTo>
                <a:lnTo>
                  <a:pt x="2590115" y="3278384"/>
                </a:lnTo>
                <a:lnTo>
                  <a:pt x="2550348" y="3299655"/>
                </a:lnTo>
                <a:lnTo>
                  <a:pt x="2509977" y="3319922"/>
                </a:lnTo>
                <a:lnTo>
                  <a:pt x="2469018" y="3339167"/>
                </a:lnTo>
                <a:lnTo>
                  <a:pt x="2427488" y="3357376"/>
                </a:lnTo>
                <a:lnTo>
                  <a:pt x="2385404" y="3374530"/>
                </a:lnTo>
                <a:lnTo>
                  <a:pt x="2342782" y="3390614"/>
                </a:lnTo>
                <a:lnTo>
                  <a:pt x="2299639" y="3405611"/>
                </a:lnTo>
                <a:lnTo>
                  <a:pt x="2255992" y="3419503"/>
                </a:lnTo>
                <a:lnTo>
                  <a:pt x="2211857" y="3432275"/>
                </a:lnTo>
                <a:lnTo>
                  <a:pt x="2167250" y="3443909"/>
                </a:lnTo>
                <a:lnTo>
                  <a:pt x="2122190" y="3454390"/>
                </a:lnTo>
                <a:lnTo>
                  <a:pt x="2076692" y="3463700"/>
                </a:lnTo>
                <a:lnTo>
                  <a:pt x="2030772" y="3471822"/>
                </a:lnTo>
                <a:lnTo>
                  <a:pt x="1984448" y="3478741"/>
                </a:lnTo>
                <a:lnTo>
                  <a:pt x="1937737" y="3484439"/>
                </a:lnTo>
                <a:lnTo>
                  <a:pt x="1890654" y="3488900"/>
                </a:lnTo>
                <a:lnTo>
                  <a:pt x="1843217" y="3492107"/>
                </a:lnTo>
                <a:lnTo>
                  <a:pt x="1795442" y="3494043"/>
                </a:lnTo>
                <a:lnTo>
                  <a:pt x="1747346" y="3494692"/>
                </a:lnTo>
                <a:lnTo>
                  <a:pt x="1699250" y="3494043"/>
                </a:lnTo>
                <a:lnTo>
                  <a:pt x="1651475" y="3492107"/>
                </a:lnTo>
                <a:lnTo>
                  <a:pt x="1604038" y="3488900"/>
                </a:lnTo>
                <a:lnTo>
                  <a:pt x="1556955" y="3484439"/>
                </a:lnTo>
                <a:lnTo>
                  <a:pt x="1510243" y="3478741"/>
                </a:lnTo>
                <a:lnTo>
                  <a:pt x="1463920" y="3471822"/>
                </a:lnTo>
                <a:lnTo>
                  <a:pt x="1418000" y="3463700"/>
                </a:lnTo>
                <a:lnTo>
                  <a:pt x="1372502" y="3454390"/>
                </a:lnTo>
                <a:lnTo>
                  <a:pt x="1327442" y="3443909"/>
                </a:lnTo>
                <a:lnTo>
                  <a:pt x="1282835" y="3432275"/>
                </a:lnTo>
                <a:lnTo>
                  <a:pt x="1238700" y="3419503"/>
                </a:lnTo>
                <a:lnTo>
                  <a:pt x="1195053" y="3405611"/>
                </a:lnTo>
                <a:lnTo>
                  <a:pt x="1151910" y="3390614"/>
                </a:lnTo>
                <a:lnTo>
                  <a:pt x="1109288" y="3374530"/>
                </a:lnTo>
                <a:lnTo>
                  <a:pt x="1067204" y="3357376"/>
                </a:lnTo>
                <a:lnTo>
                  <a:pt x="1025674" y="3339167"/>
                </a:lnTo>
                <a:lnTo>
                  <a:pt x="984715" y="3319922"/>
                </a:lnTo>
                <a:lnTo>
                  <a:pt x="944344" y="3299655"/>
                </a:lnTo>
                <a:lnTo>
                  <a:pt x="904577" y="3278384"/>
                </a:lnTo>
                <a:lnTo>
                  <a:pt x="865431" y="3256126"/>
                </a:lnTo>
                <a:lnTo>
                  <a:pt x="826923" y="3232897"/>
                </a:lnTo>
                <a:lnTo>
                  <a:pt x="789069" y="3208715"/>
                </a:lnTo>
                <a:lnTo>
                  <a:pt x="751886" y="3183594"/>
                </a:lnTo>
                <a:lnTo>
                  <a:pt x="715390" y="3157553"/>
                </a:lnTo>
                <a:lnTo>
                  <a:pt x="679599" y="3130608"/>
                </a:lnTo>
                <a:lnTo>
                  <a:pt x="644528" y="3102775"/>
                </a:lnTo>
                <a:lnTo>
                  <a:pt x="610196" y="3074072"/>
                </a:lnTo>
                <a:lnTo>
                  <a:pt x="576617" y="3044514"/>
                </a:lnTo>
                <a:lnTo>
                  <a:pt x="543809" y="3014119"/>
                </a:lnTo>
                <a:lnTo>
                  <a:pt x="511789" y="2982903"/>
                </a:lnTo>
                <a:lnTo>
                  <a:pt x="480573" y="2950883"/>
                </a:lnTo>
                <a:lnTo>
                  <a:pt x="450178" y="2918075"/>
                </a:lnTo>
                <a:lnTo>
                  <a:pt x="420620" y="2884496"/>
                </a:lnTo>
                <a:lnTo>
                  <a:pt x="391917" y="2850164"/>
                </a:lnTo>
                <a:lnTo>
                  <a:pt x="364084" y="2815093"/>
                </a:lnTo>
                <a:lnTo>
                  <a:pt x="337139" y="2779302"/>
                </a:lnTo>
                <a:lnTo>
                  <a:pt x="311098" y="2742806"/>
                </a:lnTo>
                <a:lnTo>
                  <a:pt x="285977" y="2705623"/>
                </a:lnTo>
                <a:lnTo>
                  <a:pt x="261794" y="2667769"/>
                </a:lnTo>
                <a:lnTo>
                  <a:pt x="238566" y="2629261"/>
                </a:lnTo>
                <a:lnTo>
                  <a:pt x="216308" y="2590115"/>
                </a:lnTo>
                <a:lnTo>
                  <a:pt x="195037" y="2550348"/>
                </a:lnTo>
                <a:lnTo>
                  <a:pt x="174770" y="2509977"/>
                </a:lnTo>
                <a:lnTo>
                  <a:pt x="155525" y="2469018"/>
                </a:lnTo>
                <a:lnTo>
                  <a:pt x="137316" y="2427488"/>
                </a:lnTo>
                <a:lnTo>
                  <a:pt x="120162" y="2385404"/>
                </a:lnTo>
                <a:lnTo>
                  <a:pt x="104078" y="2342782"/>
                </a:lnTo>
                <a:lnTo>
                  <a:pt x="89081" y="2299639"/>
                </a:lnTo>
                <a:lnTo>
                  <a:pt x="75189" y="2255992"/>
                </a:lnTo>
                <a:lnTo>
                  <a:pt x="62417" y="2211857"/>
                </a:lnTo>
                <a:lnTo>
                  <a:pt x="50783" y="2167250"/>
                </a:lnTo>
                <a:lnTo>
                  <a:pt x="40302" y="2122190"/>
                </a:lnTo>
                <a:lnTo>
                  <a:pt x="30992" y="2076692"/>
                </a:lnTo>
                <a:lnTo>
                  <a:pt x="22870" y="2030772"/>
                </a:lnTo>
                <a:lnTo>
                  <a:pt x="15951" y="1984448"/>
                </a:lnTo>
                <a:lnTo>
                  <a:pt x="10253" y="1937737"/>
                </a:lnTo>
                <a:lnTo>
                  <a:pt x="5792" y="1890654"/>
                </a:lnTo>
                <a:lnTo>
                  <a:pt x="2585" y="1843217"/>
                </a:lnTo>
                <a:lnTo>
                  <a:pt x="649" y="1795442"/>
                </a:lnTo>
                <a:lnTo>
                  <a:pt x="0" y="1747346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936231" y="4626590"/>
            <a:ext cx="3069167" cy="1037167"/>
          </a:xfrm>
          <a:custGeom>
            <a:avLst/>
            <a:gdLst/>
            <a:ahLst/>
            <a:cxnLst/>
            <a:rect l="l" t="t" r="r" b="b"/>
            <a:pathLst>
              <a:path w="2301875" h="777875">
                <a:moveTo>
                  <a:pt x="0" y="777323"/>
                </a:moveTo>
                <a:lnTo>
                  <a:pt x="23015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991626" y="4586823"/>
            <a:ext cx="122767" cy="79587"/>
          </a:xfrm>
          <a:custGeom>
            <a:avLst/>
            <a:gdLst/>
            <a:ahLst/>
            <a:cxnLst/>
            <a:rect l="l" t="t" r="r" b="b"/>
            <a:pathLst>
              <a:path w="92075" h="59689">
                <a:moveTo>
                  <a:pt x="20124" y="59624"/>
                </a:moveTo>
                <a:lnTo>
                  <a:pt x="91974" y="2149"/>
                </a:lnTo>
                <a:lnTo>
                  <a:pt x="0" y="0"/>
                </a:lnTo>
                <a:lnTo>
                  <a:pt x="20124" y="59624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1319231" y="1237298"/>
            <a:ext cx="2785533" cy="1185333"/>
          </a:xfrm>
          <a:custGeom>
            <a:avLst/>
            <a:gdLst/>
            <a:ahLst/>
            <a:cxnLst/>
            <a:rect l="l" t="t" r="r" b="b"/>
            <a:pathLst>
              <a:path w="2089150" h="889000">
                <a:moveTo>
                  <a:pt x="0" y="0"/>
                </a:moveTo>
                <a:lnTo>
                  <a:pt x="2089020" y="888848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088158" y="2383822"/>
            <a:ext cx="122767" cy="83820"/>
          </a:xfrm>
          <a:custGeom>
            <a:avLst/>
            <a:gdLst/>
            <a:ahLst/>
            <a:cxnLst/>
            <a:rect l="l" t="t" r="r" b="b"/>
            <a:pathLst>
              <a:path w="92075" h="62864">
                <a:moveTo>
                  <a:pt x="0" y="57907"/>
                </a:moveTo>
                <a:lnTo>
                  <a:pt x="91874" y="62802"/>
                </a:lnTo>
                <a:lnTo>
                  <a:pt x="24649" y="0"/>
                </a:lnTo>
                <a:lnTo>
                  <a:pt x="0" y="57907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8627848" y="3599059"/>
            <a:ext cx="2880360" cy="0"/>
          </a:xfrm>
          <a:custGeom>
            <a:avLst/>
            <a:gdLst/>
            <a:ahLst/>
            <a:cxnLst/>
            <a:rect l="l" t="t" r="r" b="b"/>
            <a:pathLst>
              <a:path w="2160270">
                <a:moveTo>
                  <a:pt x="0" y="0"/>
                </a:moveTo>
                <a:lnTo>
                  <a:pt x="2159995" y="0"/>
                </a:lnTo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1507844" y="3557092"/>
            <a:ext cx="115993" cy="84667"/>
          </a:xfrm>
          <a:custGeom>
            <a:avLst/>
            <a:gdLst/>
            <a:ahLst/>
            <a:cxnLst/>
            <a:rect l="l" t="t" r="r" b="b"/>
            <a:pathLst>
              <a:path w="86995" h="63500">
                <a:moveTo>
                  <a:pt x="0" y="62949"/>
                </a:moveTo>
                <a:lnTo>
                  <a:pt x="86449" y="31474"/>
                </a:lnTo>
                <a:lnTo>
                  <a:pt x="0" y="0"/>
                </a:lnTo>
                <a:lnTo>
                  <a:pt x="0" y="62949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840679" y="920398"/>
            <a:ext cx="469899" cy="406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827979" y="907697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1733812" y="4690957"/>
            <a:ext cx="393699" cy="482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1721113" y="4678256"/>
            <a:ext cx="419100" cy="508000"/>
          </a:xfrm>
          <a:custGeom>
            <a:avLst/>
            <a:gdLst/>
            <a:ahLst/>
            <a:cxnLst/>
            <a:rect l="l" t="t" r="r" b="b"/>
            <a:pathLst>
              <a:path w="314325" h="381000">
                <a:moveTo>
                  <a:pt x="0" y="0"/>
                </a:moveTo>
                <a:lnTo>
                  <a:pt x="314324" y="0"/>
                </a:lnTo>
                <a:lnTo>
                  <a:pt x="314324" y="380999"/>
                </a:lnTo>
                <a:lnTo>
                  <a:pt x="0" y="380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9661213" y="2954527"/>
            <a:ext cx="469899" cy="4063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9648514" y="2941827"/>
            <a:ext cx="495300" cy="431800"/>
          </a:xfrm>
          <a:custGeom>
            <a:avLst/>
            <a:gdLst/>
            <a:ahLst/>
            <a:cxnLst/>
            <a:rect l="l" t="t" r="r" b="b"/>
            <a:pathLst>
              <a:path w="371475" h="323850">
                <a:moveTo>
                  <a:pt x="0" y="0"/>
                </a:moveTo>
                <a:lnTo>
                  <a:pt x="371474" y="0"/>
                </a:lnTo>
                <a:lnTo>
                  <a:pt x="371474" y="323849"/>
                </a:lnTo>
                <a:lnTo>
                  <a:pt x="0" y="32384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38751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4531658" y="2330180"/>
            <a:ext cx="647697" cy="850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4518991" y="2317479"/>
            <a:ext cx="673100" cy="876300"/>
          </a:xfrm>
          <a:custGeom>
            <a:avLst/>
            <a:gdLst/>
            <a:ahLst/>
            <a:cxnLst/>
            <a:rect l="l" t="t" r="r" b="b"/>
            <a:pathLst>
              <a:path w="504825" h="657225">
                <a:moveTo>
                  <a:pt x="0" y="0"/>
                </a:moveTo>
                <a:lnTo>
                  <a:pt x="504823" y="0"/>
                </a:lnTo>
                <a:lnTo>
                  <a:pt x="504823" y="657223"/>
                </a:lnTo>
                <a:lnTo>
                  <a:pt x="0" y="6572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4531657" y="3933659"/>
            <a:ext cx="546099" cy="9397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4518991" y="3920959"/>
            <a:ext cx="571500" cy="965200"/>
          </a:xfrm>
          <a:custGeom>
            <a:avLst/>
            <a:gdLst/>
            <a:ahLst/>
            <a:cxnLst/>
            <a:rect l="l" t="t" r="r" b="b"/>
            <a:pathLst>
              <a:path w="428625" h="723900">
                <a:moveTo>
                  <a:pt x="0" y="0"/>
                </a:moveTo>
                <a:lnTo>
                  <a:pt x="428599" y="0"/>
                </a:lnTo>
                <a:lnTo>
                  <a:pt x="428599" y="723898"/>
                </a:lnTo>
                <a:lnTo>
                  <a:pt x="0" y="723898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5329955" y="2114028"/>
            <a:ext cx="3980180" cy="618912"/>
          </a:xfrm>
          <a:custGeom>
            <a:avLst/>
            <a:gdLst/>
            <a:ahLst/>
            <a:cxnLst/>
            <a:rect l="l" t="t" r="r" b="b"/>
            <a:pathLst>
              <a:path w="2985134" h="464185">
                <a:moveTo>
                  <a:pt x="2984843" y="0"/>
                </a:moveTo>
                <a:lnTo>
                  <a:pt x="0" y="463654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/>
          <p:nvPr/>
        </p:nvSpPr>
        <p:spPr>
          <a:xfrm>
            <a:off x="5216057" y="2690778"/>
            <a:ext cx="121073" cy="82973"/>
          </a:xfrm>
          <a:custGeom>
            <a:avLst/>
            <a:gdLst/>
            <a:ahLst/>
            <a:cxnLst/>
            <a:rect l="l" t="t" r="r" b="b"/>
            <a:pathLst>
              <a:path w="90804" h="62230">
                <a:moveTo>
                  <a:pt x="80599" y="0"/>
                </a:moveTo>
                <a:lnTo>
                  <a:pt x="0" y="44362"/>
                </a:lnTo>
                <a:lnTo>
                  <a:pt x="90274" y="62184"/>
                </a:lnTo>
                <a:lnTo>
                  <a:pt x="8059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3" name="object 23"/>
          <p:cNvSpPr txBox="1"/>
          <p:nvPr/>
        </p:nvSpPr>
        <p:spPr>
          <a:xfrm>
            <a:off x="8913015" y="38247"/>
            <a:ext cx="3182620" cy="1865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marR="6773">
              <a:lnSpc>
                <a:spcPct val="100699"/>
              </a:lnSpc>
            </a:pP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This is now the  </a:t>
            </a:r>
            <a:r>
              <a:rPr sz="2400" b="1" spc="-7" dirty="0">
                <a:solidFill>
                  <a:srgbClr val="0000FF"/>
                </a:solidFill>
                <a:latin typeface="Arial"/>
                <a:cs typeface="Arial"/>
              </a:rPr>
              <a:t>Jacobian matrix 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(derivative of each  element of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z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w.r.t.</a:t>
            </a:r>
            <a:r>
              <a:rPr sz="24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each  element of</a:t>
            </a:r>
            <a:r>
              <a:rPr sz="2400" spc="-8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x)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732" y="110943"/>
            <a:ext cx="7366000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313"/>
              </a:lnSpc>
            </a:pPr>
            <a:r>
              <a:rPr sz="3200" spc="-7" dirty="0">
                <a:latin typeface="Arial"/>
                <a:cs typeface="Arial"/>
              </a:rPr>
              <a:t>Gradients for vectorized code </a:t>
            </a:r>
            <a:r>
              <a:rPr sz="3600" spc="-9" baseline="21604" dirty="0">
                <a:solidFill>
                  <a:srgbClr val="0000FF"/>
                </a:solidFill>
                <a:latin typeface="Arial"/>
                <a:cs typeface="Arial"/>
              </a:rPr>
              <a:t>(x,y,z are</a:t>
            </a:r>
            <a:r>
              <a:rPr sz="3600" spc="349" baseline="2160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600" spc="-9" baseline="21604" dirty="0">
                <a:solidFill>
                  <a:srgbClr val="0000FF"/>
                </a:solidFill>
                <a:latin typeface="Arial"/>
                <a:cs typeface="Arial"/>
              </a:rPr>
              <a:t>now</a:t>
            </a:r>
            <a:endParaRPr sz="3600" baseline="21604">
              <a:latin typeface="Arial"/>
              <a:cs typeface="Arial"/>
            </a:endParaRPr>
          </a:p>
          <a:p>
            <a:pPr marR="818706" algn="r">
              <a:lnSpc>
                <a:spcPts val="2352"/>
              </a:lnSpc>
            </a:pP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vectors)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53280" y="3813325"/>
            <a:ext cx="685797" cy="9016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/>
          <p:nvPr/>
        </p:nvSpPr>
        <p:spPr>
          <a:xfrm>
            <a:off x="9540613" y="3800626"/>
            <a:ext cx="711200" cy="927100"/>
          </a:xfrm>
          <a:custGeom>
            <a:avLst/>
            <a:gdLst/>
            <a:ahLst/>
            <a:cxnLst/>
            <a:rect l="l" t="t" r="r" b="b"/>
            <a:pathLst>
              <a:path w="533400" h="695325">
                <a:moveTo>
                  <a:pt x="0" y="0"/>
                </a:moveTo>
                <a:lnTo>
                  <a:pt x="533373" y="0"/>
                </a:lnTo>
                <a:lnTo>
                  <a:pt x="533373" y="695323"/>
                </a:lnTo>
                <a:lnTo>
                  <a:pt x="0" y="695323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7" name="object 27"/>
          <p:cNvSpPr txBox="1"/>
          <p:nvPr/>
        </p:nvSpPr>
        <p:spPr>
          <a:xfrm>
            <a:off x="5357722" y="1903269"/>
            <a:ext cx="5813213" cy="3634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753180" algn="ctr"/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“local</a:t>
            </a:r>
            <a:r>
              <a:rPr sz="2400" spc="-4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0000"/>
                </a:solidFill>
                <a:latin typeface="Arial"/>
                <a:cs typeface="Arial"/>
              </a:rPr>
              <a:t>gradient”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33">
              <a:latin typeface="Times New Roman"/>
              <a:cs typeface="Times New Roman"/>
            </a:endParaRPr>
          </a:p>
          <a:p>
            <a:pPr marR="3921662" algn="ctr"/>
            <a:r>
              <a:rPr sz="6400" spc="-7" dirty="0">
                <a:latin typeface="Arial"/>
                <a:cs typeface="Arial"/>
              </a:rPr>
              <a:t>f</a:t>
            </a:r>
            <a:endParaRPr sz="6400">
              <a:latin typeface="Arial"/>
              <a:cs typeface="Arial"/>
            </a:endParaRPr>
          </a:p>
          <a:p>
            <a:pPr>
              <a:spcBef>
                <a:spcPts val="60"/>
              </a:spcBef>
            </a:pPr>
            <a:endParaRPr sz="5200">
              <a:latin typeface="Times New Roman"/>
              <a:cs typeface="Times New Roman"/>
            </a:endParaRPr>
          </a:p>
          <a:p>
            <a:pPr marL="3705767"/>
            <a:r>
              <a:rPr sz="4000" spc="-7" dirty="0">
                <a:solidFill>
                  <a:srgbClr val="FF0000"/>
                </a:solidFill>
                <a:latin typeface="Arial"/>
                <a:cs typeface="Arial"/>
              </a:rPr>
              <a:t>gradients</a:t>
            </a:r>
            <a:endParaRPr sz="40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66032" y="1558980"/>
            <a:ext cx="2839193" cy="207086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/>
          <p:nvPr/>
        </p:nvSpPr>
        <p:spPr>
          <a:xfrm>
            <a:off x="1046317" y="1598317"/>
            <a:ext cx="1082040" cy="1110825"/>
          </a:xfrm>
          <a:custGeom>
            <a:avLst/>
            <a:gdLst/>
            <a:ahLst/>
            <a:cxnLst/>
            <a:rect l="l" t="t" r="r" b="b"/>
            <a:pathLst>
              <a:path w="811530" h="833119">
                <a:moveTo>
                  <a:pt x="281399" y="0"/>
                </a:moveTo>
                <a:lnTo>
                  <a:pt x="811198" y="260399"/>
                </a:lnTo>
                <a:lnTo>
                  <a:pt x="529798" y="833098"/>
                </a:lnTo>
                <a:lnTo>
                  <a:pt x="0" y="572698"/>
                </a:lnTo>
                <a:lnTo>
                  <a:pt x="281399" y="0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object 30"/>
          <p:cNvSpPr/>
          <p:nvPr/>
        </p:nvSpPr>
        <p:spPr>
          <a:xfrm>
            <a:off x="1404494" y="1482487"/>
            <a:ext cx="2723727" cy="1202267"/>
          </a:xfrm>
          <a:custGeom>
            <a:avLst/>
            <a:gdLst/>
            <a:ahLst/>
            <a:cxnLst/>
            <a:rect l="l" t="t" r="r" b="b"/>
            <a:pathLst>
              <a:path w="2042795" h="901700">
                <a:moveTo>
                  <a:pt x="2042523" y="901255"/>
                </a:moveTo>
                <a:lnTo>
                  <a:pt x="0" y="0"/>
                </a:lnTo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1" name="object 31"/>
          <p:cNvSpPr/>
          <p:nvPr/>
        </p:nvSpPr>
        <p:spPr>
          <a:xfrm>
            <a:off x="1299038" y="1435954"/>
            <a:ext cx="122767" cy="85513"/>
          </a:xfrm>
          <a:custGeom>
            <a:avLst/>
            <a:gdLst/>
            <a:ahLst/>
            <a:cxnLst/>
            <a:rect l="l" t="t" r="r" b="b"/>
            <a:pathLst>
              <a:path w="92075" h="64134">
                <a:moveTo>
                  <a:pt x="91794" y="6112"/>
                </a:moveTo>
                <a:lnTo>
                  <a:pt x="0" y="0"/>
                </a:lnTo>
                <a:lnTo>
                  <a:pt x="66389" y="63687"/>
                </a:lnTo>
                <a:lnTo>
                  <a:pt x="91794" y="6112"/>
                </a:lnTo>
                <a:close/>
              </a:path>
            </a:pathLst>
          </a:custGeom>
          <a:ln w="1904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2" name="object 32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54</a:t>
            </a:r>
            <a:endParaRPr sz="2667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93292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933" y="590171"/>
            <a:ext cx="14020800" cy="578609"/>
          </a:xfrm>
          <a:prstGeom prst="rect">
            <a:avLst/>
          </a:prstGeom>
        </p:spPr>
        <p:txBody>
          <a:bodyPr vert="horz" wrap="square" lIns="0" tIns="85333" rIns="0" bIns="0" rtlCol="0" anchor="ctr">
            <a:spAutoFit/>
          </a:bodyPr>
          <a:lstStyle/>
          <a:p>
            <a:pPr marL="528307">
              <a:lnSpc>
                <a:spcPct val="100000"/>
              </a:lnSpc>
            </a:pPr>
            <a:r>
              <a:rPr sz="3200" spc="-7" dirty="0"/>
              <a:t>Vectorized</a:t>
            </a:r>
            <a:r>
              <a:rPr sz="3200" spc="-27" dirty="0"/>
              <a:t> </a:t>
            </a:r>
            <a:r>
              <a:rPr sz="3200" spc="-7" dirty="0"/>
              <a:t>operations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3354992" y="2924260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179591" y="2903284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3354992" y="3136960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179591" y="31159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3354992" y="3292759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4179591" y="32717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179591" y="34491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354992" y="3682892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4179591" y="36618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4179591" y="38176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3338059" y="2972076"/>
            <a:ext cx="940647" cy="410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tabLst>
                <a:tab pos="922844" algn="l"/>
              </a:tabLst>
            </a:pPr>
            <a:r>
              <a:rPr sz="2667" u="sng" dirty="0">
                <a:latin typeface="Times New Roman"/>
                <a:cs typeface="Times New Roman"/>
              </a:rPr>
              <a:t> 	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7363" y="2972077"/>
            <a:ext cx="3241040" cy="820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667" spc="-7" dirty="0">
                <a:latin typeface="Arial"/>
                <a:cs typeface="Arial"/>
              </a:rPr>
              <a:t>4096-d</a:t>
            </a:r>
            <a:endParaRPr sz="2667">
              <a:latin typeface="Arial"/>
              <a:cs typeface="Arial"/>
            </a:endParaRPr>
          </a:p>
          <a:p>
            <a:pPr marL="16933">
              <a:tabLst>
                <a:tab pos="2317269" algn="l"/>
                <a:tab pos="3223179" algn="l"/>
              </a:tabLst>
            </a:pPr>
            <a:r>
              <a:rPr sz="2667" spc="-7" dirty="0">
                <a:latin typeface="Arial"/>
                <a:cs typeface="Arial"/>
              </a:rPr>
              <a:t>input</a:t>
            </a:r>
            <a:r>
              <a:rPr sz="2667" spc="-8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vector	</a:t>
            </a:r>
            <a:r>
              <a:rPr sz="2667" u="sng" spc="-7" dirty="0">
                <a:latin typeface="Times New Roman"/>
                <a:cs typeface="Times New Roman"/>
              </a:rPr>
              <a:t> 	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01951" y="2903284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7801951" y="31159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7801951" y="32717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7801951" y="34491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7801951" y="36618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2" name="objec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579574"/>
              </p:ext>
            </p:extLst>
          </p:nvPr>
        </p:nvGraphicFramePr>
        <p:xfrm>
          <a:off x="4538133" y="1473199"/>
          <a:ext cx="2444666" cy="44351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5584"/>
                <a:gridCol w="569082"/>
              </a:tblGrid>
              <a:tr h="1057255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4100" dirty="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ts val="263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f(x) =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max(0,x)</a:t>
                      </a:r>
                      <a:endParaRPr sz="1600" dirty="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ts val="2630"/>
                        </a:lnSpc>
                      </a:pPr>
                      <a:r>
                        <a:rPr sz="1600" i="1" spc="-5" dirty="0">
                          <a:latin typeface="Arial"/>
                          <a:cs typeface="Arial"/>
                        </a:rPr>
                        <a:t>(elementwise)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368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368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368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368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368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11680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3" name="object 23"/>
          <p:cNvSpPr/>
          <p:nvPr/>
        </p:nvSpPr>
        <p:spPr>
          <a:xfrm>
            <a:off x="7801951" y="38176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4" name="object 24"/>
          <p:cNvSpPr txBox="1"/>
          <p:nvPr/>
        </p:nvSpPr>
        <p:spPr>
          <a:xfrm>
            <a:off x="8487821" y="2972077"/>
            <a:ext cx="1990513" cy="820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667" spc="-7" dirty="0">
                <a:latin typeface="Arial"/>
                <a:cs typeface="Arial"/>
              </a:rPr>
              <a:t>4096-d</a:t>
            </a:r>
            <a:endParaRPr sz="2667">
              <a:latin typeface="Arial"/>
              <a:cs typeface="Arial"/>
            </a:endParaRPr>
          </a:p>
          <a:p>
            <a:pPr marL="16933"/>
            <a:r>
              <a:rPr sz="2667" spc="-7" dirty="0">
                <a:latin typeface="Arial"/>
                <a:cs typeface="Arial"/>
              </a:rPr>
              <a:t>output</a:t>
            </a:r>
            <a:r>
              <a:rPr sz="2667" spc="-7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vector</a:t>
            </a:r>
            <a:endParaRPr sz="2667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55</a:t>
            </a:r>
            <a:endParaRPr sz="2667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71257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7600" y="1081238"/>
            <a:ext cx="14020800" cy="578609"/>
          </a:xfrm>
          <a:prstGeom prst="rect">
            <a:avLst/>
          </a:prstGeom>
        </p:spPr>
        <p:txBody>
          <a:bodyPr vert="horz" wrap="square" lIns="0" tIns="85333" rIns="0" bIns="0" rtlCol="0" anchor="ctr">
            <a:spAutoFit/>
          </a:bodyPr>
          <a:lstStyle/>
          <a:p>
            <a:pPr marL="528307">
              <a:lnSpc>
                <a:spcPct val="100000"/>
              </a:lnSpc>
            </a:pPr>
            <a:r>
              <a:rPr sz="3200" spc="-7" dirty="0"/>
              <a:t>Vectorized</a:t>
            </a:r>
            <a:r>
              <a:rPr sz="3200" spc="-27" dirty="0"/>
              <a:t> </a:t>
            </a:r>
            <a:r>
              <a:rPr sz="3200" spc="-7" dirty="0"/>
              <a:t>operations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3354992" y="2924260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179591" y="2903284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3354992" y="3136960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179591" y="31159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3354992" y="3292759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4179591" y="32717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179591" y="34491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354992" y="3682892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4179591" y="36618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4179591" y="38176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7801951" y="2903284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7801951" y="31159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7801951" y="32717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7801951" y="34491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7801951" y="36618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4249275" y="1514681"/>
          <a:ext cx="3546324" cy="51887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0793"/>
                <a:gridCol w="825531"/>
              </a:tblGrid>
              <a:tr h="1403229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ts val="2630"/>
                        </a:lnSpc>
                      </a:pPr>
                      <a:r>
                        <a:rPr sz="2900" spc="-5" dirty="0">
                          <a:latin typeface="Arial"/>
                          <a:cs typeface="Arial"/>
                        </a:rPr>
                        <a:t>f(x) =</a:t>
                      </a:r>
                      <a:r>
                        <a:rPr sz="2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00" spc="-5" dirty="0">
                          <a:latin typeface="Arial"/>
                          <a:cs typeface="Arial"/>
                        </a:rPr>
                        <a:t>max(0,x)</a:t>
                      </a:r>
                      <a:endParaRPr sz="290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ts val="2630"/>
                        </a:lnSpc>
                      </a:pPr>
                      <a:r>
                        <a:rPr sz="2900" i="1" spc="-5" dirty="0">
                          <a:latin typeface="Arial"/>
                          <a:cs typeface="Arial"/>
                        </a:rPr>
                        <a:t>(elementwise)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447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447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447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447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447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15503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7801951" y="38176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8487821" y="2972077"/>
            <a:ext cx="1990513" cy="820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667" spc="-7" dirty="0">
                <a:latin typeface="Arial"/>
                <a:cs typeface="Arial"/>
              </a:rPr>
              <a:t>4096-d</a:t>
            </a:r>
            <a:endParaRPr sz="2667">
              <a:latin typeface="Arial"/>
              <a:cs typeface="Arial"/>
            </a:endParaRPr>
          </a:p>
          <a:p>
            <a:pPr marL="16933"/>
            <a:r>
              <a:rPr sz="2667" spc="-7" dirty="0">
                <a:latin typeface="Arial"/>
                <a:cs typeface="Arial"/>
              </a:rPr>
              <a:t>output</a:t>
            </a:r>
            <a:r>
              <a:rPr sz="2667" spc="-7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vector</a:t>
            </a:r>
            <a:endParaRPr sz="2667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3466" y="2972077"/>
            <a:ext cx="3744807" cy="266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687">
              <a:tabLst>
                <a:tab pos="2821023" algn="l"/>
                <a:tab pos="3726933" algn="l"/>
              </a:tabLst>
            </a:pPr>
            <a:r>
              <a:rPr sz="2667" spc="-7" dirty="0">
                <a:latin typeface="Arial"/>
                <a:cs typeface="Arial"/>
              </a:rPr>
              <a:t>4096-d	</a:t>
            </a:r>
            <a:r>
              <a:rPr sz="2667" u="sng" spc="-7" dirty="0">
                <a:latin typeface="Times New Roman"/>
                <a:cs typeface="Times New Roman"/>
              </a:rPr>
              <a:t> 	</a:t>
            </a:r>
            <a:endParaRPr sz="2667">
              <a:latin typeface="Times New Roman"/>
              <a:cs typeface="Times New Roman"/>
            </a:endParaRPr>
          </a:p>
          <a:p>
            <a:pPr marL="520687">
              <a:tabLst>
                <a:tab pos="2821023" algn="l"/>
                <a:tab pos="3726933" algn="l"/>
              </a:tabLst>
            </a:pPr>
            <a:r>
              <a:rPr sz="2667" spc="-7" dirty="0">
                <a:latin typeface="Arial"/>
                <a:cs typeface="Arial"/>
              </a:rPr>
              <a:t>input</a:t>
            </a:r>
            <a:r>
              <a:rPr sz="2667" spc="-8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vector	</a:t>
            </a:r>
            <a:r>
              <a:rPr sz="2667" u="sng" spc="-7" dirty="0">
                <a:latin typeface="Times New Roman"/>
                <a:cs typeface="Times New Roman"/>
              </a:rPr>
              <a:t> 	</a:t>
            </a:r>
            <a:endParaRPr sz="2667">
              <a:latin typeface="Times New Roman"/>
              <a:cs typeface="Times New Roman"/>
            </a:endParaRPr>
          </a:p>
          <a:p>
            <a:pPr>
              <a:spcBef>
                <a:spcPts val="67"/>
              </a:spcBef>
            </a:pPr>
            <a:endParaRPr sz="2400">
              <a:latin typeface="Times New Roman"/>
              <a:cs typeface="Times New Roman"/>
            </a:endParaRPr>
          </a:p>
          <a:p>
            <a:pPr marL="16933" marR="645991">
              <a:lnSpc>
                <a:spcPts val="3800"/>
              </a:lnSpc>
            </a:pPr>
            <a:r>
              <a:rPr sz="3200" spc="-7" dirty="0">
                <a:solidFill>
                  <a:srgbClr val="0000FF"/>
                </a:solidFill>
                <a:latin typeface="Arial"/>
                <a:cs typeface="Arial"/>
              </a:rPr>
              <a:t>Q: what is the  size of the  Jacobian</a:t>
            </a:r>
            <a:r>
              <a:rPr sz="3200" spc="-5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0000FF"/>
                </a:solidFill>
                <a:latin typeface="Arial"/>
                <a:cs typeface="Arial"/>
              </a:rPr>
              <a:t>matrix?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451216" y="142217"/>
            <a:ext cx="2730493" cy="1054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5" name="object 25"/>
          <p:cNvSpPr/>
          <p:nvPr/>
        </p:nvSpPr>
        <p:spPr>
          <a:xfrm>
            <a:off x="9859781" y="104299"/>
            <a:ext cx="623993" cy="1054100"/>
          </a:xfrm>
          <a:custGeom>
            <a:avLst/>
            <a:gdLst/>
            <a:ahLst/>
            <a:cxnLst/>
            <a:rect l="l" t="t" r="r" b="b"/>
            <a:pathLst>
              <a:path w="467995" h="790575">
                <a:moveTo>
                  <a:pt x="0" y="0"/>
                </a:moveTo>
                <a:lnTo>
                  <a:pt x="467699" y="0"/>
                </a:lnTo>
                <a:lnTo>
                  <a:pt x="467699" y="790498"/>
                </a:lnTo>
                <a:lnTo>
                  <a:pt x="0" y="790498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6" name="object 26"/>
          <p:cNvSpPr txBox="1"/>
          <p:nvPr/>
        </p:nvSpPr>
        <p:spPr>
          <a:xfrm>
            <a:off x="9653779" y="1363038"/>
            <a:ext cx="216746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Jacobian</a:t>
            </a:r>
            <a:r>
              <a:rPr sz="2400" spc="-5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56</a:t>
            </a:r>
            <a:endParaRPr sz="2667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51077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5625" y="1521030"/>
            <a:ext cx="2721185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</a:pPr>
            <a:endParaRPr sz="5467">
              <a:latin typeface="Times New Roman"/>
              <a:cs typeface="Times New Roman"/>
            </a:endParaRPr>
          </a:p>
          <a:p>
            <a:pPr algn="ctr">
              <a:spcBef>
                <a:spcPts val="7"/>
              </a:spcBef>
            </a:pPr>
            <a:r>
              <a:rPr sz="4000" spc="-7" dirty="0">
                <a:latin typeface="Arial"/>
                <a:cs typeface="Arial"/>
              </a:rPr>
              <a:t>max(0,x)</a:t>
            </a:r>
            <a:endParaRPr sz="4000">
              <a:latin typeface="Arial"/>
              <a:cs typeface="Arial"/>
            </a:endParaRPr>
          </a:p>
          <a:p>
            <a:pPr algn="ctr">
              <a:spcBef>
                <a:spcPts val="40"/>
              </a:spcBef>
            </a:pPr>
            <a:r>
              <a:rPr sz="2933" spc="-7" dirty="0">
                <a:latin typeface="Arial"/>
                <a:cs typeface="Arial"/>
              </a:rPr>
              <a:t>(elementwise)</a:t>
            </a:r>
            <a:endParaRPr sz="2933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54992" y="2924260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179591" y="2903284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3354992" y="3136960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179591" y="31159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3354992" y="3292759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4179591" y="32717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179591" y="34491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354992" y="3682892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4179591" y="36618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4179591" y="38176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7801951" y="2903284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7801951" y="31159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7801951" y="32717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7801951" y="34491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7801951" y="36618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7801951" y="38176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 txBox="1"/>
          <p:nvPr/>
        </p:nvSpPr>
        <p:spPr>
          <a:xfrm>
            <a:off x="8487821" y="2972077"/>
            <a:ext cx="1990513" cy="820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667" spc="-7" dirty="0">
                <a:latin typeface="Arial"/>
                <a:cs typeface="Arial"/>
              </a:rPr>
              <a:t>4096-d</a:t>
            </a:r>
            <a:endParaRPr sz="2667">
              <a:latin typeface="Arial"/>
              <a:cs typeface="Arial"/>
            </a:endParaRPr>
          </a:p>
          <a:p>
            <a:pPr marL="16933"/>
            <a:r>
              <a:rPr sz="2667" spc="-7" dirty="0">
                <a:latin typeface="Arial"/>
                <a:cs typeface="Arial"/>
              </a:rPr>
              <a:t>output</a:t>
            </a:r>
            <a:r>
              <a:rPr sz="2667" spc="-7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vector</a:t>
            </a:r>
            <a:endParaRPr sz="2667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466" y="2972077"/>
            <a:ext cx="3744807" cy="3152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687">
              <a:tabLst>
                <a:tab pos="2821023" algn="l"/>
                <a:tab pos="3726933" algn="l"/>
              </a:tabLst>
            </a:pPr>
            <a:r>
              <a:rPr sz="2667" spc="-7" dirty="0">
                <a:latin typeface="Arial"/>
                <a:cs typeface="Arial"/>
              </a:rPr>
              <a:t>4096-d	</a:t>
            </a:r>
            <a:r>
              <a:rPr sz="2667" u="sng" spc="-7" dirty="0">
                <a:latin typeface="Times New Roman"/>
                <a:cs typeface="Times New Roman"/>
              </a:rPr>
              <a:t> 	</a:t>
            </a:r>
            <a:endParaRPr sz="2667">
              <a:latin typeface="Times New Roman"/>
              <a:cs typeface="Times New Roman"/>
            </a:endParaRPr>
          </a:p>
          <a:p>
            <a:pPr marL="520687">
              <a:tabLst>
                <a:tab pos="2821023" algn="l"/>
                <a:tab pos="3726933" algn="l"/>
              </a:tabLst>
            </a:pPr>
            <a:r>
              <a:rPr sz="2667" spc="-7" dirty="0">
                <a:latin typeface="Arial"/>
                <a:cs typeface="Arial"/>
              </a:rPr>
              <a:t>input</a:t>
            </a:r>
            <a:r>
              <a:rPr sz="2667" spc="-8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vector	</a:t>
            </a:r>
            <a:r>
              <a:rPr sz="2667" u="sng" spc="-7" dirty="0">
                <a:latin typeface="Times New Roman"/>
                <a:cs typeface="Times New Roman"/>
              </a:rPr>
              <a:t> 	</a:t>
            </a:r>
            <a:endParaRPr sz="2667">
              <a:latin typeface="Times New Roman"/>
              <a:cs typeface="Times New Roman"/>
            </a:endParaRPr>
          </a:p>
          <a:p>
            <a:pPr>
              <a:spcBef>
                <a:spcPts val="67"/>
              </a:spcBef>
            </a:pPr>
            <a:endParaRPr sz="2400">
              <a:latin typeface="Times New Roman"/>
              <a:cs typeface="Times New Roman"/>
            </a:endParaRPr>
          </a:p>
          <a:p>
            <a:pPr marL="16933" marR="645991">
              <a:lnSpc>
                <a:spcPts val="3800"/>
              </a:lnSpc>
            </a:pPr>
            <a:r>
              <a:rPr sz="3200" spc="-7" dirty="0">
                <a:solidFill>
                  <a:srgbClr val="0000FF"/>
                </a:solidFill>
                <a:latin typeface="Arial"/>
                <a:cs typeface="Arial"/>
              </a:rPr>
              <a:t>Q: what is the  size of the  Jacobian</a:t>
            </a:r>
            <a:r>
              <a:rPr sz="3200" spc="-4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0000FF"/>
                </a:solidFill>
                <a:latin typeface="Arial"/>
                <a:cs typeface="Arial"/>
              </a:rPr>
              <a:t>matrix?  [4096 </a:t>
            </a:r>
            <a:r>
              <a:rPr sz="3200" dirty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3200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0000FF"/>
                </a:solidFill>
                <a:latin typeface="Arial"/>
                <a:cs typeface="Arial"/>
              </a:rPr>
              <a:t>4096!]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47055" y="4304110"/>
            <a:ext cx="2968413" cy="974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marR="6773">
              <a:lnSpc>
                <a:spcPts val="3800"/>
              </a:lnSpc>
            </a:pPr>
            <a:r>
              <a:rPr sz="3200" spc="-7" dirty="0">
                <a:solidFill>
                  <a:srgbClr val="0000FF"/>
                </a:solidFill>
                <a:latin typeface="Arial"/>
                <a:cs typeface="Arial"/>
              </a:rPr>
              <a:t>Q2: what does</a:t>
            </a:r>
            <a:r>
              <a:rPr sz="3200" spc="-7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0000FF"/>
                </a:solidFill>
                <a:latin typeface="Arial"/>
                <a:cs typeface="Arial"/>
              </a:rPr>
              <a:t>it  look</a:t>
            </a:r>
            <a:r>
              <a:rPr sz="3200" spc="-87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0000FF"/>
                </a:solidFill>
                <a:latin typeface="Arial"/>
                <a:cs typeface="Arial"/>
              </a:rPr>
              <a:t>like?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1117600" y="1081238"/>
            <a:ext cx="14020800" cy="578609"/>
          </a:xfrm>
          <a:prstGeom prst="rect">
            <a:avLst/>
          </a:prstGeom>
        </p:spPr>
        <p:txBody>
          <a:bodyPr vert="horz" wrap="square" lIns="0" tIns="85333" rIns="0" bIns="0" rtlCol="0" anchor="ctr">
            <a:spAutoFit/>
          </a:bodyPr>
          <a:lstStyle/>
          <a:p>
            <a:pPr marL="528307">
              <a:lnSpc>
                <a:spcPct val="100000"/>
              </a:lnSpc>
            </a:pPr>
            <a:r>
              <a:rPr sz="3200" spc="-7" dirty="0"/>
              <a:t>Vectorized</a:t>
            </a:r>
            <a:r>
              <a:rPr sz="3200" spc="-27" dirty="0"/>
              <a:t> </a:t>
            </a:r>
            <a:r>
              <a:rPr sz="3200" spc="-7" dirty="0"/>
              <a:t>operations</a:t>
            </a:r>
            <a:endParaRPr sz="3200"/>
          </a:p>
        </p:txBody>
      </p:sp>
      <p:sp>
        <p:nvSpPr>
          <p:cNvPr id="25" name="object 25"/>
          <p:cNvSpPr txBox="1"/>
          <p:nvPr/>
        </p:nvSpPr>
        <p:spPr>
          <a:xfrm>
            <a:off x="9653779" y="1363038"/>
            <a:ext cx="216746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Jacobian</a:t>
            </a:r>
            <a:r>
              <a:rPr sz="2400" spc="-5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4249275" y="1514681"/>
          <a:ext cx="3546324" cy="51887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0793"/>
                <a:gridCol w="825531"/>
              </a:tblGrid>
              <a:tr h="1403229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410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ts val="2630"/>
                        </a:lnSpc>
                      </a:pPr>
                      <a:r>
                        <a:rPr sz="2900" spc="-5" dirty="0">
                          <a:latin typeface="Arial"/>
                          <a:cs typeface="Arial"/>
                        </a:rPr>
                        <a:t>f(x) =</a:t>
                      </a:r>
                      <a:r>
                        <a:rPr sz="2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00" spc="-5" dirty="0">
                          <a:latin typeface="Arial"/>
                          <a:cs typeface="Arial"/>
                        </a:rPr>
                        <a:t>max(0,x)</a:t>
                      </a:r>
                      <a:endParaRPr sz="290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ts val="2630"/>
                        </a:lnSpc>
                      </a:pPr>
                      <a:r>
                        <a:rPr sz="2900" i="1" spc="-5" dirty="0">
                          <a:latin typeface="Arial"/>
                          <a:cs typeface="Arial"/>
                        </a:rPr>
                        <a:t>(elementwise)</a:t>
                      </a:r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447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447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447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447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4470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15503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8451216" y="142217"/>
            <a:ext cx="2730493" cy="1054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8" name="object 28"/>
          <p:cNvSpPr/>
          <p:nvPr/>
        </p:nvSpPr>
        <p:spPr>
          <a:xfrm>
            <a:off x="9859781" y="104299"/>
            <a:ext cx="623993" cy="1054100"/>
          </a:xfrm>
          <a:custGeom>
            <a:avLst/>
            <a:gdLst/>
            <a:ahLst/>
            <a:cxnLst/>
            <a:rect l="l" t="t" r="r" b="b"/>
            <a:pathLst>
              <a:path w="467995" h="790575">
                <a:moveTo>
                  <a:pt x="0" y="0"/>
                </a:moveTo>
                <a:lnTo>
                  <a:pt x="467699" y="0"/>
                </a:lnTo>
                <a:lnTo>
                  <a:pt x="467699" y="790498"/>
                </a:lnTo>
                <a:lnTo>
                  <a:pt x="0" y="790498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object 29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57</a:t>
            </a:r>
            <a:endParaRPr sz="2667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104036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255625" y="1521030"/>
            <a:ext cx="2721185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4000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</a:pPr>
            <a:endParaRPr sz="5467">
              <a:latin typeface="Times New Roman"/>
              <a:cs typeface="Times New Roman"/>
            </a:endParaRPr>
          </a:p>
          <a:p>
            <a:pPr algn="ctr">
              <a:spcBef>
                <a:spcPts val="7"/>
              </a:spcBef>
            </a:pPr>
            <a:r>
              <a:rPr sz="4000" spc="-7" dirty="0">
                <a:latin typeface="Arial"/>
                <a:cs typeface="Arial"/>
              </a:rPr>
              <a:t>max(0,x)</a:t>
            </a:r>
            <a:endParaRPr sz="4000">
              <a:latin typeface="Arial"/>
              <a:cs typeface="Arial"/>
            </a:endParaRPr>
          </a:p>
          <a:p>
            <a:pPr algn="ctr">
              <a:spcBef>
                <a:spcPts val="40"/>
              </a:spcBef>
            </a:pPr>
            <a:r>
              <a:rPr sz="2933" spc="-7" dirty="0">
                <a:latin typeface="Arial"/>
                <a:cs typeface="Arial"/>
              </a:rPr>
              <a:t>(elementwise)</a:t>
            </a:r>
            <a:endParaRPr sz="2933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54992" y="2924260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4179591" y="2903284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3354992" y="3136960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179591" y="31159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4179591" y="32717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3354992" y="3470192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179591" y="34491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3354992" y="3682892"/>
            <a:ext cx="824653" cy="0"/>
          </a:xfrm>
          <a:custGeom>
            <a:avLst/>
            <a:gdLst/>
            <a:ahLst/>
            <a:cxnLst/>
            <a:rect l="l" t="t" r="r" b="b"/>
            <a:pathLst>
              <a:path w="618489">
                <a:moveTo>
                  <a:pt x="0" y="0"/>
                </a:moveTo>
                <a:lnTo>
                  <a:pt x="61844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4179591" y="36618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/>
          <p:nvPr/>
        </p:nvSpPr>
        <p:spPr>
          <a:xfrm>
            <a:off x="4179591" y="38176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 txBox="1"/>
          <p:nvPr/>
        </p:nvSpPr>
        <p:spPr>
          <a:xfrm>
            <a:off x="1037363" y="2972077"/>
            <a:ext cx="3241040" cy="820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tabLst>
                <a:tab pos="2317269" algn="l"/>
                <a:tab pos="3223179" algn="l"/>
              </a:tabLst>
            </a:pPr>
            <a:r>
              <a:rPr sz="2667" spc="-7" dirty="0">
                <a:latin typeface="Arial"/>
                <a:cs typeface="Arial"/>
              </a:rPr>
              <a:t>100</a:t>
            </a:r>
            <a:r>
              <a:rPr sz="2667" spc="-8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4096-d	</a:t>
            </a:r>
            <a:r>
              <a:rPr sz="2667" u="sng" spc="-7" dirty="0">
                <a:latin typeface="Times New Roman"/>
                <a:cs typeface="Times New Roman"/>
              </a:rPr>
              <a:t> 	</a:t>
            </a:r>
            <a:endParaRPr sz="2667">
              <a:latin typeface="Times New Roman"/>
              <a:cs typeface="Times New Roman"/>
            </a:endParaRPr>
          </a:p>
          <a:p>
            <a:pPr marL="16933">
              <a:tabLst>
                <a:tab pos="2317269" algn="l"/>
                <a:tab pos="3223179" algn="l"/>
              </a:tabLst>
            </a:pPr>
            <a:r>
              <a:rPr sz="2667" spc="-7" dirty="0">
                <a:latin typeface="Arial"/>
                <a:cs typeface="Arial"/>
              </a:rPr>
              <a:t>input</a:t>
            </a:r>
            <a:r>
              <a:rPr sz="2667" spc="-7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vectors	</a:t>
            </a:r>
            <a:r>
              <a:rPr sz="2667" u="sng" spc="-7" dirty="0">
                <a:latin typeface="Times New Roman"/>
                <a:cs typeface="Times New Roman"/>
              </a:rPr>
              <a:t> 	</a:t>
            </a:r>
            <a:endParaRPr sz="2667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01951" y="2903284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7801951" y="31159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/>
          <p:nvPr/>
        </p:nvSpPr>
        <p:spPr>
          <a:xfrm>
            <a:off x="7801951" y="3271783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64"/>
                </a:moveTo>
                <a:lnTo>
                  <a:pt x="43224" y="15732"/>
                </a:lnTo>
                <a:lnTo>
                  <a:pt x="0" y="0"/>
                </a:lnTo>
                <a:lnTo>
                  <a:pt x="0" y="3146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9" name="object 19"/>
          <p:cNvSpPr/>
          <p:nvPr/>
        </p:nvSpPr>
        <p:spPr>
          <a:xfrm>
            <a:off x="7801951" y="34491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7801951" y="36618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1" name="object 21"/>
          <p:cNvSpPr/>
          <p:nvPr/>
        </p:nvSpPr>
        <p:spPr>
          <a:xfrm>
            <a:off x="7801951" y="3817692"/>
            <a:ext cx="58420" cy="42333"/>
          </a:xfrm>
          <a:custGeom>
            <a:avLst/>
            <a:gdLst/>
            <a:ahLst/>
            <a:cxnLst/>
            <a:rect l="l" t="t" r="r" b="b"/>
            <a:pathLst>
              <a:path w="43814" h="31750">
                <a:moveTo>
                  <a:pt x="0" y="31474"/>
                </a:moveTo>
                <a:lnTo>
                  <a:pt x="43224" y="15749"/>
                </a:lnTo>
                <a:lnTo>
                  <a:pt x="0" y="0"/>
                </a:lnTo>
                <a:lnTo>
                  <a:pt x="0" y="31474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8487821" y="2972077"/>
            <a:ext cx="2159847" cy="820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667" spc="-7" dirty="0">
                <a:latin typeface="Arial"/>
                <a:cs typeface="Arial"/>
              </a:rPr>
              <a:t>100</a:t>
            </a:r>
            <a:r>
              <a:rPr sz="2667" spc="-8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4096-d</a:t>
            </a:r>
            <a:endParaRPr sz="2667">
              <a:latin typeface="Arial"/>
              <a:cs typeface="Arial"/>
            </a:endParaRPr>
          </a:p>
          <a:p>
            <a:pPr marL="16933"/>
            <a:r>
              <a:rPr sz="2667" spc="-7" dirty="0">
                <a:latin typeface="Arial"/>
                <a:cs typeface="Arial"/>
              </a:rPr>
              <a:t>output</a:t>
            </a:r>
            <a:r>
              <a:rPr sz="2667" spc="-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vectors</a:t>
            </a:r>
            <a:endParaRPr sz="2667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58</a:t>
            </a:r>
            <a:endParaRPr sz="2667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69334" y="454704"/>
            <a:ext cx="14020800" cy="578609"/>
          </a:xfrm>
          <a:prstGeom prst="rect">
            <a:avLst/>
          </a:prstGeom>
        </p:spPr>
        <p:txBody>
          <a:bodyPr vert="horz" wrap="square" lIns="0" tIns="85333" rIns="0" bIns="0" rtlCol="0" anchor="ctr">
            <a:spAutoFit/>
          </a:bodyPr>
          <a:lstStyle/>
          <a:p>
            <a:pPr marL="528307">
              <a:lnSpc>
                <a:spcPct val="100000"/>
              </a:lnSpc>
            </a:pPr>
            <a:r>
              <a:rPr sz="3200" spc="-7" dirty="0"/>
              <a:t>Vectorized</a:t>
            </a:r>
            <a:r>
              <a:rPr sz="3200" spc="-27" dirty="0"/>
              <a:t> </a:t>
            </a:r>
            <a:r>
              <a:rPr sz="3200" spc="-7" dirty="0"/>
              <a:t>operations</a:t>
            </a:r>
            <a:endParaRPr sz="3200"/>
          </a:p>
        </p:txBody>
      </p:sp>
      <p:sp>
        <p:nvSpPr>
          <p:cNvPr id="24" name="object 24"/>
          <p:cNvSpPr txBox="1"/>
          <p:nvPr/>
        </p:nvSpPr>
        <p:spPr>
          <a:xfrm>
            <a:off x="290932" y="1514844"/>
            <a:ext cx="3572933" cy="1119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marR="6773">
              <a:lnSpc>
                <a:spcPct val="100699"/>
              </a:lnSpc>
            </a:pP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in practice we process an  entire minibatch (e.g. 100)  of examples at one</a:t>
            </a:r>
            <a:r>
              <a:rPr sz="24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time: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25734" y="505844"/>
            <a:ext cx="539198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885"/>
            <a:r>
              <a:rPr lang="en-US" sz="2400" spc="-7" dirty="0" smtClean="0">
                <a:solidFill>
                  <a:srgbClr val="0000FF"/>
                </a:solidFill>
                <a:latin typeface="Arial"/>
                <a:cs typeface="Arial"/>
              </a:rPr>
              <a:t>J</a:t>
            </a:r>
            <a:r>
              <a:rPr sz="2400" spc="-7" dirty="0" smtClean="0">
                <a:solidFill>
                  <a:srgbClr val="0000FF"/>
                </a:solidFill>
                <a:latin typeface="Arial"/>
                <a:cs typeface="Arial"/>
              </a:rPr>
              <a:t>acobian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would technically be</a:t>
            </a:r>
            <a:r>
              <a:rPr sz="2400" spc="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endParaRPr sz="2400" dirty="0">
              <a:latin typeface="Arial"/>
              <a:cs typeface="Arial"/>
            </a:endParaRPr>
          </a:p>
          <a:p>
            <a:pPr marL="16933">
              <a:spcBef>
                <a:spcPts val="20"/>
              </a:spcBef>
            </a:pPr>
            <a:r>
              <a:rPr lang="en-US" sz="2400" spc="-7" dirty="0" smtClean="0">
                <a:solidFill>
                  <a:srgbClr val="0000FF"/>
                </a:solidFill>
                <a:latin typeface="Arial"/>
                <a:cs typeface="Arial"/>
              </a:rPr>
              <a:t>[409</a:t>
            </a:r>
            <a:r>
              <a:rPr sz="2400" spc="-7" dirty="0" smtClean="0">
                <a:solidFill>
                  <a:srgbClr val="0000FF"/>
                </a:solidFill>
                <a:latin typeface="Arial"/>
                <a:cs typeface="Arial"/>
              </a:rPr>
              <a:t>,600 </a:t>
            </a:r>
            <a:r>
              <a:rPr sz="2400" dirty="0">
                <a:solidFill>
                  <a:srgbClr val="0000FF"/>
                </a:solidFill>
                <a:latin typeface="Arial"/>
                <a:cs typeface="Arial"/>
              </a:rPr>
              <a:t>x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409,600] matrix</a:t>
            </a:r>
            <a:r>
              <a:rPr sz="2400" spc="-3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0000FF"/>
                </a:solidFill>
                <a:latin typeface="Arial"/>
                <a:cs typeface="Arial"/>
              </a:rPr>
              <a:t>:\</a:t>
            </a:r>
            <a:endParaRPr sz="2400" dirty="0">
              <a:latin typeface="Arial"/>
              <a:cs typeface="Arial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084263"/>
              </p:ext>
            </p:extLst>
          </p:nvPr>
        </p:nvGraphicFramePr>
        <p:xfrm>
          <a:off x="4249275" y="1514680"/>
          <a:ext cx="3391749" cy="43496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5560"/>
                <a:gridCol w="816189"/>
              </a:tblGrid>
              <a:tr h="979324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9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4100" dirty="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ts val="2630"/>
                        </a:lnSpc>
                      </a:pPr>
                      <a:r>
                        <a:rPr sz="2900" spc="-5" dirty="0">
                          <a:latin typeface="Arial"/>
                          <a:cs typeface="Arial"/>
                        </a:rPr>
                        <a:t>f(x) =</a:t>
                      </a:r>
                      <a:r>
                        <a:rPr sz="2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900" spc="-5" dirty="0">
                          <a:latin typeface="Arial"/>
                          <a:cs typeface="Arial"/>
                        </a:rPr>
                        <a:t>max(0,x)</a:t>
                      </a:r>
                      <a:endParaRPr sz="2900" dirty="0">
                        <a:latin typeface="Arial"/>
                        <a:cs typeface="Arial"/>
                      </a:endParaRPr>
                    </a:p>
                    <a:p>
                      <a:pPr marL="146050">
                        <a:lnSpc>
                          <a:spcPts val="2630"/>
                        </a:lnSpc>
                      </a:pPr>
                      <a:r>
                        <a:rPr sz="2900" i="1" spc="-5" dirty="0">
                          <a:latin typeface="Arial"/>
                          <a:cs typeface="Arial"/>
                        </a:rPr>
                        <a:t>(elementwise)</a:t>
                      </a:r>
                      <a:endParaRPr sz="29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900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900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900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900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3900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sz="2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  <a:tr h="116051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R w="9524">
                      <a:solidFill>
                        <a:srgbClr val="666666"/>
                      </a:solidFill>
                      <a:prstDash val="solid"/>
                    </a:lnR>
                    <a:lnT w="9524">
                      <a:solidFill>
                        <a:srgbClr val="666666"/>
                      </a:solidFill>
                      <a:prstDash val="solid"/>
                    </a:lnT>
                    <a:lnB w="9524">
                      <a:solidFill>
                        <a:srgbClr val="66666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4">
                      <a:solidFill>
                        <a:srgbClr val="666666"/>
                      </a:solidFill>
                      <a:prstDash val="solid"/>
                    </a:lnL>
                    <a:lnT w="9524">
                      <a:solidFill>
                        <a:srgbClr val="666666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23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7067" y="290562"/>
            <a:ext cx="14020800" cy="97462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ts val="3820"/>
              </a:lnSpc>
            </a:pPr>
            <a:r>
              <a:rPr sz="3200" spc="-7" dirty="0"/>
              <a:t>Assignment: Writing</a:t>
            </a:r>
            <a:r>
              <a:rPr sz="3200" spc="13" dirty="0"/>
              <a:t> </a:t>
            </a:r>
            <a:r>
              <a:rPr sz="3200" spc="-7" dirty="0"/>
              <a:t>SVM/Softmax</a:t>
            </a:r>
            <a:endParaRPr sz="3200" dirty="0"/>
          </a:p>
          <a:p>
            <a:pPr marL="16933">
              <a:lnSpc>
                <a:spcPts val="3820"/>
              </a:lnSpc>
            </a:pPr>
            <a:r>
              <a:rPr sz="3200" spc="-7" dirty="0">
                <a:solidFill>
                  <a:srgbClr val="0000FF"/>
                </a:solidFill>
              </a:rPr>
              <a:t>Stage your forward/backward</a:t>
            </a:r>
            <a:r>
              <a:rPr sz="3200" spc="73" dirty="0">
                <a:solidFill>
                  <a:srgbClr val="0000FF"/>
                </a:solidFill>
              </a:rPr>
              <a:t> </a:t>
            </a:r>
            <a:r>
              <a:rPr sz="3200" spc="-7" dirty="0">
                <a:solidFill>
                  <a:srgbClr val="0000FF"/>
                </a:solidFill>
              </a:rPr>
              <a:t>computation!</a:t>
            </a:r>
            <a:endParaRPr sz="3200" dirty="0"/>
          </a:p>
        </p:txBody>
      </p:sp>
      <p:sp>
        <p:nvSpPr>
          <p:cNvPr id="5" name="object 5"/>
          <p:cNvSpPr/>
          <p:nvPr/>
        </p:nvSpPr>
        <p:spPr>
          <a:xfrm>
            <a:off x="501332" y="1904763"/>
            <a:ext cx="7576051" cy="4048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675664" y="1514699"/>
            <a:ext cx="235204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E.g. for the</a:t>
            </a:r>
            <a:r>
              <a:rPr sz="2400" spc="-67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SVM: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74022" y="1834464"/>
            <a:ext cx="6064020" cy="2143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5967687" y="1828113"/>
            <a:ext cx="6077373" cy="2156460"/>
          </a:xfrm>
          <a:custGeom>
            <a:avLst/>
            <a:gdLst/>
            <a:ahLst/>
            <a:cxnLst/>
            <a:rect l="l" t="t" r="r" b="b"/>
            <a:pathLst>
              <a:path w="4558030" h="1617345">
                <a:moveTo>
                  <a:pt x="0" y="0"/>
                </a:moveTo>
                <a:lnTo>
                  <a:pt x="4557515" y="0"/>
                </a:lnTo>
                <a:lnTo>
                  <a:pt x="4557515" y="1617184"/>
                </a:lnTo>
                <a:lnTo>
                  <a:pt x="0" y="161718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2435752" y="1448363"/>
            <a:ext cx="5729393" cy="1357207"/>
          </a:xfrm>
          <a:custGeom>
            <a:avLst/>
            <a:gdLst/>
            <a:ahLst/>
            <a:cxnLst/>
            <a:rect l="l" t="t" r="r" b="b"/>
            <a:pathLst>
              <a:path w="4297045" h="1017905">
                <a:moveTo>
                  <a:pt x="4296523" y="974648"/>
                </a:moveTo>
                <a:lnTo>
                  <a:pt x="4248798" y="951531"/>
                </a:lnTo>
                <a:lnTo>
                  <a:pt x="4194384" y="922375"/>
                </a:lnTo>
                <a:lnTo>
                  <a:pt x="4133710" y="887796"/>
                </a:lnTo>
                <a:lnTo>
                  <a:pt x="4067206" y="848408"/>
                </a:lnTo>
                <a:lnTo>
                  <a:pt x="4031902" y="827105"/>
                </a:lnTo>
                <a:lnTo>
                  <a:pt x="3995302" y="804830"/>
                </a:lnTo>
                <a:lnTo>
                  <a:pt x="3957458" y="781662"/>
                </a:lnTo>
                <a:lnTo>
                  <a:pt x="3918426" y="757676"/>
                </a:lnTo>
                <a:lnTo>
                  <a:pt x="3878259" y="732952"/>
                </a:lnTo>
                <a:lnTo>
                  <a:pt x="3837009" y="707564"/>
                </a:lnTo>
                <a:lnTo>
                  <a:pt x="3794732" y="681591"/>
                </a:lnTo>
                <a:lnTo>
                  <a:pt x="3751480" y="655109"/>
                </a:lnTo>
                <a:lnTo>
                  <a:pt x="3707308" y="628196"/>
                </a:lnTo>
                <a:lnTo>
                  <a:pt x="3662269" y="600928"/>
                </a:lnTo>
                <a:lnTo>
                  <a:pt x="3616417" y="573382"/>
                </a:lnTo>
                <a:lnTo>
                  <a:pt x="3569805" y="545636"/>
                </a:lnTo>
                <a:lnTo>
                  <a:pt x="3522487" y="517767"/>
                </a:lnTo>
                <a:lnTo>
                  <a:pt x="3474517" y="489851"/>
                </a:lnTo>
                <a:lnTo>
                  <a:pt x="3425948" y="461965"/>
                </a:lnTo>
                <a:lnTo>
                  <a:pt x="3376835" y="434187"/>
                </a:lnTo>
                <a:lnTo>
                  <a:pt x="3327231" y="406594"/>
                </a:lnTo>
                <a:lnTo>
                  <a:pt x="3277189" y="379262"/>
                </a:lnTo>
                <a:lnTo>
                  <a:pt x="3226763" y="352269"/>
                </a:lnTo>
                <a:lnTo>
                  <a:pt x="3176008" y="325692"/>
                </a:lnTo>
                <a:lnTo>
                  <a:pt x="3124976" y="299607"/>
                </a:lnTo>
                <a:lnTo>
                  <a:pt x="3073721" y="274092"/>
                </a:lnTo>
                <a:lnTo>
                  <a:pt x="3022297" y="249224"/>
                </a:lnTo>
                <a:lnTo>
                  <a:pt x="2970758" y="225079"/>
                </a:lnTo>
                <a:lnTo>
                  <a:pt x="2919158" y="201736"/>
                </a:lnTo>
                <a:lnTo>
                  <a:pt x="2867549" y="179270"/>
                </a:lnTo>
                <a:lnTo>
                  <a:pt x="2815986" y="157759"/>
                </a:lnTo>
                <a:lnTo>
                  <a:pt x="2764523" y="137280"/>
                </a:lnTo>
                <a:lnTo>
                  <a:pt x="2713213" y="117910"/>
                </a:lnTo>
                <a:lnTo>
                  <a:pt x="2662109" y="99726"/>
                </a:lnTo>
                <a:lnTo>
                  <a:pt x="2611267" y="82804"/>
                </a:lnTo>
                <a:lnTo>
                  <a:pt x="2560738" y="67223"/>
                </a:lnTo>
                <a:lnTo>
                  <a:pt x="2510577" y="53059"/>
                </a:lnTo>
                <a:lnTo>
                  <a:pt x="2460838" y="40388"/>
                </a:lnTo>
                <a:lnTo>
                  <a:pt x="2411574" y="29289"/>
                </a:lnTo>
                <a:lnTo>
                  <a:pt x="2362839" y="19838"/>
                </a:lnTo>
                <a:lnTo>
                  <a:pt x="2314687" y="12112"/>
                </a:lnTo>
                <a:lnTo>
                  <a:pt x="2267171" y="6188"/>
                </a:lnTo>
                <a:lnTo>
                  <a:pt x="2220345" y="2143"/>
                </a:lnTo>
                <a:lnTo>
                  <a:pt x="2174263" y="55"/>
                </a:lnTo>
                <a:lnTo>
                  <a:pt x="2128978" y="0"/>
                </a:lnTo>
                <a:lnTo>
                  <a:pt x="2087865" y="1771"/>
                </a:lnTo>
                <a:lnTo>
                  <a:pt x="2045989" y="5253"/>
                </a:lnTo>
                <a:lnTo>
                  <a:pt x="2003393" y="10387"/>
                </a:lnTo>
                <a:lnTo>
                  <a:pt x="1960121" y="17114"/>
                </a:lnTo>
                <a:lnTo>
                  <a:pt x="1916217" y="25374"/>
                </a:lnTo>
                <a:lnTo>
                  <a:pt x="1871723" y="35108"/>
                </a:lnTo>
                <a:lnTo>
                  <a:pt x="1826685" y="46256"/>
                </a:lnTo>
                <a:lnTo>
                  <a:pt x="1781146" y="58759"/>
                </a:lnTo>
                <a:lnTo>
                  <a:pt x="1735148" y="72557"/>
                </a:lnTo>
                <a:lnTo>
                  <a:pt x="1688736" y="87592"/>
                </a:lnTo>
                <a:lnTo>
                  <a:pt x="1641954" y="103804"/>
                </a:lnTo>
                <a:lnTo>
                  <a:pt x="1594845" y="121133"/>
                </a:lnTo>
                <a:lnTo>
                  <a:pt x="1547452" y="139520"/>
                </a:lnTo>
                <a:lnTo>
                  <a:pt x="1499820" y="158906"/>
                </a:lnTo>
                <a:lnTo>
                  <a:pt x="1451992" y="179231"/>
                </a:lnTo>
                <a:lnTo>
                  <a:pt x="1404012" y="200435"/>
                </a:lnTo>
                <a:lnTo>
                  <a:pt x="1355922" y="222461"/>
                </a:lnTo>
                <a:lnTo>
                  <a:pt x="1307768" y="245247"/>
                </a:lnTo>
                <a:lnTo>
                  <a:pt x="1259593" y="268735"/>
                </a:lnTo>
                <a:lnTo>
                  <a:pt x="1211439" y="292865"/>
                </a:lnTo>
                <a:lnTo>
                  <a:pt x="1163352" y="317578"/>
                </a:lnTo>
                <a:lnTo>
                  <a:pt x="1115374" y="342815"/>
                </a:lnTo>
                <a:lnTo>
                  <a:pt x="1067549" y="368515"/>
                </a:lnTo>
                <a:lnTo>
                  <a:pt x="1019922" y="394621"/>
                </a:lnTo>
                <a:lnTo>
                  <a:pt x="972534" y="421071"/>
                </a:lnTo>
                <a:lnTo>
                  <a:pt x="925431" y="447808"/>
                </a:lnTo>
                <a:lnTo>
                  <a:pt x="878655" y="474771"/>
                </a:lnTo>
                <a:lnTo>
                  <a:pt x="830479" y="502947"/>
                </a:lnTo>
                <a:lnTo>
                  <a:pt x="782752" y="531236"/>
                </a:lnTo>
                <a:lnTo>
                  <a:pt x="735523" y="559573"/>
                </a:lnTo>
                <a:lnTo>
                  <a:pt x="688842" y="587891"/>
                </a:lnTo>
                <a:lnTo>
                  <a:pt x="642757" y="616123"/>
                </a:lnTo>
                <a:lnTo>
                  <a:pt x="597317" y="644202"/>
                </a:lnTo>
                <a:lnTo>
                  <a:pt x="552570" y="672063"/>
                </a:lnTo>
                <a:lnTo>
                  <a:pt x="508567" y="699638"/>
                </a:lnTo>
                <a:lnTo>
                  <a:pt x="465356" y="726862"/>
                </a:lnTo>
                <a:lnTo>
                  <a:pt x="422985" y="753667"/>
                </a:lnTo>
                <a:lnTo>
                  <a:pt x="381504" y="779987"/>
                </a:lnTo>
                <a:lnTo>
                  <a:pt x="340961" y="805755"/>
                </a:lnTo>
                <a:lnTo>
                  <a:pt x="301406" y="830905"/>
                </a:lnTo>
                <a:lnTo>
                  <a:pt x="251542" y="862569"/>
                </a:lnTo>
                <a:lnTo>
                  <a:pt x="203536" y="892929"/>
                </a:lnTo>
                <a:lnTo>
                  <a:pt x="157496" y="921840"/>
                </a:lnTo>
                <a:lnTo>
                  <a:pt x="113531" y="949155"/>
                </a:lnTo>
                <a:lnTo>
                  <a:pt x="71747" y="974730"/>
                </a:lnTo>
                <a:lnTo>
                  <a:pt x="34651" y="996995"/>
                </a:lnTo>
                <a:lnTo>
                  <a:pt x="11082" y="1010857"/>
                </a:lnTo>
                <a:lnTo>
                  <a:pt x="0" y="1017282"/>
                </a:lnTo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2334204" y="2767785"/>
            <a:ext cx="121920" cy="92287"/>
          </a:xfrm>
          <a:custGeom>
            <a:avLst/>
            <a:gdLst/>
            <a:ahLst/>
            <a:cxnLst/>
            <a:rect l="l" t="t" r="r" b="b"/>
            <a:pathLst>
              <a:path w="91439" h="69214">
                <a:moveTo>
                  <a:pt x="61269" y="0"/>
                </a:moveTo>
                <a:lnTo>
                  <a:pt x="0" y="68627"/>
                </a:lnTo>
                <a:lnTo>
                  <a:pt x="91049" y="55437"/>
                </a:lnTo>
                <a:lnTo>
                  <a:pt x="61269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0872577" y="1534629"/>
            <a:ext cx="0" cy="201507"/>
          </a:xfrm>
          <a:custGeom>
            <a:avLst/>
            <a:gdLst/>
            <a:ahLst/>
            <a:cxnLst/>
            <a:rect l="l" t="t" r="r" b="b"/>
            <a:pathLst>
              <a:path h="151130">
                <a:moveTo>
                  <a:pt x="0" y="151049"/>
                </a:moveTo>
                <a:lnTo>
                  <a:pt x="0" y="0"/>
                </a:lnTo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0851611" y="1476997"/>
            <a:ext cx="42333" cy="58420"/>
          </a:xfrm>
          <a:custGeom>
            <a:avLst/>
            <a:gdLst/>
            <a:ahLst/>
            <a:cxnLst/>
            <a:rect l="l" t="t" r="r" b="b"/>
            <a:pathLst>
              <a:path w="31750" h="43815">
                <a:moveTo>
                  <a:pt x="31449" y="43224"/>
                </a:moveTo>
                <a:lnTo>
                  <a:pt x="15724" y="0"/>
                </a:lnTo>
                <a:lnTo>
                  <a:pt x="0" y="43224"/>
                </a:lnTo>
                <a:lnTo>
                  <a:pt x="31449" y="43224"/>
                </a:lnTo>
                <a:close/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 txBox="1"/>
          <p:nvPr/>
        </p:nvSpPr>
        <p:spPr>
          <a:xfrm>
            <a:off x="10446244" y="1116680"/>
            <a:ext cx="877147" cy="287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1867" spc="-7" dirty="0">
                <a:solidFill>
                  <a:srgbClr val="FF9900"/>
                </a:solidFill>
                <a:latin typeface="Arial"/>
                <a:cs typeface="Arial"/>
              </a:rPr>
              <a:t>margins</a:t>
            </a:r>
            <a:endParaRPr sz="1867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860713" y="1745976"/>
            <a:ext cx="2123440" cy="0"/>
          </a:xfrm>
          <a:custGeom>
            <a:avLst/>
            <a:gdLst/>
            <a:ahLst/>
            <a:cxnLst/>
            <a:rect l="l" t="t" r="r" b="b"/>
            <a:pathLst>
              <a:path w="1592579">
                <a:moveTo>
                  <a:pt x="0" y="0"/>
                </a:moveTo>
                <a:lnTo>
                  <a:pt x="1592096" y="0"/>
                </a:lnTo>
              </a:path>
            </a:pathLst>
          </a:custGeom>
          <a:ln w="952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2531438" y="1289631"/>
            <a:ext cx="7735993" cy="1806787"/>
          </a:xfrm>
          <a:custGeom>
            <a:avLst/>
            <a:gdLst/>
            <a:ahLst/>
            <a:cxnLst/>
            <a:rect l="l" t="t" r="r" b="b"/>
            <a:pathLst>
              <a:path w="5801995" h="1355089">
                <a:moveTo>
                  <a:pt x="5802005" y="0"/>
                </a:moveTo>
                <a:lnTo>
                  <a:pt x="5748383" y="3455"/>
                </a:lnTo>
                <a:lnTo>
                  <a:pt x="5688516" y="6702"/>
                </a:lnTo>
                <a:lnTo>
                  <a:pt x="5622712" y="9775"/>
                </a:lnTo>
                <a:lnTo>
                  <a:pt x="5551281" y="12708"/>
                </a:lnTo>
                <a:lnTo>
                  <a:pt x="5474532" y="15537"/>
                </a:lnTo>
                <a:lnTo>
                  <a:pt x="5434260" y="16924"/>
                </a:lnTo>
                <a:lnTo>
                  <a:pt x="5392775" y="18297"/>
                </a:lnTo>
                <a:lnTo>
                  <a:pt x="5350115" y="19661"/>
                </a:lnTo>
                <a:lnTo>
                  <a:pt x="5306319" y="21021"/>
                </a:lnTo>
                <a:lnTo>
                  <a:pt x="5261426" y="22380"/>
                </a:lnTo>
                <a:lnTo>
                  <a:pt x="5215474" y="23744"/>
                </a:lnTo>
                <a:lnTo>
                  <a:pt x="5168503" y="25117"/>
                </a:lnTo>
                <a:lnTo>
                  <a:pt x="5120549" y="26502"/>
                </a:lnTo>
                <a:lnTo>
                  <a:pt x="5071654" y="27905"/>
                </a:lnTo>
                <a:lnTo>
                  <a:pt x="5021854" y="29329"/>
                </a:lnTo>
                <a:lnTo>
                  <a:pt x="4971189" y="30780"/>
                </a:lnTo>
                <a:lnTo>
                  <a:pt x="4919697" y="32260"/>
                </a:lnTo>
                <a:lnTo>
                  <a:pt x="4867417" y="33775"/>
                </a:lnTo>
                <a:lnTo>
                  <a:pt x="4814389" y="35329"/>
                </a:lnTo>
                <a:lnTo>
                  <a:pt x="4760649" y="36926"/>
                </a:lnTo>
                <a:lnTo>
                  <a:pt x="4706238" y="38571"/>
                </a:lnTo>
                <a:lnTo>
                  <a:pt x="4651193" y="40268"/>
                </a:lnTo>
                <a:lnTo>
                  <a:pt x="4595554" y="42021"/>
                </a:lnTo>
                <a:lnTo>
                  <a:pt x="4539359" y="43835"/>
                </a:lnTo>
                <a:lnTo>
                  <a:pt x="4482646" y="45714"/>
                </a:lnTo>
                <a:lnTo>
                  <a:pt x="4425455" y="47662"/>
                </a:lnTo>
                <a:lnTo>
                  <a:pt x="4367825" y="49684"/>
                </a:lnTo>
                <a:lnTo>
                  <a:pt x="4309793" y="51783"/>
                </a:lnTo>
                <a:lnTo>
                  <a:pt x="4251398" y="53965"/>
                </a:lnTo>
                <a:lnTo>
                  <a:pt x="4192680" y="56234"/>
                </a:lnTo>
                <a:lnTo>
                  <a:pt x="4133677" y="58594"/>
                </a:lnTo>
                <a:lnTo>
                  <a:pt x="4074427" y="61049"/>
                </a:lnTo>
                <a:lnTo>
                  <a:pt x="4014969" y="63604"/>
                </a:lnTo>
                <a:lnTo>
                  <a:pt x="3955342" y="66262"/>
                </a:lnTo>
                <a:lnTo>
                  <a:pt x="3895585" y="69029"/>
                </a:lnTo>
                <a:lnTo>
                  <a:pt x="3835735" y="71909"/>
                </a:lnTo>
                <a:lnTo>
                  <a:pt x="3775833" y="74906"/>
                </a:lnTo>
                <a:lnTo>
                  <a:pt x="3715916" y="78024"/>
                </a:lnTo>
                <a:lnTo>
                  <a:pt x="3656024" y="81268"/>
                </a:lnTo>
                <a:lnTo>
                  <a:pt x="3596194" y="84642"/>
                </a:lnTo>
                <a:lnTo>
                  <a:pt x="3536466" y="88150"/>
                </a:lnTo>
                <a:lnTo>
                  <a:pt x="3476879" y="91797"/>
                </a:lnTo>
                <a:lnTo>
                  <a:pt x="3417470" y="95587"/>
                </a:lnTo>
                <a:lnTo>
                  <a:pt x="3358279" y="99525"/>
                </a:lnTo>
                <a:lnTo>
                  <a:pt x="3299344" y="103614"/>
                </a:lnTo>
                <a:lnTo>
                  <a:pt x="3240704" y="107859"/>
                </a:lnTo>
                <a:lnTo>
                  <a:pt x="3182397" y="112265"/>
                </a:lnTo>
                <a:lnTo>
                  <a:pt x="3124463" y="116835"/>
                </a:lnTo>
                <a:lnTo>
                  <a:pt x="3066940" y="121575"/>
                </a:lnTo>
                <a:lnTo>
                  <a:pt x="3009867" y="126488"/>
                </a:lnTo>
                <a:lnTo>
                  <a:pt x="2953282" y="131579"/>
                </a:lnTo>
                <a:lnTo>
                  <a:pt x="2897224" y="136852"/>
                </a:lnTo>
                <a:lnTo>
                  <a:pt x="2841732" y="142311"/>
                </a:lnTo>
                <a:lnTo>
                  <a:pt x="2786844" y="147961"/>
                </a:lnTo>
                <a:lnTo>
                  <a:pt x="2732599" y="153806"/>
                </a:lnTo>
                <a:lnTo>
                  <a:pt x="2679035" y="159851"/>
                </a:lnTo>
                <a:lnTo>
                  <a:pt x="2626193" y="166099"/>
                </a:lnTo>
                <a:lnTo>
                  <a:pt x="2574109" y="172556"/>
                </a:lnTo>
                <a:lnTo>
                  <a:pt x="2522823" y="179225"/>
                </a:lnTo>
                <a:lnTo>
                  <a:pt x="2472373" y="186111"/>
                </a:lnTo>
                <a:lnTo>
                  <a:pt x="2422799" y="193218"/>
                </a:lnTo>
                <a:lnTo>
                  <a:pt x="2374138" y="200550"/>
                </a:lnTo>
                <a:lnTo>
                  <a:pt x="2326429" y="208113"/>
                </a:lnTo>
                <a:lnTo>
                  <a:pt x="2279712" y="215909"/>
                </a:lnTo>
                <a:lnTo>
                  <a:pt x="2234025" y="223944"/>
                </a:lnTo>
                <a:lnTo>
                  <a:pt x="2189406" y="232222"/>
                </a:lnTo>
                <a:lnTo>
                  <a:pt x="2145894" y="240747"/>
                </a:lnTo>
                <a:lnTo>
                  <a:pt x="2103528" y="249524"/>
                </a:lnTo>
                <a:lnTo>
                  <a:pt x="2062346" y="258556"/>
                </a:lnTo>
                <a:lnTo>
                  <a:pt x="2022388" y="267849"/>
                </a:lnTo>
                <a:lnTo>
                  <a:pt x="1969901" y="280927"/>
                </a:lnTo>
                <a:lnTo>
                  <a:pt x="1917804" y="294897"/>
                </a:lnTo>
                <a:lnTo>
                  <a:pt x="1866105" y="309722"/>
                </a:lnTo>
                <a:lnTo>
                  <a:pt x="1814811" y="325369"/>
                </a:lnTo>
                <a:lnTo>
                  <a:pt x="1763931" y="341803"/>
                </a:lnTo>
                <a:lnTo>
                  <a:pt x="1713473" y="358989"/>
                </a:lnTo>
                <a:lnTo>
                  <a:pt x="1663443" y="376893"/>
                </a:lnTo>
                <a:lnTo>
                  <a:pt x="1613851" y="395480"/>
                </a:lnTo>
                <a:lnTo>
                  <a:pt x="1564704" y="414717"/>
                </a:lnTo>
                <a:lnTo>
                  <a:pt x="1516010" y="434567"/>
                </a:lnTo>
                <a:lnTo>
                  <a:pt x="1467777" y="454996"/>
                </a:lnTo>
                <a:lnTo>
                  <a:pt x="1420012" y="475971"/>
                </a:lnTo>
                <a:lnTo>
                  <a:pt x="1372724" y="497456"/>
                </a:lnTo>
                <a:lnTo>
                  <a:pt x="1325921" y="519417"/>
                </a:lnTo>
                <a:lnTo>
                  <a:pt x="1279609" y="541819"/>
                </a:lnTo>
                <a:lnTo>
                  <a:pt x="1233798" y="564628"/>
                </a:lnTo>
                <a:lnTo>
                  <a:pt x="1188495" y="587809"/>
                </a:lnTo>
                <a:lnTo>
                  <a:pt x="1143707" y="611328"/>
                </a:lnTo>
                <a:lnTo>
                  <a:pt x="1099444" y="635150"/>
                </a:lnTo>
                <a:lnTo>
                  <a:pt x="1055712" y="659240"/>
                </a:lnTo>
                <a:lnTo>
                  <a:pt x="1012520" y="683564"/>
                </a:lnTo>
                <a:lnTo>
                  <a:pt x="969875" y="708087"/>
                </a:lnTo>
                <a:lnTo>
                  <a:pt x="927785" y="732775"/>
                </a:lnTo>
                <a:lnTo>
                  <a:pt x="886258" y="757593"/>
                </a:lnTo>
                <a:lnTo>
                  <a:pt x="845303" y="782507"/>
                </a:lnTo>
                <a:lnTo>
                  <a:pt x="804926" y="807481"/>
                </a:lnTo>
                <a:lnTo>
                  <a:pt x="765136" y="832482"/>
                </a:lnTo>
                <a:lnTo>
                  <a:pt x="725941" y="857475"/>
                </a:lnTo>
                <a:lnTo>
                  <a:pt x="676929" y="889218"/>
                </a:lnTo>
                <a:lnTo>
                  <a:pt x="628909" y="920821"/>
                </a:lnTo>
                <a:lnTo>
                  <a:pt x="581898" y="952212"/>
                </a:lnTo>
                <a:lnTo>
                  <a:pt x="535912" y="983320"/>
                </a:lnTo>
                <a:lnTo>
                  <a:pt x="490968" y="1014073"/>
                </a:lnTo>
                <a:lnTo>
                  <a:pt x="447080" y="1044401"/>
                </a:lnTo>
                <a:lnTo>
                  <a:pt x="404267" y="1074232"/>
                </a:lnTo>
                <a:lnTo>
                  <a:pt x="362543" y="1103496"/>
                </a:lnTo>
                <a:lnTo>
                  <a:pt x="321925" y="1132120"/>
                </a:lnTo>
                <a:lnTo>
                  <a:pt x="282430" y="1160033"/>
                </a:lnTo>
                <a:lnTo>
                  <a:pt x="244074" y="1187165"/>
                </a:lnTo>
                <a:lnTo>
                  <a:pt x="203216" y="1216021"/>
                </a:lnTo>
                <a:lnTo>
                  <a:pt x="163777" y="1243750"/>
                </a:lnTo>
                <a:lnTo>
                  <a:pt x="125778" y="1270257"/>
                </a:lnTo>
                <a:lnTo>
                  <a:pt x="89242" y="1295448"/>
                </a:lnTo>
                <a:lnTo>
                  <a:pt x="54189" y="1319227"/>
                </a:lnTo>
                <a:lnTo>
                  <a:pt x="12494" y="1346819"/>
                </a:lnTo>
                <a:lnTo>
                  <a:pt x="2442" y="1353327"/>
                </a:lnTo>
                <a:lnTo>
                  <a:pt x="0" y="1354894"/>
                </a:lnTo>
              </a:path>
            </a:pathLst>
          </a:custGeom>
          <a:ln w="1904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2432552" y="3060164"/>
            <a:ext cx="121073" cy="95673"/>
          </a:xfrm>
          <a:custGeom>
            <a:avLst/>
            <a:gdLst/>
            <a:ahLst/>
            <a:cxnLst/>
            <a:rect l="l" t="t" r="r" b="b"/>
            <a:pathLst>
              <a:path w="90805" h="71755">
                <a:moveTo>
                  <a:pt x="57997" y="0"/>
                </a:moveTo>
                <a:lnTo>
                  <a:pt x="0" y="71412"/>
                </a:lnTo>
                <a:lnTo>
                  <a:pt x="90332" y="53987"/>
                </a:lnTo>
                <a:lnTo>
                  <a:pt x="57997" y="0"/>
                </a:lnTo>
                <a:close/>
              </a:path>
            </a:pathLst>
          </a:custGeom>
          <a:ln w="1904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59</a:t>
            </a:r>
            <a:endParaRPr sz="2667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98320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45431" y="40313"/>
            <a:ext cx="4334087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800" spc="-7" dirty="0"/>
              <a:t>Summary so</a:t>
            </a:r>
            <a:r>
              <a:rPr sz="4800" spc="-73" dirty="0"/>
              <a:t> </a:t>
            </a:r>
            <a:r>
              <a:rPr sz="4800" spc="-7" dirty="0"/>
              <a:t>far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60</a:t>
            </a:r>
            <a:endParaRPr sz="2667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48729" y="1521212"/>
            <a:ext cx="10378440" cy="4103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2476" marR="6773" indent="-405543">
              <a:lnSpc>
                <a:spcPct val="100699"/>
              </a:lnSpc>
              <a:buChar char="-"/>
              <a:tabLst>
                <a:tab pos="422476" algn="l"/>
                <a:tab pos="423323" algn="l"/>
              </a:tabLst>
            </a:pPr>
            <a:r>
              <a:rPr sz="2400" spc="-7" dirty="0">
                <a:latin typeface="Arial"/>
                <a:cs typeface="Arial"/>
              </a:rPr>
              <a:t>neural nets will be </a:t>
            </a:r>
            <a:r>
              <a:rPr sz="2400" dirty="0">
                <a:latin typeface="Arial"/>
                <a:cs typeface="Arial"/>
              </a:rPr>
              <a:t>very </a:t>
            </a:r>
            <a:r>
              <a:rPr sz="2400" spc="-7" dirty="0">
                <a:latin typeface="Arial"/>
                <a:cs typeface="Arial"/>
              </a:rPr>
              <a:t>large: no hope of writing down gradient formula by  hand for all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parameters</a:t>
            </a:r>
            <a:endParaRPr sz="2400" dirty="0">
              <a:latin typeface="Arial"/>
              <a:cs typeface="Arial"/>
            </a:endParaRPr>
          </a:p>
          <a:p>
            <a:pPr marL="422476" marR="1029521" indent="-405543">
              <a:lnSpc>
                <a:spcPct val="100699"/>
              </a:lnSpc>
              <a:buFont typeface="Arial"/>
              <a:buChar char="-"/>
              <a:tabLst>
                <a:tab pos="422476" algn="l"/>
                <a:tab pos="423323" algn="l"/>
              </a:tabLst>
            </a:pPr>
            <a:r>
              <a:rPr sz="2400" b="1" spc="-7" dirty="0">
                <a:latin typeface="Arial"/>
                <a:cs typeface="Arial"/>
              </a:rPr>
              <a:t>backpropagation </a:t>
            </a:r>
            <a:r>
              <a:rPr sz="2400" spc="-7" dirty="0">
                <a:latin typeface="Arial"/>
                <a:cs typeface="Arial"/>
              </a:rPr>
              <a:t>= recursive application of the chain rule along a  computational graph to compute the gradients of all  inputs/parameters/intermediates</a:t>
            </a:r>
            <a:endParaRPr sz="2400" dirty="0">
              <a:latin typeface="Arial"/>
              <a:cs typeface="Arial"/>
            </a:endParaRPr>
          </a:p>
          <a:p>
            <a:pPr marL="422476" marR="192189" indent="-405543">
              <a:lnSpc>
                <a:spcPct val="100699"/>
              </a:lnSpc>
              <a:buChar char="-"/>
              <a:tabLst>
                <a:tab pos="422476" algn="l"/>
                <a:tab pos="423323" algn="l"/>
              </a:tabLst>
            </a:pPr>
            <a:r>
              <a:rPr sz="2400" spc="-7" dirty="0">
                <a:latin typeface="Arial"/>
                <a:cs typeface="Arial"/>
              </a:rPr>
              <a:t>implementations maintain a graph structure, where the nodes implement  the </a:t>
            </a:r>
            <a:r>
              <a:rPr sz="2400" b="1" dirty="0">
                <a:latin typeface="Arial"/>
                <a:cs typeface="Arial"/>
              </a:rPr>
              <a:t>forward</a:t>
            </a:r>
            <a:r>
              <a:rPr sz="2400" dirty="0">
                <a:latin typeface="Arial"/>
                <a:cs typeface="Arial"/>
              </a:rPr>
              <a:t>() </a:t>
            </a:r>
            <a:r>
              <a:rPr sz="2400" spc="-7" dirty="0">
                <a:latin typeface="Arial"/>
                <a:cs typeface="Arial"/>
              </a:rPr>
              <a:t>/ </a:t>
            </a:r>
            <a:r>
              <a:rPr sz="2400" b="1" dirty="0">
                <a:latin typeface="Arial"/>
                <a:cs typeface="Arial"/>
              </a:rPr>
              <a:t>backward</a:t>
            </a:r>
            <a:r>
              <a:rPr sz="2400" dirty="0">
                <a:latin typeface="Arial"/>
                <a:cs typeface="Arial"/>
              </a:rPr>
              <a:t>()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API.</a:t>
            </a:r>
            <a:endParaRPr sz="2400" dirty="0">
              <a:latin typeface="Arial"/>
              <a:cs typeface="Arial"/>
            </a:endParaRPr>
          </a:p>
          <a:p>
            <a:pPr marL="422476" marR="733195" indent="-405543">
              <a:lnSpc>
                <a:spcPct val="100699"/>
              </a:lnSpc>
              <a:buFont typeface="Arial"/>
              <a:buChar char="-"/>
              <a:tabLst>
                <a:tab pos="422476" algn="l"/>
                <a:tab pos="423323" algn="l"/>
              </a:tabLst>
            </a:pPr>
            <a:r>
              <a:rPr sz="2400" b="1" spc="-7" dirty="0">
                <a:latin typeface="Arial"/>
                <a:cs typeface="Arial"/>
              </a:rPr>
              <a:t>forward</a:t>
            </a:r>
            <a:r>
              <a:rPr sz="2400" spc="-7" dirty="0">
                <a:latin typeface="Arial"/>
                <a:cs typeface="Arial"/>
              </a:rPr>
              <a:t>: compute result of an operation and save any intermediates  needed for gradient computation in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memory</a:t>
            </a:r>
          </a:p>
          <a:p>
            <a:pPr marL="422476" marR="971102" indent="-405543">
              <a:lnSpc>
                <a:spcPct val="100699"/>
              </a:lnSpc>
              <a:buFont typeface="Arial"/>
              <a:buChar char="-"/>
              <a:tabLst>
                <a:tab pos="422476" algn="l"/>
                <a:tab pos="423323" algn="l"/>
              </a:tabLst>
            </a:pPr>
            <a:r>
              <a:rPr sz="2400" b="1" spc="-7" dirty="0">
                <a:latin typeface="Arial"/>
                <a:cs typeface="Arial"/>
              </a:rPr>
              <a:t>backward</a:t>
            </a:r>
            <a:r>
              <a:rPr sz="2400" spc="-7" dirty="0">
                <a:latin typeface="Arial"/>
                <a:cs typeface="Arial"/>
              </a:rPr>
              <a:t>: apply the chain rule to compute the gradient of the loss  function with respect to the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inputs.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389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65487"/>
            <a:ext cx="12192000" cy="692573"/>
          </a:xfrm>
          <a:custGeom>
            <a:avLst/>
            <a:gdLst/>
            <a:ahLst/>
            <a:cxnLst/>
            <a:rect l="l" t="t" r="r" b="b"/>
            <a:pathLst>
              <a:path w="9144000" h="519429">
                <a:moveTo>
                  <a:pt x="0" y="0"/>
                </a:moveTo>
                <a:lnTo>
                  <a:pt x="9143981" y="0"/>
                </a:lnTo>
                <a:lnTo>
                  <a:pt x="9143981" y="519373"/>
                </a:lnTo>
                <a:lnTo>
                  <a:pt x="0" y="519373"/>
                </a:lnTo>
                <a:lnTo>
                  <a:pt x="0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6332" y="527945"/>
            <a:ext cx="8432800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800" spc="-7" dirty="0"/>
              <a:t>Neural Network: </a:t>
            </a:r>
            <a:r>
              <a:rPr sz="3200" spc="-7" dirty="0"/>
              <a:t>without the brain</a:t>
            </a:r>
            <a:r>
              <a:rPr sz="3200" spc="67" dirty="0"/>
              <a:t> </a:t>
            </a:r>
            <a:r>
              <a:rPr sz="3200" spc="-7" dirty="0"/>
              <a:t>stuff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7415184" y="2005963"/>
            <a:ext cx="2198885" cy="659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65297" y="2052467"/>
            <a:ext cx="55880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(</a:t>
            </a:r>
            <a:r>
              <a:rPr sz="3200" b="1" spc="-7" dirty="0">
                <a:latin typeface="Arial"/>
                <a:cs typeface="Arial"/>
              </a:rPr>
              <a:t>Before</a:t>
            </a:r>
            <a:r>
              <a:rPr sz="3200" spc="-7" dirty="0">
                <a:latin typeface="Arial"/>
                <a:cs typeface="Arial"/>
              </a:rPr>
              <a:t>) Linear score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function: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62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31756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65487"/>
            <a:ext cx="12192000" cy="692573"/>
          </a:xfrm>
          <a:custGeom>
            <a:avLst/>
            <a:gdLst/>
            <a:ahLst/>
            <a:cxnLst/>
            <a:rect l="l" t="t" r="r" b="b"/>
            <a:pathLst>
              <a:path w="9144000" h="519429">
                <a:moveTo>
                  <a:pt x="0" y="0"/>
                </a:moveTo>
                <a:lnTo>
                  <a:pt x="9143981" y="0"/>
                </a:lnTo>
                <a:lnTo>
                  <a:pt x="9143981" y="519373"/>
                </a:lnTo>
                <a:lnTo>
                  <a:pt x="0" y="519373"/>
                </a:lnTo>
                <a:lnTo>
                  <a:pt x="0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6332" y="527945"/>
            <a:ext cx="8432800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800" spc="-7" dirty="0"/>
              <a:t>Neural Network: </a:t>
            </a:r>
            <a:r>
              <a:rPr sz="3200" spc="-7" dirty="0"/>
              <a:t>without the brain</a:t>
            </a:r>
            <a:r>
              <a:rPr sz="3200" spc="67" dirty="0"/>
              <a:t> </a:t>
            </a:r>
            <a:r>
              <a:rPr sz="3200" spc="-7" dirty="0"/>
              <a:t>stuff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7415184" y="2005963"/>
            <a:ext cx="2198885" cy="659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65297" y="2052467"/>
            <a:ext cx="5588000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spc="-7" dirty="0">
                <a:latin typeface="Arial"/>
                <a:cs typeface="Arial"/>
              </a:rPr>
              <a:t>(</a:t>
            </a:r>
            <a:r>
              <a:rPr sz="3200" b="1" spc="-7" dirty="0">
                <a:latin typeface="Arial"/>
                <a:cs typeface="Arial"/>
              </a:rPr>
              <a:t>Before</a:t>
            </a:r>
            <a:r>
              <a:rPr sz="3200" spc="-7" dirty="0">
                <a:latin typeface="Arial"/>
                <a:cs typeface="Arial"/>
              </a:rPr>
              <a:t>) Linear score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function: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sz="2600">
              <a:latin typeface="Times New Roman"/>
              <a:cs typeface="Times New Roman"/>
            </a:endParaRPr>
          </a:p>
          <a:p>
            <a:pPr marL="38944" algn="ctr"/>
            <a:r>
              <a:rPr sz="3200" spc="-7" dirty="0">
                <a:latin typeface="Arial"/>
                <a:cs typeface="Arial"/>
              </a:rPr>
              <a:t>(</a:t>
            </a:r>
            <a:r>
              <a:rPr sz="3200" b="1" spc="-7" dirty="0">
                <a:latin typeface="Arial"/>
                <a:cs typeface="Arial"/>
              </a:rPr>
              <a:t>Now</a:t>
            </a:r>
            <a:r>
              <a:rPr sz="3200" spc="-7" dirty="0">
                <a:latin typeface="Arial"/>
                <a:cs typeface="Arial"/>
              </a:rPr>
              <a:t>) 2-layer Neural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Network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57751" y="2800193"/>
            <a:ext cx="4739823" cy="659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63</a:t>
            </a:r>
            <a:endParaRPr sz="2667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52881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6332" y="527945"/>
            <a:ext cx="8432800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800" spc="-7" dirty="0"/>
              <a:t>Neural Network: </a:t>
            </a:r>
            <a:r>
              <a:rPr sz="3200" spc="-7" dirty="0"/>
              <a:t>without the brain</a:t>
            </a:r>
            <a:r>
              <a:rPr sz="3200" spc="67" dirty="0"/>
              <a:t> </a:t>
            </a:r>
            <a:r>
              <a:rPr sz="3200" spc="-7" dirty="0"/>
              <a:t>stuff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7415184" y="2005963"/>
            <a:ext cx="2198885" cy="659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65297" y="2052467"/>
            <a:ext cx="5588000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spc="-7" dirty="0">
                <a:latin typeface="Arial"/>
                <a:cs typeface="Arial"/>
              </a:rPr>
              <a:t>(</a:t>
            </a:r>
            <a:r>
              <a:rPr sz="3200" b="1" spc="-7" dirty="0">
                <a:latin typeface="Arial"/>
                <a:cs typeface="Arial"/>
              </a:rPr>
              <a:t>Before</a:t>
            </a:r>
            <a:r>
              <a:rPr sz="3200" spc="-7" dirty="0">
                <a:latin typeface="Arial"/>
                <a:cs typeface="Arial"/>
              </a:rPr>
              <a:t>) Linear score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function: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sz="2600">
              <a:latin typeface="Times New Roman"/>
              <a:cs typeface="Times New Roman"/>
            </a:endParaRPr>
          </a:p>
          <a:p>
            <a:pPr marL="38944" algn="ctr"/>
            <a:r>
              <a:rPr sz="3200" spc="-7" dirty="0">
                <a:latin typeface="Arial"/>
                <a:cs typeface="Arial"/>
              </a:rPr>
              <a:t>(</a:t>
            </a:r>
            <a:r>
              <a:rPr sz="3200" b="1" spc="-7" dirty="0">
                <a:latin typeface="Arial"/>
                <a:cs typeface="Arial"/>
              </a:rPr>
              <a:t>Now</a:t>
            </a:r>
            <a:r>
              <a:rPr sz="3200" spc="-7" dirty="0">
                <a:latin typeface="Arial"/>
                <a:cs typeface="Arial"/>
              </a:rPr>
              <a:t>) 2-layer Neural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Network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57751" y="2800193"/>
            <a:ext cx="4739823" cy="659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4124058" y="3801659"/>
            <a:ext cx="597745" cy="1228541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190495">
              <a:spcBef>
                <a:spcPts val="1887"/>
              </a:spcBef>
            </a:pPr>
            <a:r>
              <a:rPr sz="3200" dirty="0">
                <a:latin typeface="Arial"/>
                <a:cs typeface="Arial"/>
              </a:rPr>
              <a:t>x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1654" y="4249891"/>
            <a:ext cx="597745" cy="801929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306493" rIns="0" bIns="0" rtlCol="0">
            <a:spAutoFit/>
          </a:bodyPr>
          <a:lstStyle/>
          <a:p>
            <a:pPr marL="178642">
              <a:spcBef>
                <a:spcPts val="2413"/>
              </a:spcBef>
            </a:pPr>
            <a:r>
              <a:rPr sz="3200" spc="-7" dirty="0">
                <a:latin typeface="Arial"/>
                <a:cs typeface="Arial"/>
              </a:rPr>
              <a:t>h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21690" y="5391889"/>
            <a:ext cx="1206500" cy="363220"/>
          </a:xfrm>
          <a:custGeom>
            <a:avLst/>
            <a:gdLst/>
            <a:ahLst/>
            <a:cxnLst/>
            <a:rect l="l" t="t" r="r" b="b"/>
            <a:pathLst>
              <a:path w="904875" h="272414">
                <a:moveTo>
                  <a:pt x="0" y="272099"/>
                </a:moveTo>
                <a:lnTo>
                  <a:pt x="90449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721689" y="3812326"/>
            <a:ext cx="1217507" cy="437727"/>
          </a:xfrm>
          <a:custGeom>
            <a:avLst/>
            <a:gdLst/>
            <a:ahLst/>
            <a:cxnLst/>
            <a:rect l="l" t="t" r="r" b="b"/>
            <a:pathLst>
              <a:path w="913129" h="328294">
                <a:moveTo>
                  <a:pt x="0" y="0"/>
                </a:moveTo>
                <a:lnTo>
                  <a:pt x="912598" y="3281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4989865" y="4579635"/>
            <a:ext cx="49106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W1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04618" y="4502492"/>
            <a:ext cx="597745" cy="547159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4187" rIns="0" bIns="0" rtlCol="0">
            <a:spAutoFit/>
          </a:bodyPr>
          <a:lstStyle/>
          <a:p>
            <a:pPr marL="190495">
              <a:spcBef>
                <a:spcPts val="427"/>
              </a:spcBef>
            </a:pPr>
            <a:r>
              <a:rPr sz="3200" dirty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93287" y="4249891"/>
            <a:ext cx="1334347" cy="267547"/>
          </a:xfrm>
          <a:custGeom>
            <a:avLst/>
            <a:gdLst/>
            <a:ahLst/>
            <a:cxnLst/>
            <a:rect l="l" t="t" r="r" b="b"/>
            <a:pathLst>
              <a:path w="1000760" h="200660">
                <a:moveTo>
                  <a:pt x="0" y="0"/>
                </a:moveTo>
                <a:lnTo>
                  <a:pt x="1000497" y="2003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514654" y="5124623"/>
            <a:ext cx="1292013" cy="267547"/>
          </a:xfrm>
          <a:custGeom>
            <a:avLst/>
            <a:gdLst/>
            <a:ahLst/>
            <a:cxnLst/>
            <a:rect l="l" t="t" r="r" b="b"/>
            <a:pathLst>
              <a:path w="969010" h="200660">
                <a:moveTo>
                  <a:pt x="0" y="200399"/>
                </a:moveTo>
                <a:lnTo>
                  <a:pt x="96869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6822460" y="4587890"/>
            <a:ext cx="49106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W2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64</a:t>
            </a:r>
            <a:endParaRPr sz="2667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255165" y="5472202"/>
            <a:ext cx="71204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3072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85087" y="5472202"/>
            <a:ext cx="542712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100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29682" y="5380000"/>
            <a:ext cx="37338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94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12800" y="179731"/>
            <a:ext cx="8432800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800" spc="-7" dirty="0"/>
              <a:t>Neural Network: </a:t>
            </a:r>
            <a:r>
              <a:rPr sz="3200" spc="-7" dirty="0"/>
              <a:t>without the brain</a:t>
            </a:r>
            <a:r>
              <a:rPr sz="3200" spc="67" dirty="0"/>
              <a:t> </a:t>
            </a:r>
            <a:r>
              <a:rPr sz="3200" spc="-7" dirty="0"/>
              <a:t>stuff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7415184" y="2005963"/>
            <a:ext cx="2198885" cy="659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65297" y="2052467"/>
            <a:ext cx="5588000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spc="-7" dirty="0">
                <a:latin typeface="Arial"/>
                <a:cs typeface="Arial"/>
              </a:rPr>
              <a:t>(</a:t>
            </a:r>
            <a:r>
              <a:rPr sz="3200" b="1" spc="-7" dirty="0">
                <a:latin typeface="Arial"/>
                <a:cs typeface="Arial"/>
              </a:rPr>
              <a:t>Before</a:t>
            </a:r>
            <a:r>
              <a:rPr sz="3200" spc="-7" dirty="0">
                <a:latin typeface="Arial"/>
                <a:cs typeface="Arial"/>
              </a:rPr>
              <a:t>) Linear score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function: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27"/>
              </a:spcBef>
            </a:pPr>
            <a:endParaRPr sz="2600" dirty="0">
              <a:latin typeface="Times New Roman"/>
              <a:cs typeface="Times New Roman"/>
            </a:endParaRPr>
          </a:p>
          <a:p>
            <a:pPr marL="38944" algn="ctr"/>
            <a:r>
              <a:rPr sz="3200" spc="-7" dirty="0">
                <a:latin typeface="Arial"/>
                <a:cs typeface="Arial"/>
              </a:rPr>
              <a:t>(</a:t>
            </a:r>
            <a:r>
              <a:rPr sz="3200" b="1" spc="-7" dirty="0">
                <a:latin typeface="Arial"/>
                <a:cs typeface="Arial"/>
              </a:rPr>
              <a:t>Now</a:t>
            </a:r>
            <a:r>
              <a:rPr sz="3200" spc="-7" dirty="0">
                <a:latin typeface="Arial"/>
                <a:cs typeface="Arial"/>
              </a:rPr>
              <a:t>) 2-layer Neural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Network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57751" y="2800193"/>
            <a:ext cx="4739823" cy="659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4124058" y="3801659"/>
            <a:ext cx="597745" cy="1228541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190495">
              <a:spcBef>
                <a:spcPts val="1887"/>
              </a:spcBef>
            </a:pPr>
            <a:r>
              <a:rPr sz="3200" dirty="0">
                <a:latin typeface="Arial"/>
                <a:cs typeface="Arial"/>
              </a:rPr>
              <a:t>x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1654" y="4249891"/>
            <a:ext cx="597745" cy="801929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306493" rIns="0" bIns="0" rtlCol="0">
            <a:spAutoFit/>
          </a:bodyPr>
          <a:lstStyle/>
          <a:p>
            <a:pPr marL="178642">
              <a:spcBef>
                <a:spcPts val="2413"/>
              </a:spcBef>
            </a:pPr>
            <a:r>
              <a:rPr sz="3200" spc="-7" dirty="0">
                <a:latin typeface="Arial"/>
                <a:cs typeface="Arial"/>
              </a:rPr>
              <a:t>h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21690" y="5391889"/>
            <a:ext cx="1206500" cy="363220"/>
          </a:xfrm>
          <a:custGeom>
            <a:avLst/>
            <a:gdLst/>
            <a:ahLst/>
            <a:cxnLst/>
            <a:rect l="l" t="t" r="r" b="b"/>
            <a:pathLst>
              <a:path w="904875" h="272414">
                <a:moveTo>
                  <a:pt x="0" y="272099"/>
                </a:moveTo>
                <a:lnTo>
                  <a:pt x="90449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721689" y="3812326"/>
            <a:ext cx="1217507" cy="437727"/>
          </a:xfrm>
          <a:custGeom>
            <a:avLst/>
            <a:gdLst/>
            <a:ahLst/>
            <a:cxnLst/>
            <a:rect l="l" t="t" r="r" b="b"/>
            <a:pathLst>
              <a:path w="913129" h="328294">
                <a:moveTo>
                  <a:pt x="0" y="0"/>
                </a:moveTo>
                <a:lnTo>
                  <a:pt x="912598" y="3281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4989865" y="4579635"/>
            <a:ext cx="49106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W1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04618" y="4502492"/>
            <a:ext cx="597745" cy="547159"/>
          </a:xfrm>
          <a:prstGeom prst="rect">
            <a:avLst/>
          </a:prstGeom>
          <a:solidFill>
            <a:srgbClr val="CCCCCC"/>
          </a:solidFill>
          <a:ln w="9524">
            <a:solidFill>
              <a:srgbClr val="666666"/>
            </a:solidFill>
          </a:ln>
        </p:spPr>
        <p:txBody>
          <a:bodyPr vert="horz" wrap="square" lIns="0" tIns="54187" rIns="0" bIns="0" rtlCol="0">
            <a:spAutoFit/>
          </a:bodyPr>
          <a:lstStyle/>
          <a:p>
            <a:pPr marL="190495">
              <a:spcBef>
                <a:spcPts val="427"/>
              </a:spcBef>
            </a:pPr>
            <a:r>
              <a:rPr sz="3200" dirty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93287" y="4249891"/>
            <a:ext cx="1334347" cy="267547"/>
          </a:xfrm>
          <a:custGeom>
            <a:avLst/>
            <a:gdLst/>
            <a:ahLst/>
            <a:cxnLst/>
            <a:rect l="l" t="t" r="r" b="b"/>
            <a:pathLst>
              <a:path w="1000760" h="200660">
                <a:moveTo>
                  <a:pt x="0" y="0"/>
                </a:moveTo>
                <a:lnTo>
                  <a:pt x="1000497" y="200399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5" name="object 15"/>
          <p:cNvSpPr/>
          <p:nvPr/>
        </p:nvSpPr>
        <p:spPr>
          <a:xfrm>
            <a:off x="6514654" y="5124623"/>
            <a:ext cx="1292013" cy="267547"/>
          </a:xfrm>
          <a:custGeom>
            <a:avLst/>
            <a:gdLst/>
            <a:ahLst/>
            <a:cxnLst/>
            <a:rect l="l" t="t" r="r" b="b"/>
            <a:pathLst>
              <a:path w="969010" h="200660">
                <a:moveTo>
                  <a:pt x="0" y="200399"/>
                </a:moveTo>
                <a:lnTo>
                  <a:pt x="968698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 txBox="1"/>
          <p:nvPr/>
        </p:nvSpPr>
        <p:spPr>
          <a:xfrm>
            <a:off x="6822460" y="4587890"/>
            <a:ext cx="49106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W2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55165" y="5472202"/>
            <a:ext cx="71204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3072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85087" y="5472202"/>
            <a:ext cx="542712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100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29682" y="5380000"/>
            <a:ext cx="37338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11201" y="889001"/>
            <a:ext cx="10028679" cy="10608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2" name="object 22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65</a:t>
            </a:r>
            <a:endParaRPr sz="2667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87070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6332" y="527945"/>
            <a:ext cx="8432800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4800" spc="-7" dirty="0"/>
              <a:t>Neural Network: </a:t>
            </a:r>
            <a:r>
              <a:rPr sz="3200" spc="-7" dirty="0"/>
              <a:t>without the brain</a:t>
            </a:r>
            <a:r>
              <a:rPr sz="3200" spc="67" dirty="0"/>
              <a:t> </a:t>
            </a:r>
            <a:r>
              <a:rPr sz="3200" spc="-7" dirty="0"/>
              <a:t>stuff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7415184" y="2005963"/>
            <a:ext cx="2198885" cy="659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65297" y="2052468"/>
            <a:ext cx="5588000" cy="2103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144" indent="-99058"/>
            <a:r>
              <a:rPr sz="3200" spc="-7" dirty="0">
                <a:latin typeface="Arial"/>
                <a:cs typeface="Arial"/>
              </a:rPr>
              <a:t>(</a:t>
            </a:r>
            <a:r>
              <a:rPr sz="3200" b="1" spc="-7" dirty="0">
                <a:latin typeface="Arial"/>
                <a:cs typeface="Arial"/>
              </a:rPr>
              <a:t>Before</a:t>
            </a:r>
            <a:r>
              <a:rPr sz="3200" spc="-7" dirty="0">
                <a:latin typeface="Arial"/>
                <a:cs typeface="Arial"/>
              </a:rPr>
              <a:t>) Linear score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function:</a:t>
            </a:r>
            <a:endParaRPr sz="3200" dirty="0">
              <a:latin typeface="Arial"/>
              <a:cs typeface="Arial"/>
            </a:endParaRPr>
          </a:p>
          <a:p>
            <a:pPr>
              <a:spcBef>
                <a:spcPts val="20"/>
              </a:spcBef>
            </a:pPr>
            <a:endParaRPr sz="4133" dirty="0">
              <a:latin typeface="Times New Roman"/>
              <a:cs typeface="Times New Roman"/>
            </a:endParaRPr>
          </a:p>
          <a:p>
            <a:pPr marL="903371" marR="45719" indent="-788227">
              <a:lnSpc>
                <a:spcPts val="3800"/>
              </a:lnSpc>
            </a:pPr>
            <a:r>
              <a:rPr sz="3200" spc="-7" dirty="0">
                <a:latin typeface="Arial"/>
                <a:cs typeface="Arial"/>
              </a:rPr>
              <a:t>(</a:t>
            </a:r>
            <a:r>
              <a:rPr sz="3200" b="1" spc="-7" dirty="0">
                <a:latin typeface="Arial"/>
                <a:cs typeface="Arial"/>
              </a:rPr>
              <a:t>Now</a:t>
            </a:r>
            <a:r>
              <a:rPr sz="3200" spc="-7" dirty="0">
                <a:latin typeface="Arial"/>
                <a:cs typeface="Arial"/>
              </a:rPr>
              <a:t>) 2-layer Neural Network  or 3-layer Neural Network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57751" y="3003393"/>
            <a:ext cx="4739823" cy="6596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4787557" y="4285224"/>
            <a:ext cx="7232319" cy="659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66</a:t>
            </a:r>
            <a:endParaRPr sz="2667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93195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25465"/>
            <a:ext cx="12128459" cy="4241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2533" y="301726"/>
            <a:ext cx="14020800" cy="41043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086">
              <a:lnSpc>
                <a:spcPct val="100000"/>
              </a:lnSpc>
            </a:pPr>
            <a:r>
              <a:rPr sz="2667" spc="-7" dirty="0"/>
              <a:t>Full implementation of training a 2-layer Neural Network needs ~11</a:t>
            </a:r>
            <a:r>
              <a:rPr sz="2667" spc="240" dirty="0"/>
              <a:t> </a:t>
            </a:r>
            <a:r>
              <a:rPr sz="2667" spc="-7" dirty="0"/>
              <a:t>lines:</a:t>
            </a:r>
            <a:endParaRPr sz="2667"/>
          </a:p>
        </p:txBody>
      </p:sp>
      <p:sp>
        <p:nvSpPr>
          <p:cNvPr id="7" name="object 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67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4865" y="5745701"/>
            <a:ext cx="7924800" cy="287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1867" spc="-7" dirty="0">
                <a:latin typeface="Arial"/>
                <a:cs typeface="Arial"/>
              </a:rPr>
              <a:t>from @iamtrask,</a:t>
            </a:r>
            <a:r>
              <a:rPr sz="1867" spc="293" dirty="0">
                <a:latin typeface="Arial"/>
                <a:cs typeface="Arial"/>
              </a:rPr>
              <a:t> </a:t>
            </a:r>
            <a:r>
              <a:rPr sz="1867" spc="-7" dirty="0">
                <a:latin typeface="Arial"/>
                <a:cs typeface="Arial"/>
                <a:hlinkClick r:id="rId3"/>
              </a:rPr>
              <a:t>http://iamtrask.github.io/2015/07/12/basic-python-network/</a:t>
            </a:r>
            <a:endParaRPr sz="1867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391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65487"/>
            <a:ext cx="12192000" cy="692573"/>
          </a:xfrm>
          <a:custGeom>
            <a:avLst/>
            <a:gdLst/>
            <a:ahLst/>
            <a:cxnLst/>
            <a:rect l="l" t="t" r="r" b="b"/>
            <a:pathLst>
              <a:path w="9144000" h="519429">
                <a:moveTo>
                  <a:pt x="0" y="0"/>
                </a:moveTo>
                <a:lnTo>
                  <a:pt x="9143981" y="0"/>
                </a:lnTo>
                <a:lnTo>
                  <a:pt x="9143981" y="519373"/>
                </a:lnTo>
                <a:lnTo>
                  <a:pt x="0" y="519373"/>
                </a:lnTo>
                <a:lnTo>
                  <a:pt x="0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258565" y="230775"/>
            <a:ext cx="7755467" cy="974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3820"/>
              </a:lnSpc>
            </a:pPr>
            <a:r>
              <a:rPr sz="3200" spc="-7" dirty="0">
                <a:latin typeface="Arial"/>
                <a:cs typeface="Arial"/>
              </a:rPr>
              <a:t>Assignment: Writing 2layer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Net</a:t>
            </a:r>
            <a:endParaRPr sz="3200">
              <a:latin typeface="Arial"/>
              <a:cs typeface="Arial"/>
            </a:endParaRPr>
          </a:p>
          <a:p>
            <a:pPr marL="16933">
              <a:lnSpc>
                <a:spcPts val="3820"/>
              </a:lnSpc>
            </a:pPr>
            <a:r>
              <a:rPr sz="3200" spc="-7" dirty="0">
                <a:solidFill>
                  <a:srgbClr val="0000FF"/>
                </a:solidFill>
                <a:latin typeface="Arial"/>
                <a:cs typeface="Arial"/>
              </a:rPr>
              <a:t>Stage your forward/backward</a:t>
            </a:r>
            <a:r>
              <a:rPr sz="3200" spc="73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-7" dirty="0">
                <a:solidFill>
                  <a:srgbClr val="0000FF"/>
                </a:solidFill>
                <a:latin typeface="Arial"/>
                <a:cs typeface="Arial"/>
              </a:rPr>
              <a:t>computation!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0633" y="1401330"/>
            <a:ext cx="9523913" cy="4461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68</a:t>
            </a:r>
            <a:endParaRPr sz="2667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60655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65487"/>
            <a:ext cx="12192000" cy="692573"/>
          </a:xfrm>
          <a:custGeom>
            <a:avLst/>
            <a:gdLst/>
            <a:ahLst/>
            <a:cxnLst/>
            <a:rect l="l" t="t" r="r" b="b"/>
            <a:pathLst>
              <a:path w="9144000" h="519429">
                <a:moveTo>
                  <a:pt x="0" y="0"/>
                </a:moveTo>
                <a:lnTo>
                  <a:pt x="9143981" y="0"/>
                </a:lnTo>
                <a:lnTo>
                  <a:pt x="9143981" y="519373"/>
                </a:lnTo>
                <a:lnTo>
                  <a:pt x="0" y="519373"/>
                </a:lnTo>
                <a:lnTo>
                  <a:pt x="0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4057225" y="1422629"/>
            <a:ext cx="2200095" cy="14025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218099" y="214711"/>
            <a:ext cx="457708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4000" spc="-7" dirty="0">
                <a:latin typeface="Arial"/>
                <a:cs typeface="Arial"/>
              </a:rPr>
              <a:t>Activation</a:t>
            </a:r>
            <a:r>
              <a:rPr sz="4000" spc="-40" dirty="0">
                <a:latin typeface="Arial"/>
                <a:cs typeface="Arial"/>
              </a:rPr>
              <a:t> </a:t>
            </a:r>
            <a:r>
              <a:rPr sz="4000" spc="-7" dirty="0">
                <a:latin typeface="Arial"/>
                <a:cs typeface="Arial"/>
              </a:rPr>
              <a:t>Functions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4833" y="1520669"/>
            <a:ext cx="163491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b="1" spc="-7" dirty="0">
                <a:latin typeface="Arial"/>
                <a:cs typeface="Arial"/>
              </a:rPr>
              <a:t>Sigmoid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7466" y="2256929"/>
            <a:ext cx="3564092" cy="603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344833" y="3750899"/>
            <a:ext cx="8915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b="1" spc="-7" dirty="0">
                <a:latin typeface="Arial"/>
                <a:cs typeface="Arial"/>
              </a:rPr>
              <a:t>tanh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4315" y="3750899"/>
            <a:ext cx="129878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tanh(x)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95759" y="3007881"/>
            <a:ext cx="2200095" cy="13888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344833" y="5267797"/>
            <a:ext cx="109474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b="1" spc="-7" dirty="0">
                <a:latin typeface="Arial"/>
                <a:cs typeface="Arial"/>
              </a:rPr>
              <a:t>ReLU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7718" y="5267797"/>
            <a:ext cx="161459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max(0,x)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57224" y="4579357"/>
            <a:ext cx="2077128" cy="14025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8657378" y="121776"/>
            <a:ext cx="2359660" cy="97462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ts val="3820"/>
              </a:lnSpc>
            </a:pPr>
            <a:r>
              <a:rPr sz="3200" b="1" spc="-7" dirty="0">
                <a:latin typeface="Arial"/>
                <a:cs typeface="Arial"/>
              </a:rPr>
              <a:t>Leaky</a:t>
            </a:r>
            <a:r>
              <a:rPr sz="3200" b="1" spc="-93" dirty="0">
                <a:latin typeface="Arial"/>
                <a:cs typeface="Arial"/>
              </a:rPr>
              <a:t> </a:t>
            </a:r>
            <a:r>
              <a:rPr sz="3200" b="1" spc="-7" dirty="0">
                <a:latin typeface="Arial"/>
                <a:cs typeface="Arial"/>
              </a:rPr>
              <a:t>ReLU</a:t>
            </a:r>
            <a:endParaRPr sz="3200">
              <a:latin typeface="Arial"/>
              <a:cs typeface="Arial"/>
            </a:endParaRPr>
          </a:p>
          <a:p>
            <a:pPr marL="16933">
              <a:lnSpc>
                <a:spcPts val="3820"/>
              </a:lnSpc>
            </a:pPr>
            <a:r>
              <a:rPr sz="3200" spc="-7" dirty="0"/>
              <a:t>max(0.1x,</a:t>
            </a:r>
            <a:r>
              <a:rPr sz="3200" spc="-93" dirty="0"/>
              <a:t> </a:t>
            </a:r>
            <a:r>
              <a:rPr sz="3200" dirty="0"/>
              <a:t>x)</a:t>
            </a:r>
            <a:endParaRPr sz="3200"/>
          </a:p>
        </p:txBody>
      </p:sp>
      <p:sp>
        <p:nvSpPr>
          <p:cNvPr id="15" name="object 15"/>
          <p:cNvSpPr/>
          <p:nvPr/>
        </p:nvSpPr>
        <p:spPr>
          <a:xfrm>
            <a:off x="8779415" y="1234667"/>
            <a:ext cx="2891860" cy="18596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6" name="object 16"/>
          <p:cNvSpPr/>
          <p:nvPr/>
        </p:nvSpPr>
        <p:spPr>
          <a:xfrm>
            <a:off x="8793015" y="3307393"/>
            <a:ext cx="3296125" cy="4358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7" name="object 17"/>
          <p:cNvSpPr/>
          <p:nvPr/>
        </p:nvSpPr>
        <p:spPr>
          <a:xfrm>
            <a:off x="8198816" y="4576291"/>
            <a:ext cx="3090160" cy="15240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8" name="object 18"/>
          <p:cNvSpPr txBox="1"/>
          <p:nvPr/>
        </p:nvSpPr>
        <p:spPr>
          <a:xfrm>
            <a:off x="7031780" y="3026369"/>
            <a:ext cx="1456267" cy="1418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198" marR="6773" indent="-60112">
              <a:lnSpc>
                <a:spcPct val="144400"/>
              </a:lnSpc>
            </a:pPr>
            <a:r>
              <a:rPr sz="3200" b="1" spc="-7" dirty="0">
                <a:latin typeface="Arial"/>
                <a:cs typeface="Arial"/>
              </a:rPr>
              <a:t>Maxout  ELU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495883" y="3956335"/>
            <a:ext cx="2891860" cy="5572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0" name="object 20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76</a:t>
            </a:r>
            <a:endParaRPr sz="2667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31255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65487"/>
            <a:ext cx="12192000" cy="692573"/>
          </a:xfrm>
          <a:custGeom>
            <a:avLst/>
            <a:gdLst/>
            <a:ahLst/>
            <a:cxnLst/>
            <a:rect l="l" t="t" r="r" b="b"/>
            <a:pathLst>
              <a:path w="9144000" h="519429">
                <a:moveTo>
                  <a:pt x="0" y="0"/>
                </a:moveTo>
                <a:lnTo>
                  <a:pt x="9143981" y="0"/>
                </a:lnTo>
                <a:lnTo>
                  <a:pt x="9143981" y="519373"/>
                </a:lnTo>
                <a:lnTo>
                  <a:pt x="0" y="519373"/>
                </a:lnTo>
                <a:lnTo>
                  <a:pt x="0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152400" y="182232"/>
            <a:ext cx="14020800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867700">
              <a:lnSpc>
                <a:spcPct val="100000"/>
              </a:lnSpc>
            </a:pPr>
            <a:r>
              <a:rPr sz="4000" spc="-7" dirty="0"/>
              <a:t>Neural Networks:</a:t>
            </a:r>
            <a:r>
              <a:rPr sz="4000" spc="20" dirty="0"/>
              <a:t> </a:t>
            </a:r>
            <a:r>
              <a:rPr sz="4000" spc="-7" dirty="0"/>
              <a:t>Architectures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379699" y="1134131"/>
            <a:ext cx="4327624" cy="2964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5825655" y="1110333"/>
            <a:ext cx="6139920" cy="301172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5201589" y="1211365"/>
            <a:ext cx="0" cy="2989580"/>
          </a:xfrm>
          <a:custGeom>
            <a:avLst/>
            <a:gdLst/>
            <a:ahLst/>
            <a:cxnLst/>
            <a:rect l="l" t="t" r="r" b="b"/>
            <a:pathLst>
              <a:path h="2242185">
                <a:moveTo>
                  <a:pt x="0" y="0"/>
                </a:moveTo>
                <a:lnTo>
                  <a:pt x="0" y="2241895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/>
          <p:nvPr/>
        </p:nvSpPr>
        <p:spPr>
          <a:xfrm>
            <a:off x="3185634" y="4363692"/>
            <a:ext cx="820420" cy="903393"/>
          </a:xfrm>
          <a:custGeom>
            <a:avLst/>
            <a:gdLst/>
            <a:ahLst/>
            <a:cxnLst/>
            <a:rect l="l" t="t" r="r" b="b"/>
            <a:pathLst>
              <a:path w="615314" h="677545">
                <a:moveTo>
                  <a:pt x="614968" y="677373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3108154" y="4278358"/>
            <a:ext cx="109220" cy="114300"/>
          </a:xfrm>
          <a:custGeom>
            <a:avLst/>
            <a:gdLst/>
            <a:ahLst/>
            <a:cxnLst/>
            <a:rect l="l" t="t" r="r" b="b"/>
            <a:pathLst>
              <a:path w="81914" h="85725">
                <a:moveTo>
                  <a:pt x="81407" y="42849"/>
                </a:moveTo>
                <a:lnTo>
                  <a:pt x="0" y="0"/>
                </a:lnTo>
                <a:lnTo>
                  <a:pt x="34812" y="85149"/>
                </a:lnTo>
                <a:lnTo>
                  <a:pt x="81407" y="428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4092191" y="4008891"/>
            <a:ext cx="397087" cy="1105747"/>
          </a:xfrm>
          <a:custGeom>
            <a:avLst/>
            <a:gdLst/>
            <a:ahLst/>
            <a:cxnLst/>
            <a:rect l="l" t="t" r="r" b="b"/>
            <a:pathLst>
              <a:path w="297814" h="829310">
                <a:moveTo>
                  <a:pt x="297674" y="829023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4052691" y="3900393"/>
            <a:ext cx="79587" cy="122767"/>
          </a:xfrm>
          <a:custGeom>
            <a:avLst/>
            <a:gdLst/>
            <a:ahLst/>
            <a:cxnLst/>
            <a:rect l="l" t="t" r="r" b="b"/>
            <a:pathLst>
              <a:path w="59689" h="92075">
                <a:moveTo>
                  <a:pt x="59249" y="70749"/>
                </a:moveTo>
                <a:lnTo>
                  <a:pt x="399" y="0"/>
                </a:lnTo>
                <a:lnTo>
                  <a:pt x="0" y="91999"/>
                </a:lnTo>
                <a:lnTo>
                  <a:pt x="59249" y="707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 txBox="1"/>
          <p:nvPr/>
        </p:nvSpPr>
        <p:spPr>
          <a:xfrm>
            <a:off x="97366" y="4792029"/>
            <a:ext cx="3725333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“2-layer Neural Net”,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or</a:t>
            </a:r>
            <a:endParaRPr sz="2400">
              <a:latin typeface="Arial"/>
              <a:cs typeface="Arial"/>
            </a:endParaRPr>
          </a:p>
          <a:p>
            <a:pPr marL="16933">
              <a:spcBef>
                <a:spcPts val="20"/>
              </a:spcBef>
            </a:pPr>
            <a:r>
              <a:rPr sz="2400" spc="-7" dirty="0">
                <a:latin typeface="Arial"/>
                <a:cs typeface="Arial"/>
              </a:rPr>
              <a:t>“1-hidden-layer Neural</a:t>
            </a:r>
            <a:r>
              <a:rPr sz="2400" spc="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Net”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77</a:t>
            </a:r>
            <a:endParaRPr sz="2667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59897" y="4457970"/>
            <a:ext cx="7082367" cy="12234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73036"/>
            <a:r>
              <a:rPr sz="2400" spc="-7" dirty="0">
                <a:latin typeface="Arial"/>
                <a:cs typeface="Arial"/>
              </a:rPr>
              <a:t>“3-layer Neural Net”,</a:t>
            </a:r>
            <a:r>
              <a:rPr sz="2400" spc="-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or</a:t>
            </a:r>
            <a:endParaRPr sz="2400" dirty="0">
              <a:latin typeface="Arial"/>
              <a:cs typeface="Arial"/>
            </a:endParaRPr>
          </a:p>
          <a:p>
            <a:pPr marL="3373036">
              <a:spcBef>
                <a:spcPts val="20"/>
              </a:spcBef>
            </a:pPr>
            <a:r>
              <a:rPr sz="2400" spc="-7" dirty="0">
                <a:latin typeface="Arial"/>
                <a:cs typeface="Arial"/>
              </a:rPr>
              <a:t>“2-hidden-layer Neural</a:t>
            </a:r>
            <a:r>
              <a:rPr sz="2400" spc="13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Net”</a:t>
            </a:r>
            <a:endParaRPr sz="2400" dirty="0">
              <a:latin typeface="Arial"/>
              <a:cs typeface="Arial"/>
            </a:endParaRPr>
          </a:p>
          <a:p>
            <a:pPr marL="16933">
              <a:spcBef>
                <a:spcPts val="933"/>
              </a:spcBef>
            </a:pPr>
            <a:r>
              <a:rPr sz="2400" b="1" spc="-7" dirty="0">
                <a:latin typeface="Arial"/>
                <a:cs typeface="Arial"/>
              </a:rPr>
              <a:t>“Fully-connected”</a:t>
            </a:r>
            <a:r>
              <a:rPr sz="2400" b="1" spc="-13" dirty="0">
                <a:latin typeface="Arial"/>
                <a:cs typeface="Arial"/>
              </a:rPr>
              <a:t> </a:t>
            </a:r>
            <a:r>
              <a:rPr sz="2400" b="1" spc="-7" dirty="0">
                <a:latin typeface="Arial"/>
                <a:cs typeface="Arial"/>
              </a:rPr>
              <a:t>layers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147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65487"/>
            <a:ext cx="12192000" cy="692573"/>
          </a:xfrm>
          <a:custGeom>
            <a:avLst/>
            <a:gdLst/>
            <a:ahLst/>
            <a:cxnLst/>
            <a:rect l="l" t="t" r="r" b="b"/>
            <a:pathLst>
              <a:path w="9144000" h="519429">
                <a:moveTo>
                  <a:pt x="0" y="0"/>
                </a:moveTo>
                <a:lnTo>
                  <a:pt x="9143981" y="0"/>
                </a:lnTo>
                <a:lnTo>
                  <a:pt x="9143981" y="519373"/>
                </a:lnTo>
                <a:lnTo>
                  <a:pt x="0" y="519373"/>
                </a:lnTo>
                <a:lnTo>
                  <a:pt x="0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7600" y="996317"/>
            <a:ext cx="14020800" cy="748451"/>
          </a:xfrm>
          <a:prstGeom prst="rect">
            <a:avLst/>
          </a:prstGeom>
        </p:spPr>
        <p:txBody>
          <a:bodyPr vert="horz" wrap="square" lIns="0" tIns="253533" rIns="0" bIns="0" rtlCol="0" anchor="ctr">
            <a:spAutoFit/>
          </a:bodyPr>
          <a:lstStyle/>
          <a:p>
            <a:pPr marL="518994">
              <a:lnSpc>
                <a:spcPct val="100000"/>
              </a:lnSpc>
            </a:pPr>
            <a:r>
              <a:rPr sz="3200" spc="-7" dirty="0"/>
              <a:t>Example Feed-forward computation of a Neural</a:t>
            </a:r>
            <a:r>
              <a:rPr sz="3200" spc="127" dirty="0"/>
              <a:t> </a:t>
            </a:r>
            <a:r>
              <a:rPr sz="3200" spc="-7" dirty="0"/>
              <a:t>Network</a:t>
            </a:r>
            <a:endParaRPr sz="3200"/>
          </a:p>
        </p:txBody>
      </p:sp>
      <p:sp>
        <p:nvSpPr>
          <p:cNvPr id="5" name="object 5"/>
          <p:cNvSpPr/>
          <p:nvPr/>
        </p:nvSpPr>
        <p:spPr>
          <a:xfrm>
            <a:off x="566332" y="1913097"/>
            <a:ext cx="10408845" cy="23301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833731" y="4542298"/>
            <a:ext cx="7280487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2400" spc="-7" dirty="0">
                <a:latin typeface="Arial"/>
                <a:cs typeface="Arial"/>
              </a:rPr>
              <a:t>We can efficiently evaluate an entire layer of</a:t>
            </a:r>
            <a:r>
              <a:rPr sz="2400" spc="140" dirty="0">
                <a:latin typeface="Arial"/>
                <a:cs typeface="Arial"/>
              </a:rPr>
              <a:t> </a:t>
            </a:r>
            <a:r>
              <a:rPr sz="2400" spc="-7" dirty="0">
                <a:latin typeface="Arial"/>
                <a:cs typeface="Arial"/>
              </a:rPr>
              <a:t>neurons.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78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88741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65487"/>
            <a:ext cx="12192000" cy="692573"/>
          </a:xfrm>
          <a:custGeom>
            <a:avLst/>
            <a:gdLst/>
            <a:ahLst/>
            <a:cxnLst/>
            <a:rect l="l" t="t" r="r" b="b"/>
            <a:pathLst>
              <a:path w="9144000" h="519429">
                <a:moveTo>
                  <a:pt x="0" y="0"/>
                </a:moveTo>
                <a:lnTo>
                  <a:pt x="9143981" y="0"/>
                </a:lnTo>
                <a:lnTo>
                  <a:pt x="9143981" y="519373"/>
                </a:lnTo>
                <a:lnTo>
                  <a:pt x="0" y="519373"/>
                </a:lnTo>
                <a:lnTo>
                  <a:pt x="0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2590561" y="764301"/>
            <a:ext cx="6139920" cy="30117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1297" y="82303"/>
            <a:ext cx="10170160" cy="49244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933">
              <a:lnSpc>
                <a:spcPct val="100000"/>
              </a:lnSpc>
            </a:pPr>
            <a:r>
              <a:rPr sz="3200" spc="-7" dirty="0"/>
              <a:t>Example Feed-forward computation of a Neural</a:t>
            </a:r>
            <a:r>
              <a:rPr sz="3200" spc="127" dirty="0"/>
              <a:t> </a:t>
            </a:r>
            <a:r>
              <a:rPr sz="3200" spc="-7" dirty="0"/>
              <a:t>Network</a:t>
            </a:r>
            <a:endParaRPr sz="3200"/>
          </a:p>
        </p:txBody>
      </p:sp>
      <p:sp>
        <p:nvSpPr>
          <p:cNvPr id="6" name="object 6"/>
          <p:cNvSpPr/>
          <p:nvPr/>
        </p:nvSpPr>
        <p:spPr>
          <a:xfrm>
            <a:off x="1352196" y="4007425"/>
            <a:ext cx="8991581" cy="17398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79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1345712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82420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65487"/>
            <a:ext cx="12192000" cy="692573"/>
          </a:xfrm>
          <a:custGeom>
            <a:avLst/>
            <a:gdLst/>
            <a:ahLst/>
            <a:cxnLst/>
            <a:rect l="l" t="t" r="r" b="b"/>
            <a:pathLst>
              <a:path w="9144000" h="519429">
                <a:moveTo>
                  <a:pt x="0" y="0"/>
                </a:moveTo>
                <a:lnTo>
                  <a:pt x="9143981" y="0"/>
                </a:lnTo>
                <a:lnTo>
                  <a:pt x="9143981" y="519373"/>
                </a:lnTo>
                <a:lnTo>
                  <a:pt x="0" y="519373"/>
                </a:lnTo>
                <a:lnTo>
                  <a:pt x="0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7600" y="1009937"/>
            <a:ext cx="14020800" cy="721210"/>
          </a:xfrm>
          <a:prstGeom prst="rect">
            <a:avLst/>
          </a:prstGeom>
        </p:spPr>
        <p:txBody>
          <a:bodyPr vert="horz" wrap="square" lIns="0" tIns="104635" rIns="0" bIns="0" rtlCol="0" anchor="ctr">
            <a:spAutoFit/>
          </a:bodyPr>
          <a:lstStyle/>
          <a:p>
            <a:pPr marL="640063">
              <a:lnSpc>
                <a:spcPct val="100000"/>
              </a:lnSpc>
            </a:pPr>
            <a:r>
              <a:rPr sz="4000" spc="-7" dirty="0"/>
              <a:t>Setting the number of layers and their</a:t>
            </a:r>
            <a:r>
              <a:rPr sz="4000" spc="67" dirty="0"/>
              <a:t> </a:t>
            </a:r>
            <a:r>
              <a:rPr sz="4000" spc="-7" dirty="0"/>
              <a:t>sizes</a:t>
            </a:r>
            <a:endParaRPr sz="4000"/>
          </a:p>
        </p:txBody>
      </p:sp>
      <p:sp>
        <p:nvSpPr>
          <p:cNvPr id="5" name="object 5"/>
          <p:cNvSpPr/>
          <p:nvPr/>
        </p:nvSpPr>
        <p:spPr>
          <a:xfrm>
            <a:off x="1004791" y="1882981"/>
            <a:ext cx="10061612" cy="35718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8739581" y="5282656"/>
            <a:ext cx="0" cy="319193"/>
          </a:xfrm>
          <a:custGeom>
            <a:avLst/>
            <a:gdLst/>
            <a:ahLst/>
            <a:cxnLst/>
            <a:rect l="l" t="t" r="r" b="b"/>
            <a:pathLst>
              <a:path h="239395">
                <a:moveTo>
                  <a:pt x="0" y="238799"/>
                </a:moveTo>
                <a:lnTo>
                  <a:pt x="0" y="0"/>
                </a:lnTo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7" name="object 7"/>
          <p:cNvSpPr/>
          <p:nvPr/>
        </p:nvSpPr>
        <p:spPr>
          <a:xfrm>
            <a:off x="8697615" y="5167390"/>
            <a:ext cx="84667" cy="115993"/>
          </a:xfrm>
          <a:custGeom>
            <a:avLst/>
            <a:gdLst/>
            <a:ahLst/>
            <a:cxnLst/>
            <a:rect l="l" t="t" r="r" b="b"/>
            <a:pathLst>
              <a:path w="63500" h="86995">
                <a:moveTo>
                  <a:pt x="62949" y="86449"/>
                </a:moveTo>
                <a:lnTo>
                  <a:pt x="31474" y="0"/>
                </a:lnTo>
                <a:lnTo>
                  <a:pt x="0" y="86449"/>
                </a:lnTo>
                <a:lnTo>
                  <a:pt x="62949" y="86449"/>
                </a:lnTo>
                <a:close/>
              </a:path>
            </a:pathLst>
          </a:custGeom>
          <a:ln w="19049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5734427" y="5587963"/>
            <a:ext cx="553127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/>
            <a:r>
              <a:rPr sz="3200" spc="-7" dirty="0">
                <a:latin typeface="Arial"/>
                <a:cs typeface="Arial"/>
              </a:rPr>
              <a:t>more neurons = more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capacity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80</a:t>
            </a:r>
            <a:endParaRPr sz="2667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</p:spTree>
    <p:extLst>
      <p:ext uri="{BB962C8B-B14F-4D97-AF65-F5344CB8AC3E}">
        <p14:creationId xmlns:p14="http://schemas.microsoft.com/office/powerpoint/2010/main" val="86687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6165487"/>
            <a:ext cx="12192000" cy="478763"/>
          </a:xfrm>
          <a:prstGeom prst="rect">
            <a:avLst/>
          </a:prstGeom>
        </p:spPr>
        <p:txBody>
          <a:bodyPr vert="horz" wrap="square" lIns="0" tIns="67733" rIns="0" bIns="0" rtlCol="0">
            <a:spAutoFit/>
          </a:bodyPr>
          <a:lstStyle/>
          <a:p>
            <a:pPr marL="209968">
              <a:spcBef>
                <a:spcPts val="533"/>
              </a:spcBef>
              <a:tabLst>
                <a:tab pos="7215113" algn="l"/>
                <a:tab pos="10161439" algn="l"/>
              </a:tabLst>
            </a:pP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Fei-Fei Li &amp; Andrej Karpathy &amp;</a:t>
            </a:r>
            <a:r>
              <a:rPr sz="2400" spc="13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Justin</a:t>
            </a:r>
            <a:r>
              <a:rPr sz="2400" spc="1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7" dirty="0">
                <a:solidFill>
                  <a:srgbClr val="FFFFFF"/>
                </a:solidFill>
                <a:latin typeface="Arial"/>
                <a:cs typeface="Arial"/>
              </a:rPr>
              <a:t>Johnson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Lecture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4000" baseline="-4166" dirty="0">
                <a:solidFill>
                  <a:srgbClr val="FFFFFF"/>
                </a:solidFill>
                <a:latin typeface="Arial"/>
                <a:cs typeface="Arial"/>
              </a:rPr>
              <a:t> -	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13 Jan</a:t>
            </a:r>
            <a:r>
              <a:rPr sz="4000" spc="-129" baseline="-4166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spc="-9" baseline="-4166" dirty="0">
                <a:solidFill>
                  <a:srgbClr val="FFFFFF"/>
                </a:solidFill>
                <a:latin typeface="Arial"/>
                <a:cs typeface="Arial"/>
              </a:rPr>
              <a:t>2016</a:t>
            </a:r>
            <a:endParaRPr sz="4000" baseline="-4166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165487"/>
            <a:ext cx="12192000" cy="692573"/>
          </a:xfrm>
          <a:custGeom>
            <a:avLst/>
            <a:gdLst/>
            <a:ahLst/>
            <a:cxnLst/>
            <a:rect l="l" t="t" r="r" b="b"/>
            <a:pathLst>
              <a:path w="9144000" h="519429">
                <a:moveTo>
                  <a:pt x="0" y="0"/>
                </a:moveTo>
                <a:lnTo>
                  <a:pt x="9143981" y="0"/>
                </a:lnTo>
                <a:lnTo>
                  <a:pt x="9143981" y="519373"/>
                </a:lnTo>
                <a:lnTo>
                  <a:pt x="0" y="519373"/>
                </a:lnTo>
                <a:lnTo>
                  <a:pt x="0" y="0"/>
                </a:lnTo>
                <a:close/>
              </a:path>
            </a:pathLst>
          </a:custGeom>
          <a:solidFill>
            <a:srgbClr val="8C1414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501000" y="1033798"/>
            <a:ext cx="11189977" cy="40936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5" name="object 5"/>
          <p:cNvSpPr txBox="1"/>
          <p:nvPr/>
        </p:nvSpPr>
        <p:spPr>
          <a:xfrm>
            <a:off x="2216865" y="5286884"/>
            <a:ext cx="7026487" cy="564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marR="6773">
              <a:lnSpc>
                <a:spcPts val="2200"/>
              </a:lnSpc>
            </a:pPr>
            <a:r>
              <a:rPr sz="1867" spc="-7" dirty="0">
                <a:latin typeface="Arial"/>
                <a:cs typeface="Arial"/>
              </a:rPr>
              <a:t>(you can play with this demo over at ConvNetJS: </a:t>
            </a:r>
            <a:r>
              <a:rPr sz="1867" u="heavy" spc="-7" dirty="0">
                <a:solidFill>
                  <a:srgbClr val="1154CC"/>
                </a:solidFill>
                <a:latin typeface="Arial"/>
                <a:cs typeface="Arial"/>
                <a:hlinkClick r:id="rId3"/>
              </a:rPr>
              <a:t>http://cs.stanford. </a:t>
            </a:r>
            <a:r>
              <a:rPr sz="1867" u="heavy" spc="-7" dirty="0">
                <a:solidFill>
                  <a:srgbClr val="1154CC"/>
                </a:solidFill>
                <a:latin typeface="Arial"/>
                <a:cs typeface="Arial"/>
              </a:rPr>
              <a:t> </a:t>
            </a:r>
            <a:r>
              <a:rPr sz="1867" u="heavy" spc="-7" dirty="0">
                <a:solidFill>
                  <a:srgbClr val="1154CC"/>
                </a:solidFill>
                <a:latin typeface="Arial"/>
                <a:cs typeface="Arial"/>
                <a:hlinkClick r:id="rId3"/>
              </a:rPr>
              <a:t>edu/people/karpathy/convnetjs/demo/classify2d.html</a:t>
            </a:r>
            <a:r>
              <a:rPr sz="1867" spc="-7" dirty="0">
                <a:latin typeface="Arial"/>
                <a:cs typeface="Arial"/>
              </a:rPr>
              <a:t>)</a:t>
            </a:r>
            <a:endParaRPr sz="186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8824" y="6305350"/>
            <a:ext cx="2106507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920"/>
              </a:lnSpc>
            </a:pPr>
            <a:r>
              <a:rPr sz="4000" spc="-9" baseline="1388" dirty="0">
                <a:solidFill>
                  <a:srgbClr val="FFFFFF"/>
                </a:solidFill>
                <a:latin typeface="Arial"/>
                <a:cs typeface="Arial"/>
              </a:rPr>
              <a:t>Lecture 4 </a:t>
            </a:r>
            <a:r>
              <a:rPr sz="4000" baseline="1388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4000" spc="-300" baseline="13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67" spc="-7" dirty="0">
                <a:solidFill>
                  <a:srgbClr val="FFFFFF"/>
                </a:solidFill>
                <a:latin typeface="Arial"/>
                <a:cs typeface="Arial"/>
              </a:rPr>
              <a:t>81</a:t>
            </a:r>
            <a:endParaRPr sz="2667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10145217" y="6305350"/>
            <a:ext cx="1897379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827"/>
              </a:lnSpc>
            </a:pPr>
            <a:r>
              <a:rPr spc="-7" dirty="0"/>
              <a:t>13 Jan</a:t>
            </a:r>
            <a:r>
              <a:rPr spc="-87" dirty="0"/>
              <a:t> </a:t>
            </a:r>
            <a:r>
              <a:rPr spc="-7" dirty="0"/>
              <a:t>2016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193632" y="6308473"/>
            <a:ext cx="6263640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2560"/>
              </a:lnSpc>
            </a:pPr>
            <a:r>
              <a:rPr spc="-7" dirty="0"/>
              <a:t>Fei-Fei Li &amp; Andrej Karpathy &amp; Justin</a:t>
            </a:r>
            <a:r>
              <a:rPr spc="87" dirty="0"/>
              <a:t> </a:t>
            </a:r>
            <a:r>
              <a:rPr spc="-7" dirty="0"/>
              <a:t>Johnson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7867" y="284646"/>
            <a:ext cx="14020800" cy="444591"/>
          </a:xfrm>
          <a:prstGeom prst="rect">
            <a:avLst/>
          </a:prstGeom>
        </p:spPr>
        <p:txBody>
          <a:bodyPr vert="horz" wrap="square" lIns="0" tIns="74531" rIns="0" bIns="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2400" spc="-7" dirty="0"/>
              <a:t>Do not use size of neural network as a regularizer. Use stronger regularization</a:t>
            </a:r>
            <a:r>
              <a:rPr sz="2400" spc="320" dirty="0"/>
              <a:t> </a:t>
            </a:r>
            <a:r>
              <a:rPr sz="2400" spc="-7" dirty="0"/>
              <a:t>instead: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96782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3144</Words>
  <Application>Microsoft Macintosh PowerPoint</Application>
  <PresentationFormat>Widescreen</PresentationFormat>
  <Paragraphs>783</Paragraphs>
  <Slides>85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85</vt:i4>
      </vt:variant>
    </vt:vector>
  </HeadingPairs>
  <TitlesOfParts>
    <vt:vector size="102" baseType="lpstr">
      <vt:lpstr>Arial</vt:lpstr>
      <vt:lpstr>Arial Unicode MS</vt:lpstr>
      <vt:lpstr>Batang</vt:lpstr>
      <vt:lpstr>Calibri</vt:lpstr>
      <vt:lpstr>Calibri Light</vt:lpstr>
      <vt:lpstr>Century Gothic</vt:lpstr>
      <vt:lpstr>Gulim</vt:lpstr>
      <vt:lpstr>Malgun Gothic</vt:lpstr>
      <vt:lpstr>Marlett</vt:lpstr>
      <vt:lpstr>Symbol</vt:lpstr>
      <vt:lpstr>Times New Roman</vt:lpstr>
      <vt:lpstr>맑은 고딕</vt:lpstr>
      <vt:lpstr>Office Theme</vt:lpstr>
      <vt:lpstr>משוואה</vt:lpstr>
      <vt:lpstr>Equation</vt:lpstr>
      <vt:lpstr>Equation.3</vt:lpstr>
      <vt:lpstr>Image</vt:lpstr>
      <vt:lpstr>BACK - PROPAGATION</vt:lpstr>
      <vt:lpstr>multi-layer perceptron</vt:lpstr>
      <vt:lpstr>feed-forward nets</vt:lpstr>
      <vt:lpstr>מבנה מתמטי</vt:lpstr>
      <vt:lpstr>PowerPoint Presentation</vt:lpstr>
      <vt:lpstr>משטחים לא לינארים </vt:lpstr>
      <vt:lpstr>Where we are...</vt:lpstr>
      <vt:lpstr>Optimization</vt:lpstr>
      <vt:lpstr>Gradient Descent</vt:lpstr>
      <vt:lpstr>Computational Graph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e.g. x = -2, y = 5, z = -4</vt:lpstr>
      <vt:lpstr>activations</vt:lpstr>
      <vt:lpstr>activations</vt:lpstr>
      <vt:lpstr>activations</vt:lpstr>
      <vt:lpstr>activations</vt:lpstr>
      <vt:lpstr>activations</vt:lpstr>
      <vt:lpstr>activations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sigmoid function</vt:lpstr>
      <vt:lpstr>sigmoid function</vt:lpstr>
      <vt:lpstr>Patterns in backward flow</vt:lpstr>
      <vt:lpstr>PowerPoint Presentation</vt:lpstr>
      <vt:lpstr>PowerPoint Presentation</vt:lpstr>
      <vt:lpstr>המבנה המתמטי של BP</vt:lpstr>
      <vt:lpstr>מבנה מתמטי</vt:lpstr>
      <vt:lpstr>PowerPoint Presentation</vt:lpstr>
      <vt:lpstr>PowerPoint Presentation</vt:lpstr>
      <vt:lpstr>PowerPoint Presentation</vt:lpstr>
      <vt:lpstr>PowerPoint Presentation</vt:lpstr>
      <vt:lpstr>BP for MLP: revisited</vt:lpstr>
      <vt:lpstr>PowerPoint Presentation</vt:lpstr>
      <vt:lpstr>                חישוב הטעות</vt:lpstr>
      <vt:lpstr>Error back Propagation</vt:lpstr>
      <vt:lpstr>חישוב המשקולות מחדש</vt:lpstr>
      <vt:lpstr>Implementation:</vt:lpstr>
      <vt:lpstr>Implementation:</vt:lpstr>
      <vt:lpstr>Implementation:</vt:lpstr>
      <vt:lpstr>Example: Torch Layers</vt:lpstr>
      <vt:lpstr>Example: Torch Layers</vt:lpstr>
      <vt:lpstr>PowerPoint Presentation</vt:lpstr>
      <vt:lpstr>Example: Caffe Layers</vt:lpstr>
      <vt:lpstr>Caffe Sigmoid Layer</vt:lpstr>
      <vt:lpstr>PowerPoint Presentation</vt:lpstr>
      <vt:lpstr>Vectorized operations</vt:lpstr>
      <vt:lpstr>Vectorized operations</vt:lpstr>
      <vt:lpstr>Vectorized operations</vt:lpstr>
      <vt:lpstr>Vectorized operations</vt:lpstr>
      <vt:lpstr>Assignment: Writing SVM/Softmax Stage your forward/backward computation!</vt:lpstr>
      <vt:lpstr>Summary so far</vt:lpstr>
      <vt:lpstr>Neural Network: without the brain stuff</vt:lpstr>
      <vt:lpstr>Neural Network: without the brain stuff</vt:lpstr>
      <vt:lpstr>Neural Network: without the brain stuff</vt:lpstr>
      <vt:lpstr>Neural Network: without the brain stuff</vt:lpstr>
      <vt:lpstr>Neural Network: without the brain stuff</vt:lpstr>
      <vt:lpstr>Full implementation of training a 2-layer Neural Network needs ~11 lines:</vt:lpstr>
      <vt:lpstr>PowerPoint Presentation</vt:lpstr>
      <vt:lpstr>Leaky ReLU max(0.1x, x)</vt:lpstr>
      <vt:lpstr>Neural Networks: Architectures</vt:lpstr>
      <vt:lpstr>Example Feed-forward computation of a Neural Network</vt:lpstr>
      <vt:lpstr>Example Feed-forward computation of a Neural Network</vt:lpstr>
      <vt:lpstr>Setting the number of layers and their sizes</vt:lpstr>
      <vt:lpstr>Do not use size of neural network as a regularizer. Use stronger regularization instead: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- PROPAGATION</dc:title>
  <dc:creator>Roi Izhak</dc:creator>
  <cp:lastModifiedBy>Roi Izhak</cp:lastModifiedBy>
  <cp:revision>11</cp:revision>
  <dcterms:created xsi:type="dcterms:W3CDTF">2016-12-20T07:53:04Z</dcterms:created>
  <dcterms:modified xsi:type="dcterms:W3CDTF">2016-12-22T19:42:44Z</dcterms:modified>
</cp:coreProperties>
</file>