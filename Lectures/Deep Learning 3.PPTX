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0"/>
  </p:notesMasterIdLst>
  <p:sldIdLst>
    <p:sldId id="688" r:id="rId2"/>
    <p:sldId id="689" r:id="rId3"/>
    <p:sldId id="690" r:id="rId4"/>
    <p:sldId id="691" r:id="rId5"/>
    <p:sldId id="692" r:id="rId6"/>
    <p:sldId id="693" r:id="rId7"/>
    <p:sldId id="694" r:id="rId8"/>
    <p:sldId id="695" r:id="rId9"/>
    <p:sldId id="696" r:id="rId10"/>
    <p:sldId id="697" r:id="rId11"/>
    <p:sldId id="698" r:id="rId12"/>
    <p:sldId id="699" r:id="rId13"/>
    <p:sldId id="700" r:id="rId14"/>
    <p:sldId id="701" r:id="rId15"/>
    <p:sldId id="702" r:id="rId16"/>
    <p:sldId id="703" r:id="rId17"/>
    <p:sldId id="704" r:id="rId18"/>
    <p:sldId id="705" r:id="rId19"/>
    <p:sldId id="706" r:id="rId20"/>
    <p:sldId id="708" r:id="rId21"/>
    <p:sldId id="710" r:id="rId22"/>
    <p:sldId id="712" r:id="rId23"/>
    <p:sldId id="256" r:id="rId24"/>
    <p:sldId id="626" r:id="rId25"/>
    <p:sldId id="627" r:id="rId26"/>
    <p:sldId id="628" r:id="rId27"/>
    <p:sldId id="629" r:id="rId28"/>
    <p:sldId id="641" r:id="rId29"/>
    <p:sldId id="643" r:id="rId30"/>
    <p:sldId id="644" r:id="rId31"/>
    <p:sldId id="645" r:id="rId32"/>
    <p:sldId id="646" r:id="rId33"/>
    <p:sldId id="648" r:id="rId34"/>
    <p:sldId id="649" r:id="rId35"/>
    <p:sldId id="650" r:id="rId36"/>
    <p:sldId id="652" r:id="rId37"/>
    <p:sldId id="653" r:id="rId38"/>
    <p:sldId id="654" r:id="rId39"/>
    <p:sldId id="655" r:id="rId40"/>
    <p:sldId id="656" r:id="rId41"/>
    <p:sldId id="598" r:id="rId42"/>
    <p:sldId id="281" r:id="rId43"/>
    <p:sldId id="600" r:id="rId44"/>
    <p:sldId id="606" r:id="rId45"/>
    <p:sldId id="607" r:id="rId46"/>
    <p:sldId id="514" r:id="rId47"/>
    <p:sldId id="288" r:id="rId48"/>
    <p:sldId id="524" r:id="rId49"/>
    <p:sldId id="528" r:id="rId50"/>
    <p:sldId id="529" r:id="rId51"/>
    <p:sldId id="526" r:id="rId52"/>
    <p:sldId id="290" r:id="rId53"/>
    <p:sldId id="608" r:id="rId54"/>
    <p:sldId id="603" r:id="rId55"/>
    <p:sldId id="604" r:id="rId56"/>
    <p:sldId id="586" r:id="rId57"/>
    <p:sldId id="609" r:id="rId58"/>
    <p:sldId id="561" r:id="rId59"/>
    <p:sldId id="563" r:id="rId60"/>
    <p:sldId id="565" r:id="rId61"/>
    <p:sldId id="571" r:id="rId62"/>
    <p:sldId id="564" r:id="rId63"/>
    <p:sldId id="568" r:id="rId64"/>
    <p:sldId id="569" r:id="rId65"/>
    <p:sldId id="570" r:id="rId66"/>
    <p:sldId id="610" r:id="rId67"/>
    <p:sldId id="611" r:id="rId68"/>
    <p:sldId id="572" r:id="rId69"/>
    <p:sldId id="305" r:id="rId70"/>
    <p:sldId id="588" r:id="rId71"/>
    <p:sldId id="539" r:id="rId72"/>
    <p:sldId id="548" r:id="rId73"/>
    <p:sldId id="545" r:id="rId74"/>
    <p:sldId id="579" r:id="rId75"/>
    <p:sldId id="597" r:id="rId76"/>
    <p:sldId id="596" r:id="rId77"/>
    <p:sldId id="547" r:id="rId78"/>
    <p:sldId id="285" r:id="rId79"/>
    <p:sldId id="500" r:id="rId80"/>
    <p:sldId id="489" r:id="rId81"/>
    <p:sldId id="534" r:id="rId82"/>
    <p:sldId id="504" r:id="rId83"/>
    <p:sldId id="461" r:id="rId84"/>
    <p:sldId id="326" r:id="rId85"/>
    <p:sldId id="617" r:id="rId86"/>
    <p:sldId id="315" r:id="rId87"/>
    <p:sldId id="316" r:id="rId88"/>
    <p:sldId id="319" r:id="rId89"/>
    <p:sldId id="622" r:id="rId90"/>
    <p:sldId id="505" r:id="rId91"/>
    <p:sldId id="509" r:id="rId92"/>
    <p:sldId id="574" r:id="rId93"/>
    <p:sldId id="331" r:id="rId94"/>
    <p:sldId id="454" r:id="rId95"/>
    <p:sldId id="510" r:id="rId96"/>
    <p:sldId id="511" r:id="rId97"/>
    <p:sldId id="506" r:id="rId98"/>
    <p:sldId id="358" r:id="rId99"/>
    <p:sldId id="359" r:id="rId100"/>
    <p:sldId id="360" r:id="rId101"/>
    <p:sldId id="362" r:id="rId102"/>
    <p:sldId id="363" r:id="rId103"/>
    <p:sldId id="364" r:id="rId104"/>
    <p:sldId id="365" r:id="rId105"/>
    <p:sldId id="366" r:id="rId106"/>
    <p:sldId id="367" r:id="rId107"/>
    <p:sldId id="508" r:id="rId108"/>
    <p:sldId id="370" r:id="rId109"/>
    <p:sldId id="613" r:id="rId110"/>
    <p:sldId id="380" r:id="rId111"/>
    <p:sldId id="536" r:id="rId112"/>
    <p:sldId id="374" r:id="rId113"/>
    <p:sldId id="375" r:id="rId114"/>
    <p:sldId id="384" r:id="rId115"/>
    <p:sldId id="385" r:id="rId116"/>
    <p:sldId id="625" r:id="rId117"/>
    <p:sldId id="686" r:id="rId118"/>
    <p:sldId id="687" r:id="rId1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32" autoAdjust="0"/>
    <p:restoredTop sz="72571" autoAdjust="0"/>
  </p:normalViewPr>
  <p:slideViewPr>
    <p:cSldViewPr snapToGrid="0">
      <p:cViewPr varScale="1">
        <p:scale>
          <a:sx n="56" d="100"/>
          <a:sy n="56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D120A9-D745-44C7-A56D-E5DDAE24CF36}" type="doc">
      <dgm:prSet loTypeId="urn:microsoft.com/office/officeart/2005/8/layout/list1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93709A3A-9CE8-4EFC-B727-6065450A8727}">
      <dgm:prSet phldrT="[文字]" custT="1"/>
      <dgm:spPr/>
      <dgm:t>
        <a:bodyPr/>
        <a:lstStyle/>
        <a:p>
          <a:r>
            <a:rPr lang="en-US" altLang="zh-TW" sz="2800" dirty="0"/>
            <a:t>Modify the Network</a:t>
          </a:r>
          <a:endParaRPr lang="zh-TW" altLang="en-US" sz="2800" dirty="0"/>
        </a:p>
      </dgm:t>
    </dgm:pt>
    <dgm:pt modelId="{BBC01A2B-A43D-4169-BF24-6F01EE8FB850}" type="parTrans" cxnId="{5DE57DA9-7857-4E83-835C-624A21B68B4C}">
      <dgm:prSet/>
      <dgm:spPr/>
      <dgm:t>
        <a:bodyPr/>
        <a:lstStyle/>
        <a:p>
          <a:endParaRPr lang="zh-TW" altLang="en-US"/>
        </a:p>
      </dgm:t>
    </dgm:pt>
    <dgm:pt modelId="{B4F8A9F0-6F97-4C3F-B0BA-DBAA6F4A7864}" type="sibTrans" cxnId="{5DE57DA9-7857-4E83-835C-624A21B68B4C}">
      <dgm:prSet/>
      <dgm:spPr/>
      <dgm:t>
        <a:bodyPr/>
        <a:lstStyle/>
        <a:p>
          <a:endParaRPr lang="zh-TW" altLang="en-US"/>
        </a:p>
      </dgm:t>
    </dgm:pt>
    <dgm:pt modelId="{551939ED-DA8B-4056-92C3-0BDF54BE5DA6}">
      <dgm:prSet phldrT="[文字]" custT="1"/>
      <dgm:spPr/>
      <dgm:t>
        <a:bodyPr/>
        <a:lstStyle/>
        <a:p>
          <a:r>
            <a:rPr lang="en-US" altLang="zh-TW" sz="2800" dirty="0"/>
            <a:t>Better optimization Strategy</a:t>
          </a:r>
          <a:endParaRPr lang="zh-TW" altLang="en-US" sz="2800" dirty="0"/>
        </a:p>
      </dgm:t>
    </dgm:pt>
    <dgm:pt modelId="{55A4114E-F20A-44A0-8C01-44B62E692137}" type="parTrans" cxnId="{CEF793B2-92C1-4604-AA2C-92A528FD0804}">
      <dgm:prSet/>
      <dgm:spPr/>
      <dgm:t>
        <a:bodyPr/>
        <a:lstStyle/>
        <a:p>
          <a:endParaRPr lang="zh-TW" altLang="en-US"/>
        </a:p>
      </dgm:t>
    </dgm:pt>
    <dgm:pt modelId="{B2C46CE9-BFFC-499A-8294-40C0CA6FABDC}" type="sibTrans" cxnId="{CEF793B2-92C1-4604-AA2C-92A528FD0804}">
      <dgm:prSet/>
      <dgm:spPr/>
      <dgm:t>
        <a:bodyPr/>
        <a:lstStyle/>
        <a:p>
          <a:endParaRPr lang="zh-TW" altLang="en-US"/>
        </a:p>
      </dgm:t>
    </dgm:pt>
    <dgm:pt modelId="{DBC1AEE2-4C3E-4848-A71D-2DB3359330A4}">
      <dgm:prSet phldrT="[文字]" custT="1"/>
      <dgm:spPr/>
      <dgm:t>
        <a:bodyPr/>
        <a:lstStyle/>
        <a:p>
          <a:r>
            <a:rPr lang="en-US" altLang="zh-TW" sz="2800" dirty="0"/>
            <a:t>Prevent Overfitting</a:t>
          </a:r>
          <a:endParaRPr lang="zh-TW" altLang="en-US" sz="2800" dirty="0"/>
        </a:p>
      </dgm:t>
    </dgm:pt>
    <dgm:pt modelId="{B6B7E12D-D632-4A48-A704-CC95E70AA562}" type="parTrans" cxnId="{16C5D0F5-4610-4CCA-B17A-7FFBFECE6C2E}">
      <dgm:prSet/>
      <dgm:spPr/>
      <dgm:t>
        <a:bodyPr/>
        <a:lstStyle/>
        <a:p>
          <a:endParaRPr lang="zh-TW" altLang="en-US"/>
        </a:p>
      </dgm:t>
    </dgm:pt>
    <dgm:pt modelId="{E7154F52-7B60-4BF8-B5C4-55367E3206FF}" type="sibTrans" cxnId="{16C5D0F5-4610-4CCA-B17A-7FFBFECE6C2E}">
      <dgm:prSet/>
      <dgm:spPr/>
      <dgm:t>
        <a:bodyPr/>
        <a:lstStyle/>
        <a:p>
          <a:endParaRPr lang="zh-TW" altLang="en-US"/>
        </a:p>
      </dgm:t>
    </dgm:pt>
    <dgm:pt modelId="{C8E5FAFB-85A2-4B2C-9975-E44C5B37223E}">
      <dgm:prSet phldrT="[文字]" custT="1"/>
      <dgm:spPr/>
      <dgm:t>
        <a:bodyPr/>
        <a:lstStyle/>
        <a:p>
          <a:r>
            <a:rPr lang="en-US" altLang="zh-TW" sz="2800" dirty="0"/>
            <a:t>New activation functions, for example, </a:t>
          </a:r>
          <a:r>
            <a:rPr lang="en-US" altLang="zh-TW" sz="2800" dirty="0" err="1"/>
            <a:t>ReLU</a:t>
          </a:r>
          <a:r>
            <a:rPr lang="en-US" altLang="zh-TW" sz="2800" dirty="0"/>
            <a:t> or </a:t>
          </a:r>
          <a:r>
            <a:rPr lang="en-US" altLang="zh-TW" sz="2800" dirty="0" err="1"/>
            <a:t>Maxout</a:t>
          </a:r>
          <a:endParaRPr lang="zh-TW" altLang="en-US" sz="2800" dirty="0"/>
        </a:p>
      </dgm:t>
    </dgm:pt>
    <dgm:pt modelId="{BCD37510-6B2B-4CA1-94F0-CA1D4BB122A9}" type="parTrans" cxnId="{0969C4CE-4EC4-4D47-A808-AA1689BE2614}">
      <dgm:prSet/>
      <dgm:spPr/>
      <dgm:t>
        <a:bodyPr/>
        <a:lstStyle/>
        <a:p>
          <a:endParaRPr lang="zh-TW" altLang="en-US"/>
        </a:p>
      </dgm:t>
    </dgm:pt>
    <dgm:pt modelId="{7B5FDE0B-A69C-44C1-A8FC-42BAE767BACF}" type="sibTrans" cxnId="{0969C4CE-4EC4-4D47-A808-AA1689BE2614}">
      <dgm:prSet/>
      <dgm:spPr/>
      <dgm:t>
        <a:bodyPr/>
        <a:lstStyle/>
        <a:p>
          <a:endParaRPr lang="zh-TW" altLang="en-US"/>
        </a:p>
      </dgm:t>
    </dgm:pt>
    <dgm:pt modelId="{F574CCB3-2CC7-4F16-B6CE-ED17137EC7CD}">
      <dgm:prSet phldrT="[文字]" custT="1"/>
      <dgm:spPr/>
      <dgm:t>
        <a:bodyPr/>
        <a:lstStyle/>
        <a:p>
          <a:r>
            <a:rPr lang="en-US" altLang="zh-TW" sz="2800" dirty="0"/>
            <a:t>Adaptive learning rates</a:t>
          </a:r>
          <a:endParaRPr lang="zh-TW" altLang="en-US" sz="2800" dirty="0"/>
        </a:p>
      </dgm:t>
    </dgm:pt>
    <dgm:pt modelId="{6FA2FC3F-6C37-4A5A-8140-2629F6A1041B}" type="parTrans" cxnId="{75A08555-1713-49F0-A623-CF7548CD4C0C}">
      <dgm:prSet/>
      <dgm:spPr/>
      <dgm:t>
        <a:bodyPr/>
        <a:lstStyle/>
        <a:p>
          <a:endParaRPr lang="zh-TW" altLang="en-US"/>
        </a:p>
      </dgm:t>
    </dgm:pt>
    <dgm:pt modelId="{95C54FAD-ED3C-4FA9-9A6C-56D46BC90B74}" type="sibTrans" cxnId="{75A08555-1713-49F0-A623-CF7548CD4C0C}">
      <dgm:prSet/>
      <dgm:spPr/>
      <dgm:t>
        <a:bodyPr/>
        <a:lstStyle/>
        <a:p>
          <a:endParaRPr lang="zh-TW" altLang="en-US"/>
        </a:p>
      </dgm:t>
    </dgm:pt>
    <dgm:pt modelId="{806BA39A-1AE3-4BE5-8DA3-D7D9A4193FB3}">
      <dgm:prSet phldrT="[文字]" custT="1"/>
      <dgm:spPr/>
      <dgm:t>
        <a:bodyPr/>
        <a:lstStyle/>
        <a:p>
          <a:r>
            <a:rPr lang="en-US" altLang="zh-TW" sz="2800" dirty="0"/>
            <a:t>Dropout</a:t>
          </a:r>
          <a:endParaRPr lang="zh-TW" altLang="en-US" sz="2800" dirty="0"/>
        </a:p>
      </dgm:t>
    </dgm:pt>
    <dgm:pt modelId="{F5F07047-320F-4FFC-AA1C-17FEDE3B8569}" type="parTrans" cxnId="{31D87DA4-804B-4081-936B-30F79CB61CF4}">
      <dgm:prSet/>
      <dgm:spPr/>
      <dgm:t>
        <a:bodyPr/>
        <a:lstStyle/>
        <a:p>
          <a:endParaRPr lang="zh-TW" altLang="en-US"/>
        </a:p>
      </dgm:t>
    </dgm:pt>
    <dgm:pt modelId="{92D0E1A9-8D3A-4C32-8874-15A374E5BB3D}" type="sibTrans" cxnId="{31D87DA4-804B-4081-936B-30F79CB61CF4}">
      <dgm:prSet/>
      <dgm:spPr/>
      <dgm:t>
        <a:bodyPr/>
        <a:lstStyle/>
        <a:p>
          <a:endParaRPr lang="zh-TW" altLang="en-US"/>
        </a:p>
      </dgm:t>
    </dgm:pt>
    <dgm:pt modelId="{5E3DFCC4-1F58-4988-ACF4-D2AC0500E8C1}" type="pres">
      <dgm:prSet presAssocID="{D9D120A9-D745-44C7-A56D-E5DDAE24CF36}" presName="linear" presStyleCnt="0">
        <dgm:presLayoutVars>
          <dgm:dir/>
          <dgm:animLvl val="lvl"/>
          <dgm:resizeHandles val="exact"/>
        </dgm:presLayoutVars>
      </dgm:prSet>
      <dgm:spPr/>
    </dgm:pt>
    <dgm:pt modelId="{496B35BF-6648-40A6-898D-A26A8769CFB8}" type="pres">
      <dgm:prSet presAssocID="{93709A3A-9CE8-4EFC-B727-6065450A8727}" presName="parentLin" presStyleCnt="0"/>
      <dgm:spPr/>
    </dgm:pt>
    <dgm:pt modelId="{02BFCBEF-0B85-413C-BCA6-3E318F1DC1C9}" type="pres">
      <dgm:prSet presAssocID="{93709A3A-9CE8-4EFC-B727-6065450A8727}" presName="parentLeftMargin" presStyleLbl="node1" presStyleIdx="0" presStyleCnt="3"/>
      <dgm:spPr/>
    </dgm:pt>
    <dgm:pt modelId="{1B2E9233-0E5F-4D83-B1AC-80BDF8149127}" type="pres">
      <dgm:prSet presAssocID="{93709A3A-9CE8-4EFC-B727-6065450A87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1CF787F-241A-43E8-BA67-13BB87EFE65A}" type="pres">
      <dgm:prSet presAssocID="{93709A3A-9CE8-4EFC-B727-6065450A8727}" presName="negativeSpace" presStyleCnt="0"/>
      <dgm:spPr/>
    </dgm:pt>
    <dgm:pt modelId="{A77BD62A-B66D-4154-8103-CFC8242B6E87}" type="pres">
      <dgm:prSet presAssocID="{93709A3A-9CE8-4EFC-B727-6065450A8727}" presName="childText" presStyleLbl="conFgAcc1" presStyleIdx="0" presStyleCnt="3">
        <dgm:presLayoutVars>
          <dgm:bulletEnabled val="1"/>
        </dgm:presLayoutVars>
      </dgm:prSet>
      <dgm:spPr/>
    </dgm:pt>
    <dgm:pt modelId="{F7863121-CE3E-4FBC-BDC6-3830A10F8D50}" type="pres">
      <dgm:prSet presAssocID="{B4F8A9F0-6F97-4C3F-B0BA-DBAA6F4A7864}" presName="spaceBetweenRectangles" presStyleCnt="0"/>
      <dgm:spPr/>
    </dgm:pt>
    <dgm:pt modelId="{5DB591E7-BC0D-4FE9-8E1D-BED7B5F697A0}" type="pres">
      <dgm:prSet presAssocID="{551939ED-DA8B-4056-92C3-0BDF54BE5DA6}" presName="parentLin" presStyleCnt="0"/>
      <dgm:spPr/>
    </dgm:pt>
    <dgm:pt modelId="{2BB45C42-C623-4659-9D10-2F9B3ADCAC86}" type="pres">
      <dgm:prSet presAssocID="{551939ED-DA8B-4056-92C3-0BDF54BE5DA6}" presName="parentLeftMargin" presStyleLbl="node1" presStyleIdx="0" presStyleCnt="3"/>
      <dgm:spPr/>
    </dgm:pt>
    <dgm:pt modelId="{3F9C3C56-ED38-48BB-82BA-DA2F69BC5A6F}" type="pres">
      <dgm:prSet presAssocID="{551939ED-DA8B-4056-92C3-0BDF54BE5D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0B77BA-381C-438B-A8B8-3B5A09804AF9}" type="pres">
      <dgm:prSet presAssocID="{551939ED-DA8B-4056-92C3-0BDF54BE5DA6}" presName="negativeSpace" presStyleCnt="0"/>
      <dgm:spPr/>
    </dgm:pt>
    <dgm:pt modelId="{200AE87A-6FAA-4D3F-BBA6-2F87B1774A69}" type="pres">
      <dgm:prSet presAssocID="{551939ED-DA8B-4056-92C3-0BDF54BE5DA6}" presName="childText" presStyleLbl="conFgAcc1" presStyleIdx="1" presStyleCnt="3">
        <dgm:presLayoutVars>
          <dgm:bulletEnabled val="1"/>
        </dgm:presLayoutVars>
      </dgm:prSet>
      <dgm:spPr/>
    </dgm:pt>
    <dgm:pt modelId="{CFCE4FD8-7EB8-46CC-89E3-3532E38C23DA}" type="pres">
      <dgm:prSet presAssocID="{B2C46CE9-BFFC-499A-8294-40C0CA6FABDC}" presName="spaceBetweenRectangles" presStyleCnt="0"/>
      <dgm:spPr/>
    </dgm:pt>
    <dgm:pt modelId="{BAA8C721-2810-497E-8FFA-7B7DC0A51B45}" type="pres">
      <dgm:prSet presAssocID="{DBC1AEE2-4C3E-4848-A71D-2DB3359330A4}" presName="parentLin" presStyleCnt="0"/>
      <dgm:spPr/>
    </dgm:pt>
    <dgm:pt modelId="{2A08946A-F3C6-4FAF-848F-D2FB1B496798}" type="pres">
      <dgm:prSet presAssocID="{DBC1AEE2-4C3E-4848-A71D-2DB3359330A4}" presName="parentLeftMargin" presStyleLbl="node1" presStyleIdx="1" presStyleCnt="3"/>
      <dgm:spPr/>
    </dgm:pt>
    <dgm:pt modelId="{D3C637C9-2FED-408B-8199-D78423097081}" type="pres">
      <dgm:prSet presAssocID="{DBC1AEE2-4C3E-4848-A71D-2DB3359330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67997B2-CF25-4D4A-897D-0E30CAC5E732}" type="pres">
      <dgm:prSet presAssocID="{DBC1AEE2-4C3E-4848-A71D-2DB3359330A4}" presName="negativeSpace" presStyleCnt="0"/>
      <dgm:spPr/>
    </dgm:pt>
    <dgm:pt modelId="{C61745EA-D7A8-4195-B4D5-501A3E601E1F}" type="pres">
      <dgm:prSet presAssocID="{DBC1AEE2-4C3E-4848-A71D-2DB3359330A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7D9FFA4-614E-4889-80B7-A56FF2CB8F0D}" type="presOf" srcId="{806BA39A-1AE3-4BE5-8DA3-D7D9A4193FB3}" destId="{C61745EA-D7A8-4195-B4D5-501A3E601E1F}" srcOrd="0" destOrd="0" presId="urn:microsoft.com/office/officeart/2005/8/layout/list1"/>
    <dgm:cxn modelId="{5AC8F13F-DAB3-40C8-8735-08D747E4FE1B}" type="presOf" srcId="{DBC1AEE2-4C3E-4848-A71D-2DB3359330A4}" destId="{2A08946A-F3C6-4FAF-848F-D2FB1B496798}" srcOrd="0" destOrd="0" presId="urn:microsoft.com/office/officeart/2005/8/layout/list1"/>
    <dgm:cxn modelId="{5DE57DA9-7857-4E83-835C-624A21B68B4C}" srcId="{D9D120A9-D745-44C7-A56D-E5DDAE24CF36}" destId="{93709A3A-9CE8-4EFC-B727-6065450A8727}" srcOrd="0" destOrd="0" parTransId="{BBC01A2B-A43D-4169-BF24-6F01EE8FB850}" sibTransId="{B4F8A9F0-6F97-4C3F-B0BA-DBAA6F4A7864}"/>
    <dgm:cxn modelId="{D35D80CA-33CC-46C2-BAE5-929528CD932F}" type="presOf" srcId="{F574CCB3-2CC7-4F16-B6CE-ED17137EC7CD}" destId="{200AE87A-6FAA-4D3F-BBA6-2F87B1774A69}" srcOrd="0" destOrd="0" presId="urn:microsoft.com/office/officeart/2005/8/layout/list1"/>
    <dgm:cxn modelId="{173CD070-139F-4A01-96A7-D308215EAAFD}" type="presOf" srcId="{551939ED-DA8B-4056-92C3-0BDF54BE5DA6}" destId="{2BB45C42-C623-4659-9D10-2F9B3ADCAC86}" srcOrd="0" destOrd="0" presId="urn:microsoft.com/office/officeart/2005/8/layout/list1"/>
    <dgm:cxn modelId="{16C5D0F5-4610-4CCA-B17A-7FFBFECE6C2E}" srcId="{D9D120A9-D745-44C7-A56D-E5DDAE24CF36}" destId="{DBC1AEE2-4C3E-4848-A71D-2DB3359330A4}" srcOrd="2" destOrd="0" parTransId="{B6B7E12D-D632-4A48-A704-CC95E70AA562}" sibTransId="{E7154F52-7B60-4BF8-B5C4-55367E3206FF}"/>
    <dgm:cxn modelId="{0DC9C662-8A68-4070-B221-D56AF131BBE2}" type="presOf" srcId="{551939ED-DA8B-4056-92C3-0BDF54BE5DA6}" destId="{3F9C3C56-ED38-48BB-82BA-DA2F69BC5A6F}" srcOrd="1" destOrd="0" presId="urn:microsoft.com/office/officeart/2005/8/layout/list1"/>
    <dgm:cxn modelId="{24588A98-897F-4551-A4AA-F2197F31B75F}" type="presOf" srcId="{D9D120A9-D745-44C7-A56D-E5DDAE24CF36}" destId="{5E3DFCC4-1F58-4988-ACF4-D2AC0500E8C1}" srcOrd="0" destOrd="0" presId="urn:microsoft.com/office/officeart/2005/8/layout/list1"/>
    <dgm:cxn modelId="{1E084F0A-8C6D-4AE0-8D07-DCB2CF5531A1}" type="presOf" srcId="{C8E5FAFB-85A2-4B2C-9975-E44C5B37223E}" destId="{A77BD62A-B66D-4154-8103-CFC8242B6E87}" srcOrd="0" destOrd="0" presId="urn:microsoft.com/office/officeart/2005/8/layout/list1"/>
    <dgm:cxn modelId="{0969C4CE-4EC4-4D47-A808-AA1689BE2614}" srcId="{93709A3A-9CE8-4EFC-B727-6065450A8727}" destId="{C8E5FAFB-85A2-4B2C-9975-E44C5B37223E}" srcOrd="0" destOrd="0" parTransId="{BCD37510-6B2B-4CA1-94F0-CA1D4BB122A9}" sibTransId="{7B5FDE0B-A69C-44C1-A8FC-42BAE767BACF}"/>
    <dgm:cxn modelId="{F0FFD8A2-CEC6-44E2-B6C0-84727163D22B}" type="presOf" srcId="{93709A3A-9CE8-4EFC-B727-6065450A8727}" destId="{02BFCBEF-0B85-413C-BCA6-3E318F1DC1C9}" srcOrd="0" destOrd="0" presId="urn:microsoft.com/office/officeart/2005/8/layout/list1"/>
    <dgm:cxn modelId="{6D714477-8EEE-438A-A9E8-97FD142E7A20}" type="presOf" srcId="{DBC1AEE2-4C3E-4848-A71D-2DB3359330A4}" destId="{D3C637C9-2FED-408B-8199-D78423097081}" srcOrd="1" destOrd="0" presId="urn:microsoft.com/office/officeart/2005/8/layout/list1"/>
    <dgm:cxn modelId="{C60562F9-6E57-4A22-8549-FE327A007FBD}" type="presOf" srcId="{93709A3A-9CE8-4EFC-B727-6065450A8727}" destId="{1B2E9233-0E5F-4D83-B1AC-80BDF8149127}" srcOrd="1" destOrd="0" presId="urn:microsoft.com/office/officeart/2005/8/layout/list1"/>
    <dgm:cxn modelId="{75A08555-1713-49F0-A623-CF7548CD4C0C}" srcId="{551939ED-DA8B-4056-92C3-0BDF54BE5DA6}" destId="{F574CCB3-2CC7-4F16-B6CE-ED17137EC7CD}" srcOrd="0" destOrd="0" parTransId="{6FA2FC3F-6C37-4A5A-8140-2629F6A1041B}" sibTransId="{95C54FAD-ED3C-4FA9-9A6C-56D46BC90B74}"/>
    <dgm:cxn modelId="{CEF793B2-92C1-4604-AA2C-92A528FD0804}" srcId="{D9D120A9-D745-44C7-A56D-E5DDAE24CF36}" destId="{551939ED-DA8B-4056-92C3-0BDF54BE5DA6}" srcOrd="1" destOrd="0" parTransId="{55A4114E-F20A-44A0-8C01-44B62E692137}" sibTransId="{B2C46CE9-BFFC-499A-8294-40C0CA6FABDC}"/>
    <dgm:cxn modelId="{31D87DA4-804B-4081-936B-30F79CB61CF4}" srcId="{DBC1AEE2-4C3E-4848-A71D-2DB3359330A4}" destId="{806BA39A-1AE3-4BE5-8DA3-D7D9A4193FB3}" srcOrd="0" destOrd="0" parTransId="{F5F07047-320F-4FFC-AA1C-17FEDE3B8569}" sibTransId="{92D0E1A9-8D3A-4C32-8874-15A374E5BB3D}"/>
    <dgm:cxn modelId="{276DE42F-58A6-446E-9015-E8C245AA6DAC}" type="presParOf" srcId="{5E3DFCC4-1F58-4988-ACF4-D2AC0500E8C1}" destId="{496B35BF-6648-40A6-898D-A26A8769CFB8}" srcOrd="0" destOrd="0" presId="urn:microsoft.com/office/officeart/2005/8/layout/list1"/>
    <dgm:cxn modelId="{57D9A948-DF6F-4D34-8306-0602B7B28E46}" type="presParOf" srcId="{496B35BF-6648-40A6-898D-A26A8769CFB8}" destId="{02BFCBEF-0B85-413C-BCA6-3E318F1DC1C9}" srcOrd="0" destOrd="0" presId="urn:microsoft.com/office/officeart/2005/8/layout/list1"/>
    <dgm:cxn modelId="{9D2A8B8E-A884-4A64-83D3-AE0283238282}" type="presParOf" srcId="{496B35BF-6648-40A6-898D-A26A8769CFB8}" destId="{1B2E9233-0E5F-4D83-B1AC-80BDF8149127}" srcOrd="1" destOrd="0" presId="urn:microsoft.com/office/officeart/2005/8/layout/list1"/>
    <dgm:cxn modelId="{9E6C1703-FE26-42C1-AD96-5133130B5A12}" type="presParOf" srcId="{5E3DFCC4-1F58-4988-ACF4-D2AC0500E8C1}" destId="{81CF787F-241A-43E8-BA67-13BB87EFE65A}" srcOrd="1" destOrd="0" presId="urn:microsoft.com/office/officeart/2005/8/layout/list1"/>
    <dgm:cxn modelId="{7B820F95-AC68-46C4-B0B0-08FBBCB55D27}" type="presParOf" srcId="{5E3DFCC4-1F58-4988-ACF4-D2AC0500E8C1}" destId="{A77BD62A-B66D-4154-8103-CFC8242B6E87}" srcOrd="2" destOrd="0" presId="urn:microsoft.com/office/officeart/2005/8/layout/list1"/>
    <dgm:cxn modelId="{7280B872-EB7A-4CD6-A23F-100FCB0FBBB2}" type="presParOf" srcId="{5E3DFCC4-1F58-4988-ACF4-D2AC0500E8C1}" destId="{F7863121-CE3E-4FBC-BDC6-3830A10F8D50}" srcOrd="3" destOrd="0" presId="urn:microsoft.com/office/officeart/2005/8/layout/list1"/>
    <dgm:cxn modelId="{02423813-CFE2-49A2-9A40-16F7A0F5A126}" type="presParOf" srcId="{5E3DFCC4-1F58-4988-ACF4-D2AC0500E8C1}" destId="{5DB591E7-BC0D-4FE9-8E1D-BED7B5F697A0}" srcOrd="4" destOrd="0" presId="urn:microsoft.com/office/officeart/2005/8/layout/list1"/>
    <dgm:cxn modelId="{E0AEDC28-E657-4307-8910-934C74B7A09A}" type="presParOf" srcId="{5DB591E7-BC0D-4FE9-8E1D-BED7B5F697A0}" destId="{2BB45C42-C623-4659-9D10-2F9B3ADCAC86}" srcOrd="0" destOrd="0" presId="urn:microsoft.com/office/officeart/2005/8/layout/list1"/>
    <dgm:cxn modelId="{69447F4D-E606-41CD-94D2-2663ECD875D7}" type="presParOf" srcId="{5DB591E7-BC0D-4FE9-8E1D-BED7B5F697A0}" destId="{3F9C3C56-ED38-48BB-82BA-DA2F69BC5A6F}" srcOrd="1" destOrd="0" presId="urn:microsoft.com/office/officeart/2005/8/layout/list1"/>
    <dgm:cxn modelId="{5FD061BE-12E0-465B-9EF6-4ADC89265843}" type="presParOf" srcId="{5E3DFCC4-1F58-4988-ACF4-D2AC0500E8C1}" destId="{9C0B77BA-381C-438B-A8B8-3B5A09804AF9}" srcOrd="5" destOrd="0" presId="urn:microsoft.com/office/officeart/2005/8/layout/list1"/>
    <dgm:cxn modelId="{A7FE1A62-C638-41E5-9176-2EEE5E0CC28D}" type="presParOf" srcId="{5E3DFCC4-1F58-4988-ACF4-D2AC0500E8C1}" destId="{200AE87A-6FAA-4D3F-BBA6-2F87B1774A69}" srcOrd="6" destOrd="0" presId="urn:microsoft.com/office/officeart/2005/8/layout/list1"/>
    <dgm:cxn modelId="{11379A08-3627-46AA-BF34-7F96B02B0627}" type="presParOf" srcId="{5E3DFCC4-1F58-4988-ACF4-D2AC0500E8C1}" destId="{CFCE4FD8-7EB8-46CC-89E3-3532E38C23DA}" srcOrd="7" destOrd="0" presId="urn:microsoft.com/office/officeart/2005/8/layout/list1"/>
    <dgm:cxn modelId="{F52AE8C8-8637-4B05-9853-4014757F3E9B}" type="presParOf" srcId="{5E3DFCC4-1F58-4988-ACF4-D2AC0500E8C1}" destId="{BAA8C721-2810-497E-8FFA-7B7DC0A51B45}" srcOrd="8" destOrd="0" presId="urn:microsoft.com/office/officeart/2005/8/layout/list1"/>
    <dgm:cxn modelId="{8D1A8DE5-DC2A-4ECD-85D0-CF015DEB79C0}" type="presParOf" srcId="{BAA8C721-2810-497E-8FFA-7B7DC0A51B45}" destId="{2A08946A-F3C6-4FAF-848F-D2FB1B496798}" srcOrd="0" destOrd="0" presId="urn:microsoft.com/office/officeart/2005/8/layout/list1"/>
    <dgm:cxn modelId="{425A09EE-8AFC-48C4-9DC6-7A0E20C87AD5}" type="presParOf" srcId="{BAA8C721-2810-497E-8FFA-7B7DC0A51B45}" destId="{D3C637C9-2FED-408B-8199-D78423097081}" srcOrd="1" destOrd="0" presId="urn:microsoft.com/office/officeart/2005/8/layout/list1"/>
    <dgm:cxn modelId="{1C080BB2-C11B-41B2-86CA-AC0D7248A6CB}" type="presParOf" srcId="{5E3DFCC4-1F58-4988-ACF4-D2AC0500E8C1}" destId="{967997B2-CF25-4D4A-897D-0E30CAC5E732}" srcOrd="9" destOrd="0" presId="urn:microsoft.com/office/officeart/2005/8/layout/list1"/>
    <dgm:cxn modelId="{5A891E33-A5A8-41B6-93FB-C38F88078BBB}" type="presParOf" srcId="{5E3DFCC4-1F58-4988-ACF4-D2AC0500E8C1}" destId="{C61745EA-D7A8-4195-B4D5-501A3E601E1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7BD62A-B66D-4154-8103-CFC8242B6E87}">
      <dsp:nvSpPr>
        <dsp:cNvPr id="0" name=""/>
        <dsp:cNvSpPr/>
      </dsp:nvSpPr>
      <dsp:spPr>
        <a:xfrm>
          <a:off x="0" y="272978"/>
          <a:ext cx="78867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12096" tIns="374904" rIns="61209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2800" kern="1200" dirty="0"/>
            <a:t>New activation functions, for example, </a:t>
          </a:r>
          <a:r>
            <a:rPr lang="en-US" altLang="zh-TW" sz="2800" kern="1200" dirty="0" err="1"/>
            <a:t>ReLU</a:t>
          </a:r>
          <a:r>
            <a:rPr lang="en-US" altLang="zh-TW" sz="2800" kern="1200" dirty="0"/>
            <a:t> or </a:t>
          </a:r>
          <a:r>
            <a:rPr lang="en-US" altLang="zh-TW" sz="2800" kern="1200" dirty="0" err="1"/>
            <a:t>Maxout</a:t>
          </a:r>
          <a:endParaRPr lang="zh-TW" altLang="en-US" sz="2800" kern="1200" dirty="0"/>
        </a:p>
      </dsp:txBody>
      <dsp:txXfrm>
        <a:off x="0" y="272978"/>
        <a:ext cx="7886700" cy="1360800"/>
      </dsp:txXfrm>
    </dsp:sp>
    <dsp:sp modelId="{1B2E9233-0E5F-4D83-B1AC-80BDF8149127}">
      <dsp:nvSpPr>
        <dsp:cNvPr id="0" name=""/>
        <dsp:cNvSpPr/>
      </dsp:nvSpPr>
      <dsp:spPr>
        <a:xfrm>
          <a:off x="394335" y="7298"/>
          <a:ext cx="5520690" cy="5313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Modify the Network</a:t>
          </a:r>
          <a:endParaRPr lang="zh-TW" altLang="en-US" sz="2800" kern="1200" dirty="0"/>
        </a:p>
      </dsp:txBody>
      <dsp:txXfrm>
        <a:off x="420274" y="33237"/>
        <a:ext cx="5468812" cy="479482"/>
      </dsp:txXfrm>
    </dsp:sp>
    <dsp:sp modelId="{200AE87A-6FAA-4D3F-BBA6-2F87B1774A69}">
      <dsp:nvSpPr>
        <dsp:cNvPr id="0" name=""/>
        <dsp:cNvSpPr/>
      </dsp:nvSpPr>
      <dsp:spPr>
        <a:xfrm>
          <a:off x="0" y="1996659"/>
          <a:ext cx="7886700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12096" tIns="374904" rIns="61209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2800" kern="1200" dirty="0"/>
            <a:t>Adaptive learning rates</a:t>
          </a:r>
          <a:endParaRPr lang="zh-TW" altLang="en-US" sz="2800" kern="1200" dirty="0"/>
        </a:p>
      </dsp:txBody>
      <dsp:txXfrm>
        <a:off x="0" y="1996659"/>
        <a:ext cx="7886700" cy="992250"/>
      </dsp:txXfrm>
    </dsp:sp>
    <dsp:sp modelId="{3F9C3C56-ED38-48BB-82BA-DA2F69BC5A6F}">
      <dsp:nvSpPr>
        <dsp:cNvPr id="0" name=""/>
        <dsp:cNvSpPr/>
      </dsp:nvSpPr>
      <dsp:spPr>
        <a:xfrm>
          <a:off x="394335" y="1730979"/>
          <a:ext cx="5520690" cy="531360"/>
        </a:xfrm>
        <a:prstGeom prst="roundRect">
          <a:avLst/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Better optimization Strategy</a:t>
          </a:r>
          <a:endParaRPr lang="zh-TW" altLang="en-US" sz="2800" kern="1200" dirty="0"/>
        </a:p>
      </dsp:txBody>
      <dsp:txXfrm>
        <a:off x="420274" y="1756918"/>
        <a:ext cx="5468812" cy="479482"/>
      </dsp:txXfrm>
    </dsp:sp>
    <dsp:sp modelId="{C61745EA-D7A8-4195-B4D5-501A3E601E1F}">
      <dsp:nvSpPr>
        <dsp:cNvPr id="0" name=""/>
        <dsp:cNvSpPr/>
      </dsp:nvSpPr>
      <dsp:spPr>
        <a:xfrm>
          <a:off x="0" y="3351789"/>
          <a:ext cx="7886700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12096" tIns="374904" rIns="61209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2800" kern="1200" dirty="0"/>
            <a:t>Dropout</a:t>
          </a:r>
          <a:endParaRPr lang="zh-TW" altLang="en-US" sz="2800" kern="1200" dirty="0"/>
        </a:p>
      </dsp:txBody>
      <dsp:txXfrm>
        <a:off x="0" y="3351789"/>
        <a:ext cx="7886700" cy="992250"/>
      </dsp:txXfrm>
    </dsp:sp>
    <dsp:sp modelId="{D3C637C9-2FED-408B-8199-D78423097081}">
      <dsp:nvSpPr>
        <dsp:cNvPr id="0" name=""/>
        <dsp:cNvSpPr/>
      </dsp:nvSpPr>
      <dsp:spPr>
        <a:xfrm>
          <a:off x="394335" y="3086109"/>
          <a:ext cx="5520690" cy="531360"/>
        </a:xfrm>
        <a:prstGeom prst="roundRect">
          <a:avLst/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Prevent Overfitting</a:t>
          </a:r>
          <a:endParaRPr lang="zh-TW" altLang="en-US" sz="2800" kern="1200" dirty="0"/>
        </a:p>
      </dsp:txBody>
      <dsp:txXfrm>
        <a:off x="420274" y="3112048"/>
        <a:ext cx="5468812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1.wmf"/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12" Type="http://schemas.openxmlformats.org/officeDocument/2006/relationships/image" Target="../media/image60.wmf"/><Relationship Id="rId17" Type="http://schemas.openxmlformats.org/officeDocument/2006/relationships/image" Target="../media/image65.wmf"/><Relationship Id="rId2" Type="http://schemas.openxmlformats.org/officeDocument/2006/relationships/image" Target="../media/image51.wmf"/><Relationship Id="rId16" Type="http://schemas.openxmlformats.org/officeDocument/2006/relationships/image" Target="../media/image64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11" Type="http://schemas.openxmlformats.org/officeDocument/2006/relationships/image" Target="../media/image59.wmf"/><Relationship Id="rId5" Type="http://schemas.openxmlformats.org/officeDocument/2006/relationships/image" Target="../media/image54.wmf"/><Relationship Id="rId15" Type="http://schemas.openxmlformats.org/officeDocument/2006/relationships/image" Target="../media/image63.wmf"/><Relationship Id="rId10" Type="http://schemas.openxmlformats.org/officeDocument/2006/relationships/image" Target="../media/image30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Relationship Id="rId14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138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138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40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AA7AC-FF05-4E47-B1C6-EDD6605327AE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0914F-BE26-43C4-8063-9E6C159BF4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688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videolectures.net/adam_coates/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1502.01852" TargetMode="External"/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citeseerx.ist.psu.edu/viewdoc/summary?doi=10.1.1.24.7321" TargetMode="External"/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idsia.ch/~juergen/SeppHochreiter1991ThesisAdvisorSchmidhuber.pdf" TargetMode="Externa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videolectures.net/adam_coates/" TargetMode="External"/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Not </a:t>
            </a:r>
            <a:r>
              <a:rPr lang="en-US" altLang="zh-TW" dirty="0" err="1"/>
              <a:t>memtion</a:t>
            </a:r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DT </a:t>
            </a:r>
            <a:r>
              <a:rPr lang="en-US" altLang="zh-TW" dirty="0" err="1"/>
              <a:t>v.s</a:t>
            </a:r>
            <a:r>
              <a:rPr lang="en-US" altLang="zh-TW" dirty="0"/>
              <a:t>. Deep!!!!!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6226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Analogy</a:t>
            </a:r>
            <a:r>
              <a:rPr lang="en-US" baseline="0" dirty="0"/>
              <a:t> – nodes as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15F16-2075-488D-B78E-F73734E5312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7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“Machine Learning and AI for Brain Simulations” –</a:t>
            </a:r>
            <a:r>
              <a:rPr lang="en-US" baseline="0" dirty="0"/>
              <a:t> </a:t>
            </a:r>
            <a:r>
              <a:rPr lang="en-US" dirty="0"/>
              <a:t>Andrew Ng Talk,</a:t>
            </a:r>
            <a:r>
              <a:rPr lang="en-US" baseline="0" dirty="0"/>
              <a:t> UCLA, 2012</a:t>
            </a:r>
            <a:endParaRPr lang="en-US" dirty="0"/>
          </a:p>
          <a:p>
            <a:r>
              <a:rPr lang="en-US" dirty="0"/>
              <a:t>Visualization</a:t>
            </a:r>
            <a:r>
              <a:rPr lang="en-US" baseline="0" dirty="0"/>
              <a:t> of weights at different layers of three layer deep neural networks trained on pictures of faces, cars, elephants and chairs</a:t>
            </a:r>
          </a:p>
          <a:p>
            <a:r>
              <a:rPr lang="en-US" baseline="0" dirty="0"/>
              <a:t>This is proof, for me at least, that we are doing something really special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15F16-2075-488D-B78E-F73734E5312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77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Three questions:</a:t>
            </a:r>
          </a:p>
          <a:p>
            <a:endParaRPr lang="en-US" altLang="zh-TW" dirty="0"/>
          </a:p>
          <a:p>
            <a:r>
              <a:rPr lang="en-US" altLang="zh-TW" dirty="0"/>
              <a:t>Model</a:t>
            </a:r>
          </a:p>
          <a:p>
            <a:r>
              <a:rPr lang="en-US" altLang="zh-TW" dirty="0"/>
              <a:t>Cost</a:t>
            </a:r>
          </a:p>
          <a:p>
            <a:r>
              <a:rPr lang="en-US" altLang="zh-TW" dirty="0"/>
              <a:t>Train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060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“Hello world” for deep learning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Data: </a:t>
            </a:r>
            <a:r>
              <a:rPr lang="zh-TW" altLang="en-US" sz="1200" dirty="0"/>
              <a:t>http://yann.lecun.com/exdb/mnist/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4019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The same for even more complex tasks.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841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57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sigmoid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558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i="1" u="sng" dirty="0"/>
              <a:t>Fully Connected Feedforward Network </a:t>
            </a:r>
            <a:endParaRPr lang="zh-TW" altLang="en-US" b="1" i="1" u="sng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solidFill>
                <a:srgbClr val="0000FF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solidFill>
                <a:srgbClr val="0000FF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rgbClr val="0000FF"/>
                </a:solidFill>
              </a:rPr>
              <a:t>You can always connect the neurons in your own way.</a:t>
            </a:r>
            <a:endParaRPr lang="zh-TW" altLang="en-US" sz="1200" dirty="0">
              <a:solidFill>
                <a:srgbClr val="0000FF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“+” is ignored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Each dimension corresponds to a digit (10 dimension is needed)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539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Ignore</a:t>
            </a:r>
            <a:r>
              <a:rPr lang="en-US" altLang="zh-TW" baseline="0" dirty="0"/>
              <a:t> +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92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For example,</a:t>
            </a:r>
            <a:r>
              <a:rPr lang="en-US" altLang="zh-TW" baseline="0" dirty="0"/>
              <a:t> if we modify “1” to “2”, then we have another function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727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sure you know how to do it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author: 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Adam Coates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Baidu, Inc. </a:t>
            </a:r>
            <a:endParaRPr lang="en-US" altLang="zh-TW" dirty="0"/>
          </a:p>
          <a:p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Learning (hopefully faster)</a:t>
            </a:r>
          </a:p>
          <a:p>
            <a:endParaRPr lang="en-US" altLang="zh-TW" dirty="0"/>
          </a:p>
          <a:p>
            <a:r>
              <a:rPr lang="en-US" altLang="zh-TW" dirty="0"/>
              <a:t>http://videolectures.net/deeplearning2015_coates_deep_learning/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628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Draw it?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831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Draw it?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838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Original output layer is local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b="1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924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Why it is name soft max?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rgbClr val="000000"/>
                </a:solidFill>
                <a:latin typeface="Georgia" panose="02040502050405020303" pitchFamily="18" charset="0"/>
              </a:rPr>
              <a:t>Monotonicity of </a:t>
            </a:r>
            <a:r>
              <a:rPr lang="en-US" altLang="zh-TW" b="1" dirty="0" err="1">
                <a:solidFill>
                  <a:srgbClr val="000000"/>
                </a:solidFill>
                <a:latin typeface="Georgia" panose="02040502050405020303" pitchFamily="18" charset="0"/>
              </a:rPr>
              <a:t>softmax</a:t>
            </a:r>
            <a:endParaRPr lang="zh-TW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rgbClr val="000000"/>
                </a:solidFill>
                <a:latin typeface="Georgia" panose="02040502050405020303" pitchFamily="18" charset="0"/>
              </a:rPr>
              <a:t>Non-locality of </a:t>
            </a:r>
            <a:r>
              <a:rPr lang="en-US" altLang="zh-TW" b="1" dirty="0" err="1">
                <a:solidFill>
                  <a:srgbClr val="000000"/>
                </a:solidFill>
                <a:latin typeface="Georgia" panose="02040502050405020303" pitchFamily="18" charset="0"/>
              </a:rPr>
              <a:t>softmax</a:t>
            </a:r>
            <a:endParaRPr lang="zh-TW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b="1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96765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With </a:t>
            </a:r>
            <a:r>
              <a:rPr lang="en-US" altLang="zh-TW" sz="1200" dirty="0" err="1"/>
              <a:t>softmax</a:t>
            </a:r>
            <a:r>
              <a:rPr lang="en-US" altLang="zh-TW" sz="1200" dirty="0"/>
              <a:t>, the summation of all the </a:t>
            </a:r>
            <a:r>
              <a:rPr lang="en-US" altLang="zh-TW" sz="1200" dirty="0" err="1"/>
              <a:t>ouputs</a:t>
            </a:r>
            <a:r>
              <a:rPr lang="en-US" altLang="zh-TW" sz="1200" dirty="0"/>
              <a:t> would be one.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Can be considered as probability</a:t>
            </a:r>
            <a:r>
              <a:rPr lang="zh-TW" altLang="en-US" sz="1200" baseline="0" dirty="0"/>
              <a:t> </a:t>
            </a:r>
            <a:r>
              <a:rPr lang="en-US" altLang="zh-TW" sz="1200" baseline="0" dirty="0"/>
              <a:t>if you want ……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472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Randomly</a:t>
            </a:r>
            <a:r>
              <a:rPr lang="en-US" altLang="zh-TW" sz="1200" baseline="0" dirty="0"/>
              <a:t> picked one </a:t>
            </a: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Two approaches update the parameters towards the same direction, but stochastic is faster!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Better!</a:t>
            </a:r>
            <a:endParaRPr lang="zh-TW" altLang="en-US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567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Eta</a:t>
            </a:r>
          </a:p>
          <a:p>
            <a:endParaRPr lang="en-US" altLang="zh-TW" dirty="0"/>
          </a:p>
          <a:p>
            <a:r>
              <a:rPr lang="zh-TW" altLang="en-US" dirty="0"/>
              <a:t>人站在　ｔｈｅｔａ０　環顧四周　看看哪裡最低，那個方向就是　ｇｒａｄｉｅｎｔ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197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6599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Momentum: </a:t>
            </a:r>
            <a:r>
              <a:rPr lang="zh-TW" altLang="en-US" dirty="0"/>
              <a:t>動量</a:t>
            </a:r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491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What can we</a:t>
            </a:r>
            <a:r>
              <a:rPr lang="en-US" altLang="zh-TW" baseline="0" dirty="0"/>
              <a:t> see?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932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Each time</a:t>
            </a:r>
            <a:r>
              <a:rPr lang="zh-TW" altLang="en-US" sz="1200" dirty="0"/>
              <a:t> </a:t>
            </a:r>
            <a:r>
              <a:rPr lang="en-US" altLang="zh-TW" sz="1200" dirty="0"/>
              <a:t>we update</a:t>
            </a:r>
            <a:r>
              <a:rPr lang="en-US" altLang="zh-TW" sz="1200" baseline="0" dirty="0"/>
              <a:t> </a:t>
            </a:r>
            <a:r>
              <a:rPr lang="en-US" altLang="zh-TW" sz="1200" baseline="0" dirty="0" err="1"/>
              <a:t>paramters</a:t>
            </a:r>
            <a:r>
              <a:rPr lang="en-US" altLang="zh-TW" sz="1200" baseline="0" dirty="0"/>
              <a:t>, we have different target</a:t>
            </a:r>
            <a:r>
              <a:rPr lang="zh-TW" altLang="en-US" sz="1200" baseline="0" dirty="0"/>
              <a:t> </a:t>
            </a:r>
            <a:r>
              <a:rPr lang="en-US" altLang="zh-TW" sz="1200" baseline="0" dirty="0"/>
              <a:t>-&gt; </a:t>
            </a:r>
            <a:r>
              <a:rPr lang="zh-TW" altLang="en-US" sz="1200" dirty="0"/>
              <a:t>不安</a:t>
            </a: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Shuffle data, and repeat above process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78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Hopefully,</a:t>
            </a:r>
            <a:r>
              <a:rPr lang="en-US" altLang="zh-TW" baseline="0" dirty="0"/>
              <a:t> when the match size is large enough, </a:t>
            </a:r>
          </a:p>
          <a:p>
            <a:r>
              <a:rPr lang="en-US" altLang="zh-TW" baseline="0" dirty="0"/>
              <a:t>Not that </a:t>
            </a:r>
            <a:r>
              <a:rPr lang="en-US" altLang="zh-TW" baseline="0" dirty="0" err="1"/>
              <a:t>stateble</a:t>
            </a:r>
            <a:endParaRPr lang="en-US" altLang="zh-TW" baseline="0" dirty="0"/>
          </a:p>
          <a:p>
            <a:endParaRPr lang="en-US" altLang="zh-TW" baseline="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1017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Ｉｎ　ｏｐｅｎ　ｅｐｏｃｈ，　ｕｐｄａｔｅ　ｍａｎｙ　ｔｉｍｅｓ</a:t>
            </a: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Shuffle data, and repeat above process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289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dirty="0"/>
              <a:t>Just a function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2483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SWB</a:t>
            </a:r>
          </a:p>
          <a:p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rgbClr val="0000FF"/>
                </a:solidFill>
              </a:rPr>
              <a:t>For a fixed number of parameters, a deep model is clearly better than the shallow one.</a:t>
            </a:r>
            <a:endParaRPr lang="zh-TW" altLang="en-US" sz="1200" dirty="0">
              <a:solidFill>
                <a:srgbClr val="0000FF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42551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2086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4776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7693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5150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Need less data!!!!!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83487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TW" sz="1200" dirty="0">
                <a:solidFill>
                  <a:schemeClr val="bg1"/>
                </a:solidFill>
              </a:rPr>
              <a:t>The techniques people did not know in 1980s. 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7014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今年四月的 </a:t>
            </a:r>
            <a:r>
              <a:rPr lang="en-US" altLang="zh-TW" dirty="0"/>
              <a:t>GTC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7829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Last one is on training set</a:t>
            </a:r>
            <a:endParaRPr lang="zh-TW" altLang="en-US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Sometimes students ask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4128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Parametric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ReLU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-&gt;</a:t>
            </a:r>
            <a:r>
              <a:rPr lang="en-US" altLang="zh-TW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PReLU</a:t>
            </a:r>
            <a:endParaRPr lang="en-US" altLang="zh-TW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Ref: </a:t>
            </a:r>
            <a:r>
              <a:rPr lang="en-US" altLang="zh-TW" dirty="0" err="1">
                <a:solidFill>
                  <a:srgbClr val="222222"/>
                </a:solidFill>
                <a:latin typeface="Arial" panose="020B0604020202020204" pitchFamily="34" charset="0"/>
              </a:rPr>
              <a:t>Glorot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, Xavier, Antoine </a:t>
            </a:r>
            <a:r>
              <a:rPr lang="en-US" altLang="zh-TW" dirty="0" err="1">
                <a:solidFill>
                  <a:srgbClr val="222222"/>
                </a:solidFill>
                <a:latin typeface="Arial" panose="020B0604020202020204" pitchFamily="34" charset="0"/>
              </a:rPr>
              <a:t>Bordes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, and </a:t>
            </a:r>
            <a:r>
              <a:rPr lang="en-US" altLang="zh-TW" dirty="0" err="1">
                <a:solidFill>
                  <a:srgbClr val="222222"/>
                </a:solidFill>
                <a:latin typeface="Arial" panose="020B0604020202020204" pitchFamily="34" charset="0"/>
              </a:rPr>
              <a:t>Yoshua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dirty="0" err="1">
                <a:solidFill>
                  <a:srgbClr val="222222"/>
                </a:solidFill>
                <a:latin typeface="Arial" panose="020B0604020202020204" pitchFamily="34" charset="0"/>
              </a:rPr>
              <a:t>Bengio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. "Deep sparse rectifier neural networks." </a:t>
            </a:r>
            <a:r>
              <a:rPr lang="en-US" altLang="zh-TW" i="1" dirty="0">
                <a:solidFill>
                  <a:srgbClr val="222222"/>
                </a:solidFill>
                <a:latin typeface="Arial" panose="020B0604020202020204" pitchFamily="34" charset="0"/>
              </a:rPr>
              <a:t>International Conference on Artificial Intelligence and Statistics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. 2011.</a:t>
            </a:r>
            <a:endParaRPr lang="zh-TW" altLang="en-US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No </a:t>
            </a:r>
            <a:r>
              <a:rPr lang="en-US" altLang="zh-TW" dirty="0" err="1"/>
              <a:t>differentailalbe</a:t>
            </a:r>
            <a:r>
              <a:rPr lang="en-US" altLang="zh-TW" dirty="0"/>
              <a:t> how about 0</a:t>
            </a:r>
          </a:p>
          <a:p>
            <a:endParaRPr lang="en-US" altLang="zh-TW" dirty="0"/>
          </a:p>
          <a:p>
            <a:r>
              <a:rPr lang="en-US" altLang="zh-TW" dirty="0"/>
              <a:t>Benefit:</a:t>
            </a:r>
            <a:endParaRPr lang="en-US" altLang="zh-TW" baseline="0" dirty="0"/>
          </a:p>
          <a:p>
            <a:r>
              <a:rPr lang="en-US" altLang="zh-TW" baseline="0" dirty="0"/>
              <a:t>2011</a:t>
            </a:r>
          </a:p>
          <a:p>
            <a:r>
              <a:rPr lang="en-US" altLang="zh-TW" baseline="0" dirty="0"/>
              <a:t>Where does it come from?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aseline="0" dirty="0"/>
              <a:t>	fast to compute</a:t>
            </a:r>
          </a:p>
          <a:p>
            <a:r>
              <a:rPr lang="en-US" altLang="zh-TW" baseline="0" dirty="0"/>
              <a:t>	biology?</a:t>
            </a:r>
          </a:p>
          <a:p>
            <a:r>
              <a:rPr lang="en-US" altLang="zh-TW" baseline="0" dirty="0"/>
              <a:t>	many sigmoid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1003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n-US" altLang="zh-TW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problem of gradient vanish is very hard to explain ……………….!!!!!!!!!!!!!!!!!!!!!!!!!!!!!!!!!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 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Gradient flow in recurrent nets: the difficulty of learning long-term dependencies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by Sepp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Hochreiter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Yoshua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Bengio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Paolo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Frasconi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Jürgen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Schmidhuber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(2001). This paper studied recurrent neural nets, but the essential phenomenon is the same as in the feedforward networks we are studying. See also Sepp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Hochreiter's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earlier Diploma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Thesis,</a:t>
            </a:r>
            <a:r>
              <a:rPr lang="en-US" altLang="zh-TW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Untersuchungen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</a:t>
            </a:r>
            <a:r>
              <a:rPr lang="en-US" altLang="zh-TW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zu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</a:t>
            </a:r>
            <a:r>
              <a:rPr lang="en-US" altLang="zh-TW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dynamischen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</a:t>
            </a:r>
            <a:r>
              <a:rPr lang="en-US" altLang="zh-TW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neuronalen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</a:t>
            </a:r>
            <a:r>
              <a:rPr lang="en-US" altLang="zh-TW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Netzen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(1991, in German).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Stuck</a:t>
            </a:r>
            <a:r>
              <a:rPr lang="en-US" altLang="zh-TW" baseline="0" dirty="0"/>
              <a:t> at a bad local minima</a:t>
            </a:r>
          </a:p>
          <a:p>
            <a:endParaRPr lang="en-US" altLang="zh-TW" baseline="0" dirty="0"/>
          </a:p>
          <a:p>
            <a:r>
              <a:rPr lang="en-US" altLang="zh-TW" baseline="0" dirty="0"/>
              <a:t>When deep learning is difficult in early year</a:t>
            </a:r>
          </a:p>
          <a:p>
            <a:r>
              <a:rPr lang="en-US" altLang="zh-TW" baseline="0" dirty="0"/>
              <a:t>Need initialization</a:t>
            </a:r>
          </a:p>
          <a:p>
            <a:endParaRPr lang="en-US" altLang="zh-TW" baseline="0" dirty="0"/>
          </a:p>
          <a:p>
            <a:r>
              <a:rPr lang="en-US" altLang="zh-TW" baseline="0" dirty="0"/>
              <a:t>Another point of view</a:t>
            </a:r>
          </a:p>
          <a:p>
            <a:r>
              <a:rPr lang="en-US" altLang="zh-TW" baseline="0" dirty="0"/>
              <a:t>Definition of gradient</a:t>
            </a:r>
          </a:p>
          <a:p>
            <a:endParaRPr lang="en-US" altLang="zh-TW" baseline="0" dirty="0"/>
          </a:p>
          <a:p>
            <a:endParaRPr lang="en-US" altLang="zh-TW" baseline="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3611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rgbClr val="0000FF"/>
                </a:solidFill>
              </a:rPr>
              <a:t>How to train?</a:t>
            </a:r>
            <a:r>
              <a:rPr lang="zh-TW" altLang="en-US" sz="1200" baseline="0" dirty="0">
                <a:solidFill>
                  <a:schemeClr val="tx1"/>
                </a:solidFill>
              </a:rPr>
              <a:t> </a:t>
            </a:r>
            <a:r>
              <a:rPr lang="en-US" altLang="zh-TW" sz="1200" baseline="0" dirty="0">
                <a:solidFill>
                  <a:schemeClr val="tx1"/>
                </a:solidFill>
              </a:rPr>
              <a:t>Latter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aseline="0" dirty="0">
              <a:solidFill>
                <a:schemeClr val="tx1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aseline="0" dirty="0">
                <a:solidFill>
                  <a:schemeClr val="tx1"/>
                </a:solidFill>
              </a:rPr>
              <a:t>2013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Ian J. Goodfellow goodfeli@iro.umontreal.ca David </a:t>
            </a:r>
            <a:r>
              <a:rPr lang="en-US" altLang="zh-TW" dirty="0" err="1"/>
              <a:t>Warde</a:t>
            </a:r>
            <a:r>
              <a:rPr lang="en-US" altLang="zh-TW" dirty="0"/>
              <a:t>-Farley wardefar@iro.umontreal.ca Mehdi Mirza mirzamom@iro.umontreal.ca Aaron </a:t>
            </a:r>
            <a:r>
              <a:rPr lang="en-US" altLang="zh-TW" dirty="0" err="1"/>
              <a:t>Courville</a:t>
            </a:r>
            <a:r>
              <a:rPr lang="en-US" altLang="zh-TW" dirty="0"/>
              <a:t> aaron.courville@umontreal.ca </a:t>
            </a:r>
            <a:r>
              <a:rPr lang="en-US" altLang="zh-TW" dirty="0" err="1"/>
              <a:t>Yoshua</a:t>
            </a:r>
            <a:r>
              <a:rPr lang="en-US" altLang="zh-TW" dirty="0"/>
              <a:t> </a:t>
            </a:r>
            <a:r>
              <a:rPr lang="en-US" altLang="zh-TW" dirty="0" err="1"/>
              <a:t>Bengio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92191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3,4,5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8623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1" i="1" u="sng" dirty="0"/>
              <a:t>反差</a:t>
            </a:r>
            <a:endParaRPr lang="en-US" altLang="zh-TW" b="1" i="1" u="sng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http://seed.ucsd.edu/mediawiki/images/6/6a/Adagrad.pdf</a:t>
            </a:r>
          </a:p>
          <a:p>
            <a:r>
              <a:rPr lang="en-US" altLang="zh-TW" dirty="0"/>
              <a:t>http://courses.cs.washington.edu/courses/cse547/15sp/slides/adagrad.pdf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4201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Ada delta: http://www.matthewzeiler.com/pubs/googleTR2012/googleTR2012.pdf</a:t>
            </a:r>
          </a:p>
          <a:p>
            <a:pPr lvl="1"/>
            <a:endParaRPr lang="en-US" altLang="zh-TW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Adam:</a:t>
            </a:r>
            <a:r>
              <a:rPr lang="en-US" altLang="zh-TW" baseline="0" dirty="0"/>
              <a:t> </a:t>
            </a:r>
            <a:r>
              <a:rPr lang="en-US" altLang="zh-TW" dirty="0"/>
              <a:t>http://arxiv.org/pdf/1412.6980.pdf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en-US" altLang="zh-TW" dirty="0" err="1"/>
              <a:t>AdaSecant</a:t>
            </a:r>
            <a:endParaRPr lang="en-US" altLang="zh-TW" dirty="0"/>
          </a:p>
          <a:p>
            <a:pPr lvl="1"/>
            <a:r>
              <a:rPr lang="en-US" altLang="zh-TW" dirty="0"/>
              <a:t>http://arxiv.org/pdf/1412.7419v4.pdf</a:t>
            </a:r>
          </a:p>
          <a:p>
            <a:r>
              <a:rPr lang="en-US" altLang="zh-TW" dirty="0"/>
              <a:t>“No more pesky learning rates”</a:t>
            </a:r>
          </a:p>
          <a:p>
            <a:pPr lvl="1"/>
            <a:r>
              <a:rPr lang="en-US" altLang="zh-TW" dirty="0"/>
              <a:t>http://arxiv.org/pdf/1206.1106.pdf</a:t>
            </a:r>
            <a:endParaRPr lang="zh-TW" altLang="en-US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en-US" altLang="zh-TW" dirty="0" err="1"/>
              <a:t>Adasecodn</a:t>
            </a:r>
            <a:r>
              <a:rPr lang="en-US" altLang="zh-TW" dirty="0"/>
              <a:t>: </a:t>
            </a:r>
            <a:r>
              <a:rPr lang="en-US" altLang="zh-TW" dirty="0" err="1"/>
              <a:t>Yoshua</a:t>
            </a:r>
            <a:r>
              <a:rPr lang="en-US" altLang="zh-TW" dirty="0"/>
              <a:t> </a:t>
            </a:r>
            <a:r>
              <a:rPr lang="en-US" altLang="zh-TW" dirty="0" err="1"/>
              <a:t>Bengio</a:t>
            </a:r>
            <a:r>
              <a:rPr lang="en-US" altLang="zh-TW" dirty="0"/>
              <a:t> </a:t>
            </a:r>
          </a:p>
          <a:p>
            <a:r>
              <a:rPr lang="en-US" altLang="zh-TW" dirty="0"/>
              <a:t>No learning rate: Yann </a:t>
            </a:r>
            <a:r>
              <a:rPr lang="en-US" altLang="zh-TW" dirty="0" err="1"/>
              <a:t>LeCun</a:t>
            </a:r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r>
              <a:rPr lang="en-US" altLang="zh-TW" dirty="0"/>
              <a:t>SECANT: sec</a:t>
            </a:r>
            <a:r>
              <a:rPr lang="zh-TW" altLang="en-US" dirty="0"/>
              <a:t> </a:t>
            </a:r>
            <a:r>
              <a:rPr lang="en-US" altLang="zh-TW" dirty="0"/>
              <a:t>(not mentioned)</a:t>
            </a:r>
          </a:p>
          <a:p>
            <a:r>
              <a:rPr lang="en-US" altLang="zh-TW" dirty="0"/>
              <a:t>http://arxiv.org/pdf/1412.7419v4.pdf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1469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Iteration</a:t>
            </a:r>
            <a:r>
              <a:rPr lang="en-US" altLang="zh-TW" baseline="0" dirty="0"/>
              <a:t> </a:t>
            </a:r>
            <a:r>
              <a:rPr lang="en-US" altLang="zh-TW" baseline="0" dirty="0" err="1"/>
              <a:t>v.s</a:t>
            </a:r>
            <a:r>
              <a:rPr lang="en-US" altLang="zh-TW" baseline="0" dirty="0"/>
              <a:t>. epoch!!!!!!!!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1710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Do not worry that someone</a:t>
            </a:r>
            <a:r>
              <a:rPr lang="en-US" altLang="zh-TW" baseline="0" dirty="0"/>
              <a:t> will not update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5174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Bias do not have to multiply !!!!!!!!!!!!!!!!!!!!!!!!!!!!!!!!!!!</a:t>
            </a:r>
          </a:p>
          <a:p>
            <a:r>
              <a:rPr lang="en-US" altLang="zh-TW" dirty="0"/>
              <a:t>Reasonable !!!!!!!!!!!!!!!!!!!!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0140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Why the weights should multiply p (dropout rate) at testing?</a:t>
            </a:r>
            <a:endParaRPr lang="zh-TW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0116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i="1" dirty="0">
                    <a:latin typeface="Cambria Math" panose="02040503050406030204" pitchFamily="18" charset="0"/>
                  </a:rPr>
                  <a:t>important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i="1" dirty="0">
                  <a:latin typeface="Cambria Math" panose="02040503050406030204" pitchFamily="18" charset="0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TW" altLang="en-US" sz="120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i="0" smtClean="0">
                    <a:latin typeface="Cambria Math" panose="02040503050406030204" pitchFamily="18" charset="0"/>
                  </a:rPr>
                  <a:t>𝑧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=∑▒〖𝑤_𝑖 𝑎_𝑖 〗</a:t>
                </a:r>
                <a:endParaRPr lang="zh-TW" altLang="en-US" sz="1200" dirty="0"/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603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7652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0,0 -&gt; 0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1,0 -&gt; 1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0,-1 -&gt;</a:t>
            </a:r>
            <a:r>
              <a:rPr lang="zh-TW" altLang="en-US" sz="1200" baseline="0" dirty="0"/>
              <a:t> </a:t>
            </a:r>
            <a:r>
              <a:rPr lang="en-US" altLang="zh-TW" sz="1200" baseline="0" dirty="0"/>
              <a:t>-2</a:t>
            </a: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1,-1 -&gt; -1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½, -1/2 -&gt; -0.5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1,2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Geometric Mean?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0613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3535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Not just process,</a:t>
            </a:r>
            <a:r>
              <a:rPr lang="en-US" altLang="zh-TW" baseline="0" dirty="0"/>
              <a:t> but memory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1168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DNN: input and output are both vector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0632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93226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General idea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5227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General idea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1472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To determine </a:t>
            </a:r>
            <a:r>
              <a:rPr lang="en-US" altLang="zh-TW" dirty="0" err="1"/>
              <a:t>yi</a:t>
            </a:r>
            <a:r>
              <a:rPr lang="en-US" altLang="zh-TW" dirty="0"/>
              <a:t>, you have to consider a lot ……</a:t>
            </a:r>
          </a:p>
          <a:p>
            <a:endParaRPr lang="en-US" altLang="zh-TW" dirty="0"/>
          </a:p>
          <a:p>
            <a:r>
              <a:rPr lang="en-US" altLang="zh-TW" dirty="0"/>
              <a:t>You should see</a:t>
            </a:r>
            <a:r>
              <a:rPr lang="en-US" altLang="zh-TW" baseline="0" dirty="0"/>
              <a:t> the whole sequence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2763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sure you know how to do it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author: 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Adam Coates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Baidu, Inc. </a:t>
            </a:r>
            <a:endParaRPr lang="en-US" altLang="zh-TW" dirty="0"/>
          </a:p>
          <a:p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Learning (hopefully faster)</a:t>
            </a:r>
          </a:p>
          <a:p>
            <a:endParaRPr lang="en-US" altLang="zh-TW" dirty="0"/>
          </a:p>
          <a:p>
            <a:r>
              <a:rPr lang="en-US" altLang="zh-TW" dirty="0"/>
              <a:t>http://videolectures.net/deeplearning2015_coates_deep_learning/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69973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60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46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264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59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40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526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08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013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4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881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27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A1796-FE4F-4CE2-AA60-E861BA6E0949}" type="datetimeFigureOut">
              <a:rPr lang="zh-TW" altLang="en-US" smtClean="0"/>
              <a:t>2016/5/2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4186D-8EEA-426C-9630-B8182DA83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94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6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9.bin"/><Relationship Id="rId10" Type="http://schemas.openxmlformats.org/officeDocument/2006/relationships/oleObject" Target="../embeddings/oleObject13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1.wmf"/><Relationship Id="rId4" Type="http://schemas.openxmlformats.org/officeDocument/2006/relationships/image" Target="../media/image18.png"/><Relationship Id="rId9" Type="http://schemas.openxmlformats.org/officeDocument/2006/relationships/oleObject" Target="../embeddings/oleObject2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11" Type="http://schemas.openxmlformats.org/officeDocument/2006/relationships/image" Target="../media/image610.png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1.wmf"/><Relationship Id="rId4" Type="http://schemas.openxmlformats.org/officeDocument/2006/relationships/image" Target="../media/image18.png"/><Relationship Id="rId9" Type="http://schemas.openxmlformats.org/officeDocument/2006/relationships/oleObject" Target="../embeddings/oleObject31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28.wmf"/><Relationship Id="rId26" Type="http://schemas.openxmlformats.org/officeDocument/2006/relationships/image" Target="../media/image32.wmf"/><Relationship Id="rId3" Type="http://schemas.openxmlformats.org/officeDocument/2006/relationships/notesSlide" Target="../notesSlides/notesSlide8.xml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png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31.wmf"/><Relationship Id="rId5" Type="http://schemas.openxmlformats.org/officeDocument/2006/relationships/image" Target="../media/image22.wmf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28" Type="http://schemas.openxmlformats.org/officeDocument/2006/relationships/image" Target="../media/image33.wmf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39.bin"/><Relationship Id="rId4" Type="http://schemas.openxmlformats.org/officeDocument/2006/relationships/oleObject" Target="../embeddings/oleObject32.bin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6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4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34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37.wmf"/><Relationship Id="rId4" Type="http://schemas.openxmlformats.org/officeDocument/2006/relationships/image" Target="../media/image38.png"/><Relationship Id="rId9" Type="http://schemas.openxmlformats.org/officeDocument/2006/relationships/oleObject" Target="../embeddings/oleObject49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3.png"/><Relationship Id="rId14" Type="http://schemas.openxmlformats.org/officeDocument/2006/relationships/image" Target="../media/image22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33.png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11" Type="http://schemas.openxmlformats.org/officeDocument/2006/relationships/image" Target="../media/image31.png"/><Relationship Id="rId5" Type="http://schemas.openxmlformats.org/officeDocument/2006/relationships/oleObject" Target="../embeddings/oleObject50.bin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8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0.wmf"/><Relationship Id="rId12" Type="http://schemas.openxmlformats.org/officeDocument/2006/relationships/image" Target="../media/image38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37.png"/><Relationship Id="rId5" Type="http://schemas.openxmlformats.org/officeDocument/2006/relationships/image" Target="../media/image19.wmf"/><Relationship Id="rId10" Type="http://schemas.openxmlformats.org/officeDocument/2006/relationships/image" Target="../media/image36.png"/><Relationship Id="rId4" Type="http://schemas.openxmlformats.org/officeDocument/2006/relationships/oleObject" Target="../embeddings/oleObject52.bin"/><Relationship Id="rId9" Type="http://schemas.openxmlformats.org/officeDocument/2006/relationships/image" Target="../media/image34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42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9.wmf"/><Relationship Id="rId12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34.wmf"/><Relationship Id="rId5" Type="http://schemas.openxmlformats.org/officeDocument/2006/relationships/image" Target="../media/image40.png"/><Relationship Id="rId10" Type="http://schemas.openxmlformats.org/officeDocument/2006/relationships/oleObject" Target="../embeddings/oleObject57.bin"/><Relationship Id="rId4" Type="http://schemas.openxmlformats.org/officeDocument/2006/relationships/image" Target="../media/image39.png"/><Relationship Id="rId9" Type="http://schemas.openxmlformats.org/officeDocument/2006/relationships/image" Target="../media/image20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65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6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6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74.bin"/><Relationship Id="rId26" Type="http://schemas.openxmlformats.org/officeDocument/2006/relationships/oleObject" Target="../embeddings/oleObject78.bin"/><Relationship Id="rId3" Type="http://schemas.openxmlformats.org/officeDocument/2006/relationships/notesSlide" Target="../notesSlides/notesSlide16.xml"/><Relationship Id="rId21" Type="http://schemas.openxmlformats.org/officeDocument/2006/relationships/image" Target="../media/image58.wmf"/><Relationship Id="rId34" Type="http://schemas.openxmlformats.org/officeDocument/2006/relationships/image" Target="../media/image144.png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56.wmf"/><Relationship Id="rId25" Type="http://schemas.openxmlformats.org/officeDocument/2006/relationships/image" Target="../media/image59.wmf"/><Relationship Id="rId33" Type="http://schemas.openxmlformats.org/officeDocument/2006/relationships/image" Target="../media/image63.wmf"/><Relationship Id="rId38" Type="http://schemas.openxmlformats.org/officeDocument/2006/relationships/image" Target="../media/image6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29" Type="http://schemas.openxmlformats.org/officeDocument/2006/relationships/image" Target="../media/image61.wmf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53.wmf"/><Relationship Id="rId24" Type="http://schemas.openxmlformats.org/officeDocument/2006/relationships/oleObject" Target="../embeddings/oleObject77.bin"/><Relationship Id="rId32" Type="http://schemas.openxmlformats.org/officeDocument/2006/relationships/oleObject" Target="../embeddings/oleObject81.bin"/><Relationship Id="rId37" Type="http://schemas.openxmlformats.org/officeDocument/2006/relationships/oleObject" Target="../embeddings/oleObject83.bin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79.bin"/><Relationship Id="rId36" Type="http://schemas.openxmlformats.org/officeDocument/2006/relationships/image" Target="../media/image64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57.wmf"/><Relationship Id="rId31" Type="http://schemas.openxmlformats.org/officeDocument/2006/relationships/image" Target="../media/image62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Relationship Id="rId27" Type="http://schemas.openxmlformats.org/officeDocument/2006/relationships/image" Target="../media/image60.wmf"/><Relationship Id="rId30" Type="http://schemas.openxmlformats.org/officeDocument/2006/relationships/oleObject" Target="../embeddings/oleObject80.bin"/><Relationship Id="rId35" Type="http://schemas.openxmlformats.org/officeDocument/2006/relationships/oleObject" Target="../embeddings/oleObject82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71.png"/><Relationship Id="rId3" Type="http://schemas.openxmlformats.org/officeDocument/2006/relationships/image" Target="../media/image18.png"/><Relationship Id="rId7" Type="http://schemas.openxmlformats.org/officeDocument/2006/relationships/image" Target="../media/image20.wmf"/><Relationship Id="rId12" Type="http://schemas.openxmlformats.org/officeDocument/2006/relationships/image" Target="../media/image6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66.png"/><Relationship Id="rId5" Type="http://schemas.openxmlformats.org/officeDocument/2006/relationships/image" Target="../media/image19.wmf"/><Relationship Id="rId10" Type="http://schemas.openxmlformats.org/officeDocument/2006/relationships/image" Target="../media/image68.png"/><Relationship Id="rId4" Type="http://schemas.openxmlformats.org/officeDocument/2006/relationships/oleObject" Target="../embeddings/oleObject84.bin"/><Relationship Id="rId9" Type="http://schemas.openxmlformats.org/officeDocument/2006/relationships/image" Target="../media/image21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0.png"/><Relationship Id="rId7" Type="http://schemas.openxmlformats.org/officeDocument/2006/relationships/image" Target="../media/image7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0.wmf"/><Relationship Id="rId12" Type="http://schemas.openxmlformats.org/officeDocument/2006/relationships/image" Target="../media/image8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0.png"/><Relationship Id="rId5" Type="http://schemas.openxmlformats.org/officeDocument/2006/relationships/image" Target="../media/image19.wmf"/><Relationship Id="rId10" Type="http://schemas.openxmlformats.org/officeDocument/2006/relationships/image" Target="../media/image73.png"/><Relationship Id="rId4" Type="http://schemas.openxmlformats.org/officeDocument/2006/relationships/oleObject" Target="../embeddings/oleObject87.bin"/><Relationship Id="rId9" Type="http://schemas.openxmlformats.org/officeDocument/2006/relationships/image" Target="../media/image21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8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73.png"/><Relationship Id="rId5" Type="http://schemas.openxmlformats.org/officeDocument/2006/relationships/image" Target="../media/image84.png"/><Relationship Id="rId15" Type="http://schemas.openxmlformats.org/officeDocument/2006/relationships/image" Target="../media/image90.png"/><Relationship Id="rId10" Type="http://schemas.openxmlformats.org/officeDocument/2006/relationships/image" Target="../media/image72.png"/><Relationship Id="rId4" Type="http://schemas.openxmlformats.org/officeDocument/2006/relationships/image" Target="../media/image83.png"/><Relationship Id="rId9" Type="http://schemas.openxmlformats.org/officeDocument/2006/relationships/image" Target="../media/image70.png"/><Relationship Id="rId14" Type="http://schemas.openxmlformats.org/officeDocument/2006/relationships/image" Target="../media/image8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91.png"/><Relationship Id="rId3" Type="http://schemas.openxmlformats.org/officeDocument/2006/relationships/image" Target="../media/image7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98.png"/><Relationship Id="rId15" Type="http://schemas.openxmlformats.org/officeDocument/2006/relationships/image" Target="../media/image761.png"/><Relationship Id="rId10" Type="http://schemas.openxmlformats.org/officeDocument/2006/relationships/image" Target="../media/image97.png"/><Relationship Id="rId4" Type="http://schemas.openxmlformats.org/officeDocument/2006/relationships/image" Target="../media/image932.png"/><Relationship Id="rId9" Type="http://schemas.openxmlformats.org/officeDocument/2006/relationships/image" Target="../media/image96.png"/><Relationship Id="rId14" Type="http://schemas.openxmlformats.org/officeDocument/2006/relationships/image" Target="../media/image10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91.png"/><Relationship Id="rId18" Type="http://schemas.openxmlformats.org/officeDocument/2006/relationships/image" Target="../media/image105.png"/><Relationship Id="rId3" Type="http://schemas.openxmlformats.org/officeDocument/2006/relationships/image" Target="../media/image932.png"/><Relationship Id="rId21" Type="http://schemas.openxmlformats.org/officeDocument/2006/relationships/image" Target="../media/image94.png"/><Relationship Id="rId12" Type="http://schemas.openxmlformats.org/officeDocument/2006/relationships/image" Target="../media/image1001.png"/><Relationship Id="rId17" Type="http://schemas.openxmlformats.org/officeDocument/2006/relationships/image" Target="../media/image104.png"/><Relationship Id="rId2" Type="http://schemas.openxmlformats.org/officeDocument/2006/relationships/image" Target="../media/image78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5" Type="http://schemas.openxmlformats.org/officeDocument/2006/relationships/image" Target="../media/image1020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9" Type="http://schemas.openxmlformats.org/officeDocument/2006/relationships/image" Target="../media/image9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2.png"/><Relationship Id="rId18" Type="http://schemas.openxmlformats.org/officeDocument/2006/relationships/image" Target="../media/image124.png"/><Relationship Id="rId3" Type="http://schemas.openxmlformats.org/officeDocument/2006/relationships/image" Target="../media/image116.png"/><Relationship Id="rId7" Type="http://schemas.openxmlformats.org/officeDocument/2006/relationships/image" Target="../media/image69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0.png"/><Relationship Id="rId5" Type="http://schemas.openxmlformats.org/officeDocument/2006/relationships/image" Target="../media/image118.png"/><Relationship Id="rId15" Type="http://schemas.openxmlformats.org/officeDocument/2006/relationships/image" Target="../media/image760.png"/><Relationship Id="rId10" Type="http://schemas.openxmlformats.org/officeDocument/2006/relationships/image" Target="../media/image73.png"/><Relationship Id="rId19" Type="http://schemas.openxmlformats.org/officeDocument/2006/relationships/image" Target="../media/image127.png"/><Relationship Id="rId4" Type="http://schemas.openxmlformats.org/officeDocument/2006/relationships/image" Target="../media/image117.png"/><Relationship Id="rId9" Type="http://schemas.openxmlformats.org/officeDocument/2006/relationships/image" Target="../media/image72.png"/><Relationship Id="rId14" Type="http://schemas.openxmlformats.org/officeDocument/2006/relationships/image" Target="../media/image12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2.png"/><Relationship Id="rId18" Type="http://schemas.openxmlformats.org/officeDocument/2006/relationships/image" Target="../media/image1271.png"/><Relationship Id="rId3" Type="http://schemas.openxmlformats.org/officeDocument/2006/relationships/image" Target="../media/image116.png"/><Relationship Id="rId7" Type="http://schemas.openxmlformats.org/officeDocument/2006/relationships/image" Target="../media/image69.png"/><Relationship Id="rId12" Type="http://schemas.openxmlformats.org/officeDocument/2006/relationships/image" Target="../media/image1210.png"/><Relationship Id="rId17" Type="http://schemas.openxmlformats.org/officeDocument/2006/relationships/image" Target="../media/image126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0.png"/><Relationship Id="rId11" Type="http://schemas.openxmlformats.org/officeDocument/2006/relationships/image" Target="../media/image120.png"/><Relationship Id="rId5" Type="http://schemas.openxmlformats.org/officeDocument/2006/relationships/image" Target="../media/image118.png"/><Relationship Id="rId15" Type="http://schemas.openxmlformats.org/officeDocument/2006/relationships/image" Target="../media/image760.png"/><Relationship Id="rId10" Type="http://schemas.openxmlformats.org/officeDocument/2006/relationships/image" Target="../media/image73.png"/><Relationship Id="rId19" Type="http://schemas.openxmlformats.org/officeDocument/2006/relationships/image" Target="../media/image1280.png"/><Relationship Id="rId4" Type="http://schemas.openxmlformats.org/officeDocument/2006/relationships/image" Target="../media/image1170.png"/><Relationship Id="rId9" Type="http://schemas.openxmlformats.org/officeDocument/2006/relationships/image" Target="../media/image72.png"/><Relationship Id="rId14" Type="http://schemas.openxmlformats.org/officeDocument/2006/relationships/image" Target="../media/image123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132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92.bin"/><Relationship Id="rId11" Type="http://schemas.openxmlformats.org/officeDocument/2006/relationships/oleObject" Target="../embeddings/oleObject95.bin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33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98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34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image" Target="../media/image134.png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41.png"/><Relationship Id="rId5" Type="http://schemas.openxmlformats.org/officeDocument/2006/relationships/image" Target="../media/image19.wmf"/><Relationship Id="rId10" Type="http://schemas.openxmlformats.org/officeDocument/2006/relationships/image" Target="../media/image140.png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34.w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1" Type="http://schemas.openxmlformats.org/officeDocument/2006/relationships/image" Target="../media/image951.png"/><Relationship Id="rId2" Type="http://schemas.openxmlformats.org/officeDocument/2006/relationships/notesSlide" Target="../notesSlides/notesSlide36.xml"/><Relationship Id="rId20" Type="http://schemas.openxmlformats.org/officeDocument/2006/relationships/image" Target="../media/image941.png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240.png"/><Relationship Id="rId19" Type="http://schemas.openxmlformats.org/officeDocument/2006/relationships/image" Target="../media/image931.png"/><Relationship Id="rId22" Type="http://schemas.openxmlformats.org/officeDocument/2006/relationships/image" Target="../media/image961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34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1310.png"/><Relationship Id="rId3" Type="http://schemas.openxmlformats.org/officeDocument/2006/relationships/oleObject" Target="../embeddings/oleObject106.bin"/><Relationship Id="rId21" Type="http://schemas.openxmlformats.org/officeDocument/2006/relationships/image" Target="../media/image136.png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300.png"/><Relationship Id="rId17" Type="http://schemas.openxmlformats.org/officeDocument/2006/relationships/image" Target="../media/image14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9.png"/><Relationship Id="rId20" Type="http://schemas.openxmlformats.org/officeDocument/2006/relationships/image" Target="../media/image143.png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.wmf"/><Relationship Id="rId11" Type="http://schemas.openxmlformats.org/officeDocument/2006/relationships/image" Target="../media/image1290.png"/><Relationship Id="rId5" Type="http://schemas.openxmlformats.org/officeDocument/2006/relationships/oleObject" Target="../embeddings/oleObject107.bin"/><Relationship Id="rId15" Type="http://schemas.openxmlformats.org/officeDocument/2006/relationships/image" Target="../media/image133.png"/><Relationship Id="rId10" Type="http://schemas.openxmlformats.org/officeDocument/2006/relationships/image" Target="../media/image1280.png"/><Relationship Id="rId19" Type="http://schemas.openxmlformats.org/officeDocument/2006/relationships/image" Target="../media/image1370.png"/><Relationship Id="rId4" Type="http://schemas.openxmlformats.org/officeDocument/2006/relationships/image" Target="../media/image19.wmf"/><Relationship Id="rId9" Type="http://schemas.openxmlformats.org/officeDocument/2006/relationships/image" Target="../media/image1270.png"/><Relationship Id="rId14" Type="http://schemas.openxmlformats.org/officeDocument/2006/relationships/image" Target="../media/image132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oleObject" Target="../embeddings/oleObject109.bin"/><Relationship Id="rId21" Type="http://schemas.openxmlformats.org/officeDocument/2006/relationships/image" Target="../media/image951.png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20" Type="http://schemas.openxmlformats.org/officeDocument/2006/relationships/image" Target="../media/image941.png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138.wmf"/><Relationship Id="rId19" Type="http://schemas.openxmlformats.org/officeDocument/2006/relationships/image" Target="../media/image931.png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12.bin"/><Relationship Id="rId22" Type="http://schemas.openxmlformats.org/officeDocument/2006/relationships/image" Target="../media/image961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oleObject" Target="../embeddings/oleObject113.bin"/><Relationship Id="rId21" Type="http://schemas.openxmlformats.org/officeDocument/2006/relationships/image" Target="../media/image951.png"/><Relationship Id="rId7" Type="http://schemas.openxmlformats.org/officeDocument/2006/relationships/oleObject" Target="../embeddings/oleObject115.bin"/><Relationship Id="rId2" Type="http://schemas.openxmlformats.org/officeDocument/2006/relationships/slideLayout" Target="../slideLayouts/slideLayout2.xml"/><Relationship Id="rId20" Type="http://schemas.openxmlformats.org/officeDocument/2006/relationships/image" Target="../media/image941.png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138.wmf"/><Relationship Id="rId19" Type="http://schemas.openxmlformats.org/officeDocument/2006/relationships/image" Target="../media/image931.png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16.bin"/><Relationship Id="rId22" Type="http://schemas.openxmlformats.org/officeDocument/2006/relationships/image" Target="../media/image961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0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20.wmf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1.png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46.png"/><Relationship Id="rId5" Type="http://schemas.openxmlformats.org/officeDocument/2006/relationships/image" Target="../media/image19.wmf"/><Relationship Id="rId15" Type="http://schemas.openxmlformats.org/officeDocument/2006/relationships/image" Target="../media/image150.png"/><Relationship Id="rId10" Type="http://schemas.openxmlformats.org/officeDocument/2006/relationships/image" Target="../media/image1450.png"/><Relationship Id="rId19" Type="http://schemas.openxmlformats.org/officeDocument/2006/relationships/image" Target="../media/image156.png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430.png"/><Relationship Id="rId14" Type="http://schemas.openxmlformats.org/officeDocument/2006/relationships/image" Target="../media/image149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62.png"/><Relationship Id="rId7" Type="http://schemas.openxmlformats.org/officeDocument/2006/relationships/image" Target="../media/image16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9" Type="http://schemas.openxmlformats.org/officeDocument/2006/relationships/image" Target="../media/image165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62.png"/><Relationship Id="rId7" Type="http://schemas.openxmlformats.org/officeDocument/2006/relationships/image" Target="../media/image16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9" Type="http://schemas.openxmlformats.org/officeDocument/2006/relationships/image" Target="../media/image16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3" Type="http://schemas.openxmlformats.org/officeDocument/2006/relationships/image" Target="../media/image159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1.png"/><Relationship Id="rId10" Type="http://schemas.openxmlformats.org/officeDocument/2006/relationships/image" Target="../media/image171.png"/><Relationship Id="rId4" Type="http://schemas.openxmlformats.org/officeDocument/2006/relationships/image" Target="../media/image160.png"/><Relationship Id="rId9" Type="http://schemas.openxmlformats.org/officeDocument/2006/relationships/image" Target="../media/image170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0.png"/><Relationship Id="rId13" Type="http://schemas.openxmlformats.org/officeDocument/2006/relationships/image" Target="../media/image920.png"/><Relationship Id="rId18" Type="http://schemas.openxmlformats.org/officeDocument/2006/relationships/image" Target="../media/image228.png"/><Relationship Id="rId3" Type="http://schemas.openxmlformats.org/officeDocument/2006/relationships/image" Target="../media/image820.png"/><Relationship Id="rId7" Type="http://schemas.openxmlformats.org/officeDocument/2006/relationships/image" Target="../media/image860.png"/><Relationship Id="rId12" Type="http://schemas.openxmlformats.org/officeDocument/2006/relationships/image" Target="../media/image910.png"/><Relationship Id="rId17" Type="http://schemas.openxmlformats.org/officeDocument/2006/relationships/image" Target="../media/image960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0.png"/><Relationship Id="rId11" Type="http://schemas.openxmlformats.org/officeDocument/2006/relationships/image" Target="../media/image900.png"/><Relationship Id="rId5" Type="http://schemas.openxmlformats.org/officeDocument/2006/relationships/image" Target="../media/image840.png"/><Relationship Id="rId15" Type="http://schemas.openxmlformats.org/officeDocument/2006/relationships/image" Target="../media/image940.png"/><Relationship Id="rId10" Type="http://schemas.openxmlformats.org/officeDocument/2006/relationships/image" Target="../media/image890.png"/><Relationship Id="rId4" Type="http://schemas.openxmlformats.org/officeDocument/2006/relationships/image" Target="../media/image830.png"/><Relationship Id="rId9" Type="http://schemas.openxmlformats.org/officeDocument/2006/relationships/image" Target="../media/image880.png"/><Relationship Id="rId14" Type="http://schemas.openxmlformats.org/officeDocument/2006/relationships/image" Target="../media/image930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46.wmf"/><Relationship Id="rId3" Type="http://schemas.openxmlformats.org/officeDocument/2006/relationships/notesSlide" Target="../notesSlides/notesSlide52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40.wmf"/><Relationship Id="rId5" Type="http://schemas.openxmlformats.org/officeDocument/2006/relationships/image" Target="../media/image19.wmf"/><Relationship Id="rId15" Type="http://schemas.openxmlformats.org/officeDocument/2006/relationships/image" Target="../media/image147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124.bin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notesSlide" Target="../notesSlides/notesSlide56.xml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40.wmf"/><Relationship Id="rId17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png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5" Type="http://schemas.openxmlformats.org/officeDocument/2006/relationships/image" Target="../media/image31.png"/><Relationship Id="rId10" Type="http://schemas.openxmlformats.org/officeDocument/2006/relationships/image" Target="../media/image39.wmf"/><Relationship Id="rId4" Type="http://schemas.openxmlformats.org/officeDocument/2006/relationships/image" Target="../media/image28.png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30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tishsrivastava/deepnet" TargetMode="External"/><Relationship Id="rId2" Type="http://schemas.openxmlformats.org/officeDocument/2006/relationships/hyperlink" Target="http://deeplearning.net/software/thean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ronan.collobert.com/senn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/>
          <a:lstStyle/>
          <a:p>
            <a:r>
              <a:rPr lang="en-US" altLang="he-IL" sz="3200"/>
              <a:t>Associative-Memory Networks</a:t>
            </a:r>
            <a:endParaRPr lang="en-US" altLang="he-IL"/>
          </a:p>
        </p:txBody>
      </p:sp>
      <p:sp>
        <p:nvSpPr>
          <p:cNvPr id="307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25146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he-IL" sz="2000"/>
              <a:t>Input: Pattern (often noisy/corrupted)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he-IL" sz="2000"/>
              <a:t>Output: Corresponding pattern (complete / relatively noise-free)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he-IL" sz="2000"/>
              <a:t>Process</a:t>
            </a:r>
          </a:p>
          <a:p>
            <a:pPr marL="990600" lvl="1" indent="-533400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he-IL" sz="2000"/>
              <a:t>Load input pattern onto core group of highly-interconnected neurons.</a:t>
            </a:r>
          </a:p>
          <a:p>
            <a:pPr marL="990600" lvl="1" indent="-533400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he-IL" sz="2000"/>
              <a:t>Run core neurons until they reach a steady state.</a:t>
            </a:r>
          </a:p>
          <a:p>
            <a:pPr marL="990600" lvl="1" indent="-533400">
              <a:lnSpc>
                <a:spcPct val="90000"/>
              </a:lnSpc>
              <a:buFont typeface="Times" panose="02020603050405020304" pitchFamily="18" charset="0"/>
              <a:buAutoNum type="arabicPeriod"/>
            </a:pPr>
            <a:r>
              <a:rPr lang="en-US" altLang="he-IL" sz="2000"/>
              <a:t>Read output off of the states of the core neurons.</a:t>
            </a:r>
            <a:endParaRPr lang="en-US" altLang="he-IL"/>
          </a:p>
        </p:txBody>
      </p:sp>
      <p:grpSp>
        <p:nvGrpSpPr>
          <p:cNvPr id="30815" name="Group 1119"/>
          <p:cNvGrpSpPr>
            <a:grpSpLocks/>
          </p:cNvGrpSpPr>
          <p:nvPr/>
        </p:nvGrpSpPr>
        <p:grpSpPr bwMode="auto">
          <a:xfrm>
            <a:off x="2590800" y="3581400"/>
            <a:ext cx="3651250" cy="762000"/>
            <a:chOff x="1296" y="2448"/>
            <a:chExt cx="2300" cy="480"/>
          </a:xfrm>
        </p:grpSpPr>
        <p:grpSp>
          <p:nvGrpSpPr>
            <p:cNvPr id="30724" name="Group 1028"/>
            <p:cNvGrpSpPr>
              <a:grpSpLocks/>
            </p:cNvGrpSpPr>
            <p:nvPr/>
          </p:nvGrpSpPr>
          <p:grpSpPr bwMode="auto">
            <a:xfrm>
              <a:off x="2208" y="2448"/>
              <a:ext cx="384" cy="336"/>
              <a:chOff x="4656" y="912"/>
              <a:chExt cx="384" cy="336"/>
            </a:xfrm>
          </p:grpSpPr>
          <p:sp>
            <p:nvSpPr>
              <p:cNvPr id="30725" name="Oval 1029"/>
              <p:cNvSpPr>
                <a:spLocks noChangeArrowheads="1"/>
              </p:cNvSpPr>
              <p:nvPr/>
            </p:nvSpPr>
            <p:spPr bwMode="auto">
              <a:xfrm>
                <a:off x="4656" y="960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26" name="Oval 1030"/>
              <p:cNvSpPr>
                <a:spLocks noChangeArrowheads="1"/>
              </p:cNvSpPr>
              <p:nvPr/>
            </p:nvSpPr>
            <p:spPr bwMode="auto">
              <a:xfrm>
                <a:off x="4656" y="110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27" name="Oval 1031"/>
              <p:cNvSpPr>
                <a:spLocks noChangeArrowheads="1"/>
              </p:cNvSpPr>
              <p:nvPr/>
            </p:nvSpPr>
            <p:spPr bwMode="auto">
              <a:xfrm>
                <a:off x="4848" y="1200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28" name="Oval 1032"/>
              <p:cNvSpPr>
                <a:spLocks noChangeArrowheads="1"/>
              </p:cNvSpPr>
              <p:nvPr/>
            </p:nvSpPr>
            <p:spPr bwMode="auto">
              <a:xfrm>
                <a:off x="4992" y="110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29" name="Oval 1033"/>
              <p:cNvSpPr>
                <a:spLocks noChangeArrowheads="1"/>
              </p:cNvSpPr>
              <p:nvPr/>
            </p:nvSpPr>
            <p:spPr bwMode="auto">
              <a:xfrm>
                <a:off x="4896" y="912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0" name="Line 1034"/>
              <p:cNvSpPr>
                <a:spLocks noChangeShapeType="1"/>
              </p:cNvSpPr>
              <p:nvPr/>
            </p:nvSpPr>
            <p:spPr bwMode="auto">
              <a:xfrm flipV="1">
                <a:off x="4896" y="960"/>
                <a:ext cx="48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1" name="Line 1035"/>
              <p:cNvSpPr>
                <a:spLocks noChangeShapeType="1"/>
              </p:cNvSpPr>
              <p:nvPr/>
            </p:nvSpPr>
            <p:spPr bwMode="auto">
              <a:xfrm flipV="1">
                <a:off x="4704" y="100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2" name="Line 1036"/>
              <p:cNvSpPr>
                <a:spLocks noChangeShapeType="1"/>
              </p:cNvSpPr>
              <p:nvPr/>
            </p:nvSpPr>
            <p:spPr bwMode="auto">
              <a:xfrm flipH="1" flipV="1">
                <a:off x="4704" y="960"/>
                <a:ext cx="144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3" name="Line 1037"/>
              <p:cNvSpPr>
                <a:spLocks noChangeShapeType="1"/>
              </p:cNvSpPr>
              <p:nvPr/>
            </p:nvSpPr>
            <p:spPr bwMode="auto">
              <a:xfrm flipV="1">
                <a:off x="4896" y="1104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4" name="Line 1038"/>
              <p:cNvSpPr>
                <a:spLocks noChangeShapeType="1"/>
              </p:cNvSpPr>
              <p:nvPr/>
            </p:nvSpPr>
            <p:spPr bwMode="auto">
              <a:xfrm flipH="1" flipV="1">
                <a:off x="4944" y="960"/>
                <a:ext cx="96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5" name="Line 1039"/>
              <p:cNvSpPr>
                <a:spLocks noChangeShapeType="1"/>
              </p:cNvSpPr>
              <p:nvPr/>
            </p:nvSpPr>
            <p:spPr bwMode="auto">
              <a:xfrm flipV="1">
                <a:off x="4704" y="960"/>
                <a:ext cx="192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6" name="Line 1040"/>
              <p:cNvSpPr>
                <a:spLocks noChangeShapeType="1"/>
              </p:cNvSpPr>
              <p:nvPr/>
            </p:nvSpPr>
            <p:spPr bwMode="auto">
              <a:xfrm flipV="1">
                <a:off x="4704" y="960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7" name="Line 1041"/>
              <p:cNvSpPr>
                <a:spLocks noChangeShapeType="1"/>
              </p:cNvSpPr>
              <p:nvPr/>
            </p:nvSpPr>
            <p:spPr bwMode="auto">
              <a:xfrm>
                <a:off x="4704" y="1104"/>
                <a:ext cx="28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8" name="Line 1042"/>
              <p:cNvSpPr>
                <a:spLocks noChangeShapeType="1"/>
              </p:cNvSpPr>
              <p:nvPr/>
            </p:nvSpPr>
            <p:spPr bwMode="auto">
              <a:xfrm flipH="1" flipV="1">
                <a:off x="4704" y="960"/>
                <a:ext cx="336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0739" name="Line 1043"/>
              <p:cNvSpPr>
                <a:spLocks noChangeShapeType="1"/>
              </p:cNvSpPr>
              <p:nvPr/>
            </p:nvSpPr>
            <p:spPr bwMode="auto">
              <a:xfrm flipH="1" flipV="1">
                <a:off x="4704" y="1104"/>
                <a:ext cx="14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sp>
          <p:nvSpPr>
            <p:cNvPr id="30740" name="Text Box 1044"/>
            <p:cNvSpPr txBox="1">
              <a:spLocks noChangeArrowheads="1"/>
            </p:cNvSpPr>
            <p:nvPr/>
          </p:nvSpPr>
          <p:spPr bwMode="auto">
            <a:xfrm>
              <a:off x="1296" y="2448"/>
              <a:ext cx="4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800"/>
                <a:t>Inputs</a:t>
              </a:r>
              <a:endParaRPr lang="en-US" altLang="he-IL"/>
            </a:p>
          </p:txBody>
        </p:sp>
        <p:sp>
          <p:nvSpPr>
            <p:cNvPr id="30741" name="Text Box 1045"/>
            <p:cNvSpPr txBox="1">
              <a:spLocks noChangeArrowheads="1"/>
            </p:cNvSpPr>
            <p:nvPr/>
          </p:nvSpPr>
          <p:spPr bwMode="auto">
            <a:xfrm>
              <a:off x="3024" y="2448"/>
              <a:ext cx="5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800"/>
                <a:t>Outputs</a:t>
              </a:r>
              <a:endParaRPr lang="en-US" altLang="he-IL"/>
            </a:p>
          </p:txBody>
        </p:sp>
        <p:sp>
          <p:nvSpPr>
            <p:cNvPr id="30742" name="Line 1046"/>
            <p:cNvSpPr>
              <a:spLocks noChangeShapeType="1"/>
            </p:cNvSpPr>
            <p:nvPr/>
          </p:nvSpPr>
          <p:spPr bwMode="auto">
            <a:xfrm>
              <a:off x="1824" y="259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43" name="Line 1047"/>
            <p:cNvSpPr>
              <a:spLocks noChangeShapeType="1"/>
            </p:cNvSpPr>
            <p:nvPr/>
          </p:nvSpPr>
          <p:spPr bwMode="auto">
            <a:xfrm>
              <a:off x="2640" y="259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44" name="Freeform 1048"/>
            <p:cNvSpPr>
              <a:spLocks/>
            </p:cNvSpPr>
            <p:nvPr/>
          </p:nvSpPr>
          <p:spPr bwMode="auto">
            <a:xfrm>
              <a:off x="2496" y="2784"/>
              <a:ext cx="240" cy="144"/>
            </a:xfrm>
            <a:custGeom>
              <a:avLst/>
              <a:gdLst>
                <a:gd name="T0" fmla="*/ 51 w 347"/>
                <a:gd name="T1" fmla="*/ 11 h 227"/>
                <a:gd name="T2" fmla="*/ 27 w 347"/>
                <a:gd name="T3" fmla="*/ 27 h 227"/>
                <a:gd name="T4" fmla="*/ 59 w 347"/>
                <a:gd name="T5" fmla="*/ 179 h 227"/>
                <a:gd name="T6" fmla="*/ 123 w 347"/>
                <a:gd name="T7" fmla="*/ 211 h 227"/>
                <a:gd name="T8" fmla="*/ 171 w 347"/>
                <a:gd name="T9" fmla="*/ 227 h 227"/>
                <a:gd name="T10" fmla="*/ 307 w 347"/>
                <a:gd name="T11" fmla="*/ 195 h 227"/>
                <a:gd name="T12" fmla="*/ 347 w 347"/>
                <a:gd name="T13" fmla="*/ 123 h 227"/>
                <a:gd name="T14" fmla="*/ 283 w 347"/>
                <a:gd name="T15" fmla="*/ 3 h 227"/>
                <a:gd name="T16" fmla="*/ 131 w 347"/>
                <a:gd name="T17" fmla="*/ 35 h 227"/>
                <a:gd name="T18" fmla="*/ 115 w 347"/>
                <a:gd name="T19" fmla="*/ 83 h 227"/>
                <a:gd name="T20" fmla="*/ 195 w 347"/>
                <a:gd name="T21" fmla="*/ 155 h 227"/>
                <a:gd name="T22" fmla="*/ 259 w 347"/>
                <a:gd name="T23" fmla="*/ 139 h 227"/>
                <a:gd name="T24" fmla="*/ 275 w 347"/>
                <a:gd name="T25" fmla="*/ 91 h 227"/>
                <a:gd name="T26" fmla="*/ 235 w 347"/>
                <a:gd name="T27" fmla="*/ 7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7" h="227">
                  <a:moveTo>
                    <a:pt x="51" y="11"/>
                  </a:moveTo>
                  <a:cubicBezTo>
                    <a:pt x="43" y="16"/>
                    <a:pt x="33" y="19"/>
                    <a:pt x="27" y="27"/>
                  </a:cubicBezTo>
                  <a:cubicBezTo>
                    <a:pt x="0" y="59"/>
                    <a:pt x="23" y="154"/>
                    <a:pt x="59" y="179"/>
                  </a:cubicBezTo>
                  <a:cubicBezTo>
                    <a:pt x="78" y="192"/>
                    <a:pt x="100" y="203"/>
                    <a:pt x="123" y="211"/>
                  </a:cubicBezTo>
                  <a:cubicBezTo>
                    <a:pt x="139" y="216"/>
                    <a:pt x="171" y="227"/>
                    <a:pt x="171" y="227"/>
                  </a:cubicBezTo>
                  <a:cubicBezTo>
                    <a:pt x="236" y="221"/>
                    <a:pt x="259" y="226"/>
                    <a:pt x="307" y="195"/>
                  </a:cubicBezTo>
                  <a:cubicBezTo>
                    <a:pt x="343" y="139"/>
                    <a:pt x="332" y="165"/>
                    <a:pt x="347" y="123"/>
                  </a:cubicBezTo>
                  <a:cubicBezTo>
                    <a:pt x="334" y="53"/>
                    <a:pt x="347" y="19"/>
                    <a:pt x="283" y="3"/>
                  </a:cubicBezTo>
                  <a:cubicBezTo>
                    <a:pt x="208" y="8"/>
                    <a:pt x="183" y="0"/>
                    <a:pt x="131" y="35"/>
                  </a:cubicBezTo>
                  <a:cubicBezTo>
                    <a:pt x="125" y="51"/>
                    <a:pt x="110" y="66"/>
                    <a:pt x="115" y="83"/>
                  </a:cubicBezTo>
                  <a:cubicBezTo>
                    <a:pt x="127" y="132"/>
                    <a:pt x="151" y="140"/>
                    <a:pt x="195" y="155"/>
                  </a:cubicBezTo>
                  <a:cubicBezTo>
                    <a:pt x="202" y="153"/>
                    <a:pt x="255" y="144"/>
                    <a:pt x="259" y="139"/>
                  </a:cubicBezTo>
                  <a:cubicBezTo>
                    <a:pt x="268" y="125"/>
                    <a:pt x="275" y="91"/>
                    <a:pt x="275" y="91"/>
                  </a:cubicBezTo>
                  <a:cubicBezTo>
                    <a:pt x="246" y="72"/>
                    <a:pt x="260" y="75"/>
                    <a:pt x="235" y="75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30807" name="Group 1111"/>
          <p:cNvGrpSpPr>
            <a:grpSpLocks/>
          </p:cNvGrpSpPr>
          <p:nvPr/>
        </p:nvGrpSpPr>
        <p:grpSpPr bwMode="auto">
          <a:xfrm>
            <a:off x="609600" y="5257800"/>
            <a:ext cx="1295400" cy="1371600"/>
            <a:chOff x="912" y="3168"/>
            <a:chExt cx="816" cy="864"/>
          </a:xfrm>
        </p:grpSpPr>
        <p:sp>
          <p:nvSpPr>
            <p:cNvPr id="30745" name="AutoShape 1049"/>
            <p:cNvSpPr>
              <a:spLocks noChangeArrowheads="1"/>
            </p:cNvSpPr>
            <p:nvPr/>
          </p:nvSpPr>
          <p:spPr bwMode="auto">
            <a:xfrm>
              <a:off x="960" y="3216"/>
              <a:ext cx="720" cy="768"/>
            </a:xfrm>
            <a:prstGeom prst="pentag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46" name="Line 1050"/>
            <p:cNvSpPr>
              <a:spLocks noChangeShapeType="1"/>
            </p:cNvSpPr>
            <p:nvPr/>
          </p:nvSpPr>
          <p:spPr bwMode="auto">
            <a:xfrm flipV="1">
              <a:off x="1104" y="3216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47" name="Line 1051"/>
            <p:cNvSpPr>
              <a:spLocks noChangeShapeType="1"/>
            </p:cNvSpPr>
            <p:nvPr/>
          </p:nvSpPr>
          <p:spPr bwMode="auto">
            <a:xfrm flipH="1" flipV="1">
              <a:off x="960" y="350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48" name="Line 1052"/>
            <p:cNvSpPr>
              <a:spLocks noChangeShapeType="1"/>
            </p:cNvSpPr>
            <p:nvPr/>
          </p:nvSpPr>
          <p:spPr bwMode="auto">
            <a:xfrm>
              <a:off x="960" y="35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49" name="Line 1053"/>
            <p:cNvSpPr>
              <a:spLocks noChangeShapeType="1"/>
            </p:cNvSpPr>
            <p:nvPr/>
          </p:nvSpPr>
          <p:spPr bwMode="auto">
            <a:xfrm flipH="1">
              <a:off x="1104" y="350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50" name="Line 1054"/>
            <p:cNvSpPr>
              <a:spLocks noChangeShapeType="1"/>
            </p:cNvSpPr>
            <p:nvPr/>
          </p:nvSpPr>
          <p:spPr bwMode="auto">
            <a:xfrm>
              <a:off x="1296" y="3216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53" name="Oval 1057"/>
            <p:cNvSpPr>
              <a:spLocks noChangeArrowheads="1"/>
            </p:cNvSpPr>
            <p:nvPr/>
          </p:nvSpPr>
          <p:spPr bwMode="auto">
            <a:xfrm>
              <a:off x="1248" y="3168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54" name="Oval 1058"/>
            <p:cNvSpPr>
              <a:spLocks noChangeArrowheads="1"/>
            </p:cNvSpPr>
            <p:nvPr/>
          </p:nvSpPr>
          <p:spPr bwMode="auto">
            <a:xfrm>
              <a:off x="1584" y="345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55" name="Oval 1059"/>
            <p:cNvSpPr>
              <a:spLocks noChangeArrowheads="1"/>
            </p:cNvSpPr>
            <p:nvPr/>
          </p:nvSpPr>
          <p:spPr bwMode="auto">
            <a:xfrm>
              <a:off x="1488" y="3888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56" name="Oval 1060"/>
            <p:cNvSpPr>
              <a:spLocks noChangeArrowheads="1"/>
            </p:cNvSpPr>
            <p:nvPr/>
          </p:nvSpPr>
          <p:spPr bwMode="auto">
            <a:xfrm>
              <a:off x="1008" y="3888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57" name="Oval 1061"/>
            <p:cNvSpPr>
              <a:spLocks noChangeArrowheads="1"/>
            </p:cNvSpPr>
            <p:nvPr/>
          </p:nvSpPr>
          <p:spPr bwMode="auto">
            <a:xfrm>
              <a:off x="912" y="345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30809" name="Group 1113"/>
          <p:cNvGrpSpPr>
            <a:grpSpLocks/>
          </p:cNvGrpSpPr>
          <p:nvPr/>
        </p:nvGrpSpPr>
        <p:grpSpPr bwMode="auto">
          <a:xfrm>
            <a:off x="4876800" y="5257800"/>
            <a:ext cx="1295400" cy="1371600"/>
            <a:chOff x="3072" y="3168"/>
            <a:chExt cx="816" cy="864"/>
          </a:xfrm>
        </p:grpSpPr>
        <p:sp>
          <p:nvSpPr>
            <p:cNvPr id="30782" name="AutoShape 1086"/>
            <p:cNvSpPr>
              <a:spLocks noChangeArrowheads="1"/>
            </p:cNvSpPr>
            <p:nvPr/>
          </p:nvSpPr>
          <p:spPr bwMode="auto">
            <a:xfrm>
              <a:off x="3120" y="3216"/>
              <a:ext cx="720" cy="768"/>
            </a:xfrm>
            <a:prstGeom prst="pentag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3" name="Line 1087"/>
            <p:cNvSpPr>
              <a:spLocks noChangeShapeType="1"/>
            </p:cNvSpPr>
            <p:nvPr/>
          </p:nvSpPr>
          <p:spPr bwMode="auto">
            <a:xfrm flipV="1">
              <a:off x="3264" y="3216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4" name="Line 1088"/>
            <p:cNvSpPr>
              <a:spLocks noChangeShapeType="1"/>
            </p:cNvSpPr>
            <p:nvPr/>
          </p:nvSpPr>
          <p:spPr bwMode="auto">
            <a:xfrm flipH="1" flipV="1">
              <a:off x="3120" y="350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5" name="Line 1089"/>
            <p:cNvSpPr>
              <a:spLocks noChangeShapeType="1"/>
            </p:cNvSpPr>
            <p:nvPr/>
          </p:nvSpPr>
          <p:spPr bwMode="auto">
            <a:xfrm>
              <a:off x="3120" y="35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6" name="Line 1090"/>
            <p:cNvSpPr>
              <a:spLocks noChangeShapeType="1"/>
            </p:cNvSpPr>
            <p:nvPr/>
          </p:nvSpPr>
          <p:spPr bwMode="auto">
            <a:xfrm flipH="1">
              <a:off x="3264" y="350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7" name="Line 1091"/>
            <p:cNvSpPr>
              <a:spLocks noChangeShapeType="1"/>
            </p:cNvSpPr>
            <p:nvPr/>
          </p:nvSpPr>
          <p:spPr bwMode="auto">
            <a:xfrm>
              <a:off x="3456" y="3216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8" name="Oval 1092"/>
            <p:cNvSpPr>
              <a:spLocks noChangeArrowheads="1"/>
            </p:cNvSpPr>
            <p:nvPr/>
          </p:nvSpPr>
          <p:spPr bwMode="auto">
            <a:xfrm>
              <a:off x="3408" y="3168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9" name="Oval 1093"/>
            <p:cNvSpPr>
              <a:spLocks noChangeArrowheads="1"/>
            </p:cNvSpPr>
            <p:nvPr/>
          </p:nvSpPr>
          <p:spPr bwMode="auto">
            <a:xfrm>
              <a:off x="3168" y="3888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90" name="Oval 1094"/>
            <p:cNvSpPr>
              <a:spLocks noChangeArrowheads="1"/>
            </p:cNvSpPr>
            <p:nvPr/>
          </p:nvSpPr>
          <p:spPr bwMode="auto">
            <a:xfrm>
              <a:off x="3072" y="345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91" name="Oval 1095"/>
            <p:cNvSpPr>
              <a:spLocks noChangeArrowheads="1"/>
            </p:cNvSpPr>
            <p:nvPr/>
          </p:nvSpPr>
          <p:spPr bwMode="auto">
            <a:xfrm>
              <a:off x="3744" y="345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92" name="Oval 1096"/>
            <p:cNvSpPr>
              <a:spLocks noChangeArrowheads="1"/>
            </p:cNvSpPr>
            <p:nvPr/>
          </p:nvSpPr>
          <p:spPr bwMode="auto">
            <a:xfrm>
              <a:off x="3648" y="3888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30819" name="Group 1123"/>
          <p:cNvGrpSpPr>
            <a:grpSpLocks/>
          </p:cNvGrpSpPr>
          <p:nvPr/>
        </p:nvGrpSpPr>
        <p:grpSpPr bwMode="auto">
          <a:xfrm>
            <a:off x="6934200" y="5257800"/>
            <a:ext cx="1295400" cy="1371600"/>
            <a:chOff x="4368" y="3312"/>
            <a:chExt cx="816" cy="864"/>
          </a:xfrm>
        </p:grpSpPr>
        <p:sp>
          <p:nvSpPr>
            <p:cNvPr id="30769" name="AutoShape 1073"/>
            <p:cNvSpPr>
              <a:spLocks noChangeArrowheads="1"/>
            </p:cNvSpPr>
            <p:nvPr/>
          </p:nvSpPr>
          <p:spPr bwMode="auto">
            <a:xfrm>
              <a:off x="4416" y="3360"/>
              <a:ext cx="720" cy="768"/>
            </a:xfrm>
            <a:prstGeom prst="pentag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0" name="Line 1074"/>
            <p:cNvSpPr>
              <a:spLocks noChangeShapeType="1"/>
            </p:cNvSpPr>
            <p:nvPr/>
          </p:nvSpPr>
          <p:spPr bwMode="auto">
            <a:xfrm flipV="1">
              <a:off x="4560" y="3360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1" name="Line 1075"/>
            <p:cNvSpPr>
              <a:spLocks noChangeShapeType="1"/>
            </p:cNvSpPr>
            <p:nvPr/>
          </p:nvSpPr>
          <p:spPr bwMode="auto">
            <a:xfrm flipH="1" flipV="1">
              <a:off x="4416" y="3648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2" name="Line 1076"/>
            <p:cNvSpPr>
              <a:spLocks noChangeShapeType="1"/>
            </p:cNvSpPr>
            <p:nvPr/>
          </p:nvSpPr>
          <p:spPr bwMode="auto">
            <a:xfrm>
              <a:off x="4416" y="36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3" name="Line 1077"/>
            <p:cNvSpPr>
              <a:spLocks noChangeShapeType="1"/>
            </p:cNvSpPr>
            <p:nvPr/>
          </p:nvSpPr>
          <p:spPr bwMode="auto">
            <a:xfrm flipH="1">
              <a:off x="4560" y="3648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4" name="Line 1078"/>
            <p:cNvSpPr>
              <a:spLocks noChangeShapeType="1"/>
            </p:cNvSpPr>
            <p:nvPr/>
          </p:nvSpPr>
          <p:spPr bwMode="auto">
            <a:xfrm>
              <a:off x="4752" y="3360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5" name="Oval 1079"/>
            <p:cNvSpPr>
              <a:spLocks noChangeArrowheads="1"/>
            </p:cNvSpPr>
            <p:nvPr/>
          </p:nvSpPr>
          <p:spPr bwMode="auto">
            <a:xfrm>
              <a:off x="4704" y="3312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7" name="Oval 1081"/>
            <p:cNvSpPr>
              <a:spLocks noChangeArrowheads="1"/>
            </p:cNvSpPr>
            <p:nvPr/>
          </p:nvSpPr>
          <p:spPr bwMode="auto">
            <a:xfrm>
              <a:off x="4944" y="4032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8" name="Oval 1082"/>
            <p:cNvSpPr>
              <a:spLocks noChangeArrowheads="1"/>
            </p:cNvSpPr>
            <p:nvPr/>
          </p:nvSpPr>
          <p:spPr bwMode="auto">
            <a:xfrm>
              <a:off x="5040" y="360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79" name="Oval 1083"/>
            <p:cNvSpPr>
              <a:spLocks noChangeArrowheads="1"/>
            </p:cNvSpPr>
            <p:nvPr/>
          </p:nvSpPr>
          <p:spPr bwMode="auto">
            <a:xfrm>
              <a:off x="4368" y="360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804" name="Oval 1108"/>
            <p:cNvSpPr>
              <a:spLocks noChangeArrowheads="1"/>
            </p:cNvSpPr>
            <p:nvPr/>
          </p:nvSpPr>
          <p:spPr bwMode="auto">
            <a:xfrm>
              <a:off x="4512" y="4032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30808" name="Group 1112"/>
          <p:cNvGrpSpPr>
            <a:grpSpLocks/>
          </p:cNvGrpSpPr>
          <p:nvPr/>
        </p:nvGrpSpPr>
        <p:grpSpPr bwMode="auto">
          <a:xfrm>
            <a:off x="2743200" y="5257800"/>
            <a:ext cx="1295400" cy="1371600"/>
            <a:chOff x="2160" y="3168"/>
            <a:chExt cx="816" cy="864"/>
          </a:xfrm>
        </p:grpSpPr>
        <p:sp>
          <p:nvSpPr>
            <p:cNvPr id="30758" name="AutoShape 1062"/>
            <p:cNvSpPr>
              <a:spLocks noChangeArrowheads="1"/>
            </p:cNvSpPr>
            <p:nvPr/>
          </p:nvSpPr>
          <p:spPr bwMode="auto">
            <a:xfrm>
              <a:off x="2208" y="3216"/>
              <a:ext cx="720" cy="768"/>
            </a:xfrm>
            <a:prstGeom prst="pentag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59" name="Line 1063"/>
            <p:cNvSpPr>
              <a:spLocks noChangeShapeType="1"/>
            </p:cNvSpPr>
            <p:nvPr/>
          </p:nvSpPr>
          <p:spPr bwMode="auto">
            <a:xfrm flipV="1">
              <a:off x="2352" y="3216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60" name="Line 1064"/>
            <p:cNvSpPr>
              <a:spLocks noChangeShapeType="1"/>
            </p:cNvSpPr>
            <p:nvPr/>
          </p:nvSpPr>
          <p:spPr bwMode="auto">
            <a:xfrm flipH="1" flipV="1">
              <a:off x="2208" y="350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61" name="Line 1065"/>
            <p:cNvSpPr>
              <a:spLocks noChangeShapeType="1"/>
            </p:cNvSpPr>
            <p:nvPr/>
          </p:nvSpPr>
          <p:spPr bwMode="auto">
            <a:xfrm>
              <a:off x="2208" y="35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62" name="Line 1066"/>
            <p:cNvSpPr>
              <a:spLocks noChangeShapeType="1"/>
            </p:cNvSpPr>
            <p:nvPr/>
          </p:nvSpPr>
          <p:spPr bwMode="auto">
            <a:xfrm flipH="1">
              <a:off x="2352" y="350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63" name="Line 1067"/>
            <p:cNvSpPr>
              <a:spLocks noChangeShapeType="1"/>
            </p:cNvSpPr>
            <p:nvPr/>
          </p:nvSpPr>
          <p:spPr bwMode="auto">
            <a:xfrm>
              <a:off x="2544" y="3216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64" name="Oval 1068"/>
            <p:cNvSpPr>
              <a:spLocks noChangeArrowheads="1"/>
            </p:cNvSpPr>
            <p:nvPr/>
          </p:nvSpPr>
          <p:spPr bwMode="auto">
            <a:xfrm>
              <a:off x="2832" y="345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0" name="Oval 1084"/>
            <p:cNvSpPr>
              <a:spLocks noChangeArrowheads="1"/>
            </p:cNvSpPr>
            <p:nvPr/>
          </p:nvSpPr>
          <p:spPr bwMode="auto">
            <a:xfrm>
              <a:off x="2496" y="3168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781" name="Oval 1085"/>
            <p:cNvSpPr>
              <a:spLocks noChangeArrowheads="1"/>
            </p:cNvSpPr>
            <p:nvPr/>
          </p:nvSpPr>
          <p:spPr bwMode="auto">
            <a:xfrm>
              <a:off x="2736" y="3888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805" name="Oval 1109"/>
            <p:cNvSpPr>
              <a:spLocks noChangeArrowheads="1"/>
            </p:cNvSpPr>
            <p:nvPr/>
          </p:nvSpPr>
          <p:spPr bwMode="auto">
            <a:xfrm>
              <a:off x="2160" y="345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806" name="Oval 1110"/>
            <p:cNvSpPr>
              <a:spLocks noChangeArrowheads="1"/>
            </p:cNvSpPr>
            <p:nvPr/>
          </p:nvSpPr>
          <p:spPr bwMode="auto">
            <a:xfrm>
              <a:off x="2256" y="3888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30811" name="Line 1115"/>
          <p:cNvSpPr>
            <a:spLocks noChangeShapeType="1"/>
          </p:cNvSpPr>
          <p:nvPr/>
        </p:nvSpPr>
        <p:spPr bwMode="auto">
          <a:xfrm>
            <a:off x="1981200" y="61722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0812" name="Line 1116"/>
          <p:cNvSpPr>
            <a:spLocks noChangeShapeType="1"/>
          </p:cNvSpPr>
          <p:nvPr/>
        </p:nvSpPr>
        <p:spPr bwMode="auto">
          <a:xfrm>
            <a:off x="4114800" y="61722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0813" name="Line 1117"/>
          <p:cNvSpPr>
            <a:spLocks noChangeShapeType="1"/>
          </p:cNvSpPr>
          <p:nvPr/>
        </p:nvSpPr>
        <p:spPr bwMode="auto">
          <a:xfrm>
            <a:off x="6248400" y="61722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0814" name="Text Box 1118"/>
          <p:cNvSpPr txBox="1">
            <a:spLocks noChangeArrowheads="1"/>
          </p:cNvSpPr>
          <p:nvPr/>
        </p:nvSpPr>
        <p:spPr bwMode="auto">
          <a:xfrm>
            <a:off x="457200" y="4343400"/>
            <a:ext cx="1892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800"/>
              <a:t>Input: (1 0 1 -1 -1)</a:t>
            </a:r>
            <a:endParaRPr lang="en-US" altLang="he-IL"/>
          </a:p>
        </p:txBody>
      </p:sp>
      <p:sp>
        <p:nvSpPr>
          <p:cNvPr id="30816" name="Line 1120"/>
          <p:cNvSpPr>
            <a:spLocks noChangeShapeType="1"/>
          </p:cNvSpPr>
          <p:nvPr/>
        </p:nvSpPr>
        <p:spPr bwMode="auto">
          <a:xfrm>
            <a:off x="12192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0818" name="Text Box 1122"/>
          <p:cNvSpPr txBox="1">
            <a:spLocks noChangeArrowheads="1"/>
          </p:cNvSpPr>
          <p:nvPr/>
        </p:nvSpPr>
        <p:spPr bwMode="auto">
          <a:xfrm>
            <a:off x="6629400" y="4267200"/>
            <a:ext cx="2120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800"/>
              <a:t>Output: (1 -1 1 -1 -1)</a:t>
            </a:r>
            <a:endParaRPr lang="en-US" altLang="he-IL"/>
          </a:p>
        </p:txBody>
      </p:sp>
      <p:sp>
        <p:nvSpPr>
          <p:cNvPr id="30820" name="Line 1124"/>
          <p:cNvSpPr>
            <a:spLocks noChangeShapeType="1"/>
          </p:cNvSpPr>
          <p:nvPr/>
        </p:nvSpPr>
        <p:spPr bwMode="auto">
          <a:xfrm flipV="1">
            <a:off x="7620000" y="4724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270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3048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Associative Network Types</a:t>
            </a:r>
            <a:endParaRPr lang="nb-NO" altLang="he-IL"/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04800" y="1066800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1. Auto-associative: X = Y</a:t>
            </a:r>
          </a:p>
        </p:txBody>
      </p:sp>
      <p:grpSp>
        <p:nvGrpSpPr>
          <p:cNvPr id="8418" name="Group 226"/>
          <p:cNvGrpSpPr>
            <a:grpSpLocks/>
          </p:cNvGrpSpPr>
          <p:nvPr/>
        </p:nvGrpSpPr>
        <p:grpSpPr bwMode="auto">
          <a:xfrm>
            <a:off x="1524000" y="1676400"/>
            <a:ext cx="5310188" cy="1563688"/>
            <a:chOff x="960" y="1056"/>
            <a:chExt cx="3345" cy="985"/>
          </a:xfrm>
        </p:grpSpPr>
        <p:grpSp>
          <p:nvGrpSpPr>
            <p:cNvPr id="8225" name="Group 33"/>
            <p:cNvGrpSpPr>
              <a:grpSpLocks/>
            </p:cNvGrpSpPr>
            <p:nvPr/>
          </p:nvGrpSpPr>
          <p:grpSpPr bwMode="auto">
            <a:xfrm>
              <a:off x="960" y="1104"/>
              <a:ext cx="465" cy="937"/>
              <a:chOff x="1056" y="1152"/>
              <a:chExt cx="465" cy="937"/>
            </a:xfrm>
          </p:grpSpPr>
          <p:graphicFrame>
            <p:nvGraphicFramePr>
              <p:cNvPr id="8222" name="Object 30"/>
              <p:cNvGraphicFramePr>
                <a:graphicFrameLocks noChangeAspect="1"/>
              </p:cNvGraphicFramePr>
              <p:nvPr/>
            </p:nvGraphicFramePr>
            <p:xfrm>
              <a:off x="1056" y="1152"/>
              <a:ext cx="465" cy="8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0841" name="Utklipp" r:id="rId3" imgW="1395360" imgH="2658600" progId="MS_ClipArt_Gallery.2">
                      <p:embed/>
                    </p:oleObj>
                  </mc:Choice>
                  <mc:Fallback>
                    <p:oleObj name="Utklipp" r:id="rId3" imgW="1395360" imgH="2658600" progId="MS_ClipArt_Gallery.2">
                      <p:embed/>
                      <p:pic>
                        <p:nvPicPr>
                          <p:cNvPr id="8222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152"/>
                            <a:ext cx="465" cy="8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23" name="Freeform 31"/>
              <p:cNvSpPr>
                <a:spLocks/>
              </p:cNvSpPr>
              <p:nvPr/>
            </p:nvSpPr>
            <p:spPr bwMode="auto">
              <a:xfrm>
                <a:off x="1208" y="1340"/>
                <a:ext cx="241" cy="749"/>
              </a:xfrm>
              <a:custGeom>
                <a:avLst/>
                <a:gdLst>
                  <a:gd name="T0" fmla="*/ 210 w 241"/>
                  <a:gd name="T1" fmla="*/ 304 h 749"/>
                  <a:gd name="T2" fmla="*/ 140 w 241"/>
                  <a:gd name="T3" fmla="*/ 63 h 749"/>
                  <a:gd name="T4" fmla="*/ 101 w 241"/>
                  <a:gd name="T5" fmla="*/ 16 h 749"/>
                  <a:gd name="T6" fmla="*/ 54 w 241"/>
                  <a:gd name="T7" fmla="*/ 0 h 749"/>
                  <a:gd name="T8" fmla="*/ 8 w 241"/>
                  <a:gd name="T9" fmla="*/ 8 h 749"/>
                  <a:gd name="T10" fmla="*/ 0 w 241"/>
                  <a:gd name="T11" fmla="*/ 32 h 749"/>
                  <a:gd name="T12" fmla="*/ 86 w 241"/>
                  <a:gd name="T13" fmla="*/ 226 h 749"/>
                  <a:gd name="T14" fmla="*/ 70 w 241"/>
                  <a:gd name="T15" fmla="*/ 585 h 749"/>
                  <a:gd name="T16" fmla="*/ 78 w 241"/>
                  <a:gd name="T17" fmla="*/ 671 h 749"/>
                  <a:gd name="T18" fmla="*/ 202 w 241"/>
                  <a:gd name="T19" fmla="*/ 749 h 749"/>
                  <a:gd name="T20" fmla="*/ 241 w 241"/>
                  <a:gd name="T21" fmla="*/ 678 h 749"/>
                  <a:gd name="T22" fmla="*/ 195 w 241"/>
                  <a:gd name="T23" fmla="*/ 577 h 749"/>
                  <a:gd name="T24" fmla="*/ 210 w 241"/>
                  <a:gd name="T25" fmla="*/ 304 h 7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1" h="749">
                    <a:moveTo>
                      <a:pt x="210" y="304"/>
                    </a:moveTo>
                    <a:cubicBezTo>
                      <a:pt x="143" y="260"/>
                      <a:pt x="158" y="130"/>
                      <a:pt x="140" y="63"/>
                    </a:cubicBezTo>
                    <a:cubicBezTo>
                      <a:pt x="136" y="50"/>
                      <a:pt x="111" y="22"/>
                      <a:pt x="101" y="16"/>
                    </a:cubicBezTo>
                    <a:cubicBezTo>
                      <a:pt x="86" y="8"/>
                      <a:pt x="54" y="0"/>
                      <a:pt x="54" y="0"/>
                    </a:cubicBezTo>
                    <a:cubicBezTo>
                      <a:pt x="39" y="3"/>
                      <a:pt x="21" y="0"/>
                      <a:pt x="8" y="8"/>
                    </a:cubicBezTo>
                    <a:cubicBezTo>
                      <a:pt x="1" y="12"/>
                      <a:pt x="0" y="24"/>
                      <a:pt x="0" y="32"/>
                    </a:cubicBezTo>
                    <a:cubicBezTo>
                      <a:pt x="0" y="124"/>
                      <a:pt x="11" y="179"/>
                      <a:pt x="86" y="226"/>
                    </a:cubicBezTo>
                    <a:cubicBezTo>
                      <a:pt x="115" y="324"/>
                      <a:pt x="107" y="480"/>
                      <a:pt x="70" y="585"/>
                    </a:cubicBezTo>
                    <a:cubicBezTo>
                      <a:pt x="73" y="614"/>
                      <a:pt x="67" y="644"/>
                      <a:pt x="78" y="671"/>
                    </a:cubicBezTo>
                    <a:cubicBezTo>
                      <a:pt x="95" y="711"/>
                      <a:pt x="164" y="739"/>
                      <a:pt x="202" y="749"/>
                    </a:cubicBezTo>
                    <a:cubicBezTo>
                      <a:pt x="218" y="726"/>
                      <a:pt x="226" y="702"/>
                      <a:pt x="241" y="678"/>
                    </a:cubicBezTo>
                    <a:cubicBezTo>
                      <a:pt x="230" y="583"/>
                      <a:pt x="235" y="638"/>
                      <a:pt x="195" y="577"/>
                    </a:cubicBezTo>
                    <a:cubicBezTo>
                      <a:pt x="199" y="482"/>
                      <a:pt x="210" y="397"/>
                      <a:pt x="210" y="30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aphicFrame>
          <p:nvGraphicFramePr>
            <p:cNvPr id="8224" name="Object 32"/>
            <p:cNvGraphicFramePr>
              <a:graphicFrameLocks noChangeAspect="1"/>
            </p:cNvGraphicFramePr>
            <p:nvPr/>
          </p:nvGraphicFramePr>
          <p:xfrm>
            <a:off x="3840" y="1056"/>
            <a:ext cx="465" cy="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42" name="Utklipp" r:id="rId5" imgW="1395360" imgH="2658600" progId="MS_ClipArt_Gallery.2">
                    <p:embed/>
                  </p:oleObj>
                </mc:Choice>
                <mc:Fallback>
                  <p:oleObj name="Utklipp" r:id="rId5" imgW="1395360" imgH="2658600" progId="MS_ClipArt_Gallery.2">
                    <p:embed/>
                    <p:pic>
                      <p:nvPicPr>
                        <p:cNvPr id="8224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056"/>
                          <a:ext cx="465" cy="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53" name="Group 61"/>
            <p:cNvGrpSpPr>
              <a:grpSpLocks/>
            </p:cNvGrpSpPr>
            <p:nvPr/>
          </p:nvGrpSpPr>
          <p:grpSpPr bwMode="auto">
            <a:xfrm>
              <a:off x="1920" y="1200"/>
              <a:ext cx="1220" cy="584"/>
              <a:chOff x="2784" y="2160"/>
              <a:chExt cx="1220" cy="584"/>
            </a:xfrm>
          </p:grpSpPr>
          <p:grpSp>
            <p:nvGrpSpPr>
              <p:cNvPr id="8254" name="Group 62"/>
              <p:cNvGrpSpPr>
                <a:grpSpLocks/>
              </p:cNvGrpSpPr>
              <p:nvPr/>
            </p:nvGrpSpPr>
            <p:grpSpPr bwMode="auto">
              <a:xfrm>
                <a:off x="3072" y="2160"/>
                <a:ext cx="768" cy="584"/>
                <a:chOff x="2880" y="2256"/>
                <a:chExt cx="768" cy="584"/>
              </a:xfrm>
            </p:grpSpPr>
            <p:grpSp>
              <p:nvGrpSpPr>
                <p:cNvPr id="8255" name="Group 63"/>
                <p:cNvGrpSpPr>
                  <a:grpSpLocks/>
                </p:cNvGrpSpPr>
                <p:nvPr/>
              </p:nvGrpSpPr>
              <p:grpSpPr bwMode="auto">
                <a:xfrm>
                  <a:off x="3264" y="2352"/>
                  <a:ext cx="384" cy="336"/>
                  <a:chOff x="4656" y="912"/>
                  <a:chExt cx="384" cy="336"/>
                </a:xfrm>
              </p:grpSpPr>
              <p:sp>
                <p:nvSpPr>
                  <p:cNvPr id="8256" name="Oval 64"/>
                  <p:cNvSpPr>
                    <a:spLocks noChangeArrowheads="1"/>
                  </p:cNvSpPr>
                  <p:nvPr/>
                </p:nvSpPr>
                <p:spPr bwMode="auto">
                  <a:xfrm>
                    <a:off x="4656" y="960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57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4656" y="1104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58" name="Oval 66"/>
                  <p:cNvSpPr>
                    <a:spLocks noChangeArrowheads="1"/>
                  </p:cNvSpPr>
                  <p:nvPr/>
                </p:nvSpPr>
                <p:spPr bwMode="auto">
                  <a:xfrm>
                    <a:off x="4848" y="1200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59" name="Oval 67"/>
                  <p:cNvSpPr>
                    <a:spLocks noChangeArrowheads="1"/>
                  </p:cNvSpPr>
                  <p:nvPr/>
                </p:nvSpPr>
                <p:spPr bwMode="auto">
                  <a:xfrm>
                    <a:off x="4992" y="1104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0" name="Oval 68"/>
                  <p:cNvSpPr>
                    <a:spLocks noChangeArrowheads="1"/>
                  </p:cNvSpPr>
                  <p:nvPr/>
                </p:nvSpPr>
                <p:spPr bwMode="auto">
                  <a:xfrm>
                    <a:off x="4896" y="912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1" name="Line 6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96" y="960"/>
                    <a:ext cx="48" cy="24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2" name="Line 7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04" y="1008"/>
                    <a:ext cx="0" cy="9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3" name="Line 7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704" y="960"/>
                    <a:ext cx="144" cy="24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4" name="Line 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96" y="1104"/>
                    <a:ext cx="144" cy="9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5" name="Line 7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944" y="960"/>
                    <a:ext cx="96" cy="14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6" name="Line 7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04" y="960"/>
                    <a:ext cx="192" cy="14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7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04" y="960"/>
                    <a:ext cx="19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8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4704" y="1104"/>
                    <a:ext cx="288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69" name="Line 7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704" y="960"/>
                    <a:ext cx="336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70" name="Line 7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704" y="1104"/>
                    <a:ext cx="144" cy="14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</p:grpSp>
            <p:grpSp>
              <p:nvGrpSpPr>
                <p:cNvPr id="8271" name="Group 79"/>
                <p:cNvGrpSpPr>
                  <a:grpSpLocks/>
                </p:cNvGrpSpPr>
                <p:nvPr/>
              </p:nvGrpSpPr>
              <p:grpSpPr bwMode="auto">
                <a:xfrm>
                  <a:off x="2880" y="2256"/>
                  <a:ext cx="144" cy="528"/>
                  <a:chOff x="2832" y="2352"/>
                  <a:chExt cx="144" cy="528"/>
                </a:xfrm>
              </p:grpSpPr>
              <p:sp>
                <p:nvSpPr>
                  <p:cNvPr id="8272" name="Oval 80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496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73" name="Oval 81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592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74" name="Oval 82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784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75" name="AutoShape 83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640" y="2544"/>
                    <a:ext cx="528" cy="144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2700">
                    <a:solidFill>
                      <a:schemeClr val="tx2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76" name="Oval 84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400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8277" name="Oval 85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688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</p:grpSp>
            <p:sp>
              <p:nvSpPr>
                <p:cNvPr id="8278" name="Line 86"/>
                <p:cNvSpPr>
                  <a:spLocks noChangeShapeType="1"/>
                </p:cNvSpPr>
                <p:nvPr/>
              </p:nvSpPr>
              <p:spPr bwMode="auto">
                <a:xfrm>
                  <a:off x="3024" y="2304"/>
                  <a:ext cx="480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8279" name="Freeform 87"/>
                <p:cNvSpPr>
                  <a:spLocks/>
                </p:cNvSpPr>
                <p:nvPr/>
              </p:nvSpPr>
              <p:spPr bwMode="auto">
                <a:xfrm>
                  <a:off x="2944" y="2640"/>
                  <a:ext cx="656" cy="200"/>
                </a:xfrm>
                <a:custGeom>
                  <a:avLst/>
                  <a:gdLst>
                    <a:gd name="T0" fmla="*/ 32 w 656"/>
                    <a:gd name="T1" fmla="*/ 48 h 200"/>
                    <a:gd name="T2" fmla="*/ 80 w 656"/>
                    <a:gd name="T3" fmla="*/ 48 h 200"/>
                    <a:gd name="T4" fmla="*/ 512 w 656"/>
                    <a:gd name="T5" fmla="*/ 192 h 200"/>
                    <a:gd name="T6" fmla="*/ 656 w 656"/>
                    <a:gd name="T7" fmla="*/ 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6" h="200">
                      <a:moveTo>
                        <a:pt x="32" y="48"/>
                      </a:moveTo>
                      <a:cubicBezTo>
                        <a:pt x="16" y="36"/>
                        <a:pt x="0" y="24"/>
                        <a:pt x="80" y="48"/>
                      </a:cubicBezTo>
                      <a:cubicBezTo>
                        <a:pt x="160" y="72"/>
                        <a:pt x="416" y="200"/>
                        <a:pt x="512" y="192"/>
                      </a:cubicBezTo>
                      <a:cubicBezTo>
                        <a:pt x="608" y="184"/>
                        <a:pt x="632" y="92"/>
                        <a:pt x="656" y="0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8280" name="Line 88"/>
                <p:cNvSpPr>
                  <a:spLocks noChangeShapeType="1"/>
                </p:cNvSpPr>
                <p:nvPr/>
              </p:nvSpPr>
              <p:spPr bwMode="auto">
                <a:xfrm>
                  <a:off x="2976" y="2640"/>
                  <a:ext cx="43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8281" name="Line 89"/>
                <p:cNvSpPr>
                  <a:spLocks noChangeShapeType="1"/>
                </p:cNvSpPr>
                <p:nvPr/>
              </p:nvSpPr>
              <p:spPr bwMode="auto">
                <a:xfrm>
                  <a:off x="2976" y="2544"/>
                  <a:ext cx="288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8282" name="Line 90"/>
                <p:cNvSpPr>
                  <a:spLocks noChangeShapeType="1"/>
                </p:cNvSpPr>
                <p:nvPr/>
              </p:nvSpPr>
              <p:spPr bwMode="auto">
                <a:xfrm>
                  <a:off x="2976" y="2448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</p:grpSp>
          <p:sp>
            <p:nvSpPr>
              <p:cNvPr id="8283" name="Text Box 91"/>
              <p:cNvSpPr txBox="1">
                <a:spLocks noChangeArrowheads="1"/>
              </p:cNvSpPr>
              <p:nvPr/>
            </p:nvSpPr>
            <p:spPr bwMode="auto">
              <a:xfrm>
                <a:off x="2784" y="2258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nb-NO" altLang="he-IL"/>
              </a:p>
            </p:txBody>
          </p:sp>
          <p:sp>
            <p:nvSpPr>
              <p:cNvPr id="8284" name="Text Box 92"/>
              <p:cNvSpPr txBox="1">
                <a:spLocks noChangeArrowheads="1"/>
              </p:cNvSpPr>
              <p:nvPr/>
            </p:nvSpPr>
            <p:spPr bwMode="auto">
              <a:xfrm>
                <a:off x="3888" y="2258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nb-NO" altLang="he-IL"/>
              </a:p>
            </p:txBody>
          </p:sp>
        </p:grpSp>
        <p:sp>
          <p:nvSpPr>
            <p:cNvPr id="8286" name="Line 94"/>
            <p:cNvSpPr>
              <a:spLocks noChangeShapeType="1"/>
            </p:cNvSpPr>
            <p:nvPr/>
          </p:nvSpPr>
          <p:spPr bwMode="auto">
            <a:xfrm>
              <a:off x="1584" y="144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287" name="Line 95"/>
            <p:cNvSpPr>
              <a:spLocks noChangeShapeType="1"/>
            </p:cNvSpPr>
            <p:nvPr/>
          </p:nvSpPr>
          <p:spPr bwMode="auto">
            <a:xfrm>
              <a:off x="3168" y="144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8325" name="Text Box 133"/>
          <p:cNvSpPr txBox="1">
            <a:spLocks noChangeArrowheads="1"/>
          </p:cNvSpPr>
          <p:nvPr/>
        </p:nvSpPr>
        <p:spPr bwMode="auto">
          <a:xfrm>
            <a:off x="304800" y="3733800"/>
            <a:ext cx="551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2. Hetero-associative Bidirectional: X &lt;&gt; Y</a:t>
            </a:r>
          </a:p>
        </p:txBody>
      </p:sp>
      <p:graphicFrame>
        <p:nvGraphicFramePr>
          <p:cNvPr id="8322" name="Object 130"/>
          <p:cNvGraphicFramePr>
            <a:graphicFrameLocks noChangeAspect="1"/>
          </p:cNvGraphicFramePr>
          <p:nvPr/>
        </p:nvGraphicFramePr>
        <p:xfrm>
          <a:off x="6477000" y="4648200"/>
          <a:ext cx="19431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3" name="Utklipp" r:id="rId6" imgW="5714640" imgH="3192120" progId="MS_ClipArt_Gallery.2">
                  <p:embed/>
                </p:oleObj>
              </mc:Choice>
              <mc:Fallback>
                <p:oleObj name="Utklipp" r:id="rId6" imgW="5714640" imgH="3192120" progId="MS_ClipArt_Gallery.2">
                  <p:embed/>
                  <p:pic>
                    <p:nvPicPr>
                      <p:cNvPr id="8322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648200"/>
                        <a:ext cx="19431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23" name="Line 131"/>
          <p:cNvSpPr>
            <a:spLocks noChangeShapeType="1"/>
          </p:cNvSpPr>
          <p:nvPr/>
        </p:nvSpPr>
        <p:spPr bwMode="auto">
          <a:xfrm>
            <a:off x="2590800" y="5257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8324" name="Line 132"/>
          <p:cNvSpPr>
            <a:spLocks noChangeShapeType="1"/>
          </p:cNvSpPr>
          <p:nvPr/>
        </p:nvSpPr>
        <p:spPr bwMode="auto">
          <a:xfrm flipV="1">
            <a:off x="3657600" y="5486400"/>
            <a:ext cx="2819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8326" name="Group 134"/>
          <p:cNvGrpSpPr>
            <a:grpSpLocks/>
          </p:cNvGrpSpPr>
          <p:nvPr/>
        </p:nvGrpSpPr>
        <p:grpSpPr bwMode="auto">
          <a:xfrm>
            <a:off x="1600200" y="4572000"/>
            <a:ext cx="738188" cy="1487488"/>
            <a:chOff x="1056" y="1152"/>
            <a:chExt cx="465" cy="937"/>
          </a:xfrm>
        </p:grpSpPr>
        <p:graphicFrame>
          <p:nvGraphicFramePr>
            <p:cNvPr id="8327" name="Object 135"/>
            <p:cNvGraphicFramePr>
              <a:graphicFrameLocks noChangeAspect="1"/>
            </p:cNvGraphicFramePr>
            <p:nvPr/>
          </p:nvGraphicFramePr>
          <p:xfrm>
            <a:off x="1056" y="1152"/>
            <a:ext cx="465" cy="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44" name="Utklipp" r:id="rId8" imgW="1395360" imgH="2658600" progId="MS_ClipArt_Gallery.2">
                    <p:embed/>
                  </p:oleObj>
                </mc:Choice>
                <mc:Fallback>
                  <p:oleObj name="Utklipp" r:id="rId8" imgW="1395360" imgH="2658600" progId="MS_ClipArt_Gallery.2">
                    <p:embed/>
                    <p:pic>
                      <p:nvPicPr>
                        <p:cNvPr id="8327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152"/>
                          <a:ext cx="465" cy="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28" name="Freeform 136"/>
            <p:cNvSpPr>
              <a:spLocks/>
            </p:cNvSpPr>
            <p:nvPr/>
          </p:nvSpPr>
          <p:spPr bwMode="auto">
            <a:xfrm>
              <a:off x="1208" y="1340"/>
              <a:ext cx="241" cy="749"/>
            </a:xfrm>
            <a:custGeom>
              <a:avLst/>
              <a:gdLst>
                <a:gd name="T0" fmla="*/ 210 w 241"/>
                <a:gd name="T1" fmla="*/ 304 h 749"/>
                <a:gd name="T2" fmla="*/ 140 w 241"/>
                <a:gd name="T3" fmla="*/ 63 h 749"/>
                <a:gd name="T4" fmla="*/ 101 w 241"/>
                <a:gd name="T5" fmla="*/ 16 h 749"/>
                <a:gd name="T6" fmla="*/ 54 w 241"/>
                <a:gd name="T7" fmla="*/ 0 h 749"/>
                <a:gd name="T8" fmla="*/ 8 w 241"/>
                <a:gd name="T9" fmla="*/ 8 h 749"/>
                <a:gd name="T10" fmla="*/ 0 w 241"/>
                <a:gd name="T11" fmla="*/ 32 h 749"/>
                <a:gd name="T12" fmla="*/ 86 w 241"/>
                <a:gd name="T13" fmla="*/ 226 h 749"/>
                <a:gd name="T14" fmla="*/ 70 w 241"/>
                <a:gd name="T15" fmla="*/ 585 h 749"/>
                <a:gd name="T16" fmla="*/ 78 w 241"/>
                <a:gd name="T17" fmla="*/ 671 h 749"/>
                <a:gd name="T18" fmla="*/ 202 w 241"/>
                <a:gd name="T19" fmla="*/ 749 h 749"/>
                <a:gd name="T20" fmla="*/ 241 w 241"/>
                <a:gd name="T21" fmla="*/ 678 h 749"/>
                <a:gd name="T22" fmla="*/ 195 w 241"/>
                <a:gd name="T23" fmla="*/ 577 h 749"/>
                <a:gd name="T24" fmla="*/ 210 w 241"/>
                <a:gd name="T25" fmla="*/ 304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749">
                  <a:moveTo>
                    <a:pt x="210" y="304"/>
                  </a:moveTo>
                  <a:cubicBezTo>
                    <a:pt x="143" y="260"/>
                    <a:pt x="158" y="130"/>
                    <a:pt x="140" y="63"/>
                  </a:cubicBezTo>
                  <a:cubicBezTo>
                    <a:pt x="136" y="50"/>
                    <a:pt x="111" y="22"/>
                    <a:pt x="101" y="16"/>
                  </a:cubicBezTo>
                  <a:cubicBezTo>
                    <a:pt x="86" y="8"/>
                    <a:pt x="54" y="0"/>
                    <a:pt x="54" y="0"/>
                  </a:cubicBezTo>
                  <a:cubicBezTo>
                    <a:pt x="39" y="3"/>
                    <a:pt x="21" y="0"/>
                    <a:pt x="8" y="8"/>
                  </a:cubicBezTo>
                  <a:cubicBezTo>
                    <a:pt x="1" y="12"/>
                    <a:pt x="0" y="24"/>
                    <a:pt x="0" y="32"/>
                  </a:cubicBezTo>
                  <a:cubicBezTo>
                    <a:pt x="0" y="124"/>
                    <a:pt x="11" y="179"/>
                    <a:pt x="86" y="226"/>
                  </a:cubicBezTo>
                  <a:cubicBezTo>
                    <a:pt x="115" y="324"/>
                    <a:pt x="107" y="480"/>
                    <a:pt x="70" y="585"/>
                  </a:cubicBezTo>
                  <a:cubicBezTo>
                    <a:pt x="73" y="614"/>
                    <a:pt x="67" y="644"/>
                    <a:pt x="78" y="671"/>
                  </a:cubicBezTo>
                  <a:cubicBezTo>
                    <a:pt x="95" y="711"/>
                    <a:pt x="164" y="739"/>
                    <a:pt x="202" y="749"/>
                  </a:cubicBezTo>
                  <a:cubicBezTo>
                    <a:pt x="218" y="726"/>
                    <a:pt x="226" y="702"/>
                    <a:pt x="241" y="678"/>
                  </a:cubicBezTo>
                  <a:cubicBezTo>
                    <a:pt x="230" y="583"/>
                    <a:pt x="235" y="638"/>
                    <a:pt x="195" y="577"/>
                  </a:cubicBezTo>
                  <a:cubicBezTo>
                    <a:pt x="199" y="482"/>
                    <a:pt x="210" y="397"/>
                    <a:pt x="210" y="30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8371" name="Text Box 179"/>
          <p:cNvSpPr txBox="1">
            <a:spLocks noChangeArrowheads="1"/>
          </p:cNvSpPr>
          <p:nvPr/>
        </p:nvSpPr>
        <p:spPr bwMode="auto">
          <a:xfrm>
            <a:off x="685800" y="3124200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*Recognize noisy versions of a pattern</a:t>
            </a:r>
            <a:endParaRPr lang="nb-NO" altLang="he-IL"/>
          </a:p>
        </p:txBody>
      </p:sp>
      <p:sp>
        <p:nvSpPr>
          <p:cNvPr id="8374" name="Text Box 182"/>
          <p:cNvSpPr txBox="1">
            <a:spLocks noChangeArrowheads="1"/>
          </p:cNvSpPr>
          <p:nvPr/>
        </p:nvSpPr>
        <p:spPr bwMode="auto">
          <a:xfrm>
            <a:off x="914400" y="6248400"/>
            <a:ext cx="3848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*Iterative correction of input and output</a:t>
            </a:r>
            <a:endParaRPr lang="nb-NO" altLang="he-IL"/>
          </a:p>
        </p:txBody>
      </p:sp>
      <p:grpSp>
        <p:nvGrpSpPr>
          <p:cNvPr id="8419" name="Group 227"/>
          <p:cNvGrpSpPr>
            <a:grpSpLocks/>
          </p:cNvGrpSpPr>
          <p:nvPr/>
        </p:nvGrpSpPr>
        <p:grpSpPr bwMode="auto">
          <a:xfrm>
            <a:off x="3657600" y="4876800"/>
            <a:ext cx="838200" cy="706438"/>
            <a:chOff x="2304" y="2832"/>
            <a:chExt cx="528" cy="445"/>
          </a:xfrm>
        </p:grpSpPr>
        <p:sp>
          <p:nvSpPr>
            <p:cNvPr id="8377" name="Line 185"/>
            <p:cNvSpPr>
              <a:spLocks noChangeShapeType="1"/>
            </p:cNvSpPr>
            <p:nvPr/>
          </p:nvSpPr>
          <p:spPr bwMode="auto">
            <a:xfrm rot="16312757" flipV="1">
              <a:off x="2470" y="2909"/>
              <a:ext cx="14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78" name="Line 186"/>
            <p:cNvSpPr>
              <a:spLocks noChangeShapeType="1"/>
            </p:cNvSpPr>
            <p:nvPr/>
          </p:nvSpPr>
          <p:spPr bwMode="auto">
            <a:xfrm rot="16312757" flipV="1">
              <a:off x="2498" y="2789"/>
              <a:ext cx="9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79" name="Line 187"/>
            <p:cNvSpPr>
              <a:spLocks noChangeShapeType="1"/>
            </p:cNvSpPr>
            <p:nvPr/>
          </p:nvSpPr>
          <p:spPr bwMode="auto">
            <a:xfrm rot="-5287243" flipH="1" flipV="1">
              <a:off x="2424" y="2862"/>
              <a:ext cx="28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80" name="Line 188"/>
            <p:cNvSpPr>
              <a:spLocks noChangeShapeType="1"/>
            </p:cNvSpPr>
            <p:nvPr/>
          </p:nvSpPr>
          <p:spPr bwMode="auto">
            <a:xfrm rot="-5287243" flipH="1" flipV="1">
              <a:off x="2469" y="2958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81" name="Line 189"/>
            <p:cNvSpPr>
              <a:spLocks noChangeShapeType="1"/>
            </p:cNvSpPr>
            <p:nvPr/>
          </p:nvSpPr>
          <p:spPr bwMode="auto">
            <a:xfrm rot="16312757" flipV="1">
              <a:off x="2424" y="2862"/>
              <a:ext cx="28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82" name="Line 190"/>
            <p:cNvSpPr>
              <a:spLocks noChangeShapeType="1"/>
            </p:cNvSpPr>
            <p:nvPr/>
          </p:nvSpPr>
          <p:spPr bwMode="auto">
            <a:xfrm rot="-5287243">
              <a:off x="2499" y="2790"/>
              <a:ext cx="14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83" name="Line 191"/>
            <p:cNvSpPr>
              <a:spLocks noChangeShapeType="1"/>
            </p:cNvSpPr>
            <p:nvPr/>
          </p:nvSpPr>
          <p:spPr bwMode="auto">
            <a:xfrm rot="-5287243">
              <a:off x="2544" y="2885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84" name="Line 192"/>
            <p:cNvSpPr>
              <a:spLocks noChangeShapeType="1"/>
            </p:cNvSpPr>
            <p:nvPr/>
          </p:nvSpPr>
          <p:spPr bwMode="auto">
            <a:xfrm rot="16312757" flipV="1">
              <a:off x="2491" y="3029"/>
              <a:ext cx="4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85" name="Line 193"/>
            <p:cNvSpPr>
              <a:spLocks noChangeShapeType="1"/>
            </p:cNvSpPr>
            <p:nvPr/>
          </p:nvSpPr>
          <p:spPr bwMode="auto">
            <a:xfrm rot="-5287243" flipH="1" flipV="1">
              <a:off x="2524" y="2765"/>
              <a:ext cx="4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grpSp>
          <p:nvGrpSpPr>
            <p:cNvPr id="8386" name="Group 194"/>
            <p:cNvGrpSpPr>
              <a:grpSpLocks/>
            </p:cNvGrpSpPr>
            <p:nvPr/>
          </p:nvGrpSpPr>
          <p:grpSpPr bwMode="auto">
            <a:xfrm rot="-5287243">
              <a:off x="2160" y="2976"/>
              <a:ext cx="432" cy="144"/>
              <a:chOff x="4896" y="1776"/>
              <a:chExt cx="432" cy="144"/>
            </a:xfrm>
          </p:grpSpPr>
          <p:sp>
            <p:nvSpPr>
              <p:cNvPr id="8387" name="Oval 195"/>
              <p:cNvSpPr>
                <a:spLocks noChangeArrowheads="1"/>
              </p:cNvSpPr>
              <p:nvPr/>
            </p:nvSpPr>
            <p:spPr bwMode="auto">
              <a:xfrm>
                <a:off x="4944" y="182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388" name="Oval 196"/>
              <p:cNvSpPr>
                <a:spLocks noChangeArrowheads="1"/>
              </p:cNvSpPr>
              <p:nvPr/>
            </p:nvSpPr>
            <p:spPr bwMode="auto">
              <a:xfrm>
                <a:off x="5088" y="182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389" name="Oval 197"/>
              <p:cNvSpPr>
                <a:spLocks noChangeArrowheads="1"/>
              </p:cNvSpPr>
              <p:nvPr/>
            </p:nvSpPr>
            <p:spPr bwMode="auto">
              <a:xfrm>
                <a:off x="5232" y="182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390" name="AutoShape 198"/>
              <p:cNvSpPr>
                <a:spLocks noChangeArrowheads="1"/>
              </p:cNvSpPr>
              <p:nvPr/>
            </p:nvSpPr>
            <p:spPr bwMode="auto">
              <a:xfrm>
                <a:off x="4896" y="1776"/>
                <a:ext cx="432" cy="144"/>
              </a:xfrm>
              <a:prstGeom prst="roundRect">
                <a:avLst>
                  <a:gd name="adj" fmla="val 16667"/>
                </a:avLst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8391" name="Group 199"/>
            <p:cNvGrpSpPr>
              <a:grpSpLocks/>
            </p:cNvGrpSpPr>
            <p:nvPr/>
          </p:nvGrpSpPr>
          <p:grpSpPr bwMode="auto">
            <a:xfrm rot="-5287243">
              <a:off x="2544" y="2989"/>
              <a:ext cx="432" cy="144"/>
              <a:chOff x="4896" y="2112"/>
              <a:chExt cx="432" cy="144"/>
            </a:xfrm>
          </p:grpSpPr>
          <p:sp>
            <p:nvSpPr>
              <p:cNvPr id="8392" name="Oval 200"/>
              <p:cNvSpPr>
                <a:spLocks noChangeArrowheads="1"/>
              </p:cNvSpPr>
              <p:nvPr/>
            </p:nvSpPr>
            <p:spPr bwMode="auto">
              <a:xfrm>
                <a:off x="4944" y="2160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393" name="Oval 201"/>
              <p:cNvSpPr>
                <a:spLocks noChangeArrowheads="1"/>
              </p:cNvSpPr>
              <p:nvPr/>
            </p:nvSpPr>
            <p:spPr bwMode="auto">
              <a:xfrm>
                <a:off x="5088" y="2160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394" name="Oval 202"/>
              <p:cNvSpPr>
                <a:spLocks noChangeArrowheads="1"/>
              </p:cNvSpPr>
              <p:nvPr/>
            </p:nvSpPr>
            <p:spPr bwMode="auto">
              <a:xfrm>
                <a:off x="5232" y="2160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395" name="AutoShape 203"/>
              <p:cNvSpPr>
                <a:spLocks noChangeArrowheads="1"/>
              </p:cNvSpPr>
              <p:nvPr/>
            </p:nvSpPr>
            <p:spPr bwMode="auto">
              <a:xfrm>
                <a:off x="4896" y="2112"/>
                <a:ext cx="432" cy="144"/>
              </a:xfrm>
              <a:prstGeom prst="roundRect">
                <a:avLst>
                  <a:gd name="adj" fmla="val 16667"/>
                </a:avLst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8405" name="Group 213"/>
            <p:cNvGrpSpPr>
              <a:grpSpLocks/>
            </p:cNvGrpSpPr>
            <p:nvPr/>
          </p:nvGrpSpPr>
          <p:grpSpPr bwMode="auto">
            <a:xfrm rot="-5287243">
              <a:off x="2544" y="2989"/>
              <a:ext cx="432" cy="144"/>
              <a:chOff x="4896" y="1776"/>
              <a:chExt cx="432" cy="144"/>
            </a:xfrm>
          </p:grpSpPr>
          <p:sp>
            <p:nvSpPr>
              <p:cNvPr id="8406" name="Oval 214"/>
              <p:cNvSpPr>
                <a:spLocks noChangeArrowheads="1"/>
              </p:cNvSpPr>
              <p:nvPr/>
            </p:nvSpPr>
            <p:spPr bwMode="auto">
              <a:xfrm>
                <a:off x="4944" y="182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407" name="Oval 215"/>
              <p:cNvSpPr>
                <a:spLocks noChangeArrowheads="1"/>
              </p:cNvSpPr>
              <p:nvPr/>
            </p:nvSpPr>
            <p:spPr bwMode="auto">
              <a:xfrm>
                <a:off x="5088" y="182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408" name="Oval 216"/>
              <p:cNvSpPr>
                <a:spLocks noChangeArrowheads="1"/>
              </p:cNvSpPr>
              <p:nvPr/>
            </p:nvSpPr>
            <p:spPr bwMode="auto">
              <a:xfrm>
                <a:off x="5232" y="182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409" name="AutoShape 217"/>
              <p:cNvSpPr>
                <a:spLocks noChangeArrowheads="1"/>
              </p:cNvSpPr>
              <p:nvPr/>
            </p:nvSpPr>
            <p:spPr bwMode="auto">
              <a:xfrm>
                <a:off x="4896" y="1776"/>
                <a:ext cx="432" cy="144"/>
              </a:xfrm>
              <a:prstGeom prst="roundRect">
                <a:avLst>
                  <a:gd name="adj" fmla="val 16667"/>
                </a:avLst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graphicFrame>
        <p:nvGraphicFramePr>
          <p:cNvPr id="8420" name="Object 228"/>
          <p:cNvGraphicFramePr>
            <a:graphicFrameLocks noChangeAspect="1"/>
          </p:cNvGraphicFramePr>
          <p:nvPr/>
        </p:nvGraphicFramePr>
        <p:xfrm>
          <a:off x="3352800" y="5562600"/>
          <a:ext cx="239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5" name="Utklipp" r:id="rId9" imgW="1395360" imgH="2658600" progId="MS_ClipArt_Gallery.2">
                  <p:embed/>
                </p:oleObj>
              </mc:Choice>
              <mc:Fallback>
                <p:oleObj name="Utklipp" r:id="rId9" imgW="1395360" imgH="2658600" progId="MS_ClipArt_Gallery.2">
                  <p:embed/>
                  <p:pic>
                    <p:nvPicPr>
                      <p:cNvPr id="8420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562600"/>
                        <a:ext cx="239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21" name="Group 229"/>
          <p:cNvGrpSpPr>
            <a:grpSpLocks/>
          </p:cNvGrpSpPr>
          <p:nvPr/>
        </p:nvGrpSpPr>
        <p:grpSpPr bwMode="auto">
          <a:xfrm>
            <a:off x="3810000" y="4267200"/>
            <a:ext cx="457200" cy="609600"/>
            <a:chOff x="1056" y="1152"/>
            <a:chExt cx="465" cy="937"/>
          </a:xfrm>
        </p:grpSpPr>
        <p:graphicFrame>
          <p:nvGraphicFramePr>
            <p:cNvPr id="8422" name="Object 230"/>
            <p:cNvGraphicFramePr>
              <a:graphicFrameLocks noChangeAspect="1"/>
            </p:cNvGraphicFramePr>
            <p:nvPr/>
          </p:nvGraphicFramePr>
          <p:xfrm>
            <a:off x="1056" y="1152"/>
            <a:ext cx="465" cy="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46" name="Utklipp" r:id="rId10" imgW="1395360" imgH="2658600" progId="MS_ClipArt_Gallery.2">
                    <p:embed/>
                  </p:oleObj>
                </mc:Choice>
                <mc:Fallback>
                  <p:oleObj name="Utklipp" r:id="rId10" imgW="1395360" imgH="2658600" progId="MS_ClipArt_Gallery.2">
                    <p:embed/>
                    <p:pic>
                      <p:nvPicPr>
                        <p:cNvPr id="8422" name="Object 2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152"/>
                          <a:ext cx="465" cy="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23" name="Freeform 231"/>
            <p:cNvSpPr>
              <a:spLocks/>
            </p:cNvSpPr>
            <p:nvPr/>
          </p:nvSpPr>
          <p:spPr bwMode="auto">
            <a:xfrm>
              <a:off x="1208" y="1340"/>
              <a:ext cx="241" cy="749"/>
            </a:xfrm>
            <a:custGeom>
              <a:avLst/>
              <a:gdLst>
                <a:gd name="T0" fmla="*/ 210 w 241"/>
                <a:gd name="T1" fmla="*/ 304 h 749"/>
                <a:gd name="T2" fmla="*/ 140 w 241"/>
                <a:gd name="T3" fmla="*/ 63 h 749"/>
                <a:gd name="T4" fmla="*/ 101 w 241"/>
                <a:gd name="T5" fmla="*/ 16 h 749"/>
                <a:gd name="T6" fmla="*/ 54 w 241"/>
                <a:gd name="T7" fmla="*/ 0 h 749"/>
                <a:gd name="T8" fmla="*/ 8 w 241"/>
                <a:gd name="T9" fmla="*/ 8 h 749"/>
                <a:gd name="T10" fmla="*/ 0 w 241"/>
                <a:gd name="T11" fmla="*/ 32 h 749"/>
                <a:gd name="T12" fmla="*/ 86 w 241"/>
                <a:gd name="T13" fmla="*/ 226 h 749"/>
                <a:gd name="T14" fmla="*/ 70 w 241"/>
                <a:gd name="T15" fmla="*/ 585 h 749"/>
                <a:gd name="T16" fmla="*/ 78 w 241"/>
                <a:gd name="T17" fmla="*/ 671 h 749"/>
                <a:gd name="T18" fmla="*/ 202 w 241"/>
                <a:gd name="T19" fmla="*/ 749 h 749"/>
                <a:gd name="T20" fmla="*/ 241 w 241"/>
                <a:gd name="T21" fmla="*/ 678 h 749"/>
                <a:gd name="T22" fmla="*/ 195 w 241"/>
                <a:gd name="T23" fmla="*/ 577 h 749"/>
                <a:gd name="T24" fmla="*/ 210 w 241"/>
                <a:gd name="T25" fmla="*/ 304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749">
                  <a:moveTo>
                    <a:pt x="210" y="304"/>
                  </a:moveTo>
                  <a:cubicBezTo>
                    <a:pt x="143" y="260"/>
                    <a:pt x="158" y="130"/>
                    <a:pt x="140" y="63"/>
                  </a:cubicBezTo>
                  <a:cubicBezTo>
                    <a:pt x="136" y="50"/>
                    <a:pt x="111" y="22"/>
                    <a:pt x="101" y="16"/>
                  </a:cubicBezTo>
                  <a:cubicBezTo>
                    <a:pt x="86" y="8"/>
                    <a:pt x="54" y="0"/>
                    <a:pt x="54" y="0"/>
                  </a:cubicBezTo>
                  <a:cubicBezTo>
                    <a:pt x="39" y="3"/>
                    <a:pt x="21" y="0"/>
                    <a:pt x="8" y="8"/>
                  </a:cubicBezTo>
                  <a:cubicBezTo>
                    <a:pt x="1" y="12"/>
                    <a:pt x="0" y="24"/>
                    <a:pt x="0" y="32"/>
                  </a:cubicBezTo>
                  <a:cubicBezTo>
                    <a:pt x="0" y="124"/>
                    <a:pt x="11" y="179"/>
                    <a:pt x="86" y="226"/>
                  </a:cubicBezTo>
                  <a:cubicBezTo>
                    <a:pt x="115" y="324"/>
                    <a:pt x="107" y="480"/>
                    <a:pt x="70" y="585"/>
                  </a:cubicBezTo>
                  <a:cubicBezTo>
                    <a:pt x="73" y="614"/>
                    <a:pt x="67" y="644"/>
                    <a:pt x="78" y="671"/>
                  </a:cubicBezTo>
                  <a:cubicBezTo>
                    <a:pt x="95" y="711"/>
                    <a:pt x="164" y="739"/>
                    <a:pt x="202" y="749"/>
                  </a:cubicBezTo>
                  <a:cubicBezTo>
                    <a:pt x="218" y="726"/>
                    <a:pt x="226" y="702"/>
                    <a:pt x="241" y="678"/>
                  </a:cubicBezTo>
                  <a:cubicBezTo>
                    <a:pt x="230" y="583"/>
                    <a:pt x="235" y="638"/>
                    <a:pt x="195" y="577"/>
                  </a:cubicBezTo>
                  <a:cubicBezTo>
                    <a:pt x="199" y="482"/>
                    <a:pt x="210" y="397"/>
                    <a:pt x="210" y="30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8424" name="Group 232"/>
          <p:cNvGrpSpPr>
            <a:grpSpLocks/>
          </p:cNvGrpSpPr>
          <p:nvPr/>
        </p:nvGrpSpPr>
        <p:grpSpPr bwMode="auto">
          <a:xfrm>
            <a:off x="4572000" y="5029200"/>
            <a:ext cx="838200" cy="457200"/>
            <a:chOff x="3024" y="2976"/>
            <a:chExt cx="1224" cy="684"/>
          </a:xfrm>
        </p:grpSpPr>
        <p:graphicFrame>
          <p:nvGraphicFramePr>
            <p:cNvPr id="8425" name="Object 233"/>
            <p:cNvGraphicFramePr>
              <a:graphicFrameLocks noChangeAspect="1"/>
            </p:cNvGraphicFramePr>
            <p:nvPr/>
          </p:nvGraphicFramePr>
          <p:xfrm>
            <a:off x="3024" y="2976"/>
            <a:ext cx="1224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47" name="Utklipp" r:id="rId11" imgW="5714640" imgH="3192120" progId="MS_ClipArt_Gallery.2">
                    <p:embed/>
                  </p:oleObj>
                </mc:Choice>
                <mc:Fallback>
                  <p:oleObj name="Utklipp" r:id="rId11" imgW="5714640" imgH="3192120" progId="MS_ClipArt_Gallery.2">
                    <p:embed/>
                    <p:pic>
                      <p:nvPicPr>
                        <p:cNvPr id="8425" name="Object 2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976"/>
                          <a:ext cx="1224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26" name="Freeform 234"/>
            <p:cNvSpPr>
              <a:spLocks/>
            </p:cNvSpPr>
            <p:nvPr/>
          </p:nvSpPr>
          <p:spPr bwMode="auto">
            <a:xfrm>
              <a:off x="3177" y="3117"/>
              <a:ext cx="616" cy="477"/>
            </a:xfrm>
            <a:custGeom>
              <a:avLst/>
              <a:gdLst>
                <a:gd name="T0" fmla="*/ 141 w 616"/>
                <a:gd name="T1" fmla="*/ 26 h 477"/>
                <a:gd name="T2" fmla="*/ 19 w 616"/>
                <a:gd name="T3" fmla="*/ 63 h 477"/>
                <a:gd name="T4" fmla="*/ 3 w 616"/>
                <a:gd name="T5" fmla="*/ 79 h 477"/>
                <a:gd name="T6" fmla="*/ 41 w 616"/>
                <a:gd name="T7" fmla="*/ 159 h 477"/>
                <a:gd name="T8" fmla="*/ 14 w 616"/>
                <a:gd name="T9" fmla="*/ 297 h 477"/>
                <a:gd name="T10" fmla="*/ 25 w 616"/>
                <a:gd name="T11" fmla="*/ 313 h 477"/>
                <a:gd name="T12" fmla="*/ 173 w 616"/>
                <a:gd name="T13" fmla="*/ 345 h 477"/>
                <a:gd name="T14" fmla="*/ 216 w 616"/>
                <a:gd name="T15" fmla="*/ 392 h 477"/>
                <a:gd name="T16" fmla="*/ 258 w 616"/>
                <a:gd name="T17" fmla="*/ 477 h 477"/>
                <a:gd name="T18" fmla="*/ 338 w 616"/>
                <a:gd name="T19" fmla="*/ 435 h 477"/>
                <a:gd name="T20" fmla="*/ 391 w 616"/>
                <a:gd name="T21" fmla="*/ 382 h 477"/>
                <a:gd name="T22" fmla="*/ 561 w 616"/>
                <a:gd name="T23" fmla="*/ 408 h 477"/>
                <a:gd name="T24" fmla="*/ 540 w 616"/>
                <a:gd name="T25" fmla="*/ 286 h 477"/>
                <a:gd name="T26" fmla="*/ 524 w 616"/>
                <a:gd name="T27" fmla="*/ 212 h 477"/>
                <a:gd name="T28" fmla="*/ 556 w 616"/>
                <a:gd name="T29" fmla="*/ 154 h 477"/>
                <a:gd name="T30" fmla="*/ 545 w 616"/>
                <a:gd name="T31" fmla="*/ 85 h 477"/>
                <a:gd name="T32" fmla="*/ 513 w 616"/>
                <a:gd name="T33" fmla="*/ 63 h 477"/>
                <a:gd name="T34" fmla="*/ 492 w 616"/>
                <a:gd name="T35" fmla="*/ 5 h 477"/>
                <a:gd name="T36" fmla="*/ 476 w 616"/>
                <a:gd name="T37" fmla="*/ 0 h 477"/>
                <a:gd name="T38" fmla="*/ 285 w 616"/>
                <a:gd name="T39" fmla="*/ 5 h 477"/>
                <a:gd name="T40" fmla="*/ 141 w 616"/>
                <a:gd name="T41" fmla="*/ 26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6" h="477">
                  <a:moveTo>
                    <a:pt x="141" y="26"/>
                  </a:moveTo>
                  <a:cubicBezTo>
                    <a:pt x="99" y="37"/>
                    <a:pt x="60" y="50"/>
                    <a:pt x="19" y="63"/>
                  </a:cubicBezTo>
                  <a:cubicBezTo>
                    <a:pt x="14" y="68"/>
                    <a:pt x="4" y="71"/>
                    <a:pt x="3" y="79"/>
                  </a:cubicBezTo>
                  <a:cubicBezTo>
                    <a:pt x="0" y="107"/>
                    <a:pt x="31" y="133"/>
                    <a:pt x="41" y="159"/>
                  </a:cubicBezTo>
                  <a:cubicBezTo>
                    <a:pt x="34" y="211"/>
                    <a:pt x="26" y="248"/>
                    <a:pt x="14" y="297"/>
                  </a:cubicBezTo>
                  <a:cubicBezTo>
                    <a:pt x="18" y="302"/>
                    <a:pt x="19" y="311"/>
                    <a:pt x="25" y="313"/>
                  </a:cubicBezTo>
                  <a:cubicBezTo>
                    <a:pt x="61" y="325"/>
                    <a:pt x="131" y="337"/>
                    <a:pt x="173" y="345"/>
                  </a:cubicBezTo>
                  <a:cubicBezTo>
                    <a:pt x="197" y="362"/>
                    <a:pt x="209" y="364"/>
                    <a:pt x="216" y="392"/>
                  </a:cubicBezTo>
                  <a:cubicBezTo>
                    <a:pt x="220" y="445"/>
                    <a:pt x="209" y="465"/>
                    <a:pt x="258" y="477"/>
                  </a:cubicBezTo>
                  <a:cubicBezTo>
                    <a:pt x="316" y="472"/>
                    <a:pt x="310" y="475"/>
                    <a:pt x="338" y="435"/>
                  </a:cubicBezTo>
                  <a:cubicBezTo>
                    <a:pt x="353" y="384"/>
                    <a:pt x="337" y="403"/>
                    <a:pt x="391" y="382"/>
                  </a:cubicBezTo>
                  <a:cubicBezTo>
                    <a:pt x="454" y="387"/>
                    <a:pt x="497" y="404"/>
                    <a:pt x="561" y="408"/>
                  </a:cubicBezTo>
                  <a:cubicBezTo>
                    <a:pt x="616" y="391"/>
                    <a:pt x="555" y="318"/>
                    <a:pt x="540" y="286"/>
                  </a:cubicBezTo>
                  <a:cubicBezTo>
                    <a:pt x="535" y="261"/>
                    <a:pt x="529" y="237"/>
                    <a:pt x="524" y="212"/>
                  </a:cubicBezTo>
                  <a:cubicBezTo>
                    <a:pt x="529" y="191"/>
                    <a:pt x="556" y="154"/>
                    <a:pt x="556" y="154"/>
                  </a:cubicBezTo>
                  <a:cubicBezTo>
                    <a:pt x="563" y="131"/>
                    <a:pt x="565" y="102"/>
                    <a:pt x="545" y="85"/>
                  </a:cubicBezTo>
                  <a:cubicBezTo>
                    <a:pt x="535" y="77"/>
                    <a:pt x="513" y="63"/>
                    <a:pt x="513" y="63"/>
                  </a:cubicBezTo>
                  <a:cubicBezTo>
                    <a:pt x="503" y="48"/>
                    <a:pt x="496" y="11"/>
                    <a:pt x="492" y="5"/>
                  </a:cubicBezTo>
                  <a:cubicBezTo>
                    <a:pt x="489" y="0"/>
                    <a:pt x="481" y="2"/>
                    <a:pt x="476" y="0"/>
                  </a:cubicBezTo>
                  <a:cubicBezTo>
                    <a:pt x="412" y="2"/>
                    <a:pt x="349" y="2"/>
                    <a:pt x="285" y="5"/>
                  </a:cubicBezTo>
                  <a:cubicBezTo>
                    <a:pt x="237" y="7"/>
                    <a:pt x="191" y="26"/>
                    <a:pt x="141" y="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8428" name="Line 236"/>
          <p:cNvSpPr>
            <a:spLocks noChangeShapeType="1"/>
          </p:cNvSpPr>
          <p:nvPr/>
        </p:nvSpPr>
        <p:spPr bwMode="auto">
          <a:xfrm flipV="1">
            <a:off x="3581400" y="4572000"/>
            <a:ext cx="304800" cy="228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8429" name="Line 237"/>
          <p:cNvSpPr>
            <a:spLocks noChangeShapeType="1"/>
          </p:cNvSpPr>
          <p:nvPr/>
        </p:nvSpPr>
        <p:spPr bwMode="auto">
          <a:xfrm flipH="1">
            <a:off x="3733800" y="5562600"/>
            <a:ext cx="1066800" cy="3048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8430" name="Line 238"/>
          <p:cNvSpPr>
            <a:spLocks noChangeShapeType="1"/>
          </p:cNvSpPr>
          <p:nvPr/>
        </p:nvSpPr>
        <p:spPr bwMode="auto">
          <a:xfrm>
            <a:off x="4343400" y="4572000"/>
            <a:ext cx="304800" cy="381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8431" name="Text Box 239"/>
          <p:cNvSpPr txBox="1">
            <a:spLocks noChangeArrowheads="1"/>
          </p:cNvSpPr>
          <p:nvPr/>
        </p:nvSpPr>
        <p:spPr bwMode="auto">
          <a:xfrm>
            <a:off x="4876800" y="4191000"/>
            <a:ext cx="4110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BAM = Bidirectional Associative Memory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63828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3048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Associative Network Types (2)</a:t>
            </a:r>
            <a:endParaRPr lang="nb-NO" altLang="he-IL"/>
          </a:p>
        </p:txBody>
      </p:sp>
      <p:sp>
        <p:nvSpPr>
          <p:cNvPr id="10282" name="Text Box 1066"/>
          <p:cNvSpPr txBox="1">
            <a:spLocks noChangeArrowheads="1"/>
          </p:cNvSpPr>
          <p:nvPr/>
        </p:nvSpPr>
        <p:spPr bwMode="auto">
          <a:xfrm>
            <a:off x="304800" y="914400"/>
            <a:ext cx="5948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3. Hetero-associative Input Correcting: X &lt;&gt; Y</a:t>
            </a:r>
          </a:p>
        </p:txBody>
      </p:sp>
      <p:sp>
        <p:nvSpPr>
          <p:cNvPr id="10283" name="Oval 1067"/>
          <p:cNvSpPr>
            <a:spLocks noChangeArrowheads="1"/>
          </p:cNvSpPr>
          <p:nvPr/>
        </p:nvSpPr>
        <p:spPr bwMode="auto">
          <a:xfrm rot="-5400000">
            <a:off x="5106988" y="2744788"/>
            <a:ext cx="76200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284" name="Oval 1068"/>
          <p:cNvSpPr>
            <a:spLocks noChangeArrowheads="1"/>
          </p:cNvSpPr>
          <p:nvPr/>
        </p:nvSpPr>
        <p:spPr bwMode="auto">
          <a:xfrm rot="-5400000">
            <a:off x="5105400" y="2514600"/>
            <a:ext cx="76200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285" name="Oval 1069"/>
          <p:cNvSpPr>
            <a:spLocks noChangeArrowheads="1"/>
          </p:cNvSpPr>
          <p:nvPr/>
        </p:nvSpPr>
        <p:spPr bwMode="auto">
          <a:xfrm rot="-5400000">
            <a:off x="5106988" y="2287588"/>
            <a:ext cx="76200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286" name="AutoShape 1070"/>
          <p:cNvSpPr>
            <a:spLocks noChangeArrowheads="1"/>
          </p:cNvSpPr>
          <p:nvPr/>
        </p:nvSpPr>
        <p:spPr bwMode="auto">
          <a:xfrm rot="-5400000">
            <a:off x="4686300" y="2324100"/>
            <a:ext cx="914400" cy="228600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287" name="Oval 1071"/>
          <p:cNvSpPr>
            <a:spLocks noChangeArrowheads="1"/>
          </p:cNvSpPr>
          <p:nvPr/>
        </p:nvSpPr>
        <p:spPr bwMode="auto">
          <a:xfrm rot="-5400000">
            <a:off x="5105400" y="2057400"/>
            <a:ext cx="76200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0288" name="Group 1072"/>
          <p:cNvGrpSpPr>
            <a:grpSpLocks/>
          </p:cNvGrpSpPr>
          <p:nvPr/>
        </p:nvGrpSpPr>
        <p:grpSpPr bwMode="auto">
          <a:xfrm rot="-10800000">
            <a:off x="3503613" y="2208213"/>
            <a:ext cx="609600" cy="457200"/>
            <a:chOff x="1920" y="2976"/>
            <a:chExt cx="384" cy="288"/>
          </a:xfrm>
        </p:grpSpPr>
        <p:sp>
          <p:nvSpPr>
            <p:cNvPr id="10289" name="Line 1073"/>
            <p:cNvSpPr>
              <a:spLocks noChangeShapeType="1"/>
            </p:cNvSpPr>
            <p:nvPr/>
          </p:nvSpPr>
          <p:spPr bwMode="auto">
            <a:xfrm flipV="1">
              <a:off x="2112" y="3024"/>
              <a:ext cx="48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0" name="Line 1074"/>
            <p:cNvSpPr>
              <a:spLocks noChangeShapeType="1"/>
            </p:cNvSpPr>
            <p:nvPr/>
          </p:nvSpPr>
          <p:spPr bwMode="auto">
            <a:xfrm>
              <a:off x="1968" y="3072"/>
              <a:ext cx="28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1" name="Oval 1075"/>
            <p:cNvSpPr>
              <a:spLocks noChangeArrowheads="1"/>
            </p:cNvSpPr>
            <p:nvPr/>
          </p:nvSpPr>
          <p:spPr bwMode="auto">
            <a:xfrm>
              <a:off x="1920" y="3024"/>
              <a:ext cx="48" cy="4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2" name="Oval 1076"/>
            <p:cNvSpPr>
              <a:spLocks noChangeArrowheads="1"/>
            </p:cNvSpPr>
            <p:nvPr/>
          </p:nvSpPr>
          <p:spPr bwMode="auto">
            <a:xfrm>
              <a:off x="2064" y="3216"/>
              <a:ext cx="48" cy="4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3" name="Oval 1077"/>
            <p:cNvSpPr>
              <a:spLocks noChangeArrowheads="1"/>
            </p:cNvSpPr>
            <p:nvPr/>
          </p:nvSpPr>
          <p:spPr bwMode="auto">
            <a:xfrm>
              <a:off x="2256" y="3168"/>
              <a:ext cx="48" cy="4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4" name="Oval 1078"/>
            <p:cNvSpPr>
              <a:spLocks noChangeArrowheads="1"/>
            </p:cNvSpPr>
            <p:nvPr/>
          </p:nvSpPr>
          <p:spPr bwMode="auto">
            <a:xfrm>
              <a:off x="2160" y="2976"/>
              <a:ext cx="48" cy="4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5" name="Line 1079"/>
            <p:cNvSpPr>
              <a:spLocks noChangeShapeType="1"/>
            </p:cNvSpPr>
            <p:nvPr/>
          </p:nvSpPr>
          <p:spPr bwMode="auto">
            <a:xfrm flipV="1">
              <a:off x="2112" y="3216"/>
              <a:ext cx="14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6" name="Line 1080"/>
            <p:cNvSpPr>
              <a:spLocks noChangeShapeType="1"/>
            </p:cNvSpPr>
            <p:nvPr/>
          </p:nvSpPr>
          <p:spPr bwMode="auto">
            <a:xfrm flipH="1" flipV="1">
              <a:off x="2208" y="3024"/>
              <a:ext cx="96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7" name="Line 1081"/>
            <p:cNvSpPr>
              <a:spLocks noChangeShapeType="1"/>
            </p:cNvSpPr>
            <p:nvPr/>
          </p:nvSpPr>
          <p:spPr bwMode="auto">
            <a:xfrm flipV="1">
              <a:off x="1968" y="302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298" name="Line 1082"/>
            <p:cNvSpPr>
              <a:spLocks noChangeShapeType="1"/>
            </p:cNvSpPr>
            <p:nvPr/>
          </p:nvSpPr>
          <p:spPr bwMode="auto">
            <a:xfrm flipH="1" flipV="1">
              <a:off x="1920" y="3072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0299" name="Line 1083"/>
          <p:cNvSpPr>
            <a:spLocks noChangeShapeType="1"/>
          </p:cNvSpPr>
          <p:nvPr/>
        </p:nvSpPr>
        <p:spPr bwMode="auto">
          <a:xfrm rot="-10800000">
            <a:off x="4113213" y="2589213"/>
            <a:ext cx="990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cxnSp>
        <p:nvCxnSpPr>
          <p:cNvPr id="10300" name="AutoShape 1084"/>
          <p:cNvCxnSpPr>
            <a:cxnSpLocks noChangeShapeType="1"/>
            <a:stCxn id="10299" idx="0"/>
            <a:endCxn id="10294" idx="0"/>
          </p:cNvCxnSpPr>
          <p:nvPr/>
        </p:nvCxnSpPr>
        <p:spPr bwMode="auto">
          <a:xfrm rot="16200000" flipV="1">
            <a:off x="4318794" y="2034382"/>
            <a:ext cx="155575" cy="1411287"/>
          </a:xfrm>
          <a:prstGeom prst="curvedConnector3">
            <a:avLst>
              <a:gd name="adj1" fmla="val -146940"/>
            </a:avLst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01" name="Line 1085"/>
          <p:cNvSpPr>
            <a:spLocks noChangeShapeType="1"/>
          </p:cNvSpPr>
          <p:nvPr/>
        </p:nvSpPr>
        <p:spPr bwMode="auto">
          <a:xfrm rot="-10800000">
            <a:off x="4113213" y="2513013"/>
            <a:ext cx="990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02" name="Line 1086"/>
          <p:cNvSpPr>
            <a:spLocks noChangeShapeType="1"/>
          </p:cNvSpPr>
          <p:nvPr/>
        </p:nvSpPr>
        <p:spPr bwMode="auto">
          <a:xfrm rot="10800000" flipV="1">
            <a:off x="4113213" y="2360613"/>
            <a:ext cx="990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03" name="Line 1087"/>
          <p:cNvSpPr>
            <a:spLocks noChangeShapeType="1"/>
          </p:cNvSpPr>
          <p:nvPr/>
        </p:nvSpPr>
        <p:spPr bwMode="auto">
          <a:xfrm rot="10800000" flipV="1">
            <a:off x="4113213" y="2132013"/>
            <a:ext cx="990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cxnSp>
        <p:nvCxnSpPr>
          <p:cNvPr id="10304" name="AutoShape 1088"/>
          <p:cNvCxnSpPr>
            <a:cxnSpLocks noChangeShapeType="1"/>
            <a:stCxn id="10303" idx="0"/>
            <a:endCxn id="10293" idx="5"/>
          </p:cNvCxnSpPr>
          <p:nvPr/>
        </p:nvCxnSpPr>
        <p:spPr bwMode="auto">
          <a:xfrm rot="16200000" flipH="1" flipV="1">
            <a:off x="4227513" y="1417638"/>
            <a:ext cx="161925" cy="1590675"/>
          </a:xfrm>
          <a:prstGeom prst="curvedConnector3">
            <a:avLst>
              <a:gd name="adj1" fmla="val -141176"/>
            </a:avLst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05" name="Line 1089"/>
          <p:cNvSpPr>
            <a:spLocks noChangeShapeType="1"/>
          </p:cNvSpPr>
          <p:nvPr/>
        </p:nvSpPr>
        <p:spPr bwMode="auto">
          <a:xfrm rot="-10800000">
            <a:off x="3960813" y="2284413"/>
            <a:ext cx="1143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06" name="Line 1090"/>
          <p:cNvSpPr>
            <a:spLocks noChangeShapeType="1"/>
          </p:cNvSpPr>
          <p:nvPr/>
        </p:nvSpPr>
        <p:spPr bwMode="auto">
          <a:xfrm rot="-10800000">
            <a:off x="3960813" y="2284413"/>
            <a:ext cx="1143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07" name="Line 1091"/>
          <p:cNvSpPr>
            <a:spLocks noChangeShapeType="1"/>
          </p:cNvSpPr>
          <p:nvPr/>
        </p:nvSpPr>
        <p:spPr bwMode="auto">
          <a:xfrm rot="-10800000">
            <a:off x="3884613" y="2208213"/>
            <a:ext cx="12192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08" name="Line 1092"/>
          <p:cNvSpPr>
            <a:spLocks noChangeShapeType="1"/>
          </p:cNvSpPr>
          <p:nvPr/>
        </p:nvSpPr>
        <p:spPr bwMode="auto">
          <a:xfrm rot="10800000" flipV="1">
            <a:off x="3884613" y="2055813"/>
            <a:ext cx="1143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cxnSp>
        <p:nvCxnSpPr>
          <p:cNvPr id="10309" name="AutoShape 1093"/>
          <p:cNvCxnSpPr>
            <a:cxnSpLocks noChangeShapeType="1"/>
            <a:stCxn id="10307" idx="0"/>
            <a:endCxn id="10294" idx="0"/>
          </p:cNvCxnSpPr>
          <p:nvPr/>
        </p:nvCxnSpPr>
        <p:spPr bwMode="auto">
          <a:xfrm rot="5400000">
            <a:off x="4207669" y="1767682"/>
            <a:ext cx="377825" cy="1411287"/>
          </a:xfrm>
          <a:prstGeom prst="curvedConnector3">
            <a:avLst>
              <a:gd name="adj1" fmla="val 16092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10" name="AutoShape 1094"/>
          <p:cNvCxnSpPr>
            <a:cxnSpLocks noChangeShapeType="1"/>
            <a:stCxn id="10301" idx="0"/>
            <a:endCxn id="10294" idx="1"/>
          </p:cNvCxnSpPr>
          <p:nvPr/>
        </p:nvCxnSpPr>
        <p:spPr bwMode="auto">
          <a:xfrm rot="5400000">
            <a:off x="4379119" y="1928019"/>
            <a:ext cx="61912" cy="1384300"/>
          </a:xfrm>
          <a:prstGeom prst="curvedConnector3">
            <a:avLst>
              <a:gd name="adj1" fmla="val 489745"/>
            </a:avLst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11" name="Freeform 1095"/>
          <p:cNvSpPr>
            <a:spLocks/>
          </p:cNvSpPr>
          <p:nvPr/>
        </p:nvSpPr>
        <p:spPr bwMode="auto">
          <a:xfrm rot="-10800000">
            <a:off x="3579813" y="1979613"/>
            <a:ext cx="1524000" cy="304800"/>
          </a:xfrm>
          <a:custGeom>
            <a:avLst/>
            <a:gdLst>
              <a:gd name="T0" fmla="*/ 0 w 960"/>
              <a:gd name="T1" fmla="*/ 0 h 192"/>
              <a:gd name="T2" fmla="*/ 624 w 960"/>
              <a:gd name="T3" fmla="*/ 192 h 192"/>
              <a:gd name="T4" fmla="*/ 960 w 960"/>
              <a:gd name="T5" fmla="*/ 0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0" h="192">
                <a:moveTo>
                  <a:pt x="0" y="0"/>
                </a:moveTo>
                <a:cubicBezTo>
                  <a:pt x="232" y="96"/>
                  <a:pt x="464" y="192"/>
                  <a:pt x="624" y="192"/>
                </a:cubicBezTo>
                <a:cubicBezTo>
                  <a:pt x="784" y="192"/>
                  <a:pt x="872" y="96"/>
                  <a:pt x="960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aphicFrame>
        <p:nvGraphicFramePr>
          <p:cNvPr id="10312" name="Object 1096"/>
          <p:cNvGraphicFramePr>
            <a:graphicFrameLocks noChangeAspect="1"/>
          </p:cNvGraphicFramePr>
          <p:nvPr/>
        </p:nvGraphicFramePr>
        <p:xfrm>
          <a:off x="6477000" y="1828800"/>
          <a:ext cx="19431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65" name="Utklipp" r:id="rId3" imgW="5714640" imgH="3192120" progId="MS_ClipArt_Gallery.2">
                  <p:embed/>
                </p:oleObj>
              </mc:Choice>
              <mc:Fallback>
                <p:oleObj name="Utklipp" r:id="rId3" imgW="5714640" imgH="3192120" progId="MS_ClipArt_Gallery.2">
                  <p:embed/>
                  <p:pic>
                    <p:nvPicPr>
                      <p:cNvPr id="10312" name="Object 10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828800"/>
                        <a:ext cx="19431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3" name="Line 1097"/>
          <p:cNvSpPr>
            <a:spLocks noChangeShapeType="1"/>
          </p:cNvSpPr>
          <p:nvPr/>
        </p:nvSpPr>
        <p:spPr bwMode="auto">
          <a:xfrm>
            <a:off x="2590800" y="2438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14" name="Line 1098"/>
          <p:cNvSpPr>
            <a:spLocks noChangeShapeType="1"/>
          </p:cNvSpPr>
          <p:nvPr/>
        </p:nvSpPr>
        <p:spPr bwMode="auto">
          <a:xfrm>
            <a:off x="5486400" y="2438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0315" name="Group 1099"/>
          <p:cNvGrpSpPr>
            <a:grpSpLocks/>
          </p:cNvGrpSpPr>
          <p:nvPr/>
        </p:nvGrpSpPr>
        <p:grpSpPr bwMode="auto">
          <a:xfrm>
            <a:off x="1600200" y="1752600"/>
            <a:ext cx="738188" cy="1487488"/>
            <a:chOff x="1056" y="1152"/>
            <a:chExt cx="465" cy="937"/>
          </a:xfrm>
        </p:grpSpPr>
        <p:graphicFrame>
          <p:nvGraphicFramePr>
            <p:cNvPr id="10316" name="Object 1100"/>
            <p:cNvGraphicFramePr>
              <a:graphicFrameLocks noChangeAspect="1"/>
            </p:cNvGraphicFramePr>
            <p:nvPr/>
          </p:nvGraphicFramePr>
          <p:xfrm>
            <a:off x="1056" y="1152"/>
            <a:ext cx="465" cy="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66" name="Utklipp" r:id="rId5" imgW="1395360" imgH="2658600" progId="MS_ClipArt_Gallery.2">
                    <p:embed/>
                  </p:oleObj>
                </mc:Choice>
                <mc:Fallback>
                  <p:oleObj name="Utklipp" r:id="rId5" imgW="1395360" imgH="2658600" progId="MS_ClipArt_Gallery.2">
                    <p:embed/>
                    <p:pic>
                      <p:nvPicPr>
                        <p:cNvPr id="10316" name="Object 1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152"/>
                          <a:ext cx="465" cy="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17" name="Freeform 1101"/>
            <p:cNvSpPr>
              <a:spLocks/>
            </p:cNvSpPr>
            <p:nvPr/>
          </p:nvSpPr>
          <p:spPr bwMode="auto">
            <a:xfrm>
              <a:off x="1208" y="1340"/>
              <a:ext cx="241" cy="749"/>
            </a:xfrm>
            <a:custGeom>
              <a:avLst/>
              <a:gdLst>
                <a:gd name="T0" fmla="*/ 210 w 241"/>
                <a:gd name="T1" fmla="*/ 304 h 749"/>
                <a:gd name="T2" fmla="*/ 140 w 241"/>
                <a:gd name="T3" fmla="*/ 63 h 749"/>
                <a:gd name="T4" fmla="*/ 101 w 241"/>
                <a:gd name="T5" fmla="*/ 16 h 749"/>
                <a:gd name="T6" fmla="*/ 54 w 241"/>
                <a:gd name="T7" fmla="*/ 0 h 749"/>
                <a:gd name="T8" fmla="*/ 8 w 241"/>
                <a:gd name="T9" fmla="*/ 8 h 749"/>
                <a:gd name="T10" fmla="*/ 0 w 241"/>
                <a:gd name="T11" fmla="*/ 32 h 749"/>
                <a:gd name="T12" fmla="*/ 86 w 241"/>
                <a:gd name="T13" fmla="*/ 226 h 749"/>
                <a:gd name="T14" fmla="*/ 70 w 241"/>
                <a:gd name="T15" fmla="*/ 585 h 749"/>
                <a:gd name="T16" fmla="*/ 78 w 241"/>
                <a:gd name="T17" fmla="*/ 671 h 749"/>
                <a:gd name="T18" fmla="*/ 202 w 241"/>
                <a:gd name="T19" fmla="*/ 749 h 749"/>
                <a:gd name="T20" fmla="*/ 241 w 241"/>
                <a:gd name="T21" fmla="*/ 678 h 749"/>
                <a:gd name="T22" fmla="*/ 195 w 241"/>
                <a:gd name="T23" fmla="*/ 577 h 749"/>
                <a:gd name="T24" fmla="*/ 210 w 241"/>
                <a:gd name="T25" fmla="*/ 304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749">
                  <a:moveTo>
                    <a:pt x="210" y="304"/>
                  </a:moveTo>
                  <a:cubicBezTo>
                    <a:pt x="143" y="260"/>
                    <a:pt x="158" y="130"/>
                    <a:pt x="140" y="63"/>
                  </a:cubicBezTo>
                  <a:cubicBezTo>
                    <a:pt x="136" y="50"/>
                    <a:pt x="111" y="22"/>
                    <a:pt x="101" y="16"/>
                  </a:cubicBezTo>
                  <a:cubicBezTo>
                    <a:pt x="86" y="8"/>
                    <a:pt x="54" y="0"/>
                    <a:pt x="54" y="0"/>
                  </a:cubicBezTo>
                  <a:cubicBezTo>
                    <a:pt x="39" y="3"/>
                    <a:pt x="21" y="0"/>
                    <a:pt x="8" y="8"/>
                  </a:cubicBezTo>
                  <a:cubicBezTo>
                    <a:pt x="1" y="12"/>
                    <a:pt x="0" y="24"/>
                    <a:pt x="0" y="32"/>
                  </a:cubicBezTo>
                  <a:cubicBezTo>
                    <a:pt x="0" y="124"/>
                    <a:pt x="11" y="179"/>
                    <a:pt x="86" y="226"/>
                  </a:cubicBezTo>
                  <a:cubicBezTo>
                    <a:pt x="115" y="324"/>
                    <a:pt x="107" y="480"/>
                    <a:pt x="70" y="585"/>
                  </a:cubicBezTo>
                  <a:cubicBezTo>
                    <a:pt x="73" y="614"/>
                    <a:pt x="67" y="644"/>
                    <a:pt x="78" y="671"/>
                  </a:cubicBezTo>
                  <a:cubicBezTo>
                    <a:pt x="95" y="711"/>
                    <a:pt x="164" y="739"/>
                    <a:pt x="202" y="749"/>
                  </a:cubicBezTo>
                  <a:cubicBezTo>
                    <a:pt x="218" y="726"/>
                    <a:pt x="226" y="702"/>
                    <a:pt x="241" y="678"/>
                  </a:cubicBezTo>
                  <a:cubicBezTo>
                    <a:pt x="230" y="583"/>
                    <a:pt x="235" y="638"/>
                    <a:pt x="195" y="577"/>
                  </a:cubicBezTo>
                  <a:cubicBezTo>
                    <a:pt x="199" y="482"/>
                    <a:pt x="210" y="397"/>
                    <a:pt x="210" y="30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0321" name="Text Box 1105"/>
          <p:cNvSpPr txBox="1">
            <a:spLocks noChangeArrowheads="1"/>
          </p:cNvSpPr>
          <p:nvPr/>
        </p:nvSpPr>
        <p:spPr bwMode="auto">
          <a:xfrm>
            <a:off x="898525" y="3238500"/>
            <a:ext cx="543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*Input clique is auto-associative =&gt; repairs input patterns</a:t>
            </a:r>
            <a:endParaRPr lang="nb-NO" altLang="he-IL"/>
          </a:p>
        </p:txBody>
      </p:sp>
      <p:sp>
        <p:nvSpPr>
          <p:cNvPr id="10322" name="Text Box 1106"/>
          <p:cNvSpPr txBox="1">
            <a:spLocks noChangeArrowheads="1"/>
          </p:cNvSpPr>
          <p:nvPr/>
        </p:nvSpPr>
        <p:spPr bwMode="auto">
          <a:xfrm>
            <a:off x="304800" y="4038600"/>
            <a:ext cx="6151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4. Hetero-associative Output Correcting: X &lt;&gt; Y</a:t>
            </a:r>
          </a:p>
        </p:txBody>
      </p:sp>
      <p:grpSp>
        <p:nvGrpSpPr>
          <p:cNvPr id="10325" name="Group 1109"/>
          <p:cNvGrpSpPr>
            <a:grpSpLocks/>
          </p:cNvGrpSpPr>
          <p:nvPr/>
        </p:nvGrpSpPr>
        <p:grpSpPr bwMode="auto">
          <a:xfrm>
            <a:off x="2743200" y="5257800"/>
            <a:ext cx="1752600" cy="914400"/>
            <a:chOff x="2928" y="3360"/>
            <a:chExt cx="1104" cy="576"/>
          </a:xfrm>
        </p:grpSpPr>
        <p:sp>
          <p:nvSpPr>
            <p:cNvPr id="10326" name="Oval 1110"/>
            <p:cNvSpPr>
              <a:spLocks noChangeArrowheads="1"/>
            </p:cNvSpPr>
            <p:nvPr/>
          </p:nvSpPr>
          <p:spPr bwMode="auto">
            <a:xfrm rot="5400000">
              <a:off x="2975" y="3407"/>
              <a:ext cx="48" cy="4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27" name="Oval 1111"/>
            <p:cNvSpPr>
              <a:spLocks noChangeArrowheads="1"/>
            </p:cNvSpPr>
            <p:nvPr/>
          </p:nvSpPr>
          <p:spPr bwMode="auto">
            <a:xfrm rot="5400000">
              <a:off x="2976" y="3552"/>
              <a:ext cx="48" cy="4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28" name="Oval 1112"/>
            <p:cNvSpPr>
              <a:spLocks noChangeArrowheads="1"/>
            </p:cNvSpPr>
            <p:nvPr/>
          </p:nvSpPr>
          <p:spPr bwMode="auto">
            <a:xfrm rot="5400000">
              <a:off x="2975" y="3695"/>
              <a:ext cx="48" cy="4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29" name="AutoShape 1113"/>
            <p:cNvSpPr>
              <a:spLocks noChangeArrowheads="1"/>
            </p:cNvSpPr>
            <p:nvPr/>
          </p:nvSpPr>
          <p:spPr bwMode="auto">
            <a:xfrm rot="5400000">
              <a:off x="2712" y="3576"/>
              <a:ext cx="576" cy="144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30" name="Oval 1114"/>
            <p:cNvSpPr>
              <a:spLocks noChangeArrowheads="1"/>
            </p:cNvSpPr>
            <p:nvPr/>
          </p:nvSpPr>
          <p:spPr bwMode="auto">
            <a:xfrm rot="5400000">
              <a:off x="2976" y="3840"/>
              <a:ext cx="48" cy="4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grpSp>
          <p:nvGrpSpPr>
            <p:cNvPr id="10331" name="Group 1115"/>
            <p:cNvGrpSpPr>
              <a:grpSpLocks/>
            </p:cNvGrpSpPr>
            <p:nvPr/>
          </p:nvGrpSpPr>
          <p:grpSpPr bwMode="auto">
            <a:xfrm>
              <a:off x="3648" y="3504"/>
              <a:ext cx="384" cy="288"/>
              <a:chOff x="1920" y="2976"/>
              <a:chExt cx="384" cy="288"/>
            </a:xfrm>
          </p:grpSpPr>
          <p:sp>
            <p:nvSpPr>
              <p:cNvPr id="10332" name="Line 1116"/>
              <p:cNvSpPr>
                <a:spLocks noChangeShapeType="1"/>
              </p:cNvSpPr>
              <p:nvPr/>
            </p:nvSpPr>
            <p:spPr bwMode="auto">
              <a:xfrm flipV="1">
                <a:off x="2112" y="3024"/>
                <a:ext cx="48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33" name="Line 1117"/>
              <p:cNvSpPr>
                <a:spLocks noChangeShapeType="1"/>
              </p:cNvSpPr>
              <p:nvPr/>
            </p:nvSpPr>
            <p:spPr bwMode="auto">
              <a:xfrm>
                <a:off x="1968" y="3072"/>
                <a:ext cx="288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34" name="Oval 1118"/>
              <p:cNvSpPr>
                <a:spLocks noChangeArrowheads="1"/>
              </p:cNvSpPr>
              <p:nvPr/>
            </p:nvSpPr>
            <p:spPr bwMode="auto">
              <a:xfrm>
                <a:off x="1920" y="302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35" name="Oval 1119"/>
              <p:cNvSpPr>
                <a:spLocks noChangeArrowheads="1"/>
              </p:cNvSpPr>
              <p:nvPr/>
            </p:nvSpPr>
            <p:spPr bwMode="auto">
              <a:xfrm>
                <a:off x="2064" y="3216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36" name="Oval 1120"/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37" name="Oval 1121"/>
              <p:cNvSpPr>
                <a:spLocks noChangeArrowheads="1"/>
              </p:cNvSpPr>
              <p:nvPr/>
            </p:nvSpPr>
            <p:spPr bwMode="auto">
              <a:xfrm>
                <a:off x="2160" y="2976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38" name="Line 1122"/>
              <p:cNvSpPr>
                <a:spLocks noChangeShapeType="1"/>
              </p:cNvSpPr>
              <p:nvPr/>
            </p:nvSpPr>
            <p:spPr bwMode="auto">
              <a:xfrm flipV="1">
                <a:off x="2112" y="3216"/>
                <a:ext cx="144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39" name="Line 1123"/>
              <p:cNvSpPr>
                <a:spLocks noChangeShapeType="1"/>
              </p:cNvSpPr>
              <p:nvPr/>
            </p:nvSpPr>
            <p:spPr bwMode="auto">
              <a:xfrm flipH="1" flipV="1">
                <a:off x="2208" y="3024"/>
                <a:ext cx="96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40" name="Line 1124"/>
              <p:cNvSpPr>
                <a:spLocks noChangeShapeType="1"/>
              </p:cNvSpPr>
              <p:nvPr/>
            </p:nvSpPr>
            <p:spPr bwMode="auto">
              <a:xfrm flipV="1">
                <a:off x="1968" y="3024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0341" name="Line 1125"/>
              <p:cNvSpPr>
                <a:spLocks noChangeShapeType="1"/>
              </p:cNvSpPr>
              <p:nvPr/>
            </p:nvSpPr>
            <p:spPr bwMode="auto">
              <a:xfrm flipH="1" flipV="1">
                <a:off x="1920" y="3072"/>
                <a:ext cx="14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sp>
          <p:nvSpPr>
            <p:cNvPr id="10342" name="Line 1126"/>
            <p:cNvSpPr>
              <a:spLocks noChangeShapeType="1"/>
            </p:cNvSpPr>
            <p:nvPr/>
          </p:nvSpPr>
          <p:spPr bwMode="auto">
            <a:xfrm>
              <a:off x="3024" y="3408"/>
              <a:ext cx="62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cxnSp>
          <p:nvCxnSpPr>
            <p:cNvPr id="10343" name="AutoShape 1127"/>
            <p:cNvCxnSpPr>
              <a:cxnSpLocks noChangeShapeType="1"/>
              <a:stCxn id="10342" idx="0"/>
              <a:endCxn id="10337" idx="0"/>
            </p:cNvCxnSpPr>
            <p:nvPr/>
          </p:nvCxnSpPr>
          <p:spPr bwMode="auto">
            <a:xfrm rot="5400000" flipV="1">
              <a:off x="3420" y="3012"/>
              <a:ext cx="96" cy="888"/>
            </a:xfrm>
            <a:prstGeom prst="curvedConnector3">
              <a:avLst>
                <a:gd name="adj1" fmla="val -1500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344" name="Line 1128"/>
            <p:cNvSpPr>
              <a:spLocks noChangeShapeType="1"/>
            </p:cNvSpPr>
            <p:nvPr/>
          </p:nvSpPr>
          <p:spPr bwMode="auto">
            <a:xfrm>
              <a:off x="3024" y="3552"/>
              <a:ext cx="62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45" name="Line 1129"/>
            <p:cNvSpPr>
              <a:spLocks noChangeShapeType="1"/>
            </p:cNvSpPr>
            <p:nvPr/>
          </p:nvSpPr>
          <p:spPr bwMode="auto">
            <a:xfrm flipV="1">
              <a:off x="3024" y="3600"/>
              <a:ext cx="62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46" name="Line 1130"/>
            <p:cNvSpPr>
              <a:spLocks noChangeShapeType="1"/>
            </p:cNvSpPr>
            <p:nvPr/>
          </p:nvSpPr>
          <p:spPr bwMode="auto">
            <a:xfrm flipV="1">
              <a:off x="3024" y="3648"/>
              <a:ext cx="62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cxnSp>
          <p:nvCxnSpPr>
            <p:cNvPr id="10347" name="AutoShape 1131"/>
            <p:cNvCxnSpPr>
              <a:cxnSpLocks noChangeShapeType="1"/>
              <a:stCxn id="10346" idx="0"/>
              <a:endCxn id="10336" idx="5"/>
            </p:cNvCxnSpPr>
            <p:nvPr/>
          </p:nvCxnSpPr>
          <p:spPr bwMode="auto">
            <a:xfrm rot="5400000" flipH="1" flipV="1">
              <a:off x="3473" y="3288"/>
              <a:ext cx="103" cy="1001"/>
            </a:xfrm>
            <a:prstGeom prst="curvedConnector3">
              <a:avLst>
                <a:gd name="adj1" fmla="val -139806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348" name="Line 1132"/>
            <p:cNvSpPr>
              <a:spLocks noChangeShapeType="1"/>
            </p:cNvSpPr>
            <p:nvPr/>
          </p:nvSpPr>
          <p:spPr bwMode="auto">
            <a:xfrm>
              <a:off x="3024" y="3456"/>
              <a:ext cx="72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49" name="Line 1133"/>
            <p:cNvSpPr>
              <a:spLocks noChangeShapeType="1"/>
            </p:cNvSpPr>
            <p:nvPr/>
          </p:nvSpPr>
          <p:spPr bwMode="auto">
            <a:xfrm>
              <a:off x="3024" y="3600"/>
              <a:ext cx="72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50" name="Line 1134"/>
            <p:cNvSpPr>
              <a:spLocks noChangeShapeType="1"/>
            </p:cNvSpPr>
            <p:nvPr/>
          </p:nvSpPr>
          <p:spPr bwMode="auto">
            <a:xfrm>
              <a:off x="3024" y="3744"/>
              <a:ext cx="76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351" name="Line 1135"/>
            <p:cNvSpPr>
              <a:spLocks noChangeShapeType="1"/>
            </p:cNvSpPr>
            <p:nvPr/>
          </p:nvSpPr>
          <p:spPr bwMode="auto">
            <a:xfrm flipV="1">
              <a:off x="3072" y="3792"/>
              <a:ext cx="72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cxnSp>
          <p:nvCxnSpPr>
            <p:cNvPr id="10352" name="AutoShape 1136"/>
            <p:cNvCxnSpPr>
              <a:cxnSpLocks noChangeShapeType="1"/>
              <a:stCxn id="10350" idx="0"/>
              <a:endCxn id="10337" idx="0"/>
            </p:cNvCxnSpPr>
            <p:nvPr/>
          </p:nvCxnSpPr>
          <p:spPr bwMode="auto">
            <a:xfrm rot="16200000">
              <a:off x="3348" y="3180"/>
              <a:ext cx="240" cy="888"/>
            </a:xfrm>
            <a:prstGeom prst="curvedConnector3">
              <a:avLst>
                <a:gd name="adj1" fmla="val 1600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53" name="AutoShape 1137"/>
            <p:cNvCxnSpPr>
              <a:cxnSpLocks noChangeShapeType="1"/>
              <a:stCxn id="10344" idx="0"/>
              <a:endCxn id="10337" idx="1"/>
            </p:cNvCxnSpPr>
            <p:nvPr/>
          </p:nvCxnSpPr>
          <p:spPr bwMode="auto">
            <a:xfrm rot="16200000">
              <a:off x="3439" y="3096"/>
              <a:ext cx="41" cy="871"/>
            </a:xfrm>
            <a:prstGeom prst="curvedConnector3">
              <a:avLst>
                <a:gd name="adj1" fmla="val 468292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354" name="Freeform 1138"/>
            <p:cNvSpPr>
              <a:spLocks/>
            </p:cNvSpPr>
            <p:nvPr/>
          </p:nvSpPr>
          <p:spPr bwMode="auto">
            <a:xfrm>
              <a:off x="3024" y="3744"/>
              <a:ext cx="960" cy="192"/>
            </a:xfrm>
            <a:custGeom>
              <a:avLst/>
              <a:gdLst>
                <a:gd name="T0" fmla="*/ 0 w 960"/>
                <a:gd name="T1" fmla="*/ 0 h 192"/>
                <a:gd name="T2" fmla="*/ 624 w 960"/>
                <a:gd name="T3" fmla="*/ 192 h 192"/>
                <a:gd name="T4" fmla="*/ 960 w 960"/>
                <a:gd name="T5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0" h="192">
                  <a:moveTo>
                    <a:pt x="0" y="0"/>
                  </a:moveTo>
                  <a:cubicBezTo>
                    <a:pt x="232" y="96"/>
                    <a:pt x="464" y="192"/>
                    <a:pt x="624" y="192"/>
                  </a:cubicBezTo>
                  <a:cubicBezTo>
                    <a:pt x="784" y="192"/>
                    <a:pt x="872" y="96"/>
                    <a:pt x="960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aphicFrame>
        <p:nvGraphicFramePr>
          <p:cNvPr id="10357" name="Object 1141"/>
          <p:cNvGraphicFramePr>
            <a:graphicFrameLocks noChangeAspect="1"/>
          </p:cNvGraphicFramePr>
          <p:nvPr/>
        </p:nvGraphicFramePr>
        <p:xfrm>
          <a:off x="6096000" y="5029200"/>
          <a:ext cx="19431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67" name="Utklipp" r:id="rId7" imgW="5714640" imgH="3192120" progId="MS_ClipArt_Gallery.2">
                  <p:embed/>
                </p:oleObj>
              </mc:Choice>
              <mc:Fallback>
                <p:oleObj name="Utklipp" r:id="rId7" imgW="5714640" imgH="3192120" progId="MS_ClipArt_Gallery.2">
                  <p:embed/>
                  <p:pic>
                    <p:nvPicPr>
                      <p:cNvPr id="10357" name="Object 1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029200"/>
                        <a:ext cx="19431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8" name="Object 1142"/>
          <p:cNvGraphicFramePr>
            <a:graphicFrameLocks noChangeAspect="1"/>
          </p:cNvGraphicFramePr>
          <p:nvPr/>
        </p:nvGraphicFramePr>
        <p:xfrm>
          <a:off x="4267200" y="1371600"/>
          <a:ext cx="239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68" name="Utklipp" r:id="rId8" imgW="1395360" imgH="2658600" progId="MS_ClipArt_Gallery.2">
                  <p:embed/>
                </p:oleObj>
              </mc:Choice>
              <mc:Fallback>
                <p:oleObj name="Utklipp" r:id="rId8" imgW="1395360" imgH="2658600" progId="MS_ClipArt_Gallery.2">
                  <p:embed/>
                  <p:pic>
                    <p:nvPicPr>
                      <p:cNvPr id="10358" name="Object 1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371600"/>
                        <a:ext cx="239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59" name="Group 1143"/>
          <p:cNvGrpSpPr>
            <a:grpSpLocks/>
          </p:cNvGrpSpPr>
          <p:nvPr/>
        </p:nvGrpSpPr>
        <p:grpSpPr bwMode="auto">
          <a:xfrm>
            <a:off x="1219200" y="4876800"/>
            <a:ext cx="738188" cy="1487488"/>
            <a:chOff x="1056" y="1152"/>
            <a:chExt cx="465" cy="937"/>
          </a:xfrm>
        </p:grpSpPr>
        <p:graphicFrame>
          <p:nvGraphicFramePr>
            <p:cNvPr id="10360" name="Object 1144"/>
            <p:cNvGraphicFramePr>
              <a:graphicFrameLocks noChangeAspect="1"/>
            </p:cNvGraphicFramePr>
            <p:nvPr/>
          </p:nvGraphicFramePr>
          <p:xfrm>
            <a:off x="1056" y="1152"/>
            <a:ext cx="465" cy="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69" name="Utklipp" r:id="rId9" imgW="1395360" imgH="2658600" progId="MS_ClipArt_Gallery.2">
                    <p:embed/>
                  </p:oleObj>
                </mc:Choice>
                <mc:Fallback>
                  <p:oleObj name="Utklipp" r:id="rId9" imgW="1395360" imgH="2658600" progId="MS_ClipArt_Gallery.2">
                    <p:embed/>
                    <p:pic>
                      <p:nvPicPr>
                        <p:cNvPr id="10360" name="Object 1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152"/>
                          <a:ext cx="465" cy="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61" name="Freeform 1145"/>
            <p:cNvSpPr>
              <a:spLocks/>
            </p:cNvSpPr>
            <p:nvPr/>
          </p:nvSpPr>
          <p:spPr bwMode="auto">
            <a:xfrm>
              <a:off x="1208" y="1340"/>
              <a:ext cx="241" cy="749"/>
            </a:xfrm>
            <a:custGeom>
              <a:avLst/>
              <a:gdLst>
                <a:gd name="T0" fmla="*/ 210 w 241"/>
                <a:gd name="T1" fmla="*/ 304 h 749"/>
                <a:gd name="T2" fmla="*/ 140 w 241"/>
                <a:gd name="T3" fmla="*/ 63 h 749"/>
                <a:gd name="T4" fmla="*/ 101 w 241"/>
                <a:gd name="T5" fmla="*/ 16 h 749"/>
                <a:gd name="T6" fmla="*/ 54 w 241"/>
                <a:gd name="T7" fmla="*/ 0 h 749"/>
                <a:gd name="T8" fmla="*/ 8 w 241"/>
                <a:gd name="T9" fmla="*/ 8 h 749"/>
                <a:gd name="T10" fmla="*/ 0 w 241"/>
                <a:gd name="T11" fmla="*/ 32 h 749"/>
                <a:gd name="T12" fmla="*/ 86 w 241"/>
                <a:gd name="T13" fmla="*/ 226 h 749"/>
                <a:gd name="T14" fmla="*/ 70 w 241"/>
                <a:gd name="T15" fmla="*/ 585 h 749"/>
                <a:gd name="T16" fmla="*/ 78 w 241"/>
                <a:gd name="T17" fmla="*/ 671 h 749"/>
                <a:gd name="T18" fmla="*/ 202 w 241"/>
                <a:gd name="T19" fmla="*/ 749 h 749"/>
                <a:gd name="T20" fmla="*/ 241 w 241"/>
                <a:gd name="T21" fmla="*/ 678 h 749"/>
                <a:gd name="T22" fmla="*/ 195 w 241"/>
                <a:gd name="T23" fmla="*/ 577 h 749"/>
                <a:gd name="T24" fmla="*/ 210 w 241"/>
                <a:gd name="T25" fmla="*/ 304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749">
                  <a:moveTo>
                    <a:pt x="210" y="304"/>
                  </a:moveTo>
                  <a:cubicBezTo>
                    <a:pt x="143" y="260"/>
                    <a:pt x="158" y="130"/>
                    <a:pt x="140" y="63"/>
                  </a:cubicBezTo>
                  <a:cubicBezTo>
                    <a:pt x="136" y="50"/>
                    <a:pt x="111" y="22"/>
                    <a:pt x="101" y="16"/>
                  </a:cubicBezTo>
                  <a:cubicBezTo>
                    <a:pt x="86" y="8"/>
                    <a:pt x="54" y="0"/>
                    <a:pt x="54" y="0"/>
                  </a:cubicBezTo>
                  <a:cubicBezTo>
                    <a:pt x="39" y="3"/>
                    <a:pt x="21" y="0"/>
                    <a:pt x="8" y="8"/>
                  </a:cubicBezTo>
                  <a:cubicBezTo>
                    <a:pt x="1" y="12"/>
                    <a:pt x="0" y="24"/>
                    <a:pt x="0" y="32"/>
                  </a:cubicBezTo>
                  <a:cubicBezTo>
                    <a:pt x="0" y="124"/>
                    <a:pt x="11" y="179"/>
                    <a:pt x="86" y="226"/>
                  </a:cubicBezTo>
                  <a:cubicBezTo>
                    <a:pt x="115" y="324"/>
                    <a:pt x="107" y="480"/>
                    <a:pt x="70" y="585"/>
                  </a:cubicBezTo>
                  <a:cubicBezTo>
                    <a:pt x="73" y="614"/>
                    <a:pt x="67" y="644"/>
                    <a:pt x="78" y="671"/>
                  </a:cubicBezTo>
                  <a:cubicBezTo>
                    <a:pt x="95" y="711"/>
                    <a:pt x="164" y="739"/>
                    <a:pt x="202" y="749"/>
                  </a:cubicBezTo>
                  <a:cubicBezTo>
                    <a:pt x="218" y="726"/>
                    <a:pt x="226" y="702"/>
                    <a:pt x="241" y="678"/>
                  </a:cubicBezTo>
                  <a:cubicBezTo>
                    <a:pt x="230" y="583"/>
                    <a:pt x="235" y="638"/>
                    <a:pt x="195" y="577"/>
                  </a:cubicBezTo>
                  <a:cubicBezTo>
                    <a:pt x="199" y="482"/>
                    <a:pt x="210" y="397"/>
                    <a:pt x="210" y="30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0362" name="Group 1146"/>
          <p:cNvGrpSpPr>
            <a:grpSpLocks/>
          </p:cNvGrpSpPr>
          <p:nvPr/>
        </p:nvGrpSpPr>
        <p:grpSpPr bwMode="auto">
          <a:xfrm>
            <a:off x="3352800" y="4495800"/>
            <a:ext cx="457200" cy="609600"/>
            <a:chOff x="1056" y="1152"/>
            <a:chExt cx="465" cy="937"/>
          </a:xfrm>
        </p:grpSpPr>
        <p:graphicFrame>
          <p:nvGraphicFramePr>
            <p:cNvPr id="10363" name="Object 1147"/>
            <p:cNvGraphicFramePr>
              <a:graphicFrameLocks noChangeAspect="1"/>
            </p:cNvGraphicFramePr>
            <p:nvPr/>
          </p:nvGraphicFramePr>
          <p:xfrm>
            <a:off x="1056" y="1152"/>
            <a:ext cx="465" cy="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70" name="Utklipp" r:id="rId10" imgW="1395360" imgH="2658600" progId="MS_ClipArt_Gallery.2">
                    <p:embed/>
                  </p:oleObj>
                </mc:Choice>
                <mc:Fallback>
                  <p:oleObj name="Utklipp" r:id="rId10" imgW="1395360" imgH="2658600" progId="MS_ClipArt_Gallery.2">
                    <p:embed/>
                    <p:pic>
                      <p:nvPicPr>
                        <p:cNvPr id="10363" name="Object 1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152"/>
                          <a:ext cx="465" cy="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64" name="Freeform 1148"/>
            <p:cNvSpPr>
              <a:spLocks/>
            </p:cNvSpPr>
            <p:nvPr/>
          </p:nvSpPr>
          <p:spPr bwMode="auto">
            <a:xfrm>
              <a:off x="1208" y="1340"/>
              <a:ext cx="241" cy="749"/>
            </a:xfrm>
            <a:custGeom>
              <a:avLst/>
              <a:gdLst>
                <a:gd name="T0" fmla="*/ 210 w 241"/>
                <a:gd name="T1" fmla="*/ 304 h 749"/>
                <a:gd name="T2" fmla="*/ 140 w 241"/>
                <a:gd name="T3" fmla="*/ 63 h 749"/>
                <a:gd name="T4" fmla="*/ 101 w 241"/>
                <a:gd name="T5" fmla="*/ 16 h 749"/>
                <a:gd name="T6" fmla="*/ 54 w 241"/>
                <a:gd name="T7" fmla="*/ 0 h 749"/>
                <a:gd name="T8" fmla="*/ 8 w 241"/>
                <a:gd name="T9" fmla="*/ 8 h 749"/>
                <a:gd name="T10" fmla="*/ 0 w 241"/>
                <a:gd name="T11" fmla="*/ 32 h 749"/>
                <a:gd name="T12" fmla="*/ 86 w 241"/>
                <a:gd name="T13" fmla="*/ 226 h 749"/>
                <a:gd name="T14" fmla="*/ 70 w 241"/>
                <a:gd name="T15" fmla="*/ 585 h 749"/>
                <a:gd name="T16" fmla="*/ 78 w 241"/>
                <a:gd name="T17" fmla="*/ 671 h 749"/>
                <a:gd name="T18" fmla="*/ 202 w 241"/>
                <a:gd name="T19" fmla="*/ 749 h 749"/>
                <a:gd name="T20" fmla="*/ 241 w 241"/>
                <a:gd name="T21" fmla="*/ 678 h 749"/>
                <a:gd name="T22" fmla="*/ 195 w 241"/>
                <a:gd name="T23" fmla="*/ 577 h 749"/>
                <a:gd name="T24" fmla="*/ 210 w 241"/>
                <a:gd name="T25" fmla="*/ 304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749">
                  <a:moveTo>
                    <a:pt x="210" y="304"/>
                  </a:moveTo>
                  <a:cubicBezTo>
                    <a:pt x="143" y="260"/>
                    <a:pt x="158" y="130"/>
                    <a:pt x="140" y="63"/>
                  </a:cubicBezTo>
                  <a:cubicBezTo>
                    <a:pt x="136" y="50"/>
                    <a:pt x="111" y="22"/>
                    <a:pt x="101" y="16"/>
                  </a:cubicBezTo>
                  <a:cubicBezTo>
                    <a:pt x="86" y="8"/>
                    <a:pt x="54" y="0"/>
                    <a:pt x="54" y="0"/>
                  </a:cubicBezTo>
                  <a:cubicBezTo>
                    <a:pt x="39" y="3"/>
                    <a:pt x="21" y="0"/>
                    <a:pt x="8" y="8"/>
                  </a:cubicBezTo>
                  <a:cubicBezTo>
                    <a:pt x="1" y="12"/>
                    <a:pt x="0" y="24"/>
                    <a:pt x="0" y="32"/>
                  </a:cubicBezTo>
                  <a:cubicBezTo>
                    <a:pt x="0" y="124"/>
                    <a:pt x="11" y="179"/>
                    <a:pt x="86" y="226"/>
                  </a:cubicBezTo>
                  <a:cubicBezTo>
                    <a:pt x="115" y="324"/>
                    <a:pt x="107" y="480"/>
                    <a:pt x="70" y="585"/>
                  </a:cubicBezTo>
                  <a:cubicBezTo>
                    <a:pt x="73" y="614"/>
                    <a:pt x="67" y="644"/>
                    <a:pt x="78" y="671"/>
                  </a:cubicBezTo>
                  <a:cubicBezTo>
                    <a:pt x="95" y="711"/>
                    <a:pt x="164" y="739"/>
                    <a:pt x="202" y="749"/>
                  </a:cubicBezTo>
                  <a:cubicBezTo>
                    <a:pt x="218" y="726"/>
                    <a:pt x="226" y="702"/>
                    <a:pt x="241" y="678"/>
                  </a:cubicBezTo>
                  <a:cubicBezTo>
                    <a:pt x="230" y="583"/>
                    <a:pt x="235" y="638"/>
                    <a:pt x="195" y="577"/>
                  </a:cubicBezTo>
                  <a:cubicBezTo>
                    <a:pt x="199" y="482"/>
                    <a:pt x="210" y="397"/>
                    <a:pt x="210" y="30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0367" name="Group 1151"/>
          <p:cNvGrpSpPr>
            <a:grpSpLocks/>
          </p:cNvGrpSpPr>
          <p:nvPr/>
        </p:nvGrpSpPr>
        <p:grpSpPr bwMode="auto">
          <a:xfrm>
            <a:off x="4419600" y="5105400"/>
            <a:ext cx="838200" cy="457200"/>
            <a:chOff x="3024" y="2976"/>
            <a:chExt cx="1224" cy="684"/>
          </a:xfrm>
        </p:grpSpPr>
        <p:graphicFrame>
          <p:nvGraphicFramePr>
            <p:cNvPr id="10365" name="Object 1149"/>
            <p:cNvGraphicFramePr>
              <a:graphicFrameLocks noChangeAspect="1"/>
            </p:cNvGraphicFramePr>
            <p:nvPr/>
          </p:nvGraphicFramePr>
          <p:xfrm>
            <a:off x="3024" y="2976"/>
            <a:ext cx="1224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71" name="Utklipp" r:id="rId11" imgW="5714640" imgH="3192120" progId="MS_ClipArt_Gallery.2">
                    <p:embed/>
                  </p:oleObj>
                </mc:Choice>
                <mc:Fallback>
                  <p:oleObj name="Utklipp" r:id="rId11" imgW="5714640" imgH="3192120" progId="MS_ClipArt_Gallery.2">
                    <p:embed/>
                    <p:pic>
                      <p:nvPicPr>
                        <p:cNvPr id="10365" name="Object 11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976"/>
                          <a:ext cx="1224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66" name="Freeform 1150"/>
            <p:cNvSpPr>
              <a:spLocks/>
            </p:cNvSpPr>
            <p:nvPr/>
          </p:nvSpPr>
          <p:spPr bwMode="auto">
            <a:xfrm>
              <a:off x="3177" y="3117"/>
              <a:ext cx="616" cy="477"/>
            </a:xfrm>
            <a:custGeom>
              <a:avLst/>
              <a:gdLst>
                <a:gd name="T0" fmla="*/ 141 w 616"/>
                <a:gd name="T1" fmla="*/ 26 h 477"/>
                <a:gd name="T2" fmla="*/ 19 w 616"/>
                <a:gd name="T3" fmla="*/ 63 h 477"/>
                <a:gd name="T4" fmla="*/ 3 w 616"/>
                <a:gd name="T5" fmla="*/ 79 h 477"/>
                <a:gd name="T6" fmla="*/ 41 w 616"/>
                <a:gd name="T7" fmla="*/ 159 h 477"/>
                <a:gd name="T8" fmla="*/ 14 w 616"/>
                <a:gd name="T9" fmla="*/ 297 h 477"/>
                <a:gd name="T10" fmla="*/ 25 w 616"/>
                <a:gd name="T11" fmla="*/ 313 h 477"/>
                <a:gd name="T12" fmla="*/ 173 w 616"/>
                <a:gd name="T13" fmla="*/ 345 h 477"/>
                <a:gd name="T14" fmla="*/ 216 w 616"/>
                <a:gd name="T15" fmla="*/ 392 h 477"/>
                <a:gd name="T16" fmla="*/ 258 w 616"/>
                <a:gd name="T17" fmla="*/ 477 h 477"/>
                <a:gd name="T18" fmla="*/ 338 w 616"/>
                <a:gd name="T19" fmla="*/ 435 h 477"/>
                <a:gd name="T20" fmla="*/ 391 w 616"/>
                <a:gd name="T21" fmla="*/ 382 h 477"/>
                <a:gd name="T22" fmla="*/ 561 w 616"/>
                <a:gd name="T23" fmla="*/ 408 h 477"/>
                <a:gd name="T24" fmla="*/ 540 w 616"/>
                <a:gd name="T25" fmla="*/ 286 h 477"/>
                <a:gd name="T26" fmla="*/ 524 w 616"/>
                <a:gd name="T27" fmla="*/ 212 h 477"/>
                <a:gd name="T28" fmla="*/ 556 w 616"/>
                <a:gd name="T29" fmla="*/ 154 h 477"/>
                <a:gd name="T30" fmla="*/ 545 w 616"/>
                <a:gd name="T31" fmla="*/ 85 h 477"/>
                <a:gd name="T32" fmla="*/ 513 w 616"/>
                <a:gd name="T33" fmla="*/ 63 h 477"/>
                <a:gd name="T34" fmla="*/ 492 w 616"/>
                <a:gd name="T35" fmla="*/ 5 h 477"/>
                <a:gd name="T36" fmla="*/ 476 w 616"/>
                <a:gd name="T37" fmla="*/ 0 h 477"/>
                <a:gd name="T38" fmla="*/ 285 w 616"/>
                <a:gd name="T39" fmla="*/ 5 h 477"/>
                <a:gd name="T40" fmla="*/ 141 w 616"/>
                <a:gd name="T41" fmla="*/ 26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6" h="477">
                  <a:moveTo>
                    <a:pt x="141" y="26"/>
                  </a:moveTo>
                  <a:cubicBezTo>
                    <a:pt x="99" y="37"/>
                    <a:pt x="60" y="50"/>
                    <a:pt x="19" y="63"/>
                  </a:cubicBezTo>
                  <a:cubicBezTo>
                    <a:pt x="14" y="68"/>
                    <a:pt x="4" y="71"/>
                    <a:pt x="3" y="79"/>
                  </a:cubicBezTo>
                  <a:cubicBezTo>
                    <a:pt x="0" y="107"/>
                    <a:pt x="31" y="133"/>
                    <a:pt x="41" y="159"/>
                  </a:cubicBezTo>
                  <a:cubicBezTo>
                    <a:pt x="34" y="211"/>
                    <a:pt x="26" y="248"/>
                    <a:pt x="14" y="297"/>
                  </a:cubicBezTo>
                  <a:cubicBezTo>
                    <a:pt x="18" y="302"/>
                    <a:pt x="19" y="311"/>
                    <a:pt x="25" y="313"/>
                  </a:cubicBezTo>
                  <a:cubicBezTo>
                    <a:pt x="61" y="325"/>
                    <a:pt x="131" y="337"/>
                    <a:pt x="173" y="345"/>
                  </a:cubicBezTo>
                  <a:cubicBezTo>
                    <a:pt x="197" y="362"/>
                    <a:pt x="209" y="364"/>
                    <a:pt x="216" y="392"/>
                  </a:cubicBezTo>
                  <a:cubicBezTo>
                    <a:pt x="220" y="445"/>
                    <a:pt x="209" y="465"/>
                    <a:pt x="258" y="477"/>
                  </a:cubicBezTo>
                  <a:cubicBezTo>
                    <a:pt x="316" y="472"/>
                    <a:pt x="310" y="475"/>
                    <a:pt x="338" y="435"/>
                  </a:cubicBezTo>
                  <a:cubicBezTo>
                    <a:pt x="353" y="384"/>
                    <a:pt x="337" y="403"/>
                    <a:pt x="391" y="382"/>
                  </a:cubicBezTo>
                  <a:cubicBezTo>
                    <a:pt x="454" y="387"/>
                    <a:pt x="497" y="404"/>
                    <a:pt x="561" y="408"/>
                  </a:cubicBezTo>
                  <a:cubicBezTo>
                    <a:pt x="616" y="391"/>
                    <a:pt x="555" y="318"/>
                    <a:pt x="540" y="286"/>
                  </a:cubicBezTo>
                  <a:cubicBezTo>
                    <a:pt x="535" y="261"/>
                    <a:pt x="529" y="237"/>
                    <a:pt x="524" y="212"/>
                  </a:cubicBezTo>
                  <a:cubicBezTo>
                    <a:pt x="529" y="191"/>
                    <a:pt x="556" y="154"/>
                    <a:pt x="556" y="154"/>
                  </a:cubicBezTo>
                  <a:cubicBezTo>
                    <a:pt x="563" y="131"/>
                    <a:pt x="565" y="102"/>
                    <a:pt x="545" y="85"/>
                  </a:cubicBezTo>
                  <a:cubicBezTo>
                    <a:pt x="535" y="77"/>
                    <a:pt x="513" y="63"/>
                    <a:pt x="513" y="63"/>
                  </a:cubicBezTo>
                  <a:cubicBezTo>
                    <a:pt x="503" y="48"/>
                    <a:pt x="496" y="11"/>
                    <a:pt x="492" y="5"/>
                  </a:cubicBezTo>
                  <a:cubicBezTo>
                    <a:pt x="489" y="0"/>
                    <a:pt x="481" y="2"/>
                    <a:pt x="476" y="0"/>
                  </a:cubicBezTo>
                  <a:cubicBezTo>
                    <a:pt x="412" y="2"/>
                    <a:pt x="349" y="2"/>
                    <a:pt x="285" y="5"/>
                  </a:cubicBezTo>
                  <a:cubicBezTo>
                    <a:pt x="237" y="7"/>
                    <a:pt x="191" y="26"/>
                    <a:pt x="141" y="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0368" name="Line 1152"/>
          <p:cNvSpPr>
            <a:spLocks noChangeShapeType="1"/>
          </p:cNvSpPr>
          <p:nvPr/>
        </p:nvSpPr>
        <p:spPr bwMode="auto">
          <a:xfrm>
            <a:off x="5105400" y="5715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69" name="Text Box 1153"/>
          <p:cNvSpPr txBox="1">
            <a:spLocks noChangeArrowheads="1"/>
          </p:cNvSpPr>
          <p:nvPr/>
        </p:nvSpPr>
        <p:spPr bwMode="auto">
          <a:xfrm>
            <a:off x="1143000" y="6400800"/>
            <a:ext cx="570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*Output clique is auto-associative =&gt; repairs output patterns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197490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3810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Hebb’s Rule</a:t>
            </a:r>
            <a:endParaRPr lang="nb-NO" altLang="he-IL"/>
          </a:p>
        </p:txBody>
      </p:sp>
      <p:sp>
        <p:nvSpPr>
          <p:cNvPr id="12291" name="Text Box 1027"/>
          <p:cNvSpPr txBox="1">
            <a:spLocks noChangeArrowheads="1"/>
          </p:cNvSpPr>
          <p:nvPr/>
        </p:nvSpPr>
        <p:spPr bwMode="auto">
          <a:xfrm>
            <a:off x="517525" y="1004888"/>
            <a:ext cx="3779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Connection Weights ~ Correlations</a:t>
            </a:r>
            <a:endParaRPr lang="nb-NO" altLang="he-IL"/>
          </a:p>
        </p:txBody>
      </p:sp>
      <p:sp>
        <p:nvSpPr>
          <p:cNvPr id="12292" name="Text Box 1028"/>
          <p:cNvSpPr txBox="1">
            <a:spLocks noChangeArrowheads="1"/>
          </p:cNvSpPr>
          <p:nvPr/>
        </p:nvSpPr>
        <p:spPr bwMode="auto">
          <a:xfrm>
            <a:off x="517525" y="1538288"/>
            <a:ext cx="78962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``When one cell repeatedly assists in firing another, the axon of the first cell</a:t>
            </a:r>
          </a:p>
          <a:p>
            <a:r>
              <a:rPr lang="nb-NO" altLang="he-IL" sz="2000"/>
              <a:t>develops synaptic knobs (or enlarges them if they already exist) in contact</a:t>
            </a:r>
          </a:p>
          <a:p>
            <a:r>
              <a:rPr lang="nb-NO" altLang="he-IL" sz="2000"/>
              <a:t>with the soma of the second cell.” (Hebb, 1949)</a:t>
            </a:r>
            <a:endParaRPr lang="nb-NO" altLang="he-IL"/>
          </a:p>
        </p:txBody>
      </p:sp>
      <p:sp>
        <p:nvSpPr>
          <p:cNvPr id="12293" name="Line 1029"/>
          <p:cNvSpPr>
            <a:spLocks noChangeShapeType="1"/>
          </p:cNvSpPr>
          <p:nvPr/>
        </p:nvSpPr>
        <p:spPr bwMode="auto">
          <a:xfrm>
            <a:off x="4191000" y="25908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2294" name="Text Box 1030"/>
          <p:cNvSpPr txBox="1">
            <a:spLocks noChangeArrowheads="1"/>
          </p:cNvSpPr>
          <p:nvPr/>
        </p:nvSpPr>
        <p:spPr bwMode="auto">
          <a:xfrm>
            <a:off x="228600" y="3200400"/>
            <a:ext cx="85915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In an associative neural net, if we compare two pattern components (e.g. pixels) </a:t>
            </a:r>
          </a:p>
          <a:p>
            <a:r>
              <a:rPr lang="nb-NO" altLang="he-IL" sz="2000"/>
              <a:t>within many patterns and find that they are frequently in:</a:t>
            </a:r>
          </a:p>
          <a:p>
            <a:r>
              <a:rPr lang="nb-NO" altLang="he-IL" sz="2000"/>
              <a:t>   a) the same state, then the arc weight between their NN nodes should be positive</a:t>
            </a:r>
          </a:p>
          <a:p>
            <a:r>
              <a:rPr lang="nb-NO" altLang="he-IL" sz="2000"/>
              <a:t>   b) different states, then   ”                        ”                          ”                ”   negative</a:t>
            </a:r>
            <a:endParaRPr lang="nb-NO" altLang="he-IL"/>
          </a:p>
        </p:txBody>
      </p:sp>
      <p:sp>
        <p:nvSpPr>
          <p:cNvPr id="12295" name="Text Box 1031"/>
          <p:cNvSpPr txBox="1">
            <a:spLocks noChangeArrowheads="1"/>
          </p:cNvSpPr>
          <p:nvPr/>
        </p:nvSpPr>
        <p:spPr bwMode="auto">
          <a:xfrm>
            <a:off x="246063" y="4953000"/>
            <a:ext cx="8897937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Matrix Memory:</a:t>
            </a:r>
          </a:p>
          <a:p>
            <a:endParaRPr lang="nb-NO" altLang="he-IL" sz="2000"/>
          </a:p>
          <a:p>
            <a:r>
              <a:rPr lang="nb-NO" altLang="he-IL" sz="2000"/>
              <a:t>    The weights must store the average correlations between all pattern components</a:t>
            </a:r>
          </a:p>
          <a:p>
            <a:r>
              <a:rPr lang="nb-NO" altLang="he-IL" sz="2000"/>
              <a:t>across all patterns.  A net presented with a partial pattern can then use the correlations</a:t>
            </a:r>
          </a:p>
          <a:p>
            <a:r>
              <a:rPr lang="nb-NO" altLang="he-IL" sz="2000"/>
              <a:t>to recreate the entire pattern.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238734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53" name="Object 1053"/>
          <p:cNvGraphicFramePr>
            <a:graphicFrameLocks noChangeAspect="1"/>
          </p:cNvGraphicFramePr>
          <p:nvPr/>
        </p:nvGraphicFramePr>
        <p:xfrm>
          <a:off x="4191000" y="2209800"/>
          <a:ext cx="267811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4" name="Utklipp" r:id="rId3" imgW="6117840" imgH="5173560" progId="MS_ClipArt_Gallery.2">
                  <p:embed/>
                </p:oleObj>
              </mc:Choice>
              <mc:Fallback>
                <p:oleObj name="Utklipp" r:id="rId3" imgW="6117840" imgH="5173560" progId="MS_ClipArt_Gallery.2">
                  <p:embed/>
                  <p:pic>
                    <p:nvPicPr>
                      <p:cNvPr id="26653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09800"/>
                        <a:ext cx="267811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Correlated Field Components</a:t>
            </a:r>
            <a:endParaRPr lang="nb-NO" altLang="he-IL"/>
          </a:p>
        </p:txBody>
      </p:sp>
      <p:graphicFrame>
        <p:nvGraphicFramePr>
          <p:cNvPr id="26627" name="Object 1027"/>
          <p:cNvGraphicFramePr>
            <a:graphicFrameLocks noChangeAspect="1"/>
          </p:cNvGraphicFramePr>
          <p:nvPr/>
        </p:nvGraphicFramePr>
        <p:xfrm>
          <a:off x="1905000" y="2133600"/>
          <a:ext cx="1277938" cy="279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5" name="Utklipp" r:id="rId5" imgW="2765160" imgH="6043320" progId="MS_ClipArt_Gallery.2">
                  <p:embed/>
                </p:oleObj>
              </mc:Choice>
              <mc:Fallback>
                <p:oleObj name="Utklipp" r:id="rId5" imgW="2765160" imgH="6043320" progId="MS_ClipArt_Gallery.2">
                  <p:embed/>
                  <p:pic>
                    <p:nvPicPr>
                      <p:cNvPr id="26627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133600"/>
                        <a:ext cx="1277938" cy="279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Rectangle 1028"/>
          <p:cNvSpPr>
            <a:spLocks noChangeArrowheads="1"/>
          </p:cNvSpPr>
          <p:nvPr/>
        </p:nvSpPr>
        <p:spPr bwMode="auto">
          <a:xfrm>
            <a:off x="2590800" y="29718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29" name="Rectangle 1029"/>
          <p:cNvSpPr>
            <a:spLocks noChangeArrowheads="1"/>
          </p:cNvSpPr>
          <p:nvPr/>
        </p:nvSpPr>
        <p:spPr bwMode="auto">
          <a:xfrm>
            <a:off x="2514600" y="37338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0" name="Rectangle 1030"/>
          <p:cNvSpPr>
            <a:spLocks noChangeArrowheads="1"/>
          </p:cNvSpPr>
          <p:nvPr/>
        </p:nvSpPr>
        <p:spPr bwMode="auto">
          <a:xfrm>
            <a:off x="2286000" y="25146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1" name="Rectangle 1031"/>
          <p:cNvSpPr>
            <a:spLocks noChangeArrowheads="1"/>
          </p:cNvSpPr>
          <p:nvPr/>
        </p:nvSpPr>
        <p:spPr bwMode="auto">
          <a:xfrm>
            <a:off x="2133600" y="28194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2" name="Rectangle 1032"/>
          <p:cNvSpPr>
            <a:spLocks noChangeArrowheads="1"/>
          </p:cNvSpPr>
          <p:nvPr/>
        </p:nvSpPr>
        <p:spPr bwMode="auto">
          <a:xfrm>
            <a:off x="2133600" y="26670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3" name="Rectangle 1033"/>
          <p:cNvSpPr>
            <a:spLocks noChangeArrowheads="1"/>
          </p:cNvSpPr>
          <p:nvPr/>
        </p:nvSpPr>
        <p:spPr bwMode="auto">
          <a:xfrm>
            <a:off x="2133600" y="25146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4" name="Rectangle 1034"/>
          <p:cNvSpPr>
            <a:spLocks noChangeArrowheads="1"/>
          </p:cNvSpPr>
          <p:nvPr/>
        </p:nvSpPr>
        <p:spPr bwMode="auto">
          <a:xfrm>
            <a:off x="2819400" y="27432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5" name="Rectangle 1035"/>
          <p:cNvSpPr>
            <a:spLocks noChangeArrowheads="1"/>
          </p:cNvSpPr>
          <p:nvPr/>
        </p:nvSpPr>
        <p:spPr bwMode="auto">
          <a:xfrm>
            <a:off x="2286000" y="28194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6" name="Rectangle 1036"/>
          <p:cNvSpPr>
            <a:spLocks noChangeArrowheads="1"/>
          </p:cNvSpPr>
          <p:nvPr/>
        </p:nvSpPr>
        <p:spPr bwMode="auto">
          <a:xfrm>
            <a:off x="2286000" y="26670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7" name="Line 1037"/>
          <p:cNvSpPr>
            <a:spLocks noChangeShapeType="1"/>
          </p:cNvSpPr>
          <p:nvPr/>
        </p:nvSpPr>
        <p:spPr bwMode="auto">
          <a:xfrm flipV="1">
            <a:off x="2667000" y="3352800"/>
            <a:ext cx="685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8" name="Line 1038"/>
          <p:cNvSpPr>
            <a:spLocks noChangeShapeType="1"/>
          </p:cNvSpPr>
          <p:nvPr/>
        </p:nvSpPr>
        <p:spPr bwMode="auto">
          <a:xfrm>
            <a:off x="2743200" y="3048000"/>
            <a:ext cx="5334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39" name="Text Box 1039"/>
          <p:cNvSpPr txBox="1">
            <a:spLocks noChangeArrowheads="1"/>
          </p:cNvSpPr>
          <p:nvPr/>
        </p:nvSpPr>
        <p:spPr bwMode="auto">
          <a:xfrm>
            <a:off x="533400" y="838200"/>
            <a:ext cx="8382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nb-NO" altLang="he-IL" sz="1800"/>
              <a:t> Each component is a small portion of the pattern field (e.g. a pixel).</a:t>
            </a:r>
          </a:p>
          <a:p>
            <a:pPr>
              <a:buFontTx/>
              <a:buChar char="•"/>
            </a:pPr>
            <a:r>
              <a:rPr lang="nb-NO" altLang="he-IL" sz="1800"/>
              <a:t> In the associative neural network, each node represents one field component.</a:t>
            </a:r>
          </a:p>
          <a:p>
            <a:pPr>
              <a:buFontTx/>
              <a:buChar char="•"/>
            </a:pPr>
            <a:r>
              <a:rPr lang="nb-NO" altLang="he-IL" sz="1800"/>
              <a:t> For every pair of components, their values are compared in each of several patterns.</a:t>
            </a:r>
          </a:p>
          <a:p>
            <a:pPr>
              <a:buFontTx/>
              <a:buChar char="•"/>
            </a:pPr>
            <a:r>
              <a:rPr lang="nb-NO" altLang="he-IL" sz="1800"/>
              <a:t> Set weight on arc between the NN nodes for the 2 components ~ avg correlation.</a:t>
            </a:r>
            <a:endParaRPr lang="nb-NO" altLang="he-IL"/>
          </a:p>
        </p:txBody>
      </p:sp>
      <p:sp>
        <p:nvSpPr>
          <p:cNvPr id="26641" name="Rectangle 1041"/>
          <p:cNvSpPr>
            <a:spLocks noChangeArrowheads="1"/>
          </p:cNvSpPr>
          <p:nvPr/>
        </p:nvSpPr>
        <p:spPr bwMode="auto">
          <a:xfrm>
            <a:off x="5791200" y="30480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42" name="Rectangle 1042"/>
          <p:cNvSpPr>
            <a:spLocks noChangeArrowheads="1"/>
          </p:cNvSpPr>
          <p:nvPr/>
        </p:nvSpPr>
        <p:spPr bwMode="auto">
          <a:xfrm>
            <a:off x="5715000" y="38100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43" name="Rectangle 1043"/>
          <p:cNvSpPr>
            <a:spLocks noChangeArrowheads="1"/>
          </p:cNvSpPr>
          <p:nvPr/>
        </p:nvSpPr>
        <p:spPr bwMode="auto">
          <a:xfrm>
            <a:off x="5486400" y="25908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44" name="Rectangle 1044"/>
          <p:cNvSpPr>
            <a:spLocks noChangeArrowheads="1"/>
          </p:cNvSpPr>
          <p:nvPr/>
        </p:nvSpPr>
        <p:spPr bwMode="auto">
          <a:xfrm>
            <a:off x="5334000" y="28956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45" name="Rectangle 1045"/>
          <p:cNvSpPr>
            <a:spLocks noChangeArrowheads="1"/>
          </p:cNvSpPr>
          <p:nvPr/>
        </p:nvSpPr>
        <p:spPr bwMode="auto">
          <a:xfrm>
            <a:off x="5334000" y="27432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46" name="Rectangle 1046"/>
          <p:cNvSpPr>
            <a:spLocks noChangeArrowheads="1"/>
          </p:cNvSpPr>
          <p:nvPr/>
        </p:nvSpPr>
        <p:spPr bwMode="auto">
          <a:xfrm>
            <a:off x="5334000" y="25908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47" name="Rectangle 1047"/>
          <p:cNvSpPr>
            <a:spLocks noChangeArrowheads="1"/>
          </p:cNvSpPr>
          <p:nvPr/>
        </p:nvSpPr>
        <p:spPr bwMode="auto">
          <a:xfrm>
            <a:off x="6019800" y="28194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48" name="Rectangle 1048"/>
          <p:cNvSpPr>
            <a:spLocks noChangeArrowheads="1"/>
          </p:cNvSpPr>
          <p:nvPr/>
        </p:nvSpPr>
        <p:spPr bwMode="auto">
          <a:xfrm>
            <a:off x="5486400" y="28956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49" name="Rectangle 1049"/>
          <p:cNvSpPr>
            <a:spLocks noChangeArrowheads="1"/>
          </p:cNvSpPr>
          <p:nvPr/>
        </p:nvSpPr>
        <p:spPr bwMode="auto">
          <a:xfrm>
            <a:off x="5486400" y="2743200"/>
            <a:ext cx="152400" cy="152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50" name="Line 1050"/>
          <p:cNvSpPr>
            <a:spLocks noChangeShapeType="1"/>
          </p:cNvSpPr>
          <p:nvPr/>
        </p:nvSpPr>
        <p:spPr bwMode="auto">
          <a:xfrm flipH="1" flipV="1">
            <a:off x="4800600" y="3581400"/>
            <a:ext cx="9144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51" name="Line 1051"/>
          <p:cNvSpPr>
            <a:spLocks noChangeShapeType="1"/>
          </p:cNvSpPr>
          <p:nvPr/>
        </p:nvSpPr>
        <p:spPr bwMode="auto">
          <a:xfrm flipH="1">
            <a:off x="4876800" y="3124200"/>
            <a:ext cx="914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54" name="Text Box 1054"/>
          <p:cNvSpPr txBox="1">
            <a:spLocks noChangeArrowheads="1"/>
          </p:cNvSpPr>
          <p:nvPr/>
        </p:nvSpPr>
        <p:spPr bwMode="auto">
          <a:xfrm>
            <a:off x="3336925" y="308610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??</a:t>
            </a:r>
            <a:endParaRPr lang="nb-NO" altLang="he-IL"/>
          </a:p>
        </p:txBody>
      </p:sp>
      <p:sp>
        <p:nvSpPr>
          <p:cNvPr id="26655" name="Text Box 1055"/>
          <p:cNvSpPr txBox="1">
            <a:spLocks noChangeArrowheads="1"/>
          </p:cNvSpPr>
          <p:nvPr/>
        </p:nvSpPr>
        <p:spPr bwMode="auto">
          <a:xfrm>
            <a:off x="4343400" y="327660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??</a:t>
            </a:r>
            <a:endParaRPr lang="nb-NO" altLang="he-IL"/>
          </a:p>
        </p:txBody>
      </p:sp>
      <p:sp>
        <p:nvSpPr>
          <p:cNvPr id="26656" name="Line 1056"/>
          <p:cNvSpPr>
            <a:spLocks noChangeShapeType="1"/>
          </p:cNvSpPr>
          <p:nvPr/>
        </p:nvSpPr>
        <p:spPr bwMode="auto">
          <a:xfrm>
            <a:off x="3581400" y="3505200"/>
            <a:ext cx="2286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57" name="Line 1057"/>
          <p:cNvSpPr>
            <a:spLocks noChangeShapeType="1"/>
          </p:cNvSpPr>
          <p:nvPr/>
        </p:nvSpPr>
        <p:spPr bwMode="auto">
          <a:xfrm flipH="1">
            <a:off x="3886200" y="3581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58" name="Text Box 1058"/>
          <p:cNvSpPr txBox="1">
            <a:spLocks noChangeArrowheads="1"/>
          </p:cNvSpPr>
          <p:nvPr/>
        </p:nvSpPr>
        <p:spPr bwMode="auto">
          <a:xfrm>
            <a:off x="1127125" y="27844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a</a:t>
            </a:r>
          </a:p>
        </p:txBody>
      </p:sp>
      <p:sp>
        <p:nvSpPr>
          <p:cNvPr id="26660" name="Line 1060"/>
          <p:cNvSpPr>
            <a:spLocks noChangeShapeType="1"/>
          </p:cNvSpPr>
          <p:nvPr/>
        </p:nvSpPr>
        <p:spPr bwMode="auto">
          <a:xfrm>
            <a:off x="1371600" y="3048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61" name="Text Box 1061"/>
          <p:cNvSpPr txBox="1">
            <a:spLocks noChangeArrowheads="1"/>
          </p:cNvSpPr>
          <p:nvPr/>
        </p:nvSpPr>
        <p:spPr bwMode="auto">
          <a:xfrm>
            <a:off x="1066800" y="3581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b</a:t>
            </a:r>
          </a:p>
        </p:txBody>
      </p:sp>
      <p:sp>
        <p:nvSpPr>
          <p:cNvPr id="26662" name="Line 1062"/>
          <p:cNvSpPr>
            <a:spLocks noChangeShapeType="1"/>
          </p:cNvSpPr>
          <p:nvPr/>
        </p:nvSpPr>
        <p:spPr bwMode="auto">
          <a:xfrm>
            <a:off x="1371600" y="3810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65" name="Text Box 1065"/>
          <p:cNvSpPr txBox="1">
            <a:spLocks noChangeArrowheads="1"/>
          </p:cNvSpPr>
          <p:nvPr/>
        </p:nvSpPr>
        <p:spPr bwMode="auto">
          <a:xfrm>
            <a:off x="7146925" y="293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a</a:t>
            </a:r>
          </a:p>
        </p:txBody>
      </p:sp>
      <p:sp>
        <p:nvSpPr>
          <p:cNvPr id="26666" name="Line 1066"/>
          <p:cNvSpPr>
            <a:spLocks noChangeShapeType="1"/>
          </p:cNvSpPr>
          <p:nvPr/>
        </p:nvSpPr>
        <p:spPr bwMode="auto">
          <a:xfrm flipH="1" flipV="1">
            <a:off x="5943600" y="3124200"/>
            <a:ext cx="12192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67" name="Text Box 1067"/>
          <p:cNvSpPr txBox="1">
            <a:spLocks noChangeArrowheads="1"/>
          </p:cNvSpPr>
          <p:nvPr/>
        </p:nvSpPr>
        <p:spPr bwMode="auto">
          <a:xfrm>
            <a:off x="7162800" y="3810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b</a:t>
            </a:r>
          </a:p>
        </p:txBody>
      </p:sp>
      <p:sp>
        <p:nvSpPr>
          <p:cNvPr id="26668" name="Line 1068"/>
          <p:cNvSpPr>
            <a:spLocks noChangeShapeType="1"/>
          </p:cNvSpPr>
          <p:nvPr/>
        </p:nvSpPr>
        <p:spPr bwMode="auto">
          <a:xfrm flipH="1" flipV="1">
            <a:off x="5943600" y="3886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69" name="Text Box 1069"/>
          <p:cNvSpPr txBox="1">
            <a:spLocks noChangeArrowheads="1"/>
          </p:cNvSpPr>
          <p:nvPr/>
        </p:nvSpPr>
        <p:spPr bwMode="auto">
          <a:xfrm>
            <a:off x="3124200" y="43434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Avg Correlation</a:t>
            </a:r>
            <a:endParaRPr lang="nb-NO" altLang="he-IL"/>
          </a:p>
        </p:txBody>
      </p:sp>
      <p:sp>
        <p:nvSpPr>
          <p:cNvPr id="26670" name="Oval 1070"/>
          <p:cNvSpPr>
            <a:spLocks noChangeArrowheads="1"/>
          </p:cNvSpPr>
          <p:nvPr/>
        </p:nvSpPr>
        <p:spPr bwMode="auto">
          <a:xfrm>
            <a:off x="1066800" y="54864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71" name="Oval 1071"/>
          <p:cNvSpPr>
            <a:spLocks noChangeArrowheads="1"/>
          </p:cNvSpPr>
          <p:nvPr/>
        </p:nvSpPr>
        <p:spPr bwMode="auto">
          <a:xfrm>
            <a:off x="5715000" y="60960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72" name="Oval 1072"/>
          <p:cNvSpPr>
            <a:spLocks noChangeArrowheads="1"/>
          </p:cNvSpPr>
          <p:nvPr/>
        </p:nvSpPr>
        <p:spPr bwMode="auto">
          <a:xfrm>
            <a:off x="2209800" y="59436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73" name="Oval 1073"/>
          <p:cNvSpPr>
            <a:spLocks noChangeArrowheads="1"/>
          </p:cNvSpPr>
          <p:nvPr/>
        </p:nvSpPr>
        <p:spPr bwMode="auto">
          <a:xfrm>
            <a:off x="1905000" y="52578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74" name="Oval 1074"/>
          <p:cNvSpPr>
            <a:spLocks noChangeArrowheads="1"/>
          </p:cNvSpPr>
          <p:nvPr/>
        </p:nvSpPr>
        <p:spPr bwMode="auto">
          <a:xfrm>
            <a:off x="4343400" y="54864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nb-NO" altLang="he-IL"/>
              <a:t>b</a:t>
            </a:r>
          </a:p>
        </p:txBody>
      </p:sp>
      <p:sp>
        <p:nvSpPr>
          <p:cNvPr id="26675" name="Oval 1075"/>
          <p:cNvSpPr>
            <a:spLocks noChangeArrowheads="1"/>
          </p:cNvSpPr>
          <p:nvPr/>
        </p:nvSpPr>
        <p:spPr bwMode="auto">
          <a:xfrm>
            <a:off x="2895600" y="54864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nb-NO" altLang="he-IL"/>
              <a:t>a</a:t>
            </a:r>
          </a:p>
        </p:txBody>
      </p:sp>
      <p:sp>
        <p:nvSpPr>
          <p:cNvPr id="26676" name="Oval 1076"/>
          <p:cNvSpPr>
            <a:spLocks noChangeArrowheads="1"/>
          </p:cNvSpPr>
          <p:nvPr/>
        </p:nvSpPr>
        <p:spPr bwMode="auto">
          <a:xfrm>
            <a:off x="4800600" y="61722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77" name="Oval 1077"/>
          <p:cNvSpPr>
            <a:spLocks noChangeArrowheads="1"/>
          </p:cNvSpPr>
          <p:nvPr/>
        </p:nvSpPr>
        <p:spPr bwMode="auto">
          <a:xfrm>
            <a:off x="1447800" y="61722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78" name="Oval 1078"/>
          <p:cNvSpPr>
            <a:spLocks noChangeArrowheads="1"/>
          </p:cNvSpPr>
          <p:nvPr/>
        </p:nvSpPr>
        <p:spPr bwMode="auto">
          <a:xfrm>
            <a:off x="5257800" y="5257800"/>
            <a:ext cx="457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82" name="Line 1082"/>
          <p:cNvSpPr>
            <a:spLocks noChangeShapeType="1"/>
          </p:cNvSpPr>
          <p:nvPr/>
        </p:nvSpPr>
        <p:spPr bwMode="auto">
          <a:xfrm>
            <a:off x="3429000" y="5638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83" name="Line 1083"/>
          <p:cNvSpPr>
            <a:spLocks noChangeShapeType="1"/>
          </p:cNvSpPr>
          <p:nvPr/>
        </p:nvSpPr>
        <p:spPr bwMode="auto">
          <a:xfrm>
            <a:off x="5257800" y="6324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84" name="Line 1084"/>
          <p:cNvSpPr>
            <a:spLocks noChangeShapeType="1"/>
          </p:cNvSpPr>
          <p:nvPr/>
        </p:nvSpPr>
        <p:spPr bwMode="auto">
          <a:xfrm>
            <a:off x="5562600" y="5638800"/>
            <a:ext cx="304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85" name="Line 1085"/>
          <p:cNvSpPr>
            <a:spLocks noChangeShapeType="1"/>
          </p:cNvSpPr>
          <p:nvPr/>
        </p:nvSpPr>
        <p:spPr bwMode="auto">
          <a:xfrm flipV="1">
            <a:off x="5029200" y="5638800"/>
            <a:ext cx="381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86" name="Line 1086"/>
          <p:cNvSpPr>
            <a:spLocks noChangeShapeType="1"/>
          </p:cNvSpPr>
          <p:nvPr/>
        </p:nvSpPr>
        <p:spPr bwMode="auto">
          <a:xfrm>
            <a:off x="1447800" y="5791200"/>
            <a:ext cx="838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87" name="Line 1087"/>
          <p:cNvSpPr>
            <a:spLocks noChangeShapeType="1"/>
          </p:cNvSpPr>
          <p:nvPr/>
        </p:nvSpPr>
        <p:spPr bwMode="auto">
          <a:xfrm flipV="1">
            <a:off x="1600200" y="5638800"/>
            <a:ext cx="4572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88" name="Line 1088"/>
          <p:cNvSpPr>
            <a:spLocks noChangeShapeType="1"/>
          </p:cNvSpPr>
          <p:nvPr/>
        </p:nvSpPr>
        <p:spPr bwMode="auto">
          <a:xfrm>
            <a:off x="2362200" y="5486400"/>
            <a:ext cx="5334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89" name="Line 1089"/>
          <p:cNvSpPr>
            <a:spLocks noChangeShapeType="1"/>
          </p:cNvSpPr>
          <p:nvPr/>
        </p:nvSpPr>
        <p:spPr bwMode="auto">
          <a:xfrm flipV="1">
            <a:off x="4800600" y="5486400"/>
            <a:ext cx="4572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90" name="Line 1090"/>
          <p:cNvSpPr>
            <a:spLocks noChangeShapeType="1"/>
          </p:cNvSpPr>
          <p:nvPr/>
        </p:nvSpPr>
        <p:spPr bwMode="auto">
          <a:xfrm>
            <a:off x="2667000" y="6172200"/>
            <a:ext cx="2133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6691" name="Text Box 1091"/>
          <p:cNvSpPr txBox="1">
            <a:spLocks noChangeArrowheads="1"/>
          </p:cNvSpPr>
          <p:nvPr/>
        </p:nvSpPr>
        <p:spPr bwMode="auto">
          <a:xfrm>
            <a:off x="3581400" y="5181600"/>
            <a:ext cx="523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w</a:t>
            </a:r>
            <a:r>
              <a:rPr lang="nb-NO" altLang="he-IL" sz="2000" baseline="-25000"/>
              <a:t>ab</a:t>
            </a:r>
            <a:endParaRPr lang="nb-NO" altLang="he-IL"/>
          </a:p>
        </p:txBody>
      </p:sp>
      <p:sp>
        <p:nvSpPr>
          <p:cNvPr id="26692" name="Line 1092"/>
          <p:cNvSpPr>
            <a:spLocks noChangeShapeType="1"/>
          </p:cNvSpPr>
          <p:nvPr/>
        </p:nvSpPr>
        <p:spPr bwMode="auto">
          <a:xfrm flipH="1">
            <a:off x="3810000" y="4724400"/>
            <a:ext cx="76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267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Quantifying Hebb’s Rule</a:t>
            </a:r>
            <a:endParaRPr lang="nb-NO" altLang="he-IL"/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365125" y="1004888"/>
            <a:ext cx="8550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nb-NO" altLang="he-IL" sz="2000"/>
              <a:t>Compare two nodes to calc a weight change that reflects the state correlation:</a:t>
            </a:r>
            <a:endParaRPr lang="nb-NO" altLang="he-IL"/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828800" y="3886200"/>
          <a:ext cx="18288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2" name="Formel" r:id="rId3" imgW="888840" imgH="444240" progId="Equation.3">
                  <p:embed/>
                </p:oleObj>
              </mc:Choice>
              <mc:Fallback>
                <p:oleObj name="Formel" r:id="rId3" imgW="888840" imgH="444240" progId="Equation.3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86200"/>
                        <a:ext cx="18288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2590800" y="1600200"/>
          <a:ext cx="17526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3" name="Formel" r:id="rId5" imgW="787320" imgH="241200" progId="Equation.3">
                  <p:embed/>
                </p:oleObj>
              </mc:Choice>
              <mc:Fallback>
                <p:oleObj name="Formel" r:id="rId5" imgW="787320" imgH="241200" progId="Equation.3">
                  <p:embed/>
                  <p:pic>
                    <p:nvPicPr>
                      <p:cNvPr id="13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00200"/>
                        <a:ext cx="17526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09600" y="4876800"/>
            <a:ext cx="79533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Hebbian Principle:</a:t>
            </a:r>
            <a:r>
              <a:rPr lang="nb-NO" altLang="he-IL" sz="2000"/>
              <a:t> If all the input patterns are known prior to retrieval time, </a:t>
            </a:r>
          </a:p>
          <a:p>
            <a:r>
              <a:rPr lang="nb-NO" altLang="he-IL" sz="2000"/>
              <a:t>then init weights as:</a:t>
            </a:r>
            <a:endParaRPr lang="nb-NO" altLang="he-IL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4419600" y="1524000"/>
            <a:ext cx="4724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nb-NO" altLang="he-IL" sz="1600"/>
              <a:t>* When the two components are the same (different), </a:t>
            </a:r>
          </a:p>
          <a:p>
            <a:r>
              <a:rPr lang="nb-NO" altLang="he-IL" sz="1600"/>
              <a:t>    increase (decrease) the weight</a:t>
            </a:r>
            <a:endParaRPr lang="nb-NO" altLang="he-IL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533400" y="3379788"/>
            <a:ext cx="7777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Ideally, the weights will record the average correlations across all patterns:</a:t>
            </a:r>
            <a:endParaRPr lang="nb-NO" altLang="he-IL"/>
          </a:p>
        </p:txBody>
      </p:sp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2057400" y="5486400"/>
          <a:ext cx="19812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4" name="Formel" r:id="rId7" imgW="1015920" imgH="444240" progId="Equation.3">
                  <p:embed/>
                </p:oleObj>
              </mc:Choice>
              <mc:Fallback>
                <p:oleObj name="Formel" r:id="rId7" imgW="1015920" imgH="444240" progId="Equation.3">
                  <p:embed/>
                  <p:pic>
                    <p:nvPicPr>
                      <p:cNvPr id="133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486400"/>
                        <a:ext cx="198120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3200400" y="6400800"/>
            <a:ext cx="282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Weights = Average Correlations</a:t>
            </a:r>
            <a:endParaRPr lang="nb-NO" altLang="he-IL"/>
          </a:p>
        </p:txBody>
      </p:sp>
      <p:graphicFrame>
        <p:nvGraphicFramePr>
          <p:cNvPr id="13323" name="Object 11"/>
          <p:cNvGraphicFramePr>
            <a:graphicFrameLocks noChangeAspect="1"/>
          </p:cNvGraphicFramePr>
          <p:nvPr/>
        </p:nvGraphicFramePr>
        <p:xfrm>
          <a:off x="2590800" y="2362200"/>
          <a:ext cx="18383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5" name="Formel" r:id="rId9" imgW="825480" imgH="241200" progId="Equation.3">
                  <p:embed/>
                </p:oleObj>
              </mc:Choice>
              <mc:Fallback>
                <p:oleObj name="Formel" r:id="rId9" imgW="825480" imgH="241200" progId="Equation.3">
                  <p:embed/>
                  <p:pic>
                    <p:nvPicPr>
                      <p:cNvPr id="133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362200"/>
                        <a:ext cx="183832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533400" y="1600200"/>
            <a:ext cx="186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Auto-Association:</a:t>
            </a:r>
            <a:endParaRPr lang="nb-NO" altLang="he-IL"/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533400" y="2438400"/>
            <a:ext cx="202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Hetero-Association:</a:t>
            </a:r>
            <a:endParaRPr lang="nb-NO" altLang="he-IL"/>
          </a:p>
        </p:txBody>
      </p:sp>
      <p:graphicFrame>
        <p:nvGraphicFramePr>
          <p:cNvPr id="13326" name="Object 14"/>
          <p:cNvGraphicFramePr>
            <a:graphicFrameLocks noChangeAspect="1"/>
          </p:cNvGraphicFramePr>
          <p:nvPr/>
        </p:nvGraphicFramePr>
        <p:xfrm>
          <a:off x="5715000" y="3886200"/>
          <a:ext cx="190817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6" name="Formel" r:id="rId11" imgW="927000" imgH="444240" progId="Equation.3">
                  <p:embed/>
                </p:oleObj>
              </mc:Choice>
              <mc:Fallback>
                <p:oleObj name="Formel" r:id="rId11" imgW="927000" imgH="444240" progId="Equation.3">
                  <p:embed/>
                  <p:pic>
                    <p:nvPicPr>
                      <p:cNvPr id="133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886200"/>
                        <a:ext cx="190817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990600" y="4114800"/>
            <a:ext cx="704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Auto:</a:t>
            </a:r>
            <a:endParaRPr lang="nb-NO" altLang="he-IL"/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4572000" y="4191000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Hetero:</a:t>
            </a:r>
            <a:endParaRPr lang="nb-NO" altLang="he-IL"/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990600" y="5715000"/>
            <a:ext cx="704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Auto:</a:t>
            </a:r>
            <a:endParaRPr lang="nb-NO" altLang="he-IL"/>
          </a:p>
        </p:txBody>
      </p:sp>
      <p:graphicFrame>
        <p:nvGraphicFramePr>
          <p:cNvPr id="13330" name="Object 18"/>
          <p:cNvGraphicFramePr>
            <a:graphicFrameLocks noChangeAspect="1"/>
          </p:cNvGraphicFramePr>
          <p:nvPr/>
        </p:nvGraphicFramePr>
        <p:xfrm>
          <a:off x="5791200" y="5486400"/>
          <a:ext cx="20574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7" name="Formel" r:id="rId13" imgW="1054080" imgH="444240" progId="Equation.3">
                  <p:embed/>
                </p:oleObj>
              </mc:Choice>
              <mc:Fallback>
                <p:oleObj name="Formel" r:id="rId13" imgW="1054080" imgH="444240" progId="Equation.3">
                  <p:embed/>
                  <p:pic>
                    <p:nvPicPr>
                      <p:cNvPr id="1333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486400"/>
                        <a:ext cx="205740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1" name="Text Box 19"/>
          <p:cNvSpPr txBox="1">
            <a:spLocks noChangeArrowheads="1"/>
          </p:cNvSpPr>
          <p:nvPr/>
        </p:nvSpPr>
        <p:spPr bwMode="auto">
          <a:xfrm>
            <a:off x="4572000" y="5715000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Hetero:</a:t>
            </a:r>
            <a:endParaRPr lang="nb-NO" altLang="he-IL"/>
          </a:p>
        </p:txBody>
      </p:sp>
      <p:sp>
        <p:nvSpPr>
          <p:cNvPr id="13332" name="Text Box 20"/>
          <p:cNvSpPr txBox="1">
            <a:spLocks noChangeArrowheads="1"/>
          </p:cNvSpPr>
          <p:nvPr/>
        </p:nvSpPr>
        <p:spPr bwMode="auto">
          <a:xfrm>
            <a:off x="4648200" y="2286000"/>
            <a:ext cx="21986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i = input component</a:t>
            </a:r>
          </a:p>
          <a:p>
            <a:r>
              <a:rPr lang="nb-NO" altLang="he-IL" sz="1800"/>
              <a:t>o = output component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1902521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altLang="he-IL" sz="3200"/>
              <a:t>Matrix Representation</a:t>
            </a:r>
            <a:endParaRPr lang="en-US" altLang="he-IL"/>
          </a:p>
        </p:txBody>
      </p:sp>
      <p:sp>
        <p:nvSpPr>
          <p:cNvPr id="296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7772400" cy="2895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he-IL" sz="1800"/>
              <a:t>Let X = matrix of input patterns, where each ROW is a pattern.  So x</a:t>
            </a:r>
            <a:r>
              <a:rPr lang="en-US" altLang="he-IL" sz="1800" baseline="-25000"/>
              <a:t>k,i</a:t>
            </a:r>
            <a:r>
              <a:rPr lang="en-US" altLang="he-IL" sz="1800"/>
              <a:t> = the ith bit of the kth pattern.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he-IL" sz="1800"/>
              <a:t>Let Y = matrix of output patterns, where each ROW is a pattern.  So y</a:t>
            </a:r>
            <a:r>
              <a:rPr lang="en-US" altLang="he-IL" sz="1800" baseline="-25000"/>
              <a:t>k,j</a:t>
            </a:r>
            <a:r>
              <a:rPr lang="en-US" altLang="he-IL" sz="1800"/>
              <a:t> = the jth bit of the kth pattern.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he-IL" sz="1800"/>
              <a:t>Then, avg correlation between input bit i and output bit j across all patterns is: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he-IL" sz="1800"/>
              <a:t>1/P (x</a:t>
            </a:r>
            <a:r>
              <a:rPr lang="en-US" altLang="he-IL" sz="1800" baseline="-25000"/>
              <a:t>1,i</a:t>
            </a:r>
            <a:r>
              <a:rPr lang="en-US" altLang="he-IL" sz="1800"/>
              <a:t>y</a:t>
            </a:r>
            <a:r>
              <a:rPr lang="en-US" altLang="he-IL" sz="1800" baseline="-25000"/>
              <a:t>1,j </a:t>
            </a:r>
            <a:r>
              <a:rPr lang="en-US" altLang="he-IL" sz="1800"/>
              <a:t>+ x</a:t>
            </a:r>
            <a:r>
              <a:rPr lang="en-US" altLang="he-IL" sz="1800" baseline="-25000"/>
              <a:t>2,i</a:t>
            </a:r>
            <a:r>
              <a:rPr lang="en-US" altLang="he-IL" sz="1800"/>
              <a:t>y</a:t>
            </a:r>
            <a:r>
              <a:rPr lang="en-US" altLang="he-IL" sz="1800" baseline="-25000"/>
              <a:t>2,j</a:t>
            </a:r>
            <a:r>
              <a:rPr lang="en-US" altLang="he-IL" sz="1800"/>
              <a:t> + … + x</a:t>
            </a:r>
            <a:r>
              <a:rPr lang="en-US" altLang="he-IL" sz="1800" baseline="-25000"/>
              <a:t>p,i</a:t>
            </a:r>
            <a:r>
              <a:rPr lang="en-US" altLang="he-IL" sz="1800"/>
              <a:t>y</a:t>
            </a:r>
            <a:r>
              <a:rPr lang="en-US" altLang="he-IL" sz="1800" baseline="-25000"/>
              <a:t>p,j</a:t>
            </a:r>
            <a:r>
              <a:rPr lang="en-US" altLang="he-IL" sz="1800"/>
              <a:t>)  =  w</a:t>
            </a:r>
            <a:r>
              <a:rPr lang="en-US" altLang="he-IL" sz="1800" baseline="-25000"/>
              <a:t>i,j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he-IL" sz="18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he-IL" sz="1800" u="sng"/>
              <a:t>To calculate all weights:</a:t>
            </a:r>
            <a:endParaRPr lang="en-US" altLang="he-IL" sz="18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he-IL" sz="1800"/>
              <a:t>	Hetero Assoc:	W = X</a:t>
            </a:r>
            <a:r>
              <a:rPr lang="en-US" altLang="he-IL" sz="1800" baseline="30000"/>
              <a:t>T</a:t>
            </a:r>
            <a:r>
              <a:rPr lang="en-US" altLang="he-IL" sz="1800"/>
              <a:t>Y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he-IL" sz="1800"/>
              <a:t>	Auto Assoc:	W = X</a:t>
            </a:r>
            <a:r>
              <a:rPr lang="en-US" altLang="he-IL" sz="1800" baseline="30000"/>
              <a:t>T</a:t>
            </a:r>
            <a:r>
              <a:rPr lang="en-US" altLang="he-IL" sz="1800"/>
              <a:t>X</a:t>
            </a:r>
            <a:endParaRPr lang="en-US" altLang="he-IL" sz="1800" baseline="-25000"/>
          </a:p>
        </p:txBody>
      </p:sp>
      <p:grpSp>
        <p:nvGrpSpPr>
          <p:cNvPr id="29704" name="Group 1032"/>
          <p:cNvGrpSpPr>
            <a:grpSpLocks/>
          </p:cNvGrpSpPr>
          <p:nvPr/>
        </p:nvGrpSpPr>
        <p:grpSpPr bwMode="auto">
          <a:xfrm>
            <a:off x="838200" y="5105400"/>
            <a:ext cx="2133600" cy="1519238"/>
            <a:chOff x="528" y="3216"/>
            <a:chExt cx="1344" cy="957"/>
          </a:xfrm>
        </p:grpSpPr>
        <p:sp>
          <p:nvSpPr>
            <p:cNvPr id="29700" name="Text Box 1028"/>
            <p:cNvSpPr txBox="1">
              <a:spLocks noChangeArrowheads="1"/>
            </p:cNvSpPr>
            <p:nvPr/>
          </p:nvSpPr>
          <p:spPr bwMode="auto">
            <a:xfrm>
              <a:off x="528" y="3216"/>
              <a:ext cx="1344" cy="23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he-IL" sz="1800">
                  <a:solidFill>
                    <a:schemeClr val="accent2"/>
                  </a:solidFill>
                </a:rPr>
                <a:t>In Pattern 1: x</a:t>
              </a:r>
              <a:r>
                <a:rPr lang="en-US" altLang="he-IL" sz="1800" baseline="-25000">
                  <a:solidFill>
                    <a:schemeClr val="accent2"/>
                  </a:solidFill>
                </a:rPr>
                <a:t>1,1</a:t>
              </a:r>
              <a:r>
                <a:rPr lang="en-US" altLang="he-IL" sz="1800">
                  <a:solidFill>
                    <a:schemeClr val="accent2"/>
                  </a:solidFill>
                </a:rPr>
                <a:t>..x</a:t>
              </a:r>
              <a:r>
                <a:rPr lang="en-US" altLang="he-IL" sz="1800" baseline="-25000">
                  <a:solidFill>
                    <a:schemeClr val="accent2"/>
                  </a:solidFill>
                </a:rPr>
                <a:t>1,n</a:t>
              </a:r>
              <a:endParaRPr lang="en-US" altLang="he-IL" sz="1800">
                <a:solidFill>
                  <a:schemeClr val="accent2"/>
                </a:solidFill>
              </a:endParaRPr>
            </a:p>
          </p:txBody>
        </p:sp>
        <p:sp>
          <p:nvSpPr>
            <p:cNvPr id="29701" name="Text Box 1029"/>
            <p:cNvSpPr txBox="1">
              <a:spLocks noChangeArrowheads="1"/>
            </p:cNvSpPr>
            <p:nvPr/>
          </p:nvSpPr>
          <p:spPr bwMode="auto">
            <a:xfrm>
              <a:off x="528" y="3504"/>
              <a:ext cx="1344" cy="23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he-IL" sz="1800">
                  <a:solidFill>
                    <a:srgbClr val="FF0000"/>
                  </a:solidFill>
                </a:rPr>
                <a:t>In Pattern 2: x</a:t>
              </a:r>
              <a:r>
                <a:rPr lang="en-US" altLang="he-IL" sz="1800" baseline="-25000">
                  <a:solidFill>
                    <a:srgbClr val="FF0000"/>
                  </a:solidFill>
                </a:rPr>
                <a:t>2,1</a:t>
              </a:r>
              <a:r>
                <a:rPr lang="en-US" altLang="he-IL" sz="1800">
                  <a:solidFill>
                    <a:srgbClr val="FF0000"/>
                  </a:solidFill>
                </a:rPr>
                <a:t>..x</a:t>
              </a:r>
              <a:r>
                <a:rPr lang="en-US" altLang="he-IL" sz="1800" baseline="-25000">
                  <a:solidFill>
                    <a:srgbClr val="FF0000"/>
                  </a:solidFill>
                </a:rPr>
                <a:t>2,n</a:t>
              </a:r>
              <a:endParaRPr lang="en-US" altLang="he-IL" sz="1800"/>
            </a:p>
          </p:txBody>
        </p:sp>
        <p:sp>
          <p:nvSpPr>
            <p:cNvPr id="29702" name="Text Box 1030"/>
            <p:cNvSpPr txBox="1">
              <a:spLocks noChangeArrowheads="1"/>
            </p:cNvSpPr>
            <p:nvPr/>
          </p:nvSpPr>
          <p:spPr bwMode="auto">
            <a:xfrm>
              <a:off x="528" y="3936"/>
              <a:ext cx="1344" cy="237"/>
            </a:xfrm>
            <a:prstGeom prst="rect">
              <a:avLst/>
            </a:prstGeom>
            <a:noFill/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he-IL" sz="1800">
                  <a:solidFill>
                    <a:srgbClr val="008040"/>
                  </a:solidFill>
                </a:rPr>
                <a:t>In Pattern p: x</a:t>
              </a:r>
              <a:r>
                <a:rPr lang="en-US" altLang="he-IL" sz="1800" baseline="-25000">
                  <a:solidFill>
                    <a:srgbClr val="008040"/>
                  </a:solidFill>
                </a:rPr>
                <a:t>1,1</a:t>
              </a:r>
              <a:r>
                <a:rPr lang="en-US" altLang="he-IL" sz="1800">
                  <a:solidFill>
                    <a:srgbClr val="008040"/>
                  </a:solidFill>
                </a:rPr>
                <a:t>..x</a:t>
              </a:r>
              <a:r>
                <a:rPr lang="en-US" altLang="he-IL" sz="1800" baseline="-25000">
                  <a:solidFill>
                    <a:srgbClr val="008040"/>
                  </a:solidFill>
                </a:rPr>
                <a:t>1,n</a:t>
              </a:r>
              <a:endParaRPr lang="en-US" altLang="he-IL" sz="1800"/>
            </a:p>
          </p:txBody>
        </p:sp>
        <p:sp>
          <p:nvSpPr>
            <p:cNvPr id="29703" name="Text Box 1031"/>
            <p:cNvSpPr txBox="1">
              <a:spLocks noChangeArrowheads="1"/>
            </p:cNvSpPr>
            <p:nvPr/>
          </p:nvSpPr>
          <p:spPr bwMode="auto">
            <a:xfrm>
              <a:off x="1104" y="3696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/>
                <a:t>:</a:t>
              </a:r>
            </a:p>
          </p:txBody>
        </p:sp>
      </p:grpSp>
      <p:sp>
        <p:nvSpPr>
          <p:cNvPr id="29705" name="Text Box 1033"/>
          <p:cNvSpPr txBox="1">
            <a:spLocks noChangeArrowheads="1"/>
          </p:cNvSpPr>
          <p:nvPr/>
        </p:nvSpPr>
        <p:spPr bwMode="auto">
          <a:xfrm>
            <a:off x="1600200" y="40386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b="1"/>
              <a:t>X</a:t>
            </a:r>
          </a:p>
        </p:txBody>
      </p:sp>
      <p:sp>
        <p:nvSpPr>
          <p:cNvPr id="29706" name="Rectangle 1034"/>
          <p:cNvSpPr>
            <a:spLocks noChangeArrowheads="1"/>
          </p:cNvSpPr>
          <p:nvPr/>
        </p:nvSpPr>
        <p:spPr bwMode="auto">
          <a:xfrm>
            <a:off x="4038600" y="5029200"/>
            <a:ext cx="381000" cy="1524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he-IL" sz="1600" b="1"/>
              <a:t>X</a:t>
            </a:r>
            <a:r>
              <a:rPr lang="en-US" altLang="he-IL" sz="1600" b="1" baseline="-25000"/>
              <a:t>1,i</a:t>
            </a:r>
            <a:endParaRPr lang="en-US" altLang="he-IL"/>
          </a:p>
        </p:txBody>
      </p:sp>
      <p:sp>
        <p:nvSpPr>
          <p:cNvPr id="29709" name="Text Box 1037"/>
          <p:cNvSpPr txBox="1">
            <a:spLocks noChangeArrowheads="1"/>
          </p:cNvSpPr>
          <p:nvPr/>
        </p:nvSpPr>
        <p:spPr bwMode="auto">
          <a:xfrm>
            <a:off x="4860925" y="53752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/>
              <a:t>..</a:t>
            </a:r>
          </a:p>
        </p:txBody>
      </p:sp>
      <p:sp>
        <p:nvSpPr>
          <p:cNvPr id="29710" name="Text Box 1038"/>
          <p:cNvSpPr txBox="1">
            <a:spLocks noChangeArrowheads="1"/>
          </p:cNvSpPr>
          <p:nvPr/>
        </p:nvSpPr>
        <p:spPr bwMode="auto">
          <a:xfrm>
            <a:off x="3946525" y="4557713"/>
            <a:ext cx="1633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600" b="1"/>
              <a:t>P1      P2         Pp</a:t>
            </a:r>
            <a:endParaRPr lang="en-US" altLang="he-IL"/>
          </a:p>
        </p:txBody>
      </p:sp>
      <p:sp>
        <p:nvSpPr>
          <p:cNvPr id="29711" name="Text Box 1039"/>
          <p:cNvSpPr txBox="1">
            <a:spLocks noChangeArrowheads="1"/>
          </p:cNvSpPr>
          <p:nvPr/>
        </p:nvSpPr>
        <p:spPr bwMode="auto">
          <a:xfrm>
            <a:off x="4419600" y="39624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b="1"/>
              <a:t>X</a:t>
            </a:r>
            <a:r>
              <a:rPr lang="en-US" altLang="he-IL" b="1" baseline="30000"/>
              <a:t>T</a:t>
            </a:r>
            <a:endParaRPr lang="en-US" altLang="he-IL"/>
          </a:p>
        </p:txBody>
      </p:sp>
      <p:sp>
        <p:nvSpPr>
          <p:cNvPr id="29713" name="Rectangle 1041"/>
          <p:cNvSpPr>
            <a:spLocks noChangeArrowheads="1"/>
          </p:cNvSpPr>
          <p:nvPr/>
        </p:nvSpPr>
        <p:spPr bwMode="auto">
          <a:xfrm>
            <a:off x="4495800" y="5029200"/>
            <a:ext cx="381000" cy="1524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he-IL" sz="1600" b="1"/>
              <a:t>X</a:t>
            </a:r>
            <a:r>
              <a:rPr lang="en-US" altLang="he-IL" sz="1600" b="1" baseline="-25000"/>
              <a:t>2,i</a:t>
            </a:r>
            <a:endParaRPr lang="en-US" altLang="he-IL"/>
          </a:p>
        </p:txBody>
      </p:sp>
      <p:sp>
        <p:nvSpPr>
          <p:cNvPr id="29714" name="Rectangle 1042"/>
          <p:cNvSpPr>
            <a:spLocks noChangeArrowheads="1"/>
          </p:cNvSpPr>
          <p:nvPr/>
        </p:nvSpPr>
        <p:spPr bwMode="auto">
          <a:xfrm>
            <a:off x="5181600" y="5029200"/>
            <a:ext cx="381000" cy="1524000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he-IL" sz="1600" b="1"/>
              <a:t>X</a:t>
            </a:r>
            <a:r>
              <a:rPr lang="en-US" altLang="he-IL" sz="1600" b="1" baseline="-25000"/>
              <a:t>p,i</a:t>
            </a:r>
            <a:endParaRPr lang="en-US" altLang="he-IL"/>
          </a:p>
        </p:txBody>
      </p:sp>
      <p:sp>
        <p:nvSpPr>
          <p:cNvPr id="29715" name="Freeform 1043"/>
          <p:cNvSpPr>
            <a:spLocks/>
          </p:cNvSpPr>
          <p:nvPr/>
        </p:nvSpPr>
        <p:spPr bwMode="auto">
          <a:xfrm>
            <a:off x="3884613" y="5468938"/>
            <a:ext cx="1838325" cy="666750"/>
          </a:xfrm>
          <a:custGeom>
            <a:avLst/>
            <a:gdLst>
              <a:gd name="T0" fmla="*/ 1148 w 1158"/>
              <a:gd name="T1" fmla="*/ 94 h 420"/>
              <a:gd name="T2" fmla="*/ 960 w 1158"/>
              <a:gd name="T3" fmla="*/ 47 h 420"/>
              <a:gd name="T4" fmla="*/ 866 w 1158"/>
              <a:gd name="T5" fmla="*/ 19 h 420"/>
              <a:gd name="T6" fmla="*/ 706 w 1158"/>
              <a:gd name="T7" fmla="*/ 0 h 420"/>
              <a:gd name="T8" fmla="*/ 292 w 1158"/>
              <a:gd name="T9" fmla="*/ 47 h 420"/>
              <a:gd name="T10" fmla="*/ 38 w 1158"/>
              <a:gd name="T11" fmla="*/ 131 h 420"/>
              <a:gd name="T12" fmla="*/ 0 w 1158"/>
              <a:gd name="T13" fmla="*/ 216 h 420"/>
              <a:gd name="T14" fmla="*/ 377 w 1158"/>
              <a:gd name="T15" fmla="*/ 357 h 420"/>
              <a:gd name="T16" fmla="*/ 885 w 1158"/>
              <a:gd name="T17" fmla="*/ 367 h 420"/>
              <a:gd name="T18" fmla="*/ 1054 w 1158"/>
              <a:gd name="T19" fmla="*/ 339 h 420"/>
              <a:gd name="T20" fmla="*/ 1111 w 1158"/>
              <a:gd name="T21" fmla="*/ 291 h 420"/>
              <a:gd name="T22" fmla="*/ 1120 w 1158"/>
              <a:gd name="T23" fmla="*/ 263 h 420"/>
              <a:gd name="T24" fmla="*/ 1139 w 1158"/>
              <a:gd name="T25" fmla="*/ 235 h 420"/>
              <a:gd name="T26" fmla="*/ 1148 w 1158"/>
              <a:gd name="T27" fmla="*/ 94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58" h="420">
                <a:moveTo>
                  <a:pt x="1148" y="94"/>
                </a:moveTo>
                <a:cubicBezTo>
                  <a:pt x="1080" y="71"/>
                  <a:pt x="1030" y="55"/>
                  <a:pt x="960" y="47"/>
                </a:cubicBezTo>
                <a:cubicBezTo>
                  <a:pt x="929" y="35"/>
                  <a:pt x="898" y="24"/>
                  <a:pt x="866" y="19"/>
                </a:cubicBezTo>
                <a:cubicBezTo>
                  <a:pt x="812" y="10"/>
                  <a:pt x="706" y="0"/>
                  <a:pt x="706" y="0"/>
                </a:cubicBezTo>
                <a:cubicBezTo>
                  <a:pt x="566" y="12"/>
                  <a:pt x="430" y="30"/>
                  <a:pt x="292" y="47"/>
                </a:cubicBezTo>
                <a:cubicBezTo>
                  <a:pt x="207" y="74"/>
                  <a:pt x="114" y="82"/>
                  <a:pt x="38" y="131"/>
                </a:cubicBezTo>
                <a:cubicBezTo>
                  <a:pt x="19" y="159"/>
                  <a:pt x="10" y="183"/>
                  <a:pt x="0" y="216"/>
                </a:cubicBezTo>
                <a:cubicBezTo>
                  <a:pt x="34" y="393"/>
                  <a:pt x="244" y="352"/>
                  <a:pt x="377" y="357"/>
                </a:cubicBezTo>
                <a:cubicBezTo>
                  <a:pt x="555" y="420"/>
                  <a:pt x="647" y="378"/>
                  <a:pt x="885" y="367"/>
                </a:cubicBezTo>
                <a:cubicBezTo>
                  <a:pt x="941" y="355"/>
                  <a:pt x="999" y="356"/>
                  <a:pt x="1054" y="339"/>
                </a:cubicBezTo>
                <a:cubicBezTo>
                  <a:pt x="1118" y="240"/>
                  <a:pt x="1016" y="385"/>
                  <a:pt x="1111" y="291"/>
                </a:cubicBezTo>
                <a:cubicBezTo>
                  <a:pt x="1117" y="284"/>
                  <a:pt x="1115" y="271"/>
                  <a:pt x="1120" y="263"/>
                </a:cubicBezTo>
                <a:cubicBezTo>
                  <a:pt x="1125" y="252"/>
                  <a:pt x="1132" y="244"/>
                  <a:pt x="1139" y="235"/>
                </a:cubicBezTo>
                <a:cubicBezTo>
                  <a:pt x="1158" y="173"/>
                  <a:pt x="1157" y="172"/>
                  <a:pt x="1148" y="94"/>
                </a:cubicBezTo>
                <a:close/>
              </a:path>
            </a:pathLst>
          </a:custGeom>
          <a:noFill/>
          <a:ln w="38100" cmpd="sng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29716" name="Group 1044"/>
          <p:cNvGrpSpPr>
            <a:grpSpLocks/>
          </p:cNvGrpSpPr>
          <p:nvPr/>
        </p:nvGrpSpPr>
        <p:grpSpPr bwMode="auto">
          <a:xfrm>
            <a:off x="6400800" y="4953000"/>
            <a:ext cx="2514600" cy="1519238"/>
            <a:chOff x="528" y="3216"/>
            <a:chExt cx="1344" cy="957"/>
          </a:xfrm>
        </p:grpSpPr>
        <p:sp>
          <p:nvSpPr>
            <p:cNvPr id="29717" name="Text Box 1045"/>
            <p:cNvSpPr txBox="1">
              <a:spLocks noChangeArrowheads="1"/>
            </p:cNvSpPr>
            <p:nvPr/>
          </p:nvSpPr>
          <p:spPr bwMode="auto">
            <a:xfrm>
              <a:off x="528" y="3216"/>
              <a:ext cx="1344" cy="23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he-IL" sz="1800">
                  <a:solidFill>
                    <a:schemeClr val="accent2"/>
                  </a:solidFill>
                </a:rPr>
                <a:t>Out P1: y</a:t>
              </a:r>
              <a:r>
                <a:rPr lang="en-US" altLang="he-IL" sz="1800" baseline="-25000">
                  <a:solidFill>
                    <a:schemeClr val="accent2"/>
                  </a:solidFill>
                </a:rPr>
                <a:t>1,1</a:t>
              </a:r>
              <a:r>
                <a:rPr lang="en-US" altLang="he-IL" sz="1800">
                  <a:solidFill>
                    <a:schemeClr val="accent2"/>
                  </a:solidFill>
                </a:rPr>
                <a:t>.. y</a:t>
              </a:r>
              <a:r>
                <a:rPr lang="en-US" altLang="he-IL" sz="1800" baseline="-25000">
                  <a:solidFill>
                    <a:schemeClr val="accent2"/>
                  </a:solidFill>
                </a:rPr>
                <a:t>1,j</a:t>
              </a:r>
              <a:r>
                <a:rPr lang="en-US" altLang="he-IL" sz="1800">
                  <a:solidFill>
                    <a:schemeClr val="accent2"/>
                  </a:solidFill>
                </a:rPr>
                <a:t>……y</a:t>
              </a:r>
              <a:r>
                <a:rPr lang="en-US" altLang="he-IL" sz="1800" baseline="-25000">
                  <a:solidFill>
                    <a:schemeClr val="accent2"/>
                  </a:solidFill>
                </a:rPr>
                <a:t>1,n</a:t>
              </a:r>
            </a:p>
          </p:txBody>
        </p:sp>
        <p:sp>
          <p:nvSpPr>
            <p:cNvPr id="29718" name="Text Box 1046"/>
            <p:cNvSpPr txBox="1">
              <a:spLocks noChangeArrowheads="1"/>
            </p:cNvSpPr>
            <p:nvPr/>
          </p:nvSpPr>
          <p:spPr bwMode="auto">
            <a:xfrm>
              <a:off x="528" y="3504"/>
              <a:ext cx="1344" cy="23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he-IL" sz="1800">
                  <a:solidFill>
                    <a:srgbClr val="FF0000"/>
                  </a:solidFill>
                </a:rPr>
                <a:t>Out P2: y</a:t>
              </a:r>
              <a:r>
                <a:rPr lang="en-US" altLang="he-IL" sz="1800" baseline="-25000">
                  <a:solidFill>
                    <a:srgbClr val="FF0000"/>
                  </a:solidFill>
                </a:rPr>
                <a:t>2,1</a:t>
              </a:r>
              <a:r>
                <a:rPr lang="en-US" altLang="he-IL" sz="1800">
                  <a:solidFill>
                    <a:srgbClr val="FF0000"/>
                  </a:solidFill>
                </a:rPr>
                <a:t>.. y</a:t>
              </a:r>
              <a:r>
                <a:rPr lang="en-US" altLang="he-IL" sz="1800" baseline="-25000">
                  <a:solidFill>
                    <a:srgbClr val="FF0000"/>
                  </a:solidFill>
                </a:rPr>
                <a:t>2,j</a:t>
              </a:r>
              <a:r>
                <a:rPr lang="en-US" altLang="he-IL" sz="1800">
                  <a:solidFill>
                    <a:srgbClr val="FF0000"/>
                  </a:solidFill>
                </a:rPr>
                <a:t>……y</a:t>
              </a:r>
              <a:r>
                <a:rPr lang="en-US" altLang="he-IL" sz="1800" baseline="-25000">
                  <a:solidFill>
                    <a:srgbClr val="FF0000"/>
                  </a:solidFill>
                </a:rPr>
                <a:t>2,n</a:t>
              </a:r>
            </a:p>
          </p:txBody>
        </p:sp>
        <p:sp>
          <p:nvSpPr>
            <p:cNvPr id="29719" name="Text Box 1047"/>
            <p:cNvSpPr txBox="1">
              <a:spLocks noChangeArrowheads="1"/>
            </p:cNvSpPr>
            <p:nvPr/>
          </p:nvSpPr>
          <p:spPr bwMode="auto">
            <a:xfrm>
              <a:off x="528" y="3936"/>
              <a:ext cx="1344" cy="237"/>
            </a:xfrm>
            <a:prstGeom prst="rect">
              <a:avLst/>
            </a:prstGeom>
            <a:noFill/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he-IL" sz="1800">
                  <a:solidFill>
                    <a:srgbClr val="008040"/>
                  </a:solidFill>
                </a:rPr>
                <a:t>Out P3: y</a:t>
              </a:r>
              <a:r>
                <a:rPr lang="en-US" altLang="he-IL" sz="1800" baseline="-25000">
                  <a:solidFill>
                    <a:srgbClr val="008040"/>
                  </a:solidFill>
                </a:rPr>
                <a:t>p,1</a:t>
              </a:r>
              <a:r>
                <a:rPr lang="en-US" altLang="he-IL" sz="1800">
                  <a:solidFill>
                    <a:srgbClr val="008040"/>
                  </a:solidFill>
                </a:rPr>
                <a:t>.. y</a:t>
              </a:r>
              <a:r>
                <a:rPr lang="en-US" altLang="he-IL" sz="1800" baseline="-25000">
                  <a:solidFill>
                    <a:srgbClr val="008040"/>
                  </a:solidFill>
                </a:rPr>
                <a:t>p,j </a:t>
              </a:r>
              <a:r>
                <a:rPr lang="en-US" altLang="he-IL" sz="1800">
                  <a:solidFill>
                    <a:srgbClr val="008040"/>
                  </a:solidFill>
                </a:rPr>
                <a:t>……y</a:t>
              </a:r>
              <a:r>
                <a:rPr lang="en-US" altLang="he-IL" sz="1800" baseline="-25000">
                  <a:solidFill>
                    <a:srgbClr val="008040"/>
                  </a:solidFill>
                </a:rPr>
                <a:t>p,n</a:t>
              </a:r>
            </a:p>
          </p:txBody>
        </p:sp>
        <p:sp>
          <p:nvSpPr>
            <p:cNvPr id="29720" name="Text Box 1048"/>
            <p:cNvSpPr txBox="1">
              <a:spLocks noChangeArrowheads="1"/>
            </p:cNvSpPr>
            <p:nvPr/>
          </p:nvSpPr>
          <p:spPr bwMode="auto">
            <a:xfrm>
              <a:off x="1104" y="3696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/>
                <a:t>:</a:t>
              </a:r>
            </a:p>
          </p:txBody>
        </p:sp>
      </p:grpSp>
      <p:sp>
        <p:nvSpPr>
          <p:cNvPr id="29721" name="Text Box 1049"/>
          <p:cNvSpPr txBox="1">
            <a:spLocks noChangeArrowheads="1"/>
          </p:cNvSpPr>
          <p:nvPr/>
        </p:nvSpPr>
        <p:spPr bwMode="auto">
          <a:xfrm>
            <a:off x="7543800" y="39624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b="1"/>
              <a:t>Y</a:t>
            </a:r>
          </a:p>
        </p:txBody>
      </p:sp>
      <p:sp>
        <p:nvSpPr>
          <p:cNvPr id="29723" name="Freeform 1051"/>
          <p:cNvSpPr>
            <a:spLocks/>
          </p:cNvSpPr>
          <p:nvPr/>
        </p:nvSpPr>
        <p:spPr bwMode="auto">
          <a:xfrm>
            <a:off x="7532688" y="4902200"/>
            <a:ext cx="639762" cy="1695450"/>
          </a:xfrm>
          <a:custGeom>
            <a:avLst/>
            <a:gdLst>
              <a:gd name="T0" fmla="*/ 119 w 403"/>
              <a:gd name="T1" fmla="*/ 0 h 1068"/>
              <a:gd name="T2" fmla="*/ 103 w 403"/>
              <a:gd name="T3" fmla="*/ 24 h 1068"/>
              <a:gd name="T4" fmla="*/ 87 w 403"/>
              <a:gd name="T5" fmla="*/ 72 h 1068"/>
              <a:gd name="T6" fmla="*/ 167 w 403"/>
              <a:gd name="T7" fmla="*/ 1064 h 1068"/>
              <a:gd name="T8" fmla="*/ 319 w 403"/>
              <a:gd name="T9" fmla="*/ 1040 h 1068"/>
              <a:gd name="T10" fmla="*/ 335 w 403"/>
              <a:gd name="T11" fmla="*/ 1016 h 1068"/>
              <a:gd name="T12" fmla="*/ 367 w 403"/>
              <a:gd name="T13" fmla="*/ 1000 h 1068"/>
              <a:gd name="T14" fmla="*/ 375 w 403"/>
              <a:gd name="T15" fmla="*/ 856 h 1068"/>
              <a:gd name="T16" fmla="*/ 359 w 403"/>
              <a:gd name="T17" fmla="*/ 424 h 1068"/>
              <a:gd name="T18" fmla="*/ 351 w 403"/>
              <a:gd name="T19" fmla="*/ 304 h 1068"/>
              <a:gd name="T20" fmla="*/ 343 w 403"/>
              <a:gd name="T21" fmla="*/ 280 h 1068"/>
              <a:gd name="T22" fmla="*/ 287 w 403"/>
              <a:gd name="T23" fmla="*/ 96 h 1068"/>
              <a:gd name="T24" fmla="*/ 119 w 403"/>
              <a:gd name="T25" fmla="*/ 0 h 10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3" h="1068">
                <a:moveTo>
                  <a:pt x="119" y="0"/>
                </a:moveTo>
                <a:cubicBezTo>
                  <a:pt x="113" y="8"/>
                  <a:pt x="106" y="15"/>
                  <a:pt x="103" y="24"/>
                </a:cubicBezTo>
                <a:cubicBezTo>
                  <a:pt x="96" y="39"/>
                  <a:pt x="87" y="72"/>
                  <a:pt x="87" y="72"/>
                </a:cubicBezTo>
                <a:cubicBezTo>
                  <a:pt x="87" y="149"/>
                  <a:pt x="0" y="814"/>
                  <a:pt x="167" y="1064"/>
                </a:cubicBezTo>
                <a:cubicBezTo>
                  <a:pt x="217" y="1057"/>
                  <a:pt x="276" y="1068"/>
                  <a:pt x="319" y="1040"/>
                </a:cubicBezTo>
                <a:cubicBezTo>
                  <a:pt x="327" y="1034"/>
                  <a:pt x="327" y="1022"/>
                  <a:pt x="335" y="1016"/>
                </a:cubicBezTo>
                <a:cubicBezTo>
                  <a:pt x="344" y="1008"/>
                  <a:pt x="356" y="1005"/>
                  <a:pt x="367" y="1000"/>
                </a:cubicBezTo>
                <a:cubicBezTo>
                  <a:pt x="393" y="921"/>
                  <a:pt x="384" y="968"/>
                  <a:pt x="375" y="856"/>
                </a:cubicBezTo>
                <a:cubicBezTo>
                  <a:pt x="379" y="721"/>
                  <a:pt x="403" y="557"/>
                  <a:pt x="359" y="424"/>
                </a:cubicBezTo>
                <a:cubicBezTo>
                  <a:pt x="356" y="384"/>
                  <a:pt x="355" y="343"/>
                  <a:pt x="351" y="304"/>
                </a:cubicBezTo>
                <a:cubicBezTo>
                  <a:pt x="350" y="295"/>
                  <a:pt x="343" y="288"/>
                  <a:pt x="343" y="280"/>
                </a:cubicBezTo>
                <a:cubicBezTo>
                  <a:pt x="333" y="198"/>
                  <a:pt x="354" y="141"/>
                  <a:pt x="287" y="96"/>
                </a:cubicBezTo>
                <a:cubicBezTo>
                  <a:pt x="245" y="12"/>
                  <a:pt x="208" y="0"/>
                  <a:pt x="119" y="0"/>
                </a:cubicBezTo>
                <a:close/>
              </a:path>
            </a:pathLst>
          </a:custGeom>
          <a:noFill/>
          <a:ln w="38100" cmpd="sng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9724" name="Freeform 1052"/>
          <p:cNvSpPr>
            <a:spLocks/>
          </p:cNvSpPr>
          <p:nvPr/>
        </p:nvSpPr>
        <p:spPr bwMode="auto">
          <a:xfrm>
            <a:off x="5651500" y="4322763"/>
            <a:ext cx="874713" cy="1252537"/>
          </a:xfrm>
          <a:custGeom>
            <a:avLst/>
            <a:gdLst>
              <a:gd name="T0" fmla="*/ 0 w 551"/>
              <a:gd name="T1" fmla="*/ 789 h 789"/>
              <a:gd name="T2" fmla="*/ 24 w 551"/>
              <a:gd name="T3" fmla="*/ 709 h 789"/>
              <a:gd name="T4" fmla="*/ 72 w 551"/>
              <a:gd name="T5" fmla="*/ 637 h 789"/>
              <a:gd name="T6" fmla="*/ 144 w 551"/>
              <a:gd name="T7" fmla="*/ 485 h 789"/>
              <a:gd name="T8" fmla="*/ 256 w 551"/>
              <a:gd name="T9" fmla="*/ 261 h 789"/>
              <a:gd name="T10" fmla="*/ 304 w 551"/>
              <a:gd name="T11" fmla="*/ 213 h 789"/>
              <a:gd name="T12" fmla="*/ 344 w 551"/>
              <a:gd name="T13" fmla="*/ 165 h 789"/>
              <a:gd name="T14" fmla="*/ 392 w 551"/>
              <a:gd name="T15" fmla="*/ 133 h 789"/>
              <a:gd name="T16" fmla="*/ 400 w 551"/>
              <a:gd name="T17" fmla="*/ 101 h 789"/>
              <a:gd name="T18" fmla="*/ 424 w 551"/>
              <a:gd name="T19" fmla="*/ 93 h 789"/>
              <a:gd name="T20" fmla="*/ 472 w 551"/>
              <a:gd name="T21" fmla="*/ 61 h 789"/>
              <a:gd name="T22" fmla="*/ 496 w 551"/>
              <a:gd name="T23" fmla="*/ 37 h 789"/>
              <a:gd name="T24" fmla="*/ 528 w 551"/>
              <a:gd name="T25" fmla="*/ 21 h 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51" h="789">
                <a:moveTo>
                  <a:pt x="0" y="789"/>
                </a:moveTo>
                <a:cubicBezTo>
                  <a:pt x="4" y="771"/>
                  <a:pt x="16" y="720"/>
                  <a:pt x="24" y="709"/>
                </a:cubicBezTo>
                <a:cubicBezTo>
                  <a:pt x="40" y="685"/>
                  <a:pt x="62" y="664"/>
                  <a:pt x="72" y="637"/>
                </a:cubicBezTo>
                <a:cubicBezTo>
                  <a:pt x="89" y="583"/>
                  <a:pt x="121" y="535"/>
                  <a:pt x="144" y="485"/>
                </a:cubicBezTo>
                <a:cubicBezTo>
                  <a:pt x="177" y="409"/>
                  <a:pt x="182" y="309"/>
                  <a:pt x="256" y="261"/>
                </a:cubicBezTo>
                <a:cubicBezTo>
                  <a:pt x="293" y="204"/>
                  <a:pt x="244" y="272"/>
                  <a:pt x="304" y="213"/>
                </a:cubicBezTo>
                <a:cubicBezTo>
                  <a:pt x="350" y="166"/>
                  <a:pt x="285" y="210"/>
                  <a:pt x="344" y="165"/>
                </a:cubicBezTo>
                <a:cubicBezTo>
                  <a:pt x="359" y="153"/>
                  <a:pt x="392" y="133"/>
                  <a:pt x="392" y="133"/>
                </a:cubicBezTo>
                <a:cubicBezTo>
                  <a:pt x="394" y="122"/>
                  <a:pt x="393" y="109"/>
                  <a:pt x="400" y="101"/>
                </a:cubicBezTo>
                <a:cubicBezTo>
                  <a:pt x="405" y="94"/>
                  <a:pt x="416" y="97"/>
                  <a:pt x="424" y="93"/>
                </a:cubicBezTo>
                <a:cubicBezTo>
                  <a:pt x="440" y="83"/>
                  <a:pt x="458" y="74"/>
                  <a:pt x="472" y="61"/>
                </a:cubicBezTo>
                <a:cubicBezTo>
                  <a:pt x="480" y="53"/>
                  <a:pt x="486" y="43"/>
                  <a:pt x="496" y="37"/>
                </a:cubicBezTo>
                <a:cubicBezTo>
                  <a:pt x="551" y="0"/>
                  <a:pt x="501" y="47"/>
                  <a:pt x="528" y="2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9725" name="Freeform 1053"/>
          <p:cNvSpPr>
            <a:spLocks/>
          </p:cNvSpPr>
          <p:nvPr/>
        </p:nvSpPr>
        <p:spPr bwMode="auto">
          <a:xfrm>
            <a:off x="6502400" y="4356100"/>
            <a:ext cx="1244600" cy="546100"/>
          </a:xfrm>
          <a:custGeom>
            <a:avLst/>
            <a:gdLst>
              <a:gd name="T0" fmla="*/ 784 w 784"/>
              <a:gd name="T1" fmla="*/ 344 h 344"/>
              <a:gd name="T2" fmla="*/ 696 w 784"/>
              <a:gd name="T3" fmla="*/ 272 h 344"/>
              <a:gd name="T4" fmla="*/ 656 w 784"/>
              <a:gd name="T5" fmla="*/ 224 h 344"/>
              <a:gd name="T6" fmla="*/ 624 w 784"/>
              <a:gd name="T7" fmla="*/ 184 h 344"/>
              <a:gd name="T8" fmla="*/ 616 w 784"/>
              <a:gd name="T9" fmla="*/ 160 h 344"/>
              <a:gd name="T10" fmla="*/ 472 w 784"/>
              <a:gd name="T11" fmla="*/ 120 h 344"/>
              <a:gd name="T12" fmla="*/ 416 w 784"/>
              <a:gd name="T13" fmla="*/ 96 h 344"/>
              <a:gd name="T14" fmla="*/ 272 w 784"/>
              <a:gd name="T15" fmla="*/ 64 h 344"/>
              <a:gd name="T16" fmla="*/ 0 w 784"/>
              <a:gd name="T17" fmla="*/ 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84" h="344">
                <a:moveTo>
                  <a:pt x="784" y="344"/>
                </a:moveTo>
                <a:cubicBezTo>
                  <a:pt x="745" y="318"/>
                  <a:pt x="724" y="309"/>
                  <a:pt x="696" y="272"/>
                </a:cubicBezTo>
                <a:cubicBezTo>
                  <a:pt x="652" y="215"/>
                  <a:pt x="708" y="259"/>
                  <a:pt x="656" y="224"/>
                </a:cubicBezTo>
                <a:cubicBezTo>
                  <a:pt x="635" y="163"/>
                  <a:pt x="665" y="235"/>
                  <a:pt x="624" y="184"/>
                </a:cubicBezTo>
                <a:cubicBezTo>
                  <a:pt x="618" y="177"/>
                  <a:pt x="622" y="165"/>
                  <a:pt x="616" y="160"/>
                </a:cubicBezTo>
                <a:cubicBezTo>
                  <a:pt x="582" y="132"/>
                  <a:pt x="513" y="131"/>
                  <a:pt x="472" y="120"/>
                </a:cubicBezTo>
                <a:cubicBezTo>
                  <a:pt x="452" y="114"/>
                  <a:pt x="435" y="100"/>
                  <a:pt x="416" y="96"/>
                </a:cubicBezTo>
                <a:cubicBezTo>
                  <a:pt x="365" y="83"/>
                  <a:pt x="319" y="87"/>
                  <a:pt x="272" y="64"/>
                </a:cubicBezTo>
                <a:cubicBezTo>
                  <a:pt x="166" y="11"/>
                  <a:pt x="124" y="0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9726" name="Text Box 1054"/>
          <p:cNvSpPr txBox="1">
            <a:spLocks noChangeArrowheads="1"/>
          </p:cNvSpPr>
          <p:nvPr/>
        </p:nvSpPr>
        <p:spPr bwMode="auto">
          <a:xfrm>
            <a:off x="5943600" y="4038600"/>
            <a:ext cx="1162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600"/>
              <a:t>Dot product</a:t>
            </a:r>
            <a:endParaRPr lang="en-US" altLang="he-IL"/>
          </a:p>
        </p:txBody>
      </p:sp>
      <p:sp>
        <p:nvSpPr>
          <p:cNvPr id="29727" name="Line 1055"/>
          <p:cNvSpPr>
            <a:spLocks noChangeShapeType="1"/>
          </p:cNvSpPr>
          <p:nvPr/>
        </p:nvSpPr>
        <p:spPr bwMode="auto">
          <a:xfrm>
            <a:off x="3733800" y="2590800"/>
            <a:ext cx="2590800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562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3810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Auto-Associative Memory</a:t>
            </a:r>
            <a:endParaRPr lang="nb-NO" altLang="he-IL"/>
          </a:p>
        </p:txBody>
      </p:sp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914400" y="5410200"/>
            <a:ext cx="38163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nb-NO" altLang="he-IL" sz="1800"/>
              <a:t> 1 node per pattern unit</a:t>
            </a:r>
          </a:p>
          <a:p>
            <a:pPr>
              <a:buFontTx/>
              <a:buChar char="•"/>
            </a:pPr>
            <a:r>
              <a:rPr lang="nb-NO" altLang="he-IL" sz="1800"/>
              <a:t> Fully connected: clique</a:t>
            </a:r>
          </a:p>
          <a:p>
            <a:pPr>
              <a:buFontTx/>
              <a:buChar char="•"/>
            </a:pPr>
            <a:r>
              <a:rPr lang="nb-NO" altLang="he-IL" sz="1800"/>
              <a:t> Weights = avg correlations across</a:t>
            </a:r>
          </a:p>
          <a:p>
            <a:r>
              <a:rPr lang="nb-NO" altLang="he-IL" sz="1800"/>
              <a:t>   all patterns of the corresponding units</a:t>
            </a:r>
            <a:endParaRPr lang="nb-NO" altLang="he-IL"/>
          </a:p>
        </p:txBody>
      </p:sp>
      <p:grpSp>
        <p:nvGrpSpPr>
          <p:cNvPr id="9252" name="Group 36"/>
          <p:cNvGrpSpPr>
            <a:grpSpLocks/>
          </p:cNvGrpSpPr>
          <p:nvPr/>
        </p:nvGrpSpPr>
        <p:grpSpPr bwMode="auto">
          <a:xfrm>
            <a:off x="1371600" y="3695700"/>
            <a:ext cx="1828800" cy="1524000"/>
            <a:chOff x="1344" y="2304"/>
            <a:chExt cx="1152" cy="960"/>
          </a:xfrm>
        </p:grpSpPr>
        <p:sp>
          <p:nvSpPr>
            <p:cNvPr id="9241" name="Oval 25"/>
            <p:cNvSpPr>
              <a:spLocks noChangeArrowheads="1"/>
            </p:cNvSpPr>
            <p:nvPr/>
          </p:nvSpPr>
          <p:spPr bwMode="auto">
            <a:xfrm>
              <a:off x="1344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nb-NO" altLang="he-IL" sz="1600"/>
                <a:t>1</a:t>
              </a:r>
              <a:endParaRPr lang="nb-NO" altLang="he-IL"/>
            </a:p>
          </p:txBody>
        </p:sp>
        <p:sp>
          <p:nvSpPr>
            <p:cNvPr id="9243" name="Oval 27"/>
            <p:cNvSpPr>
              <a:spLocks noChangeArrowheads="1"/>
            </p:cNvSpPr>
            <p:nvPr/>
          </p:nvSpPr>
          <p:spPr bwMode="auto">
            <a:xfrm>
              <a:off x="1344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nb-NO" altLang="he-IL" sz="1600"/>
                <a:t>3</a:t>
              </a:r>
              <a:endParaRPr lang="nb-NO" altLang="he-IL"/>
            </a:p>
          </p:txBody>
        </p:sp>
        <p:sp>
          <p:nvSpPr>
            <p:cNvPr id="9244" name="Oval 28"/>
            <p:cNvSpPr>
              <a:spLocks noChangeArrowheads="1"/>
            </p:cNvSpPr>
            <p:nvPr/>
          </p:nvSpPr>
          <p:spPr bwMode="auto">
            <a:xfrm>
              <a:off x="2256" y="297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nb-NO" altLang="he-IL" sz="1600"/>
                <a:t>4</a:t>
              </a:r>
              <a:endParaRPr lang="nb-NO" altLang="he-IL"/>
            </a:p>
          </p:txBody>
        </p:sp>
        <p:sp>
          <p:nvSpPr>
            <p:cNvPr id="9245" name="Oval 29"/>
            <p:cNvSpPr>
              <a:spLocks noChangeArrowheads="1"/>
            </p:cNvSpPr>
            <p:nvPr/>
          </p:nvSpPr>
          <p:spPr bwMode="auto">
            <a:xfrm>
              <a:off x="2256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nb-NO" altLang="he-IL" sz="1600"/>
                <a:t>2</a:t>
              </a:r>
              <a:endParaRPr lang="nb-NO" altLang="he-IL"/>
            </a:p>
          </p:txBody>
        </p:sp>
        <p:sp>
          <p:nvSpPr>
            <p:cNvPr id="9246" name="Line 30"/>
            <p:cNvSpPr>
              <a:spLocks noChangeShapeType="1"/>
            </p:cNvSpPr>
            <p:nvPr/>
          </p:nvSpPr>
          <p:spPr bwMode="auto">
            <a:xfrm flipV="1">
              <a:off x="1536" y="2496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247" name="Line 31"/>
            <p:cNvSpPr>
              <a:spLocks noChangeShapeType="1"/>
            </p:cNvSpPr>
            <p:nvPr/>
          </p:nvSpPr>
          <p:spPr bwMode="auto">
            <a:xfrm flipV="1">
              <a:off x="1584" y="2448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248" name="Line 32"/>
            <p:cNvSpPr>
              <a:spLocks noChangeShapeType="1"/>
            </p:cNvSpPr>
            <p:nvPr/>
          </p:nvSpPr>
          <p:spPr bwMode="auto">
            <a:xfrm flipV="1">
              <a:off x="1488" y="254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249" name="Line 33"/>
            <p:cNvSpPr>
              <a:spLocks noChangeShapeType="1"/>
            </p:cNvSpPr>
            <p:nvPr/>
          </p:nvSpPr>
          <p:spPr bwMode="auto">
            <a:xfrm>
              <a:off x="1584" y="2496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250" name="Line 34"/>
            <p:cNvSpPr>
              <a:spLocks noChangeShapeType="1"/>
            </p:cNvSpPr>
            <p:nvPr/>
          </p:nvSpPr>
          <p:spPr bwMode="auto">
            <a:xfrm flipV="1">
              <a:off x="1584" y="312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251" name="Line 35"/>
            <p:cNvSpPr>
              <a:spLocks noChangeShapeType="1"/>
            </p:cNvSpPr>
            <p:nvPr/>
          </p:nvSpPr>
          <p:spPr bwMode="auto">
            <a:xfrm flipV="1">
              <a:off x="2352" y="2544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9260" name="Text Box 44"/>
          <p:cNvSpPr txBox="1">
            <a:spLocks noChangeArrowheads="1"/>
          </p:cNvSpPr>
          <p:nvPr/>
        </p:nvSpPr>
        <p:spPr bwMode="auto">
          <a:xfrm>
            <a:off x="76200" y="1066800"/>
            <a:ext cx="4529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1. Auto-Associative Patterns to Remember</a:t>
            </a:r>
            <a:endParaRPr lang="nb-NO" altLang="he-IL"/>
          </a:p>
        </p:txBody>
      </p:sp>
      <p:sp>
        <p:nvSpPr>
          <p:cNvPr id="9261" name="Text Box 45"/>
          <p:cNvSpPr txBox="1">
            <a:spLocks noChangeArrowheads="1"/>
          </p:cNvSpPr>
          <p:nvPr/>
        </p:nvSpPr>
        <p:spPr bwMode="auto">
          <a:xfrm>
            <a:off x="152400" y="3048000"/>
            <a:ext cx="4027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2. Distributed Storage of All Patterns:</a:t>
            </a:r>
            <a:endParaRPr lang="nb-NO" altLang="he-IL"/>
          </a:p>
        </p:txBody>
      </p:sp>
      <p:sp>
        <p:nvSpPr>
          <p:cNvPr id="9264" name="Rectangle 48"/>
          <p:cNvSpPr>
            <a:spLocks noChangeArrowheads="1"/>
          </p:cNvSpPr>
          <p:nvPr/>
        </p:nvSpPr>
        <p:spPr bwMode="auto">
          <a:xfrm>
            <a:off x="5334000" y="30480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65" name="Rectangle 49"/>
          <p:cNvSpPr>
            <a:spLocks noChangeArrowheads="1"/>
          </p:cNvSpPr>
          <p:nvPr/>
        </p:nvSpPr>
        <p:spPr bwMode="auto">
          <a:xfrm>
            <a:off x="5791200" y="35052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66" name="Rectangle 50"/>
          <p:cNvSpPr>
            <a:spLocks noChangeArrowheads="1"/>
          </p:cNvSpPr>
          <p:nvPr/>
        </p:nvSpPr>
        <p:spPr bwMode="auto">
          <a:xfrm>
            <a:off x="5334000" y="35052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67" name="Rectangle 51"/>
          <p:cNvSpPr>
            <a:spLocks noChangeArrowheads="1"/>
          </p:cNvSpPr>
          <p:nvPr/>
        </p:nvSpPr>
        <p:spPr bwMode="auto">
          <a:xfrm>
            <a:off x="5791200" y="30480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68" name="Text Box 52"/>
          <p:cNvSpPr txBox="1">
            <a:spLocks noChangeArrowheads="1"/>
          </p:cNvSpPr>
          <p:nvPr/>
        </p:nvSpPr>
        <p:spPr bwMode="auto">
          <a:xfrm>
            <a:off x="5394325" y="310991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9269" name="Text Box 53"/>
          <p:cNvSpPr txBox="1">
            <a:spLocks noChangeArrowheads="1"/>
          </p:cNvSpPr>
          <p:nvPr/>
        </p:nvSpPr>
        <p:spPr bwMode="auto">
          <a:xfrm>
            <a:off x="5410200" y="35814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9270" name="Text Box 54"/>
          <p:cNvSpPr txBox="1">
            <a:spLocks noChangeArrowheads="1"/>
          </p:cNvSpPr>
          <p:nvPr/>
        </p:nvSpPr>
        <p:spPr bwMode="auto">
          <a:xfrm>
            <a:off x="5867400" y="35814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9271" name="Text Box 55"/>
          <p:cNvSpPr txBox="1">
            <a:spLocks noChangeArrowheads="1"/>
          </p:cNvSpPr>
          <p:nvPr/>
        </p:nvSpPr>
        <p:spPr bwMode="auto">
          <a:xfrm>
            <a:off x="5867400" y="3124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9272" name="Rectangle 56"/>
          <p:cNvSpPr>
            <a:spLocks noChangeArrowheads="1"/>
          </p:cNvSpPr>
          <p:nvPr/>
        </p:nvSpPr>
        <p:spPr bwMode="auto">
          <a:xfrm>
            <a:off x="5334000" y="1828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73" name="Rectangle 57"/>
          <p:cNvSpPr>
            <a:spLocks noChangeArrowheads="1"/>
          </p:cNvSpPr>
          <p:nvPr/>
        </p:nvSpPr>
        <p:spPr bwMode="auto">
          <a:xfrm>
            <a:off x="5791200" y="22860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74" name="Rectangle 58"/>
          <p:cNvSpPr>
            <a:spLocks noChangeArrowheads="1"/>
          </p:cNvSpPr>
          <p:nvPr/>
        </p:nvSpPr>
        <p:spPr bwMode="auto">
          <a:xfrm>
            <a:off x="5334000" y="22860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75" name="Rectangle 59"/>
          <p:cNvSpPr>
            <a:spLocks noChangeArrowheads="1"/>
          </p:cNvSpPr>
          <p:nvPr/>
        </p:nvSpPr>
        <p:spPr bwMode="auto">
          <a:xfrm>
            <a:off x="5791200" y="1828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76" name="Text Box 60"/>
          <p:cNvSpPr txBox="1">
            <a:spLocks noChangeArrowheads="1"/>
          </p:cNvSpPr>
          <p:nvPr/>
        </p:nvSpPr>
        <p:spPr bwMode="auto">
          <a:xfrm>
            <a:off x="5394325" y="189071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9277" name="Text Box 61"/>
          <p:cNvSpPr txBox="1">
            <a:spLocks noChangeArrowheads="1"/>
          </p:cNvSpPr>
          <p:nvPr/>
        </p:nvSpPr>
        <p:spPr bwMode="auto">
          <a:xfrm>
            <a:off x="5410200" y="2362200"/>
            <a:ext cx="285750" cy="3365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9278" name="Text Box 62"/>
          <p:cNvSpPr txBox="1">
            <a:spLocks noChangeArrowheads="1"/>
          </p:cNvSpPr>
          <p:nvPr/>
        </p:nvSpPr>
        <p:spPr bwMode="auto">
          <a:xfrm>
            <a:off x="5867400" y="2362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9279" name="Text Box 63"/>
          <p:cNvSpPr txBox="1">
            <a:spLocks noChangeArrowheads="1"/>
          </p:cNvSpPr>
          <p:nvPr/>
        </p:nvSpPr>
        <p:spPr bwMode="auto">
          <a:xfrm>
            <a:off x="5867400" y="19050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9291" name="Rectangle 75"/>
          <p:cNvSpPr>
            <a:spLocks noChangeArrowheads="1"/>
          </p:cNvSpPr>
          <p:nvPr/>
        </p:nvSpPr>
        <p:spPr bwMode="auto">
          <a:xfrm>
            <a:off x="5334000" y="4343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92" name="Rectangle 76"/>
          <p:cNvSpPr>
            <a:spLocks noChangeArrowheads="1"/>
          </p:cNvSpPr>
          <p:nvPr/>
        </p:nvSpPr>
        <p:spPr bwMode="auto">
          <a:xfrm>
            <a:off x="5791200" y="48006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93" name="Rectangle 77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94" name="Rectangle 78"/>
          <p:cNvSpPr>
            <a:spLocks noChangeArrowheads="1"/>
          </p:cNvSpPr>
          <p:nvPr/>
        </p:nvSpPr>
        <p:spPr bwMode="auto">
          <a:xfrm>
            <a:off x="5791200" y="43434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295" name="Text Box 79"/>
          <p:cNvSpPr txBox="1">
            <a:spLocks noChangeArrowheads="1"/>
          </p:cNvSpPr>
          <p:nvPr/>
        </p:nvSpPr>
        <p:spPr bwMode="auto">
          <a:xfrm>
            <a:off x="5394325" y="440531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9296" name="Text Box 80"/>
          <p:cNvSpPr txBox="1">
            <a:spLocks noChangeArrowheads="1"/>
          </p:cNvSpPr>
          <p:nvPr/>
        </p:nvSpPr>
        <p:spPr bwMode="auto">
          <a:xfrm>
            <a:off x="5410200" y="4876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9297" name="Text Box 81"/>
          <p:cNvSpPr txBox="1">
            <a:spLocks noChangeArrowheads="1"/>
          </p:cNvSpPr>
          <p:nvPr/>
        </p:nvSpPr>
        <p:spPr bwMode="auto">
          <a:xfrm>
            <a:off x="5867400" y="4876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9298" name="Text Box 82"/>
          <p:cNvSpPr txBox="1">
            <a:spLocks noChangeArrowheads="1"/>
          </p:cNvSpPr>
          <p:nvPr/>
        </p:nvSpPr>
        <p:spPr bwMode="auto">
          <a:xfrm>
            <a:off x="5867400" y="4419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9299" name="Rectangle 83"/>
          <p:cNvSpPr>
            <a:spLocks noChangeArrowheads="1"/>
          </p:cNvSpPr>
          <p:nvPr/>
        </p:nvSpPr>
        <p:spPr bwMode="auto">
          <a:xfrm>
            <a:off x="5334000" y="57150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00" name="Rectangle 84"/>
          <p:cNvSpPr>
            <a:spLocks noChangeArrowheads="1"/>
          </p:cNvSpPr>
          <p:nvPr/>
        </p:nvSpPr>
        <p:spPr bwMode="auto">
          <a:xfrm>
            <a:off x="5791200" y="61722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01" name="Rectangle 85"/>
          <p:cNvSpPr>
            <a:spLocks noChangeArrowheads="1"/>
          </p:cNvSpPr>
          <p:nvPr/>
        </p:nvSpPr>
        <p:spPr bwMode="auto">
          <a:xfrm>
            <a:off x="5334000" y="61722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02" name="Rectangle 86"/>
          <p:cNvSpPr>
            <a:spLocks noChangeArrowheads="1"/>
          </p:cNvSpPr>
          <p:nvPr/>
        </p:nvSpPr>
        <p:spPr bwMode="auto">
          <a:xfrm>
            <a:off x="5791200" y="57150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03" name="Text Box 87"/>
          <p:cNvSpPr txBox="1">
            <a:spLocks noChangeArrowheads="1"/>
          </p:cNvSpPr>
          <p:nvPr/>
        </p:nvSpPr>
        <p:spPr bwMode="auto">
          <a:xfrm>
            <a:off x="5394325" y="577691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9304" name="Text Box 88"/>
          <p:cNvSpPr txBox="1">
            <a:spLocks noChangeArrowheads="1"/>
          </p:cNvSpPr>
          <p:nvPr/>
        </p:nvSpPr>
        <p:spPr bwMode="auto">
          <a:xfrm>
            <a:off x="5410200" y="62484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9305" name="Text Box 89"/>
          <p:cNvSpPr txBox="1">
            <a:spLocks noChangeArrowheads="1"/>
          </p:cNvSpPr>
          <p:nvPr/>
        </p:nvSpPr>
        <p:spPr bwMode="auto">
          <a:xfrm>
            <a:off x="5867400" y="62484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9306" name="Text Box 90"/>
          <p:cNvSpPr txBox="1">
            <a:spLocks noChangeArrowheads="1"/>
          </p:cNvSpPr>
          <p:nvPr/>
        </p:nvSpPr>
        <p:spPr bwMode="auto">
          <a:xfrm>
            <a:off x="5867400" y="5791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9309" name="Text Box 93"/>
          <p:cNvSpPr txBox="1">
            <a:spLocks noChangeArrowheads="1"/>
          </p:cNvSpPr>
          <p:nvPr/>
        </p:nvSpPr>
        <p:spPr bwMode="auto">
          <a:xfrm>
            <a:off x="6172200" y="1143000"/>
            <a:ext cx="1603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3. Retrieval</a:t>
            </a:r>
          </a:p>
        </p:txBody>
      </p:sp>
      <p:sp>
        <p:nvSpPr>
          <p:cNvPr id="9330" name="Oval 114"/>
          <p:cNvSpPr>
            <a:spLocks noChangeArrowheads="1"/>
          </p:cNvSpPr>
          <p:nvPr/>
        </p:nvSpPr>
        <p:spPr bwMode="auto">
          <a:xfrm>
            <a:off x="7086600" y="2971800"/>
            <a:ext cx="206375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31" name="Oval 115"/>
          <p:cNvSpPr>
            <a:spLocks noChangeArrowheads="1"/>
          </p:cNvSpPr>
          <p:nvPr/>
        </p:nvSpPr>
        <p:spPr bwMode="auto">
          <a:xfrm>
            <a:off x="7086600" y="3657600"/>
            <a:ext cx="206375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32" name="Oval 116"/>
          <p:cNvSpPr>
            <a:spLocks noChangeArrowheads="1"/>
          </p:cNvSpPr>
          <p:nvPr/>
        </p:nvSpPr>
        <p:spPr bwMode="auto">
          <a:xfrm>
            <a:off x="7870825" y="3611563"/>
            <a:ext cx="206375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33" name="Oval 117"/>
          <p:cNvSpPr>
            <a:spLocks noChangeArrowheads="1"/>
          </p:cNvSpPr>
          <p:nvPr/>
        </p:nvSpPr>
        <p:spPr bwMode="auto">
          <a:xfrm>
            <a:off x="7870825" y="2971800"/>
            <a:ext cx="206375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34" name="Line 118"/>
          <p:cNvSpPr>
            <a:spLocks noChangeShapeType="1"/>
          </p:cNvSpPr>
          <p:nvPr/>
        </p:nvSpPr>
        <p:spPr bwMode="auto">
          <a:xfrm flipV="1">
            <a:off x="7251700" y="3154363"/>
            <a:ext cx="619125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35" name="Line 119"/>
          <p:cNvSpPr>
            <a:spLocks noChangeShapeType="1"/>
          </p:cNvSpPr>
          <p:nvPr/>
        </p:nvSpPr>
        <p:spPr bwMode="auto">
          <a:xfrm flipV="1">
            <a:off x="7292975" y="3108325"/>
            <a:ext cx="5778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36" name="Line 120"/>
          <p:cNvSpPr>
            <a:spLocks noChangeShapeType="1"/>
          </p:cNvSpPr>
          <p:nvPr/>
        </p:nvSpPr>
        <p:spPr bwMode="auto">
          <a:xfrm flipV="1">
            <a:off x="7210425" y="3200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37" name="Line 121"/>
          <p:cNvSpPr>
            <a:spLocks noChangeShapeType="1"/>
          </p:cNvSpPr>
          <p:nvPr/>
        </p:nvSpPr>
        <p:spPr bwMode="auto">
          <a:xfrm>
            <a:off x="7239000" y="3200400"/>
            <a:ext cx="6096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38" name="Line 122"/>
          <p:cNvSpPr>
            <a:spLocks noChangeShapeType="1"/>
          </p:cNvSpPr>
          <p:nvPr/>
        </p:nvSpPr>
        <p:spPr bwMode="auto">
          <a:xfrm flipV="1">
            <a:off x="7292975" y="3749675"/>
            <a:ext cx="5778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39" name="Line 123"/>
          <p:cNvSpPr>
            <a:spLocks noChangeShapeType="1"/>
          </p:cNvSpPr>
          <p:nvPr/>
        </p:nvSpPr>
        <p:spPr bwMode="auto">
          <a:xfrm flipV="1">
            <a:off x="7953375" y="3200400"/>
            <a:ext cx="0" cy="41116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47" name="Oval 131"/>
          <p:cNvSpPr>
            <a:spLocks noChangeArrowheads="1"/>
          </p:cNvSpPr>
          <p:nvPr/>
        </p:nvSpPr>
        <p:spPr bwMode="auto">
          <a:xfrm>
            <a:off x="7086600" y="4343400"/>
            <a:ext cx="206375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48" name="Oval 132"/>
          <p:cNvSpPr>
            <a:spLocks noChangeArrowheads="1"/>
          </p:cNvSpPr>
          <p:nvPr/>
        </p:nvSpPr>
        <p:spPr bwMode="auto">
          <a:xfrm>
            <a:off x="7086600" y="5029200"/>
            <a:ext cx="206375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49" name="Oval 133"/>
          <p:cNvSpPr>
            <a:spLocks noChangeArrowheads="1"/>
          </p:cNvSpPr>
          <p:nvPr/>
        </p:nvSpPr>
        <p:spPr bwMode="auto">
          <a:xfrm>
            <a:off x="7870825" y="4983163"/>
            <a:ext cx="206375" cy="2286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50" name="Oval 134"/>
          <p:cNvSpPr>
            <a:spLocks noChangeArrowheads="1"/>
          </p:cNvSpPr>
          <p:nvPr/>
        </p:nvSpPr>
        <p:spPr bwMode="auto">
          <a:xfrm>
            <a:off x="7870825" y="4343400"/>
            <a:ext cx="206375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51" name="Line 135"/>
          <p:cNvSpPr>
            <a:spLocks noChangeShapeType="1"/>
          </p:cNvSpPr>
          <p:nvPr/>
        </p:nvSpPr>
        <p:spPr bwMode="auto">
          <a:xfrm flipV="1">
            <a:off x="7251700" y="4525963"/>
            <a:ext cx="619125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52" name="Line 136"/>
          <p:cNvSpPr>
            <a:spLocks noChangeShapeType="1"/>
          </p:cNvSpPr>
          <p:nvPr/>
        </p:nvSpPr>
        <p:spPr bwMode="auto">
          <a:xfrm flipV="1">
            <a:off x="7292975" y="4479925"/>
            <a:ext cx="5778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53" name="Line 137"/>
          <p:cNvSpPr>
            <a:spLocks noChangeShapeType="1"/>
          </p:cNvSpPr>
          <p:nvPr/>
        </p:nvSpPr>
        <p:spPr bwMode="auto">
          <a:xfrm flipV="1">
            <a:off x="7210425" y="4572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54" name="Line 138"/>
          <p:cNvSpPr>
            <a:spLocks noChangeShapeType="1"/>
          </p:cNvSpPr>
          <p:nvPr/>
        </p:nvSpPr>
        <p:spPr bwMode="auto">
          <a:xfrm>
            <a:off x="7292975" y="4525963"/>
            <a:ext cx="619125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55" name="Line 139"/>
          <p:cNvSpPr>
            <a:spLocks noChangeShapeType="1"/>
          </p:cNvSpPr>
          <p:nvPr/>
        </p:nvSpPr>
        <p:spPr bwMode="auto">
          <a:xfrm flipV="1">
            <a:off x="7292975" y="5121275"/>
            <a:ext cx="5778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56" name="Line 140"/>
          <p:cNvSpPr>
            <a:spLocks noChangeShapeType="1"/>
          </p:cNvSpPr>
          <p:nvPr/>
        </p:nvSpPr>
        <p:spPr bwMode="auto">
          <a:xfrm flipV="1">
            <a:off x="7953375" y="4572000"/>
            <a:ext cx="0" cy="41116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57" name="Oval 141"/>
          <p:cNvSpPr>
            <a:spLocks noChangeArrowheads="1"/>
          </p:cNvSpPr>
          <p:nvPr/>
        </p:nvSpPr>
        <p:spPr bwMode="auto">
          <a:xfrm>
            <a:off x="7086600" y="5715000"/>
            <a:ext cx="206375" cy="2286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58" name="Oval 142"/>
          <p:cNvSpPr>
            <a:spLocks noChangeArrowheads="1"/>
          </p:cNvSpPr>
          <p:nvPr/>
        </p:nvSpPr>
        <p:spPr bwMode="auto">
          <a:xfrm>
            <a:off x="7086600" y="6400800"/>
            <a:ext cx="206375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59" name="Oval 143"/>
          <p:cNvSpPr>
            <a:spLocks noChangeArrowheads="1"/>
          </p:cNvSpPr>
          <p:nvPr/>
        </p:nvSpPr>
        <p:spPr bwMode="auto">
          <a:xfrm>
            <a:off x="7870825" y="6354763"/>
            <a:ext cx="206375" cy="2286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60" name="Oval 144"/>
          <p:cNvSpPr>
            <a:spLocks noChangeArrowheads="1"/>
          </p:cNvSpPr>
          <p:nvPr/>
        </p:nvSpPr>
        <p:spPr bwMode="auto">
          <a:xfrm>
            <a:off x="7870825" y="5715000"/>
            <a:ext cx="206375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61" name="Line 145"/>
          <p:cNvSpPr>
            <a:spLocks noChangeShapeType="1"/>
          </p:cNvSpPr>
          <p:nvPr/>
        </p:nvSpPr>
        <p:spPr bwMode="auto">
          <a:xfrm flipV="1">
            <a:off x="7251700" y="5897563"/>
            <a:ext cx="619125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62" name="Line 146"/>
          <p:cNvSpPr>
            <a:spLocks noChangeShapeType="1"/>
          </p:cNvSpPr>
          <p:nvPr/>
        </p:nvSpPr>
        <p:spPr bwMode="auto">
          <a:xfrm flipV="1">
            <a:off x="7292975" y="5851525"/>
            <a:ext cx="5778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63" name="Line 147"/>
          <p:cNvSpPr>
            <a:spLocks noChangeShapeType="1"/>
          </p:cNvSpPr>
          <p:nvPr/>
        </p:nvSpPr>
        <p:spPr bwMode="auto">
          <a:xfrm flipV="1">
            <a:off x="7210425" y="59436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64" name="Line 148"/>
          <p:cNvSpPr>
            <a:spLocks noChangeShapeType="1"/>
          </p:cNvSpPr>
          <p:nvPr/>
        </p:nvSpPr>
        <p:spPr bwMode="auto">
          <a:xfrm>
            <a:off x="7292975" y="5897563"/>
            <a:ext cx="619125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65" name="Line 149"/>
          <p:cNvSpPr>
            <a:spLocks noChangeShapeType="1"/>
          </p:cNvSpPr>
          <p:nvPr/>
        </p:nvSpPr>
        <p:spPr bwMode="auto">
          <a:xfrm flipV="1">
            <a:off x="7292975" y="6492875"/>
            <a:ext cx="5778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66" name="Line 150"/>
          <p:cNvSpPr>
            <a:spLocks noChangeShapeType="1"/>
          </p:cNvSpPr>
          <p:nvPr/>
        </p:nvSpPr>
        <p:spPr bwMode="auto">
          <a:xfrm flipV="1">
            <a:off x="7953375" y="5943600"/>
            <a:ext cx="0" cy="41116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71" name="Oval 155"/>
          <p:cNvSpPr>
            <a:spLocks noChangeArrowheads="1"/>
          </p:cNvSpPr>
          <p:nvPr/>
        </p:nvSpPr>
        <p:spPr bwMode="auto">
          <a:xfrm>
            <a:off x="7086600" y="1828800"/>
            <a:ext cx="206375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72" name="Oval 156"/>
          <p:cNvSpPr>
            <a:spLocks noChangeArrowheads="1"/>
          </p:cNvSpPr>
          <p:nvPr/>
        </p:nvSpPr>
        <p:spPr bwMode="auto">
          <a:xfrm>
            <a:off x="7086600" y="2514600"/>
            <a:ext cx="206375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73" name="Oval 157"/>
          <p:cNvSpPr>
            <a:spLocks noChangeArrowheads="1"/>
          </p:cNvSpPr>
          <p:nvPr/>
        </p:nvSpPr>
        <p:spPr bwMode="auto">
          <a:xfrm>
            <a:off x="7870825" y="2468563"/>
            <a:ext cx="206375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74" name="Oval 158"/>
          <p:cNvSpPr>
            <a:spLocks noChangeArrowheads="1"/>
          </p:cNvSpPr>
          <p:nvPr/>
        </p:nvSpPr>
        <p:spPr bwMode="auto">
          <a:xfrm>
            <a:off x="7870825" y="1828800"/>
            <a:ext cx="206375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9375" name="Line 159"/>
          <p:cNvSpPr>
            <a:spLocks noChangeShapeType="1"/>
          </p:cNvSpPr>
          <p:nvPr/>
        </p:nvSpPr>
        <p:spPr bwMode="auto">
          <a:xfrm flipV="1">
            <a:off x="7251700" y="2011363"/>
            <a:ext cx="619125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76" name="Line 160"/>
          <p:cNvSpPr>
            <a:spLocks noChangeShapeType="1"/>
          </p:cNvSpPr>
          <p:nvPr/>
        </p:nvSpPr>
        <p:spPr bwMode="auto">
          <a:xfrm flipV="1">
            <a:off x="7292975" y="1965325"/>
            <a:ext cx="5778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77" name="Line 161"/>
          <p:cNvSpPr>
            <a:spLocks noChangeShapeType="1"/>
          </p:cNvSpPr>
          <p:nvPr/>
        </p:nvSpPr>
        <p:spPr bwMode="auto">
          <a:xfrm flipV="1">
            <a:off x="7210425" y="2057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78" name="Line 162"/>
          <p:cNvSpPr>
            <a:spLocks noChangeShapeType="1"/>
          </p:cNvSpPr>
          <p:nvPr/>
        </p:nvSpPr>
        <p:spPr bwMode="auto">
          <a:xfrm>
            <a:off x="7292975" y="2011363"/>
            <a:ext cx="619125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79" name="Line 163"/>
          <p:cNvSpPr>
            <a:spLocks noChangeShapeType="1"/>
          </p:cNvSpPr>
          <p:nvPr/>
        </p:nvSpPr>
        <p:spPr bwMode="auto">
          <a:xfrm flipV="1">
            <a:off x="7292975" y="2606675"/>
            <a:ext cx="5778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80" name="Line 164"/>
          <p:cNvSpPr>
            <a:spLocks noChangeShapeType="1"/>
          </p:cNvSpPr>
          <p:nvPr/>
        </p:nvSpPr>
        <p:spPr bwMode="auto">
          <a:xfrm flipV="1">
            <a:off x="7953375" y="2057400"/>
            <a:ext cx="0" cy="41116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83" name="Line 167"/>
          <p:cNvSpPr>
            <a:spLocks noChangeShapeType="1"/>
          </p:cNvSpPr>
          <p:nvPr/>
        </p:nvSpPr>
        <p:spPr bwMode="auto">
          <a:xfrm>
            <a:off x="6400800" y="22098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84" name="Freeform 168"/>
          <p:cNvSpPr>
            <a:spLocks/>
          </p:cNvSpPr>
          <p:nvPr/>
        </p:nvSpPr>
        <p:spPr bwMode="auto">
          <a:xfrm>
            <a:off x="8153400" y="2286000"/>
            <a:ext cx="622300" cy="1066800"/>
          </a:xfrm>
          <a:custGeom>
            <a:avLst/>
            <a:gdLst>
              <a:gd name="T0" fmla="*/ 48 w 392"/>
              <a:gd name="T1" fmla="*/ 0 h 672"/>
              <a:gd name="T2" fmla="*/ 336 w 392"/>
              <a:gd name="T3" fmla="*/ 96 h 672"/>
              <a:gd name="T4" fmla="*/ 336 w 392"/>
              <a:gd name="T5" fmla="*/ 528 h 672"/>
              <a:gd name="T6" fmla="*/ 0 w 392"/>
              <a:gd name="T7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2" h="672">
                <a:moveTo>
                  <a:pt x="48" y="0"/>
                </a:moveTo>
                <a:cubicBezTo>
                  <a:pt x="168" y="4"/>
                  <a:pt x="288" y="8"/>
                  <a:pt x="336" y="96"/>
                </a:cubicBezTo>
                <a:cubicBezTo>
                  <a:pt x="384" y="184"/>
                  <a:pt x="392" y="432"/>
                  <a:pt x="336" y="528"/>
                </a:cubicBezTo>
                <a:cubicBezTo>
                  <a:pt x="280" y="624"/>
                  <a:pt x="140" y="648"/>
                  <a:pt x="0" y="672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85" name="Freeform 169"/>
          <p:cNvSpPr>
            <a:spLocks/>
          </p:cNvSpPr>
          <p:nvPr/>
        </p:nvSpPr>
        <p:spPr bwMode="auto">
          <a:xfrm>
            <a:off x="8229600" y="5029200"/>
            <a:ext cx="622300" cy="1066800"/>
          </a:xfrm>
          <a:custGeom>
            <a:avLst/>
            <a:gdLst>
              <a:gd name="T0" fmla="*/ 48 w 392"/>
              <a:gd name="T1" fmla="*/ 0 h 672"/>
              <a:gd name="T2" fmla="*/ 336 w 392"/>
              <a:gd name="T3" fmla="*/ 96 h 672"/>
              <a:gd name="T4" fmla="*/ 336 w 392"/>
              <a:gd name="T5" fmla="*/ 528 h 672"/>
              <a:gd name="T6" fmla="*/ 0 w 392"/>
              <a:gd name="T7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2" h="672">
                <a:moveTo>
                  <a:pt x="48" y="0"/>
                </a:moveTo>
                <a:cubicBezTo>
                  <a:pt x="168" y="4"/>
                  <a:pt x="288" y="8"/>
                  <a:pt x="336" y="96"/>
                </a:cubicBezTo>
                <a:cubicBezTo>
                  <a:pt x="384" y="184"/>
                  <a:pt x="392" y="432"/>
                  <a:pt x="336" y="528"/>
                </a:cubicBezTo>
                <a:cubicBezTo>
                  <a:pt x="280" y="624"/>
                  <a:pt x="140" y="648"/>
                  <a:pt x="0" y="672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86" name="Freeform 170"/>
          <p:cNvSpPr>
            <a:spLocks/>
          </p:cNvSpPr>
          <p:nvPr/>
        </p:nvSpPr>
        <p:spPr bwMode="auto">
          <a:xfrm>
            <a:off x="8229600" y="3657600"/>
            <a:ext cx="622300" cy="1066800"/>
          </a:xfrm>
          <a:custGeom>
            <a:avLst/>
            <a:gdLst>
              <a:gd name="T0" fmla="*/ 48 w 392"/>
              <a:gd name="T1" fmla="*/ 0 h 672"/>
              <a:gd name="T2" fmla="*/ 336 w 392"/>
              <a:gd name="T3" fmla="*/ 96 h 672"/>
              <a:gd name="T4" fmla="*/ 336 w 392"/>
              <a:gd name="T5" fmla="*/ 528 h 672"/>
              <a:gd name="T6" fmla="*/ 0 w 392"/>
              <a:gd name="T7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2" h="672">
                <a:moveTo>
                  <a:pt x="48" y="0"/>
                </a:moveTo>
                <a:cubicBezTo>
                  <a:pt x="168" y="4"/>
                  <a:pt x="288" y="8"/>
                  <a:pt x="336" y="96"/>
                </a:cubicBezTo>
                <a:cubicBezTo>
                  <a:pt x="384" y="184"/>
                  <a:pt x="392" y="432"/>
                  <a:pt x="336" y="528"/>
                </a:cubicBezTo>
                <a:cubicBezTo>
                  <a:pt x="280" y="624"/>
                  <a:pt x="140" y="648"/>
                  <a:pt x="0" y="672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87" name="Line 171"/>
          <p:cNvSpPr>
            <a:spLocks noChangeShapeType="1"/>
          </p:cNvSpPr>
          <p:nvPr/>
        </p:nvSpPr>
        <p:spPr bwMode="auto">
          <a:xfrm flipH="1">
            <a:off x="6400800" y="61722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90" name="Line 174"/>
          <p:cNvSpPr>
            <a:spLocks noChangeShapeType="1"/>
          </p:cNvSpPr>
          <p:nvPr/>
        </p:nvSpPr>
        <p:spPr bwMode="auto">
          <a:xfrm>
            <a:off x="152400" y="4114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91" name="Text Box 175"/>
          <p:cNvSpPr txBox="1">
            <a:spLocks noChangeArrowheads="1"/>
          </p:cNvSpPr>
          <p:nvPr/>
        </p:nvSpPr>
        <p:spPr bwMode="auto">
          <a:xfrm>
            <a:off x="441325" y="37719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9392" name="Line 176"/>
          <p:cNvSpPr>
            <a:spLocks noChangeShapeType="1"/>
          </p:cNvSpPr>
          <p:nvPr/>
        </p:nvSpPr>
        <p:spPr bwMode="auto">
          <a:xfrm>
            <a:off x="152400" y="4648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393" name="Text Box 177"/>
          <p:cNvSpPr txBox="1">
            <a:spLocks noChangeArrowheads="1"/>
          </p:cNvSpPr>
          <p:nvPr/>
        </p:nvSpPr>
        <p:spPr bwMode="auto">
          <a:xfrm>
            <a:off x="457200" y="4267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</a:t>
            </a:r>
            <a:endParaRPr lang="nb-NO" altLang="he-IL"/>
          </a:p>
        </p:txBody>
      </p:sp>
      <p:grpSp>
        <p:nvGrpSpPr>
          <p:cNvPr id="9450" name="Group 234"/>
          <p:cNvGrpSpPr>
            <a:grpSpLocks/>
          </p:cNvGrpSpPr>
          <p:nvPr/>
        </p:nvGrpSpPr>
        <p:grpSpPr bwMode="auto">
          <a:xfrm>
            <a:off x="1676400" y="1752600"/>
            <a:ext cx="914400" cy="914400"/>
            <a:chOff x="1680" y="1104"/>
            <a:chExt cx="576" cy="576"/>
          </a:xfrm>
        </p:grpSpPr>
        <p:grpSp>
          <p:nvGrpSpPr>
            <p:cNvPr id="9388" name="Group 172"/>
            <p:cNvGrpSpPr>
              <a:grpSpLocks/>
            </p:cNvGrpSpPr>
            <p:nvPr/>
          </p:nvGrpSpPr>
          <p:grpSpPr bwMode="auto">
            <a:xfrm>
              <a:off x="1680" y="1104"/>
              <a:ext cx="576" cy="576"/>
              <a:chOff x="1680" y="1104"/>
              <a:chExt cx="576" cy="576"/>
            </a:xfrm>
          </p:grpSpPr>
          <p:sp>
            <p:nvSpPr>
              <p:cNvPr id="9224" name="Rectangle 8"/>
              <p:cNvSpPr>
                <a:spLocks noChangeArrowheads="1"/>
              </p:cNvSpPr>
              <p:nvPr/>
            </p:nvSpPr>
            <p:spPr bwMode="auto">
              <a:xfrm flipH="1">
                <a:off x="1968" y="1104"/>
                <a:ext cx="288" cy="28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225" name="Rectangle 9"/>
              <p:cNvSpPr>
                <a:spLocks noChangeArrowheads="1"/>
              </p:cNvSpPr>
              <p:nvPr/>
            </p:nvSpPr>
            <p:spPr bwMode="auto">
              <a:xfrm flipH="1">
                <a:off x="1680" y="1392"/>
                <a:ext cx="288" cy="28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226" name="Rectangle 10"/>
              <p:cNvSpPr>
                <a:spLocks noChangeArrowheads="1"/>
              </p:cNvSpPr>
              <p:nvPr/>
            </p:nvSpPr>
            <p:spPr bwMode="auto">
              <a:xfrm flipH="1">
                <a:off x="1968" y="1392"/>
                <a:ext cx="288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227" name="Rectangle 11"/>
              <p:cNvSpPr>
                <a:spLocks noChangeArrowheads="1"/>
              </p:cNvSpPr>
              <p:nvPr/>
            </p:nvSpPr>
            <p:spPr bwMode="auto">
              <a:xfrm flipH="1">
                <a:off x="1680" y="1104"/>
                <a:ext cx="288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2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1152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1</a:t>
                </a:r>
                <a:endParaRPr lang="nb-NO" altLang="he-IL"/>
              </a:p>
            </p:txBody>
          </p:sp>
          <p:sp>
            <p:nvSpPr>
              <p:cNvPr id="92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1440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3</a:t>
                </a:r>
                <a:endParaRPr lang="nb-NO" altLang="he-IL"/>
              </a:p>
            </p:txBody>
          </p:sp>
          <p:sp>
            <p:nvSpPr>
              <p:cNvPr id="9237" name="Text Box 21"/>
              <p:cNvSpPr txBox="1">
                <a:spLocks noChangeArrowheads="1"/>
              </p:cNvSpPr>
              <p:nvPr/>
            </p:nvSpPr>
            <p:spPr bwMode="auto">
              <a:xfrm>
                <a:off x="2016" y="1440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4</a:t>
                </a:r>
                <a:endParaRPr lang="nb-NO" altLang="he-IL"/>
              </a:p>
            </p:txBody>
          </p:sp>
          <p:sp>
            <p:nvSpPr>
              <p:cNvPr id="9238" name="Text Box 22"/>
              <p:cNvSpPr txBox="1">
                <a:spLocks noChangeArrowheads="1"/>
              </p:cNvSpPr>
              <p:nvPr/>
            </p:nvSpPr>
            <p:spPr bwMode="auto">
              <a:xfrm>
                <a:off x="2016" y="1152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2</a:t>
                </a:r>
                <a:endParaRPr lang="nb-NO" altLang="he-IL"/>
              </a:p>
            </p:txBody>
          </p:sp>
        </p:grpSp>
        <p:grpSp>
          <p:nvGrpSpPr>
            <p:cNvPr id="9397" name="Group 181"/>
            <p:cNvGrpSpPr>
              <a:grpSpLocks/>
            </p:cNvGrpSpPr>
            <p:nvPr/>
          </p:nvGrpSpPr>
          <p:grpSpPr bwMode="auto">
            <a:xfrm>
              <a:off x="2160" y="1440"/>
              <a:ext cx="48" cy="48"/>
              <a:chOff x="2688" y="2976"/>
              <a:chExt cx="48" cy="48"/>
            </a:xfrm>
          </p:grpSpPr>
          <p:sp>
            <p:nvSpPr>
              <p:cNvPr id="9398" name="Line 182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399" name="Line 183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9400" name="Group 184"/>
            <p:cNvGrpSpPr>
              <a:grpSpLocks/>
            </p:cNvGrpSpPr>
            <p:nvPr/>
          </p:nvGrpSpPr>
          <p:grpSpPr bwMode="auto">
            <a:xfrm>
              <a:off x="1872" y="1152"/>
              <a:ext cx="48" cy="48"/>
              <a:chOff x="2688" y="2976"/>
              <a:chExt cx="48" cy="48"/>
            </a:xfrm>
          </p:grpSpPr>
          <p:sp>
            <p:nvSpPr>
              <p:cNvPr id="9401" name="Line 185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402" name="Line 186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grpSp>
        <p:nvGrpSpPr>
          <p:cNvPr id="9449" name="Group 233"/>
          <p:cNvGrpSpPr>
            <a:grpSpLocks/>
          </p:cNvGrpSpPr>
          <p:nvPr/>
        </p:nvGrpSpPr>
        <p:grpSpPr bwMode="auto">
          <a:xfrm>
            <a:off x="457200" y="1752600"/>
            <a:ext cx="914400" cy="914400"/>
            <a:chOff x="816" y="1104"/>
            <a:chExt cx="576" cy="576"/>
          </a:xfrm>
        </p:grpSpPr>
        <p:grpSp>
          <p:nvGrpSpPr>
            <p:cNvPr id="9389" name="Group 173"/>
            <p:cNvGrpSpPr>
              <a:grpSpLocks/>
            </p:cNvGrpSpPr>
            <p:nvPr/>
          </p:nvGrpSpPr>
          <p:grpSpPr bwMode="auto">
            <a:xfrm>
              <a:off x="816" y="1104"/>
              <a:ext cx="576" cy="576"/>
              <a:chOff x="816" y="1104"/>
              <a:chExt cx="576" cy="576"/>
            </a:xfrm>
          </p:grpSpPr>
          <p:sp>
            <p:nvSpPr>
              <p:cNvPr id="9220" name="Rectangle 4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288" cy="28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221" name="Rectangle 5"/>
              <p:cNvSpPr>
                <a:spLocks noChangeArrowheads="1"/>
              </p:cNvSpPr>
              <p:nvPr/>
            </p:nvSpPr>
            <p:spPr bwMode="auto">
              <a:xfrm>
                <a:off x="1104" y="1392"/>
                <a:ext cx="288" cy="28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222" name="Rectangle 6"/>
              <p:cNvSpPr>
                <a:spLocks noChangeArrowheads="1"/>
              </p:cNvSpPr>
              <p:nvPr/>
            </p:nvSpPr>
            <p:spPr bwMode="auto">
              <a:xfrm>
                <a:off x="816" y="1392"/>
                <a:ext cx="288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223" name="Rectangle 7"/>
              <p:cNvSpPr>
                <a:spLocks noChangeArrowheads="1"/>
              </p:cNvSpPr>
              <p:nvPr/>
            </p:nvSpPr>
            <p:spPr bwMode="auto">
              <a:xfrm>
                <a:off x="1104" y="1104"/>
                <a:ext cx="288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230" name="Text Box 14"/>
              <p:cNvSpPr txBox="1">
                <a:spLocks noChangeArrowheads="1"/>
              </p:cNvSpPr>
              <p:nvPr/>
            </p:nvSpPr>
            <p:spPr bwMode="auto">
              <a:xfrm>
                <a:off x="854" y="1143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1</a:t>
                </a:r>
                <a:endParaRPr lang="nb-NO" altLang="he-IL"/>
              </a:p>
            </p:txBody>
          </p:sp>
          <p:sp>
            <p:nvSpPr>
              <p:cNvPr id="9231" name="Text Box 15"/>
              <p:cNvSpPr txBox="1">
                <a:spLocks noChangeArrowheads="1"/>
              </p:cNvSpPr>
              <p:nvPr/>
            </p:nvSpPr>
            <p:spPr bwMode="auto">
              <a:xfrm>
                <a:off x="864" y="1440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3</a:t>
                </a:r>
                <a:endParaRPr lang="nb-NO" altLang="he-IL"/>
              </a:p>
            </p:txBody>
          </p:sp>
          <p:sp>
            <p:nvSpPr>
              <p:cNvPr id="9232" name="Text Box 16"/>
              <p:cNvSpPr txBox="1">
                <a:spLocks noChangeArrowheads="1"/>
              </p:cNvSpPr>
              <p:nvPr/>
            </p:nvSpPr>
            <p:spPr bwMode="auto">
              <a:xfrm>
                <a:off x="1152" y="1440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4</a:t>
                </a:r>
                <a:endParaRPr lang="nb-NO" altLang="he-IL"/>
              </a:p>
            </p:txBody>
          </p:sp>
          <p:sp>
            <p:nvSpPr>
              <p:cNvPr id="92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1152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2</a:t>
                </a:r>
                <a:endParaRPr lang="nb-NO" altLang="he-IL"/>
              </a:p>
            </p:txBody>
          </p:sp>
        </p:grpSp>
        <p:grpSp>
          <p:nvGrpSpPr>
            <p:cNvPr id="9394" name="Group 178"/>
            <p:cNvGrpSpPr>
              <a:grpSpLocks/>
            </p:cNvGrpSpPr>
            <p:nvPr/>
          </p:nvGrpSpPr>
          <p:grpSpPr bwMode="auto">
            <a:xfrm>
              <a:off x="1248" y="1152"/>
              <a:ext cx="48" cy="48"/>
              <a:chOff x="2688" y="2976"/>
              <a:chExt cx="48" cy="48"/>
            </a:xfrm>
          </p:grpSpPr>
          <p:sp>
            <p:nvSpPr>
              <p:cNvPr id="9395" name="Line 179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396" name="Line 180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9403" name="Group 187"/>
            <p:cNvGrpSpPr>
              <a:grpSpLocks/>
            </p:cNvGrpSpPr>
            <p:nvPr/>
          </p:nvGrpSpPr>
          <p:grpSpPr bwMode="auto">
            <a:xfrm>
              <a:off x="1008" y="1440"/>
              <a:ext cx="48" cy="48"/>
              <a:chOff x="2688" y="2976"/>
              <a:chExt cx="48" cy="48"/>
            </a:xfrm>
          </p:grpSpPr>
          <p:sp>
            <p:nvSpPr>
              <p:cNvPr id="9404" name="Line 188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9405" name="Line 189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grpSp>
        <p:nvGrpSpPr>
          <p:cNvPr id="9406" name="Group 190"/>
          <p:cNvGrpSpPr>
            <a:grpSpLocks/>
          </p:cNvGrpSpPr>
          <p:nvPr/>
        </p:nvGrpSpPr>
        <p:grpSpPr bwMode="auto">
          <a:xfrm>
            <a:off x="6096000" y="4419600"/>
            <a:ext cx="76200" cy="76200"/>
            <a:chOff x="2688" y="2976"/>
            <a:chExt cx="48" cy="48"/>
          </a:xfrm>
        </p:grpSpPr>
        <p:sp>
          <p:nvSpPr>
            <p:cNvPr id="9407" name="Line 191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08" name="Line 192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09" name="Group 193"/>
          <p:cNvGrpSpPr>
            <a:grpSpLocks/>
          </p:cNvGrpSpPr>
          <p:nvPr/>
        </p:nvGrpSpPr>
        <p:grpSpPr bwMode="auto">
          <a:xfrm>
            <a:off x="5638800" y="3581400"/>
            <a:ext cx="76200" cy="76200"/>
            <a:chOff x="2688" y="2976"/>
            <a:chExt cx="48" cy="48"/>
          </a:xfrm>
        </p:grpSpPr>
        <p:sp>
          <p:nvSpPr>
            <p:cNvPr id="9410" name="Line 194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11" name="Line 195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12" name="Group 196"/>
          <p:cNvGrpSpPr>
            <a:grpSpLocks/>
          </p:cNvGrpSpPr>
          <p:nvPr/>
        </p:nvGrpSpPr>
        <p:grpSpPr bwMode="auto">
          <a:xfrm>
            <a:off x="6096000" y="3048000"/>
            <a:ext cx="76200" cy="76200"/>
            <a:chOff x="2688" y="2976"/>
            <a:chExt cx="48" cy="48"/>
          </a:xfrm>
        </p:grpSpPr>
        <p:sp>
          <p:nvSpPr>
            <p:cNvPr id="9413" name="Line 197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14" name="Line 198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15" name="Group 199"/>
          <p:cNvGrpSpPr>
            <a:grpSpLocks/>
          </p:cNvGrpSpPr>
          <p:nvPr/>
        </p:nvGrpSpPr>
        <p:grpSpPr bwMode="auto">
          <a:xfrm>
            <a:off x="5638800" y="2362200"/>
            <a:ext cx="76200" cy="76200"/>
            <a:chOff x="2688" y="2976"/>
            <a:chExt cx="48" cy="48"/>
          </a:xfrm>
        </p:grpSpPr>
        <p:sp>
          <p:nvSpPr>
            <p:cNvPr id="9416" name="Line 200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17" name="Line 201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18" name="Group 202"/>
          <p:cNvGrpSpPr>
            <a:grpSpLocks/>
          </p:cNvGrpSpPr>
          <p:nvPr/>
        </p:nvGrpSpPr>
        <p:grpSpPr bwMode="auto">
          <a:xfrm>
            <a:off x="7162800" y="2590800"/>
            <a:ext cx="76200" cy="76200"/>
            <a:chOff x="2688" y="2976"/>
            <a:chExt cx="48" cy="48"/>
          </a:xfrm>
        </p:grpSpPr>
        <p:sp>
          <p:nvSpPr>
            <p:cNvPr id="9419" name="Line 203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20" name="Line 204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21" name="Group 205"/>
          <p:cNvGrpSpPr>
            <a:grpSpLocks/>
          </p:cNvGrpSpPr>
          <p:nvPr/>
        </p:nvGrpSpPr>
        <p:grpSpPr bwMode="auto">
          <a:xfrm>
            <a:off x="5638800" y="6248400"/>
            <a:ext cx="76200" cy="76200"/>
            <a:chOff x="2688" y="2976"/>
            <a:chExt cx="48" cy="48"/>
          </a:xfrm>
        </p:grpSpPr>
        <p:sp>
          <p:nvSpPr>
            <p:cNvPr id="9422" name="Line 206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23" name="Line 207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24" name="Group 208"/>
          <p:cNvGrpSpPr>
            <a:grpSpLocks/>
          </p:cNvGrpSpPr>
          <p:nvPr/>
        </p:nvGrpSpPr>
        <p:grpSpPr bwMode="auto">
          <a:xfrm>
            <a:off x="6096000" y="5791200"/>
            <a:ext cx="76200" cy="76200"/>
            <a:chOff x="2688" y="2976"/>
            <a:chExt cx="48" cy="48"/>
          </a:xfrm>
        </p:grpSpPr>
        <p:sp>
          <p:nvSpPr>
            <p:cNvPr id="9425" name="Line 209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26" name="Line 210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27" name="Group 211"/>
          <p:cNvGrpSpPr>
            <a:grpSpLocks/>
          </p:cNvGrpSpPr>
          <p:nvPr/>
        </p:nvGrpSpPr>
        <p:grpSpPr bwMode="auto">
          <a:xfrm>
            <a:off x="5638800" y="4876800"/>
            <a:ext cx="76200" cy="76200"/>
            <a:chOff x="2688" y="2976"/>
            <a:chExt cx="48" cy="48"/>
          </a:xfrm>
        </p:grpSpPr>
        <p:sp>
          <p:nvSpPr>
            <p:cNvPr id="9428" name="Line 212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29" name="Line 213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30" name="Group 214"/>
          <p:cNvGrpSpPr>
            <a:grpSpLocks/>
          </p:cNvGrpSpPr>
          <p:nvPr/>
        </p:nvGrpSpPr>
        <p:grpSpPr bwMode="auto">
          <a:xfrm>
            <a:off x="7162800" y="5105400"/>
            <a:ext cx="76200" cy="76200"/>
            <a:chOff x="2688" y="2976"/>
            <a:chExt cx="48" cy="48"/>
          </a:xfrm>
        </p:grpSpPr>
        <p:sp>
          <p:nvSpPr>
            <p:cNvPr id="9431" name="Line 215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32" name="Line 216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33" name="Group 217"/>
          <p:cNvGrpSpPr>
            <a:grpSpLocks/>
          </p:cNvGrpSpPr>
          <p:nvPr/>
        </p:nvGrpSpPr>
        <p:grpSpPr bwMode="auto">
          <a:xfrm>
            <a:off x="7924800" y="4419600"/>
            <a:ext cx="76200" cy="76200"/>
            <a:chOff x="2688" y="2976"/>
            <a:chExt cx="48" cy="48"/>
          </a:xfrm>
        </p:grpSpPr>
        <p:sp>
          <p:nvSpPr>
            <p:cNvPr id="9434" name="Line 218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35" name="Line 219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36" name="Group 220"/>
          <p:cNvGrpSpPr>
            <a:grpSpLocks/>
          </p:cNvGrpSpPr>
          <p:nvPr/>
        </p:nvGrpSpPr>
        <p:grpSpPr bwMode="auto">
          <a:xfrm>
            <a:off x="7162800" y="3733800"/>
            <a:ext cx="76200" cy="76200"/>
            <a:chOff x="2688" y="2976"/>
            <a:chExt cx="48" cy="48"/>
          </a:xfrm>
        </p:grpSpPr>
        <p:sp>
          <p:nvSpPr>
            <p:cNvPr id="9437" name="Line 221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38" name="Line 222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39" name="Group 223"/>
          <p:cNvGrpSpPr>
            <a:grpSpLocks/>
          </p:cNvGrpSpPr>
          <p:nvPr/>
        </p:nvGrpSpPr>
        <p:grpSpPr bwMode="auto">
          <a:xfrm>
            <a:off x="7924800" y="3048000"/>
            <a:ext cx="76200" cy="76200"/>
            <a:chOff x="2688" y="2976"/>
            <a:chExt cx="48" cy="48"/>
          </a:xfrm>
        </p:grpSpPr>
        <p:sp>
          <p:nvSpPr>
            <p:cNvPr id="9440" name="Line 224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41" name="Line 225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42" name="Group 226"/>
          <p:cNvGrpSpPr>
            <a:grpSpLocks/>
          </p:cNvGrpSpPr>
          <p:nvPr/>
        </p:nvGrpSpPr>
        <p:grpSpPr bwMode="auto">
          <a:xfrm>
            <a:off x="7162800" y="6477000"/>
            <a:ext cx="76200" cy="76200"/>
            <a:chOff x="2688" y="2976"/>
            <a:chExt cx="48" cy="48"/>
          </a:xfrm>
        </p:grpSpPr>
        <p:sp>
          <p:nvSpPr>
            <p:cNvPr id="9443" name="Line 227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44" name="Line 228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9445" name="Group 229"/>
          <p:cNvGrpSpPr>
            <a:grpSpLocks/>
          </p:cNvGrpSpPr>
          <p:nvPr/>
        </p:nvGrpSpPr>
        <p:grpSpPr bwMode="auto">
          <a:xfrm>
            <a:off x="7924800" y="5791200"/>
            <a:ext cx="76200" cy="76200"/>
            <a:chOff x="2688" y="2976"/>
            <a:chExt cx="48" cy="48"/>
          </a:xfrm>
        </p:grpSpPr>
        <p:sp>
          <p:nvSpPr>
            <p:cNvPr id="9446" name="Line 230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447" name="Line 231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9448" name="Text Box 232"/>
          <p:cNvSpPr txBox="1">
            <a:spLocks noChangeArrowheads="1"/>
          </p:cNvSpPr>
          <p:nvPr/>
        </p:nvSpPr>
        <p:spPr bwMode="auto">
          <a:xfrm>
            <a:off x="2819400" y="1676400"/>
            <a:ext cx="2330450" cy="10795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 u="sng"/>
              <a:t>Comp/Node value legend:</a:t>
            </a:r>
            <a:endParaRPr lang="nb-NO" altLang="he-IL" sz="1600"/>
          </a:p>
          <a:p>
            <a:r>
              <a:rPr lang="nb-NO" altLang="he-IL" sz="1600"/>
              <a:t>dark (blue) with x =&gt; +1</a:t>
            </a:r>
          </a:p>
          <a:p>
            <a:r>
              <a:rPr lang="nb-NO" altLang="he-IL" sz="1600"/>
              <a:t>dark (red) w/o x =&gt; -1</a:t>
            </a:r>
          </a:p>
          <a:p>
            <a:r>
              <a:rPr lang="nb-NO" altLang="he-IL" sz="1600"/>
              <a:t>light (green) =&gt; 0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373112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3810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Hetero-Associative Memory</a:t>
            </a:r>
            <a:endParaRPr lang="nb-NO" altLang="he-IL"/>
          </a:p>
        </p:txBody>
      </p:sp>
      <p:grpSp>
        <p:nvGrpSpPr>
          <p:cNvPr id="11386" name="Group 122"/>
          <p:cNvGrpSpPr>
            <a:grpSpLocks/>
          </p:cNvGrpSpPr>
          <p:nvPr/>
        </p:nvGrpSpPr>
        <p:grpSpPr bwMode="auto">
          <a:xfrm>
            <a:off x="533400" y="1524000"/>
            <a:ext cx="457200" cy="1371600"/>
            <a:chOff x="336" y="960"/>
            <a:chExt cx="288" cy="864"/>
          </a:xfrm>
        </p:grpSpPr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336" y="1536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271" name="Rectangle 7"/>
            <p:cNvSpPr>
              <a:spLocks noChangeArrowheads="1"/>
            </p:cNvSpPr>
            <p:nvPr/>
          </p:nvSpPr>
          <p:spPr bwMode="auto">
            <a:xfrm>
              <a:off x="336" y="1248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grpSp>
          <p:nvGrpSpPr>
            <p:cNvPr id="11384" name="Group 120"/>
            <p:cNvGrpSpPr>
              <a:grpSpLocks/>
            </p:cNvGrpSpPr>
            <p:nvPr/>
          </p:nvGrpSpPr>
          <p:grpSpPr bwMode="auto">
            <a:xfrm>
              <a:off x="336" y="960"/>
              <a:ext cx="288" cy="288"/>
              <a:chOff x="816" y="1104"/>
              <a:chExt cx="288" cy="288"/>
            </a:xfrm>
          </p:grpSpPr>
          <p:sp>
            <p:nvSpPr>
              <p:cNvPr id="11268" name="Rectangle 4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288" cy="28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1272" name="Text Box 8"/>
              <p:cNvSpPr txBox="1">
                <a:spLocks noChangeArrowheads="1"/>
              </p:cNvSpPr>
              <p:nvPr/>
            </p:nvSpPr>
            <p:spPr bwMode="auto">
              <a:xfrm>
                <a:off x="854" y="1143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600"/>
                  <a:t>1</a:t>
                </a:r>
                <a:endParaRPr lang="nb-NO" altLang="he-IL"/>
              </a:p>
            </p:txBody>
          </p:sp>
        </p:grpSp>
        <p:sp>
          <p:nvSpPr>
            <p:cNvPr id="11273" name="Text Box 9"/>
            <p:cNvSpPr txBox="1">
              <a:spLocks noChangeArrowheads="1"/>
            </p:cNvSpPr>
            <p:nvPr/>
          </p:nvSpPr>
          <p:spPr bwMode="auto">
            <a:xfrm>
              <a:off x="384" y="1584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3</a:t>
              </a:r>
              <a:endParaRPr lang="nb-NO" altLang="he-IL"/>
            </a:p>
          </p:txBody>
        </p:sp>
        <p:sp>
          <p:nvSpPr>
            <p:cNvPr id="11275" name="Text Box 11"/>
            <p:cNvSpPr txBox="1">
              <a:spLocks noChangeArrowheads="1"/>
            </p:cNvSpPr>
            <p:nvPr/>
          </p:nvSpPr>
          <p:spPr bwMode="auto">
            <a:xfrm>
              <a:off x="384" y="1296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2</a:t>
              </a:r>
              <a:endParaRPr lang="nb-NO" altLang="he-IL"/>
            </a:p>
          </p:txBody>
        </p:sp>
      </p:grpSp>
      <p:grpSp>
        <p:nvGrpSpPr>
          <p:cNvPr id="11385" name="Group 121"/>
          <p:cNvGrpSpPr>
            <a:grpSpLocks/>
          </p:cNvGrpSpPr>
          <p:nvPr/>
        </p:nvGrpSpPr>
        <p:grpSpPr bwMode="auto">
          <a:xfrm>
            <a:off x="1752600" y="1752600"/>
            <a:ext cx="457200" cy="914400"/>
            <a:chOff x="1104" y="1104"/>
            <a:chExt cx="288" cy="576"/>
          </a:xfrm>
        </p:grpSpPr>
        <p:sp>
          <p:nvSpPr>
            <p:cNvPr id="11269" name="Rectangle 5"/>
            <p:cNvSpPr>
              <a:spLocks noChangeArrowheads="1"/>
            </p:cNvSpPr>
            <p:nvPr/>
          </p:nvSpPr>
          <p:spPr bwMode="auto">
            <a:xfrm>
              <a:off x="1104" y="139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274" name="Text Box 10"/>
            <p:cNvSpPr txBox="1">
              <a:spLocks noChangeArrowheads="1"/>
            </p:cNvSpPr>
            <p:nvPr/>
          </p:nvSpPr>
          <p:spPr bwMode="auto">
            <a:xfrm>
              <a:off x="1152" y="144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b</a:t>
              </a:r>
              <a:endParaRPr lang="nb-NO" altLang="he-IL"/>
            </a:p>
          </p:txBody>
        </p:sp>
        <p:sp>
          <p:nvSpPr>
            <p:cNvPr id="11280" name="Rectangle 16"/>
            <p:cNvSpPr>
              <a:spLocks noChangeArrowheads="1"/>
            </p:cNvSpPr>
            <p:nvPr/>
          </p:nvSpPr>
          <p:spPr bwMode="auto">
            <a:xfrm flipH="1">
              <a:off x="1104" y="1104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281" name="Text Box 17"/>
            <p:cNvSpPr txBox="1">
              <a:spLocks noChangeArrowheads="1"/>
            </p:cNvSpPr>
            <p:nvPr/>
          </p:nvSpPr>
          <p:spPr bwMode="auto">
            <a:xfrm>
              <a:off x="1152" y="1152"/>
              <a:ext cx="17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a</a:t>
              </a:r>
              <a:endParaRPr lang="nb-NO" altLang="he-IL"/>
            </a:p>
          </p:txBody>
        </p:sp>
      </p:grp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914400" y="5410200"/>
            <a:ext cx="38163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nb-NO" altLang="he-IL" sz="1800"/>
              <a:t> 1 node per pattern unit for X &amp; Y</a:t>
            </a:r>
          </a:p>
          <a:p>
            <a:pPr>
              <a:buFontTx/>
              <a:buChar char="•"/>
            </a:pPr>
            <a:r>
              <a:rPr lang="nb-NO" altLang="he-IL" sz="1800"/>
              <a:t> Full inter-layer connection</a:t>
            </a:r>
          </a:p>
          <a:p>
            <a:pPr>
              <a:buFontTx/>
              <a:buChar char="•"/>
            </a:pPr>
            <a:r>
              <a:rPr lang="nb-NO" altLang="he-IL" sz="1800"/>
              <a:t> Weights = avg correlations across</a:t>
            </a:r>
          </a:p>
          <a:p>
            <a:r>
              <a:rPr lang="nb-NO" altLang="he-IL" sz="1800"/>
              <a:t>   all patterns of the corresponding units</a:t>
            </a:r>
            <a:endParaRPr lang="nb-NO" altLang="he-IL"/>
          </a:p>
        </p:txBody>
      </p:sp>
      <p:sp>
        <p:nvSpPr>
          <p:cNvPr id="11288" name="Oval 24"/>
          <p:cNvSpPr>
            <a:spLocks noChangeArrowheads="1"/>
          </p:cNvSpPr>
          <p:nvPr/>
        </p:nvSpPr>
        <p:spPr bwMode="auto">
          <a:xfrm>
            <a:off x="1371600" y="3581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11289" name="Oval 25"/>
          <p:cNvSpPr>
            <a:spLocks noChangeArrowheads="1"/>
          </p:cNvSpPr>
          <p:nvPr/>
        </p:nvSpPr>
        <p:spPr bwMode="auto">
          <a:xfrm>
            <a:off x="1371600" y="48387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11290" name="Oval 26"/>
          <p:cNvSpPr>
            <a:spLocks noChangeArrowheads="1"/>
          </p:cNvSpPr>
          <p:nvPr/>
        </p:nvSpPr>
        <p:spPr bwMode="auto">
          <a:xfrm>
            <a:off x="3429000" y="4648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nb-NO" altLang="he-IL" sz="1600"/>
              <a:t>b</a:t>
            </a:r>
            <a:endParaRPr lang="nb-NO" altLang="he-IL"/>
          </a:p>
        </p:txBody>
      </p:sp>
      <p:sp>
        <p:nvSpPr>
          <p:cNvPr id="11291" name="Oval 27"/>
          <p:cNvSpPr>
            <a:spLocks noChangeArrowheads="1"/>
          </p:cNvSpPr>
          <p:nvPr/>
        </p:nvSpPr>
        <p:spPr bwMode="auto">
          <a:xfrm>
            <a:off x="1371600" y="4191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11292" name="Line 28"/>
          <p:cNvSpPr>
            <a:spLocks noChangeShapeType="1"/>
          </p:cNvSpPr>
          <p:nvPr/>
        </p:nvSpPr>
        <p:spPr bwMode="auto">
          <a:xfrm flipV="1">
            <a:off x="1752600" y="4191000"/>
            <a:ext cx="16764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293" name="Line 29"/>
          <p:cNvSpPr>
            <a:spLocks noChangeShapeType="1"/>
          </p:cNvSpPr>
          <p:nvPr/>
        </p:nvSpPr>
        <p:spPr bwMode="auto">
          <a:xfrm>
            <a:off x="1752600" y="3733800"/>
            <a:ext cx="1676400" cy="304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294" name="Line 30"/>
          <p:cNvSpPr>
            <a:spLocks noChangeShapeType="1"/>
          </p:cNvSpPr>
          <p:nvPr/>
        </p:nvSpPr>
        <p:spPr bwMode="auto">
          <a:xfrm flipV="1">
            <a:off x="1752600" y="5029200"/>
            <a:ext cx="1752600" cy="76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295" name="Line 31"/>
          <p:cNvSpPr>
            <a:spLocks noChangeShapeType="1"/>
          </p:cNvSpPr>
          <p:nvPr/>
        </p:nvSpPr>
        <p:spPr bwMode="auto">
          <a:xfrm flipV="1">
            <a:off x="1752600" y="4267200"/>
            <a:ext cx="1676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296" name="Line 32"/>
          <p:cNvSpPr>
            <a:spLocks noChangeShapeType="1"/>
          </p:cNvSpPr>
          <p:nvPr/>
        </p:nvSpPr>
        <p:spPr bwMode="auto">
          <a:xfrm>
            <a:off x="1752600" y="44196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304" name="Text Box 40"/>
          <p:cNvSpPr txBox="1">
            <a:spLocks noChangeArrowheads="1"/>
          </p:cNvSpPr>
          <p:nvPr/>
        </p:nvSpPr>
        <p:spPr bwMode="auto">
          <a:xfrm>
            <a:off x="152400" y="1066800"/>
            <a:ext cx="54498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1. Hetero-Associative Patterns (Pairs) to Remember</a:t>
            </a:r>
            <a:endParaRPr lang="nb-NO" altLang="he-IL"/>
          </a:p>
        </p:txBody>
      </p:sp>
      <p:sp>
        <p:nvSpPr>
          <p:cNvPr id="11305" name="Text Box 41"/>
          <p:cNvSpPr txBox="1">
            <a:spLocks noChangeArrowheads="1"/>
          </p:cNvSpPr>
          <p:nvPr/>
        </p:nvSpPr>
        <p:spPr bwMode="auto">
          <a:xfrm>
            <a:off x="152400" y="3048000"/>
            <a:ext cx="4027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2. Distributed Storage of All Patterns:</a:t>
            </a:r>
            <a:endParaRPr lang="nb-NO" altLang="he-IL"/>
          </a:p>
        </p:txBody>
      </p:sp>
      <p:sp>
        <p:nvSpPr>
          <p:cNvPr id="11338" name="Text Box 74"/>
          <p:cNvSpPr txBox="1">
            <a:spLocks noChangeArrowheads="1"/>
          </p:cNvSpPr>
          <p:nvPr/>
        </p:nvSpPr>
        <p:spPr bwMode="auto">
          <a:xfrm>
            <a:off x="6172200" y="1143000"/>
            <a:ext cx="1603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/>
              <a:t>3. Retrieval</a:t>
            </a:r>
          </a:p>
        </p:txBody>
      </p:sp>
      <p:sp>
        <p:nvSpPr>
          <p:cNvPr id="11387" name="Line 123"/>
          <p:cNvSpPr>
            <a:spLocks noChangeShapeType="1"/>
          </p:cNvSpPr>
          <p:nvPr/>
        </p:nvSpPr>
        <p:spPr bwMode="auto">
          <a:xfrm>
            <a:off x="1066800" y="22098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389" name="Rectangle 125"/>
          <p:cNvSpPr>
            <a:spLocks noChangeArrowheads="1"/>
          </p:cNvSpPr>
          <p:nvPr/>
        </p:nvSpPr>
        <p:spPr bwMode="auto">
          <a:xfrm>
            <a:off x="2743200" y="24384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390" name="Rectangle 126"/>
          <p:cNvSpPr>
            <a:spLocks noChangeArrowheads="1"/>
          </p:cNvSpPr>
          <p:nvPr/>
        </p:nvSpPr>
        <p:spPr bwMode="auto">
          <a:xfrm>
            <a:off x="2743200" y="19812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1391" name="Group 127"/>
          <p:cNvGrpSpPr>
            <a:grpSpLocks/>
          </p:cNvGrpSpPr>
          <p:nvPr/>
        </p:nvGrpSpPr>
        <p:grpSpPr bwMode="auto">
          <a:xfrm>
            <a:off x="2743200" y="1524000"/>
            <a:ext cx="457200" cy="457200"/>
            <a:chOff x="816" y="1104"/>
            <a:chExt cx="288" cy="288"/>
          </a:xfrm>
        </p:grpSpPr>
        <p:sp>
          <p:nvSpPr>
            <p:cNvPr id="11392" name="Rectangle 128"/>
            <p:cNvSpPr>
              <a:spLocks noChangeArrowheads="1"/>
            </p:cNvSpPr>
            <p:nvPr/>
          </p:nvSpPr>
          <p:spPr bwMode="auto">
            <a:xfrm>
              <a:off x="816" y="1104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393" name="Text Box 129"/>
            <p:cNvSpPr txBox="1">
              <a:spLocks noChangeArrowheads="1"/>
            </p:cNvSpPr>
            <p:nvPr/>
          </p:nvSpPr>
          <p:spPr bwMode="auto">
            <a:xfrm>
              <a:off x="854" y="1143"/>
              <a:ext cx="186" cy="21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1</a:t>
              </a:r>
              <a:endParaRPr lang="nb-NO" altLang="he-IL"/>
            </a:p>
          </p:txBody>
        </p:sp>
      </p:grpSp>
      <p:sp>
        <p:nvSpPr>
          <p:cNvPr id="11394" name="Text Box 130"/>
          <p:cNvSpPr txBox="1">
            <a:spLocks noChangeArrowheads="1"/>
          </p:cNvSpPr>
          <p:nvPr/>
        </p:nvSpPr>
        <p:spPr bwMode="auto">
          <a:xfrm>
            <a:off x="2819400" y="2514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11395" name="Text Box 131"/>
          <p:cNvSpPr txBox="1">
            <a:spLocks noChangeArrowheads="1"/>
          </p:cNvSpPr>
          <p:nvPr/>
        </p:nvSpPr>
        <p:spPr bwMode="auto">
          <a:xfrm>
            <a:off x="2819400" y="20574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11397" name="Rectangle 133"/>
          <p:cNvSpPr>
            <a:spLocks noChangeArrowheads="1"/>
          </p:cNvSpPr>
          <p:nvPr/>
        </p:nvSpPr>
        <p:spPr bwMode="auto">
          <a:xfrm>
            <a:off x="3962400" y="22860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398" name="Text Box 134"/>
          <p:cNvSpPr txBox="1">
            <a:spLocks noChangeArrowheads="1"/>
          </p:cNvSpPr>
          <p:nvPr/>
        </p:nvSpPr>
        <p:spPr bwMode="auto">
          <a:xfrm>
            <a:off x="4038600" y="2362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b</a:t>
            </a:r>
            <a:endParaRPr lang="nb-NO" altLang="he-IL"/>
          </a:p>
        </p:txBody>
      </p:sp>
      <p:sp>
        <p:nvSpPr>
          <p:cNvPr id="11399" name="Rectangle 135"/>
          <p:cNvSpPr>
            <a:spLocks noChangeArrowheads="1"/>
          </p:cNvSpPr>
          <p:nvPr/>
        </p:nvSpPr>
        <p:spPr bwMode="auto">
          <a:xfrm flipH="1">
            <a:off x="3962400" y="18288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400" name="Text Box 136"/>
          <p:cNvSpPr txBox="1">
            <a:spLocks noChangeArrowheads="1"/>
          </p:cNvSpPr>
          <p:nvPr/>
        </p:nvSpPr>
        <p:spPr bwMode="auto">
          <a:xfrm>
            <a:off x="4038600" y="19050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a</a:t>
            </a:r>
            <a:endParaRPr lang="nb-NO" altLang="he-IL"/>
          </a:p>
        </p:txBody>
      </p:sp>
      <p:sp>
        <p:nvSpPr>
          <p:cNvPr id="11401" name="Line 137"/>
          <p:cNvSpPr>
            <a:spLocks noChangeShapeType="1"/>
          </p:cNvSpPr>
          <p:nvPr/>
        </p:nvSpPr>
        <p:spPr bwMode="auto">
          <a:xfrm>
            <a:off x="3276600" y="22860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402" name="Oval 138"/>
          <p:cNvSpPr>
            <a:spLocks noChangeArrowheads="1"/>
          </p:cNvSpPr>
          <p:nvPr/>
        </p:nvSpPr>
        <p:spPr bwMode="auto">
          <a:xfrm>
            <a:off x="3429000" y="3886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nb-NO" altLang="he-IL" sz="1600"/>
              <a:t>a</a:t>
            </a:r>
            <a:endParaRPr lang="nb-NO" altLang="he-IL"/>
          </a:p>
        </p:txBody>
      </p:sp>
      <p:sp>
        <p:nvSpPr>
          <p:cNvPr id="11403" name="Line 139"/>
          <p:cNvSpPr>
            <a:spLocks noChangeShapeType="1"/>
          </p:cNvSpPr>
          <p:nvPr/>
        </p:nvSpPr>
        <p:spPr bwMode="auto">
          <a:xfrm>
            <a:off x="1752600" y="3886200"/>
            <a:ext cx="1676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404" name="Line 140"/>
          <p:cNvSpPr>
            <a:spLocks noChangeShapeType="1"/>
          </p:cNvSpPr>
          <p:nvPr/>
        </p:nvSpPr>
        <p:spPr bwMode="auto">
          <a:xfrm>
            <a:off x="152400" y="4114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405" name="Text Box 141"/>
          <p:cNvSpPr txBox="1">
            <a:spLocks noChangeArrowheads="1"/>
          </p:cNvSpPr>
          <p:nvPr/>
        </p:nvSpPr>
        <p:spPr bwMode="auto">
          <a:xfrm>
            <a:off x="441325" y="37719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11406" name="Line 142"/>
          <p:cNvSpPr>
            <a:spLocks noChangeShapeType="1"/>
          </p:cNvSpPr>
          <p:nvPr/>
        </p:nvSpPr>
        <p:spPr bwMode="auto">
          <a:xfrm>
            <a:off x="152400" y="4648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407" name="Text Box 143"/>
          <p:cNvSpPr txBox="1">
            <a:spLocks noChangeArrowheads="1"/>
          </p:cNvSpPr>
          <p:nvPr/>
        </p:nvSpPr>
        <p:spPr bwMode="auto">
          <a:xfrm>
            <a:off x="457200" y="4267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</a:t>
            </a:r>
            <a:endParaRPr lang="nb-NO" altLang="he-IL"/>
          </a:p>
        </p:txBody>
      </p:sp>
      <p:grpSp>
        <p:nvGrpSpPr>
          <p:cNvPr id="11442" name="Group 178"/>
          <p:cNvGrpSpPr>
            <a:grpSpLocks/>
          </p:cNvGrpSpPr>
          <p:nvPr/>
        </p:nvGrpSpPr>
        <p:grpSpPr bwMode="auto">
          <a:xfrm>
            <a:off x="5334000" y="1676400"/>
            <a:ext cx="1524000" cy="1143000"/>
            <a:chOff x="3558" y="2218"/>
            <a:chExt cx="960" cy="720"/>
          </a:xfrm>
        </p:grpSpPr>
        <p:sp>
          <p:nvSpPr>
            <p:cNvPr id="11431" name="Oval 167"/>
            <p:cNvSpPr>
              <a:spLocks noChangeArrowheads="1"/>
            </p:cNvSpPr>
            <p:nvPr/>
          </p:nvSpPr>
          <p:spPr bwMode="auto">
            <a:xfrm>
              <a:off x="3558" y="2218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32" name="Oval 168"/>
            <p:cNvSpPr>
              <a:spLocks noChangeArrowheads="1"/>
            </p:cNvSpPr>
            <p:nvPr/>
          </p:nvSpPr>
          <p:spPr bwMode="auto">
            <a:xfrm>
              <a:off x="3558" y="2771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33" name="Oval 169"/>
            <p:cNvSpPr>
              <a:spLocks noChangeArrowheads="1"/>
            </p:cNvSpPr>
            <p:nvPr/>
          </p:nvSpPr>
          <p:spPr bwMode="auto">
            <a:xfrm>
              <a:off x="4368" y="2687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34" name="Oval 170"/>
            <p:cNvSpPr>
              <a:spLocks noChangeArrowheads="1"/>
            </p:cNvSpPr>
            <p:nvPr/>
          </p:nvSpPr>
          <p:spPr bwMode="auto">
            <a:xfrm>
              <a:off x="3558" y="2486"/>
              <a:ext cx="150" cy="1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35" name="Line 171"/>
            <p:cNvSpPr>
              <a:spLocks noChangeShapeType="1"/>
            </p:cNvSpPr>
            <p:nvPr/>
          </p:nvSpPr>
          <p:spPr bwMode="auto">
            <a:xfrm flipV="1">
              <a:off x="3708" y="2486"/>
              <a:ext cx="660" cy="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36" name="Line 172"/>
            <p:cNvSpPr>
              <a:spLocks noChangeShapeType="1"/>
            </p:cNvSpPr>
            <p:nvPr/>
          </p:nvSpPr>
          <p:spPr bwMode="auto">
            <a:xfrm>
              <a:off x="3708" y="2285"/>
              <a:ext cx="660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37" name="Line 173"/>
            <p:cNvSpPr>
              <a:spLocks noChangeShapeType="1"/>
            </p:cNvSpPr>
            <p:nvPr/>
          </p:nvSpPr>
          <p:spPr bwMode="auto">
            <a:xfrm flipV="1">
              <a:off x="3708" y="2854"/>
              <a:ext cx="690" cy="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38" name="Line 174"/>
            <p:cNvSpPr>
              <a:spLocks noChangeShapeType="1"/>
            </p:cNvSpPr>
            <p:nvPr/>
          </p:nvSpPr>
          <p:spPr bwMode="auto">
            <a:xfrm flipV="1">
              <a:off x="3708" y="2519"/>
              <a:ext cx="660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39" name="Line 175"/>
            <p:cNvSpPr>
              <a:spLocks noChangeShapeType="1"/>
            </p:cNvSpPr>
            <p:nvPr/>
          </p:nvSpPr>
          <p:spPr bwMode="auto">
            <a:xfrm>
              <a:off x="3708" y="2586"/>
              <a:ext cx="63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40" name="Oval 176"/>
            <p:cNvSpPr>
              <a:spLocks noChangeArrowheads="1"/>
            </p:cNvSpPr>
            <p:nvPr/>
          </p:nvSpPr>
          <p:spPr bwMode="auto">
            <a:xfrm>
              <a:off x="4368" y="2352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41" name="Line 177"/>
            <p:cNvSpPr>
              <a:spLocks noChangeShapeType="1"/>
            </p:cNvSpPr>
            <p:nvPr/>
          </p:nvSpPr>
          <p:spPr bwMode="auto">
            <a:xfrm>
              <a:off x="3708" y="2352"/>
              <a:ext cx="66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15" name="Group 251"/>
          <p:cNvGrpSpPr>
            <a:grpSpLocks/>
          </p:cNvGrpSpPr>
          <p:nvPr/>
        </p:nvGrpSpPr>
        <p:grpSpPr bwMode="auto">
          <a:xfrm>
            <a:off x="5410200" y="3505200"/>
            <a:ext cx="1524000" cy="1143000"/>
            <a:chOff x="3408" y="2208"/>
            <a:chExt cx="960" cy="720"/>
          </a:xfrm>
        </p:grpSpPr>
        <p:sp>
          <p:nvSpPr>
            <p:cNvPr id="11444" name="Oval 180"/>
            <p:cNvSpPr>
              <a:spLocks noChangeArrowheads="1"/>
            </p:cNvSpPr>
            <p:nvPr/>
          </p:nvSpPr>
          <p:spPr bwMode="auto">
            <a:xfrm>
              <a:off x="3408" y="2208"/>
              <a:ext cx="150" cy="1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45" name="Oval 181"/>
            <p:cNvSpPr>
              <a:spLocks noChangeArrowheads="1"/>
            </p:cNvSpPr>
            <p:nvPr/>
          </p:nvSpPr>
          <p:spPr bwMode="auto">
            <a:xfrm>
              <a:off x="3408" y="2761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46" name="Oval 182"/>
            <p:cNvSpPr>
              <a:spLocks noChangeArrowheads="1"/>
            </p:cNvSpPr>
            <p:nvPr/>
          </p:nvSpPr>
          <p:spPr bwMode="auto">
            <a:xfrm>
              <a:off x="4218" y="2677"/>
              <a:ext cx="150" cy="1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47" name="Oval 183"/>
            <p:cNvSpPr>
              <a:spLocks noChangeArrowheads="1"/>
            </p:cNvSpPr>
            <p:nvPr/>
          </p:nvSpPr>
          <p:spPr bwMode="auto">
            <a:xfrm>
              <a:off x="3408" y="2476"/>
              <a:ext cx="150" cy="1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48" name="Line 184"/>
            <p:cNvSpPr>
              <a:spLocks noChangeShapeType="1"/>
            </p:cNvSpPr>
            <p:nvPr/>
          </p:nvSpPr>
          <p:spPr bwMode="auto">
            <a:xfrm flipV="1">
              <a:off x="3558" y="2476"/>
              <a:ext cx="660" cy="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49" name="Line 185"/>
            <p:cNvSpPr>
              <a:spLocks noChangeShapeType="1"/>
            </p:cNvSpPr>
            <p:nvPr/>
          </p:nvSpPr>
          <p:spPr bwMode="auto">
            <a:xfrm>
              <a:off x="3558" y="2275"/>
              <a:ext cx="660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50" name="Line 186"/>
            <p:cNvSpPr>
              <a:spLocks noChangeShapeType="1"/>
            </p:cNvSpPr>
            <p:nvPr/>
          </p:nvSpPr>
          <p:spPr bwMode="auto">
            <a:xfrm flipV="1">
              <a:off x="3558" y="2844"/>
              <a:ext cx="690" cy="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51" name="Line 187"/>
            <p:cNvSpPr>
              <a:spLocks noChangeShapeType="1"/>
            </p:cNvSpPr>
            <p:nvPr/>
          </p:nvSpPr>
          <p:spPr bwMode="auto">
            <a:xfrm flipV="1">
              <a:off x="3558" y="2509"/>
              <a:ext cx="660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52" name="Line 188"/>
            <p:cNvSpPr>
              <a:spLocks noChangeShapeType="1"/>
            </p:cNvSpPr>
            <p:nvPr/>
          </p:nvSpPr>
          <p:spPr bwMode="auto">
            <a:xfrm>
              <a:off x="3558" y="2576"/>
              <a:ext cx="63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53" name="Oval 189"/>
            <p:cNvSpPr>
              <a:spLocks noChangeArrowheads="1"/>
            </p:cNvSpPr>
            <p:nvPr/>
          </p:nvSpPr>
          <p:spPr bwMode="auto">
            <a:xfrm>
              <a:off x="4218" y="2342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54" name="Line 190"/>
            <p:cNvSpPr>
              <a:spLocks noChangeShapeType="1"/>
            </p:cNvSpPr>
            <p:nvPr/>
          </p:nvSpPr>
          <p:spPr bwMode="auto">
            <a:xfrm>
              <a:off x="3558" y="2342"/>
              <a:ext cx="66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478" name="Group 214"/>
          <p:cNvGrpSpPr>
            <a:grpSpLocks/>
          </p:cNvGrpSpPr>
          <p:nvPr/>
        </p:nvGrpSpPr>
        <p:grpSpPr bwMode="auto">
          <a:xfrm>
            <a:off x="7391400" y="2743200"/>
            <a:ext cx="1524000" cy="1143000"/>
            <a:chOff x="4560" y="1824"/>
            <a:chExt cx="960" cy="720"/>
          </a:xfrm>
        </p:grpSpPr>
        <p:sp>
          <p:nvSpPr>
            <p:cNvPr id="11479" name="Oval 215"/>
            <p:cNvSpPr>
              <a:spLocks noChangeArrowheads="1"/>
            </p:cNvSpPr>
            <p:nvPr/>
          </p:nvSpPr>
          <p:spPr bwMode="auto">
            <a:xfrm>
              <a:off x="4560" y="1824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80" name="Oval 216"/>
            <p:cNvSpPr>
              <a:spLocks noChangeArrowheads="1"/>
            </p:cNvSpPr>
            <p:nvPr/>
          </p:nvSpPr>
          <p:spPr bwMode="auto">
            <a:xfrm>
              <a:off x="4560" y="2377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81" name="Oval 217"/>
            <p:cNvSpPr>
              <a:spLocks noChangeArrowheads="1"/>
            </p:cNvSpPr>
            <p:nvPr/>
          </p:nvSpPr>
          <p:spPr bwMode="auto">
            <a:xfrm>
              <a:off x="5370" y="2293"/>
              <a:ext cx="150" cy="1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82" name="Oval 218"/>
            <p:cNvSpPr>
              <a:spLocks noChangeArrowheads="1"/>
            </p:cNvSpPr>
            <p:nvPr/>
          </p:nvSpPr>
          <p:spPr bwMode="auto">
            <a:xfrm>
              <a:off x="4560" y="2092"/>
              <a:ext cx="150" cy="1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83" name="Line 219"/>
            <p:cNvSpPr>
              <a:spLocks noChangeShapeType="1"/>
            </p:cNvSpPr>
            <p:nvPr/>
          </p:nvSpPr>
          <p:spPr bwMode="auto">
            <a:xfrm flipV="1">
              <a:off x="4710" y="2092"/>
              <a:ext cx="660" cy="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84" name="Line 220"/>
            <p:cNvSpPr>
              <a:spLocks noChangeShapeType="1"/>
            </p:cNvSpPr>
            <p:nvPr/>
          </p:nvSpPr>
          <p:spPr bwMode="auto">
            <a:xfrm>
              <a:off x="4710" y="1891"/>
              <a:ext cx="660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85" name="Line 221"/>
            <p:cNvSpPr>
              <a:spLocks noChangeShapeType="1"/>
            </p:cNvSpPr>
            <p:nvPr/>
          </p:nvSpPr>
          <p:spPr bwMode="auto">
            <a:xfrm flipV="1">
              <a:off x="4710" y="2460"/>
              <a:ext cx="690" cy="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86" name="Line 222"/>
            <p:cNvSpPr>
              <a:spLocks noChangeShapeType="1"/>
            </p:cNvSpPr>
            <p:nvPr/>
          </p:nvSpPr>
          <p:spPr bwMode="auto">
            <a:xfrm flipV="1">
              <a:off x="4710" y="2125"/>
              <a:ext cx="660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87" name="Line 223"/>
            <p:cNvSpPr>
              <a:spLocks noChangeShapeType="1"/>
            </p:cNvSpPr>
            <p:nvPr/>
          </p:nvSpPr>
          <p:spPr bwMode="auto">
            <a:xfrm>
              <a:off x="4710" y="2192"/>
              <a:ext cx="63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88" name="Oval 224"/>
            <p:cNvSpPr>
              <a:spLocks noChangeArrowheads="1"/>
            </p:cNvSpPr>
            <p:nvPr/>
          </p:nvSpPr>
          <p:spPr bwMode="auto">
            <a:xfrm>
              <a:off x="5370" y="1958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89" name="Line 225"/>
            <p:cNvSpPr>
              <a:spLocks noChangeShapeType="1"/>
            </p:cNvSpPr>
            <p:nvPr/>
          </p:nvSpPr>
          <p:spPr bwMode="auto">
            <a:xfrm>
              <a:off x="4710" y="1958"/>
              <a:ext cx="66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14" name="Group 250"/>
          <p:cNvGrpSpPr>
            <a:grpSpLocks/>
          </p:cNvGrpSpPr>
          <p:nvPr/>
        </p:nvGrpSpPr>
        <p:grpSpPr bwMode="auto">
          <a:xfrm>
            <a:off x="5486400" y="5486400"/>
            <a:ext cx="1524000" cy="1143000"/>
            <a:chOff x="3456" y="3456"/>
            <a:chExt cx="960" cy="720"/>
          </a:xfrm>
        </p:grpSpPr>
        <p:sp>
          <p:nvSpPr>
            <p:cNvPr id="11490" name="Oval 226"/>
            <p:cNvSpPr>
              <a:spLocks noChangeArrowheads="1"/>
            </p:cNvSpPr>
            <p:nvPr/>
          </p:nvSpPr>
          <p:spPr bwMode="auto">
            <a:xfrm>
              <a:off x="3456" y="3456"/>
              <a:ext cx="150" cy="1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91" name="Oval 227"/>
            <p:cNvSpPr>
              <a:spLocks noChangeArrowheads="1"/>
            </p:cNvSpPr>
            <p:nvPr/>
          </p:nvSpPr>
          <p:spPr bwMode="auto">
            <a:xfrm>
              <a:off x="3456" y="4009"/>
              <a:ext cx="150" cy="1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92" name="Oval 228"/>
            <p:cNvSpPr>
              <a:spLocks noChangeArrowheads="1"/>
            </p:cNvSpPr>
            <p:nvPr/>
          </p:nvSpPr>
          <p:spPr bwMode="auto">
            <a:xfrm>
              <a:off x="4266" y="3925"/>
              <a:ext cx="150" cy="1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93" name="Oval 229"/>
            <p:cNvSpPr>
              <a:spLocks noChangeArrowheads="1"/>
            </p:cNvSpPr>
            <p:nvPr/>
          </p:nvSpPr>
          <p:spPr bwMode="auto">
            <a:xfrm>
              <a:off x="3456" y="3724"/>
              <a:ext cx="150" cy="1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494" name="Line 230"/>
            <p:cNvSpPr>
              <a:spLocks noChangeShapeType="1"/>
            </p:cNvSpPr>
            <p:nvPr/>
          </p:nvSpPr>
          <p:spPr bwMode="auto">
            <a:xfrm flipV="1">
              <a:off x="3606" y="3724"/>
              <a:ext cx="660" cy="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95" name="Line 231"/>
            <p:cNvSpPr>
              <a:spLocks noChangeShapeType="1"/>
            </p:cNvSpPr>
            <p:nvPr/>
          </p:nvSpPr>
          <p:spPr bwMode="auto">
            <a:xfrm>
              <a:off x="3606" y="3523"/>
              <a:ext cx="660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96" name="Line 232"/>
            <p:cNvSpPr>
              <a:spLocks noChangeShapeType="1"/>
            </p:cNvSpPr>
            <p:nvPr/>
          </p:nvSpPr>
          <p:spPr bwMode="auto">
            <a:xfrm flipV="1">
              <a:off x="3606" y="4092"/>
              <a:ext cx="690" cy="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97" name="Line 233"/>
            <p:cNvSpPr>
              <a:spLocks noChangeShapeType="1"/>
            </p:cNvSpPr>
            <p:nvPr/>
          </p:nvSpPr>
          <p:spPr bwMode="auto">
            <a:xfrm flipV="1">
              <a:off x="3606" y="3757"/>
              <a:ext cx="660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98" name="Line 234"/>
            <p:cNvSpPr>
              <a:spLocks noChangeShapeType="1"/>
            </p:cNvSpPr>
            <p:nvPr/>
          </p:nvSpPr>
          <p:spPr bwMode="auto">
            <a:xfrm>
              <a:off x="3606" y="3824"/>
              <a:ext cx="63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499" name="Oval 235"/>
            <p:cNvSpPr>
              <a:spLocks noChangeArrowheads="1"/>
            </p:cNvSpPr>
            <p:nvPr/>
          </p:nvSpPr>
          <p:spPr bwMode="auto">
            <a:xfrm>
              <a:off x="4266" y="3590"/>
              <a:ext cx="150" cy="1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500" name="Line 236"/>
            <p:cNvSpPr>
              <a:spLocks noChangeShapeType="1"/>
            </p:cNvSpPr>
            <p:nvPr/>
          </p:nvSpPr>
          <p:spPr bwMode="auto">
            <a:xfrm>
              <a:off x="3606" y="3590"/>
              <a:ext cx="66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02" name="Group 238"/>
          <p:cNvGrpSpPr>
            <a:grpSpLocks/>
          </p:cNvGrpSpPr>
          <p:nvPr/>
        </p:nvGrpSpPr>
        <p:grpSpPr bwMode="auto">
          <a:xfrm>
            <a:off x="7543800" y="4832350"/>
            <a:ext cx="1524000" cy="1143000"/>
            <a:chOff x="4656" y="2948"/>
            <a:chExt cx="960" cy="720"/>
          </a:xfrm>
        </p:grpSpPr>
        <p:sp>
          <p:nvSpPr>
            <p:cNvPr id="11503" name="Oval 239"/>
            <p:cNvSpPr>
              <a:spLocks noChangeArrowheads="1"/>
            </p:cNvSpPr>
            <p:nvPr/>
          </p:nvSpPr>
          <p:spPr bwMode="auto">
            <a:xfrm>
              <a:off x="4656" y="2948"/>
              <a:ext cx="150" cy="1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504" name="Oval 240"/>
            <p:cNvSpPr>
              <a:spLocks noChangeArrowheads="1"/>
            </p:cNvSpPr>
            <p:nvPr/>
          </p:nvSpPr>
          <p:spPr bwMode="auto">
            <a:xfrm>
              <a:off x="4656" y="3501"/>
              <a:ext cx="150" cy="16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505" name="Oval 241"/>
            <p:cNvSpPr>
              <a:spLocks noChangeArrowheads="1"/>
            </p:cNvSpPr>
            <p:nvPr/>
          </p:nvSpPr>
          <p:spPr bwMode="auto">
            <a:xfrm>
              <a:off x="5466" y="3417"/>
              <a:ext cx="150" cy="1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506" name="Oval 242"/>
            <p:cNvSpPr>
              <a:spLocks noChangeArrowheads="1"/>
            </p:cNvSpPr>
            <p:nvPr/>
          </p:nvSpPr>
          <p:spPr bwMode="auto">
            <a:xfrm>
              <a:off x="4656" y="3216"/>
              <a:ext cx="150" cy="1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507" name="Line 243"/>
            <p:cNvSpPr>
              <a:spLocks noChangeShapeType="1"/>
            </p:cNvSpPr>
            <p:nvPr/>
          </p:nvSpPr>
          <p:spPr bwMode="auto">
            <a:xfrm flipV="1">
              <a:off x="4806" y="3216"/>
              <a:ext cx="660" cy="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08" name="Line 244"/>
            <p:cNvSpPr>
              <a:spLocks noChangeShapeType="1"/>
            </p:cNvSpPr>
            <p:nvPr/>
          </p:nvSpPr>
          <p:spPr bwMode="auto">
            <a:xfrm>
              <a:off x="4806" y="3015"/>
              <a:ext cx="660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09" name="Line 245"/>
            <p:cNvSpPr>
              <a:spLocks noChangeShapeType="1"/>
            </p:cNvSpPr>
            <p:nvPr/>
          </p:nvSpPr>
          <p:spPr bwMode="auto">
            <a:xfrm flipV="1">
              <a:off x="4806" y="3584"/>
              <a:ext cx="690" cy="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10" name="Line 246"/>
            <p:cNvSpPr>
              <a:spLocks noChangeShapeType="1"/>
            </p:cNvSpPr>
            <p:nvPr/>
          </p:nvSpPr>
          <p:spPr bwMode="auto">
            <a:xfrm flipV="1">
              <a:off x="4806" y="3249"/>
              <a:ext cx="660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11" name="Line 247"/>
            <p:cNvSpPr>
              <a:spLocks noChangeShapeType="1"/>
            </p:cNvSpPr>
            <p:nvPr/>
          </p:nvSpPr>
          <p:spPr bwMode="auto">
            <a:xfrm>
              <a:off x="4806" y="3316"/>
              <a:ext cx="63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12" name="Oval 248"/>
            <p:cNvSpPr>
              <a:spLocks noChangeArrowheads="1"/>
            </p:cNvSpPr>
            <p:nvPr/>
          </p:nvSpPr>
          <p:spPr bwMode="auto">
            <a:xfrm>
              <a:off x="5466" y="3082"/>
              <a:ext cx="150" cy="16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1513" name="Line 249"/>
            <p:cNvSpPr>
              <a:spLocks noChangeShapeType="1"/>
            </p:cNvSpPr>
            <p:nvPr/>
          </p:nvSpPr>
          <p:spPr bwMode="auto">
            <a:xfrm>
              <a:off x="4806" y="3082"/>
              <a:ext cx="66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1516" name="Line 252"/>
          <p:cNvSpPr>
            <a:spLocks noChangeShapeType="1"/>
          </p:cNvSpPr>
          <p:nvPr/>
        </p:nvSpPr>
        <p:spPr bwMode="auto">
          <a:xfrm>
            <a:off x="7010400" y="2209800"/>
            <a:ext cx="9906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517" name="Line 253"/>
          <p:cNvSpPr>
            <a:spLocks noChangeShapeType="1"/>
          </p:cNvSpPr>
          <p:nvPr/>
        </p:nvSpPr>
        <p:spPr bwMode="auto">
          <a:xfrm flipH="1">
            <a:off x="6324600" y="3276600"/>
            <a:ext cx="990600" cy="304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518" name="Line 254"/>
          <p:cNvSpPr>
            <a:spLocks noChangeShapeType="1"/>
          </p:cNvSpPr>
          <p:nvPr/>
        </p:nvSpPr>
        <p:spPr bwMode="auto">
          <a:xfrm>
            <a:off x="7086600" y="4191000"/>
            <a:ext cx="9906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1519" name="Line 255"/>
          <p:cNvSpPr>
            <a:spLocks noChangeShapeType="1"/>
          </p:cNvSpPr>
          <p:nvPr/>
        </p:nvSpPr>
        <p:spPr bwMode="auto">
          <a:xfrm flipH="1">
            <a:off x="6400800" y="5334000"/>
            <a:ext cx="990600" cy="304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1524" name="Group 260"/>
          <p:cNvGrpSpPr>
            <a:grpSpLocks/>
          </p:cNvGrpSpPr>
          <p:nvPr/>
        </p:nvGrpSpPr>
        <p:grpSpPr bwMode="auto">
          <a:xfrm>
            <a:off x="838200" y="2057400"/>
            <a:ext cx="76200" cy="76200"/>
            <a:chOff x="2688" y="2976"/>
            <a:chExt cx="48" cy="48"/>
          </a:xfrm>
        </p:grpSpPr>
        <p:sp>
          <p:nvSpPr>
            <p:cNvPr id="11522" name="Line 258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23" name="Line 259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25" name="Group 261"/>
          <p:cNvGrpSpPr>
            <a:grpSpLocks/>
          </p:cNvGrpSpPr>
          <p:nvPr/>
        </p:nvGrpSpPr>
        <p:grpSpPr bwMode="auto">
          <a:xfrm>
            <a:off x="3048000" y="1600200"/>
            <a:ext cx="76200" cy="76200"/>
            <a:chOff x="2688" y="2976"/>
            <a:chExt cx="48" cy="48"/>
          </a:xfrm>
        </p:grpSpPr>
        <p:sp>
          <p:nvSpPr>
            <p:cNvPr id="11526" name="Line 262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27" name="Line 263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28" name="Group 264"/>
          <p:cNvGrpSpPr>
            <a:grpSpLocks/>
          </p:cNvGrpSpPr>
          <p:nvPr/>
        </p:nvGrpSpPr>
        <p:grpSpPr bwMode="auto">
          <a:xfrm>
            <a:off x="2057400" y="1828800"/>
            <a:ext cx="76200" cy="76200"/>
            <a:chOff x="2688" y="2976"/>
            <a:chExt cx="48" cy="48"/>
          </a:xfrm>
        </p:grpSpPr>
        <p:sp>
          <p:nvSpPr>
            <p:cNvPr id="11529" name="Line 265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30" name="Line 266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31" name="Group 267"/>
          <p:cNvGrpSpPr>
            <a:grpSpLocks/>
          </p:cNvGrpSpPr>
          <p:nvPr/>
        </p:nvGrpSpPr>
        <p:grpSpPr bwMode="auto">
          <a:xfrm>
            <a:off x="838200" y="2590800"/>
            <a:ext cx="76200" cy="76200"/>
            <a:chOff x="2688" y="2976"/>
            <a:chExt cx="48" cy="48"/>
          </a:xfrm>
        </p:grpSpPr>
        <p:sp>
          <p:nvSpPr>
            <p:cNvPr id="11532" name="Line 268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33" name="Line 269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34" name="Group 270"/>
          <p:cNvGrpSpPr>
            <a:grpSpLocks/>
          </p:cNvGrpSpPr>
          <p:nvPr/>
        </p:nvGrpSpPr>
        <p:grpSpPr bwMode="auto">
          <a:xfrm>
            <a:off x="7467600" y="3276600"/>
            <a:ext cx="76200" cy="76200"/>
            <a:chOff x="2688" y="2976"/>
            <a:chExt cx="48" cy="48"/>
          </a:xfrm>
        </p:grpSpPr>
        <p:sp>
          <p:nvSpPr>
            <p:cNvPr id="11535" name="Line 271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36" name="Line 272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37" name="Group 273"/>
          <p:cNvGrpSpPr>
            <a:grpSpLocks/>
          </p:cNvGrpSpPr>
          <p:nvPr/>
        </p:nvGrpSpPr>
        <p:grpSpPr bwMode="auto">
          <a:xfrm>
            <a:off x="5410200" y="2209800"/>
            <a:ext cx="76200" cy="76200"/>
            <a:chOff x="2688" y="2976"/>
            <a:chExt cx="48" cy="48"/>
          </a:xfrm>
        </p:grpSpPr>
        <p:sp>
          <p:nvSpPr>
            <p:cNvPr id="11538" name="Line 274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39" name="Line 275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40" name="Group 276"/>
          <p:cNvGrpSpPr>
            <a:grpSpLocks/>
          </p:cNvGrpSpPr>
          <p:nvPr/>
        </p:nvGrpSpPr>
        <p:grpSpPr bwMode="auto">
          <a:xfrm>
            <a:off x="4267200" y="2362200"/>
            <a:ext cx="76200" cy="76200"/>
            <a:chOff x="2688" y="2976"/>
            <a:chExt cx="48" cy="48"/>
          </a:xfrm>
        </p:grpSpPr>
        <p:sp>
          <p:nvSpPr>
            <p:cNvPr id="11541" name="Line 277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42" name="Line 278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43" name="Group 279"/>
          <p:cNvGrpSpPr>
            <a:grpSpLocks/>
          </p:cNvGrpSpPr>
          <p:nvPr/>
        </p:nvGrpSpPr>
        <p:grpSpPr bwMode="auto">
          <a:xfrm>
            <a:off x="5486400" y="4038600"/>
            <a:ext cx="76200" cy="76200"/>
            <a:chOff x="2688" y="2976"/>
            <a:chExt cx="48" cy="48"/>
          </a:xfrm>
        </p:grpSpPr>
        <p:sp>
          <p:nvSpPr>
            <p:cNvPr id="11544" name="Line 280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45" name="Line 281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46" name="Group 282"/>
          <p:cNvGrpSpPr>
            <a:grpSpLocks/>
          </p:cNvGrpSpPr>
          <p:nvPr/>
        </p:nvGrpSpPr>
        <p:grpSpPr bwMode="auto">
          <a:xfrm>
            <a:off x="5562600" y="6019800"/>
            <a:ext cx="76200" cy="76200"/>
            <a:chOff x="2688" y="2976"/>
            <a:chExt cx="48" cy="48"/>
          </a:xfrm>
        </p:grpSpPr>
        <p:sp>
          <p:nvSpPr>
            <p:cNvPr id="11547" name="Line 283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48" name="Line 284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49" name="Group 285"/>
          <p:cNvGrpSpPr>
            <a:grpSpLocks/>
          </p:cNvGrpSpPr>
          <p:nvPr/>
        </p:nvGrpSpPr>
        <p:grpSpPr bwMode="auto">
          <a:xfrm>
            <a:off x="8915400" y="5181600"/>
            <a:ext cx="76200" cy="76200"/>
            <a:chOff x="2688" y="2976"/>
            <a:chExt cx="48" cy="48"/>
          </a:xfrm>
        </p:grpSpPr>
        <p:sp>
          <p:nvSpPr>
            <p:cNvPr id="11550" name="Line 286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51" name="Line 287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52" name="Group 288"/>
          <p:cNvGrpSpPr>
            <a:grpSpLocks/>
          </p:cNvGrpSpPr>
          <p:nvPr/>
        </p:nvGrpSpPr>
        <p:grpSpPr bwMode="auto">
          <a:xfrm>
            <a:off x="7620000" y="5334000"/>
            <a:ext cx="76200" cy="76200"/>
            <a:chOff x="2688" y="2976"/>
            <a:chExt cx="48" cy="48"/>
          </a:xfrm>
        </p:grpSpPr>
        <p:sp>
          <p:nvSpPr>
            <p:cNvPr id="11553" name="Line 289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54" name="Line 290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55" name="Group 291"/>
          <p:cNvGrpSpPr>
            <a:grpSpLocks/>
          </p:cNvGrpSpPr>
          <p:nvPr/>
        </p:nvGrpSpPr>
        <p:grpSpPr bwMode="auto">
          <a:xfrm>
            <a:off x="6858000" y="5791200"/>
            <a:ext cx="76200" cy="76200"/>
            <a:chOff x="2688" y="2976"/>
            <a:chExt cx="48" cy="48"/>
          </a:xfrm>
        </p:grpSpPr>
        <p:sp>
          <p:nvSpPr>
            <p:cNvPr id="11556" name="Line 292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57" name="Line 293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1558" name="Group 294"/>
          <p:cNvGrpSpPr>
            <a:grpSpLocks/>
          </p:cNvGrpSpPr>
          <p:nvPr/>
        </p:nvGrpSpPr>
        <p:grpSpPr bwMode="auto">
          <a:xfrm>
            <a:off x="5562600" y="6477000"/>
            <a:ext cx="76200" cy="76200"/>
            <a:chOff x="2688" y="2976"/>
            <a:chExt cx="48" cy="48"/>
          </a:xfrm>
        </p:grpSpPr>
        <p:sp>
          <p:nvSpPr>
            <p:cNvPr id="11559" name="Line 295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560" name="Line 296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74770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3810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Hopfield Networks</a:t>
            </a:r>
            <a:endParaRPr lang="nb-NO" altLang="he-IL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2286000"/>
          </a:xfrm>
        </p:spPr>
        <p:txBody>
          <a:bodyPr>
            <a:normAutofit lnSpcReduction="10000"/>
          </a:bodyPr>
          <a:lstStyle/>
          <a:p>
            <a:r>
              <a:rPr lang="nb-NO" altLang="he-IL" sz="2000"/>
              <a:t>Auto-Association Network</a:t>
            </a:r>
          </a:p>
          <a:p>
            <a:r>
              <a:rPr lang="nb-NO" altLang="he-IL" sz="2000"/>
              <a:t>Fully-connected (clique) with symmetric weights </a:t>
            </a:r>
          </a:p>
          <a:p>
            <a:r>
              <a:rPr lang="nb-NO" altLang="he-IL" sz="2000"/>
              <a:t>State of node = f(inputs)</a:t>
            </a:r>
          </a:p>
          <a:p>
            <a:r>
              <a:rPr lang="nb-NO" altLang="he-IL" sz="2000"/>
              <a:t>Weight values based on Hebbian principle</a:t>
            </a:r>
          </a:p>
          <a:p>
            <a:r>
              <a:rPr lang="nb-NO" altLang="he-IL" sz="2000"/>
              <a:t>Performance: Must iterate a bit to converge on a pattern, but generally</a:t>
            </a:r>
          </a:p>
          <a:p>
            <a:pPr>
              <a:buFontTx/>
              <a:buNone/>
            </a:pPr>
            <a:r>
              <a:rPr lang="nb-NO" altLang="he-IL" sz="2000"/>
              <a:t>	much less computation than in back-propagation networks.</a:t>
            </a:r>
            <a:endParaRPr lang="nb-NO" altLang="he-IL"/>
          </a:p>
        </p:txBody>
      </p: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1524000" y="3657600"/>
            <a:ext cx="5310188" cy="1563688"/>
            <a:chOff x="960" y="1056"/>
            <a:chExt cx="3345" cy="985"/>
          </a:xfrm>
        </p:grpSpPr>
        <p:grpSp>
          <p:nvGrpSpPr>
            <p:cNvPr id="16389" name="Group 5"/>
            <p:cNvGrpSpPr>
              <a:grpSpLocks/>
            </p:cNvGrpSpPr>
            <p:nvPr/>
          </p:nvGrpSpPr>
          <p:grpSpPr bwMode="auto">
            <a:xfrm>
              <a:off x="960" y="1104"/>
              <a:ext cx="465" cy="937"/>
              <a:chOff x="1056" y="1152"/>
              <a:chExt cx="465" cy="937"/>
            </a:xfrm>
          </p:grpSpPr>
          <p:graphicFrame>
            <p:nvGraphicFramePr>
              <p:cNvPr id="16390" name="Object 6"/>
              <p:cNvGraphicFramePr>
                <a:graphicFrameLocks noChangeAspect="1"/>
              </p:cNvGraphicFramePr>
              <p:nvPr/>
            </p:nvGraphicFramePr>
            <p:xfrm>
              <a:off x="1056" y="1152"/>
              <a:ext cx="465" cy="8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933" name="Utklipp" r:id="rId3" imgW="1395360" imgH="2658600" progId="MS_ClipArt_Gallery.2">
                      <p:embed/>
                    </p:oleObj>
                  </mc:Choice>
                  <mc:Fallback>
                    <p:oleObj name="Utklipp" r:id="rId3" imgW="1395360" imgH="2658600" progId="MS_ClipArt_Gallery.2">
                      <p:embed/>
                      <p:pic>
                        <p:nvPicPr>
                          <p:cNvPr id="1639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152"/>
                            <a:ext cx="465" cy="8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391" name="Freeform 7"/>
              <p:cNvSpPr>
                <a:spLocks/>
              </p:cNvSpPr>
              <p:nvPr/>
            </p:nvSpPr>
            <p:spPr bwMode="auto">
              <a:xfrm>
                <a:off x="1208" y="1340"/>
                <a:ext cx="241" cy="749"/>
              </a:xfrm>
              <a:custGeom>
                <a:avLst/>
                <a:gdLst>
                  <a:gd name="T0" fmla="*/ 210 w 241"/>
                  <a:gd name="T1" fmla="*/ 304 h 749"/>
                  <a:gd name="T2" fmla="*/ 140 w 241"/>
                  <a:gd name="T3" fmla="*/ 63 h 749"/>
                  <a:gd name="T4" fmla="*/ 101 w 241"/>
                  <a:gd name="T5" fmla="*/ 16 h 749"/>
                  <a:gd name="T6" fmla="*/ 54 w 241"/>
                  <a:gd name="T7" fmla="*/ 0 h 749"/>
                  <a:gd name="T8" fmla="*/ 8 w 241"/>
                  <a:gd name="T9" fmla="*/ 8 h 749"/>
                  <a:gd name="T10" fmla="*/ 0 w 241"/>
                  <a:gd name="T11" fmla="*/ 32 h 749"/>
                  <a:gd name="T12" fmla="*/ 86 w 241"/>
                  <a:gd name="T13" fmla="*/ 226 h 749"/>
                  <a:gd name="T14" fmla="*/ 70 w 241"/>
                  <a:gd name="T15" fmla="*/ 585 h 749"/>
                  <a:gd name="T16" fmla="*/ 78 w 241"/>
                  <a:gd name="T17" fmla="*/ 671 h 749"/>
                  <a:gd name="T18" fmla="*/ 202 w 241"/>
                  <a:gd name="T19" fmla="*/ 749 h 749"/>
                  <a:gd name="T20" fmla="*/ 241 w 241"/>
                  <a:gd name="T21" fmla="*/ 678 h 749"/>
                  <a:gd name="T22" fmla="*/ 195 w 241"/>
                  <a:gd name="T23" fmla="*/ 577 h 749"/>
                  <a:gd name="T24" fmla="*/ 210 w 241"/>
                  <a:gd name="T25" fmla="*/ 304 h 7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1" h="749">
                    <a:moveTo>
                      <a:pt x="210" y="304"/>
                    </a:moveTo>
                    <a:cubicBezTo>
                      <a:pt x="143" y="260"/>
                      <a:pt x="158" y="130"/>
                      <a:pt x="140" y="63"/>
                    </a:cubicBezTo>
                    <a:cubicBezTo>
                      <a:pt x="136" y="50"/>
                      <a:pt x="111" y="22"/>
                      <a:pt x="101" y="16"/>
                    </a:cubicBezTo>
                    <a:cubicBezTo>
                      <a:pt x="86" y="8"/>
                      <a:pt x="54" y="0"/>
                      <a:pt x="54" y="0"/>
                    </a:cubicBezTo>
                    <a:cubicBezTo>
                      <a:pt x="39" y="3"/>
                      <a:pt x="21" y="0"/>
                      <a:pt x="8" y="8"/>
                    </a:cubicBezTo>
                    <a:cubicBezTo>
                      <a:pt x="1" y="12"/>
                      <a:pt x="0" y="24"/>
                      <a:pt x="0" y="32"/>
                    </a:cubicBezTo>
                    <a:cubicBezTo>
                      <a:pt x="0" y="124"/>
                      <a:pt x="11" y="179"/>
                      <a:pt x="86" y="226"/>
                    </a:cubicBezTo>
                    <a:cubicBezTo>
                      <a:pt x="115" y="324"/>
                      <a:pt x="107" y="480"/>
                      <a:pt x="70" y="585"/>
                    </a:cubicBezTo>
                    <a:cubicBezTo>
                      <a:pt x="73" y="614"/>
                      <a:pt x="67" y="644"/>
                      <a:pt x="78" y="671"/>
                    </a:cubicBezTo>
                    <a:cubicBezTo>
                      <a:pt x="95" y="711"/>
                      <a:pt x="164" y="739"/>
                      <a:pt x="202" y="749"/>
                    </a:cubicBezTo>
                    <a:cubicBezTo>
                      <a:pt x="218" y="726"/>
                      <a:pt x="226" y="702"/>
                      <a:pt x="241" y="678"/>
                    </a:cubicBezTo>
                    <a:cubicBezTo>
                      <a:pt x="230" y="583"/>
                      <a:pt x="235" y="638"/>
                      <a:pt x="195" y="577"/>
                    </a:cubicBezTo>
                    <a:cubicBezTo>
                      <a:pt x="199" y="482"/>
                      <a:pt x="210" y="397"/>
                      <a:pt x="210" y="30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aphicFrame>
          <p:nvGraphicFramePr>
            <p:cNvPr id="16392" name="Object 8"/>
            <p:cNvGraphicFramePr>
              <a:graphicFrameLocks noChangeAspect="1"/>
            </p:cNvGraphicFramePr>
            <p:nvPr/>
          </p:nvGraphicFramePr>
          <p:xfrm>
            <a:off x="3840" y="1056"/>
            <a:ext cx="465" cy="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34" name="Utklipp" r:id="rId5" imgW="1395360" imgH="2658600" progId="MS_ClipArt_Gallery.2">
                    <p:embed/>
                  </p:oleObj>
                </mc:Choice>
                <mc:Fallback>
                  <p:oleObj name="Utklipp" r:id="rId5" imgW="1395360" imgH="2658600" progId="MS_ClipArt_Gallery.2">
                    <p:embed/>
                    <p:pic>
                      <p:nvPicPr>
                        <p:cNvPr id="1639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056"/>
                          <a:ext cx="465" cy="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393" name="Group 9"/>
            <p:cNvGrpSpPr>
              <a:grpSpLocks/>
            </p:cNvGrpSpPr>
            <p:nvPr/>
          </p:nvGrpSpPr>
          <p:grpSpPr bwMode="auto">
            <a:xfrm>
              <a:off x="1920" y="1200"/>
              <a:ext cx="1220" cy="584"/>
              <a:chOff x="2784" y="2160"/>
              <a:chExt cx="1220" cy="584"/>
            </a:xfrm>
          </p:grpSpPr>
          <p:grpSp>
            <p:nvGrpSpPr>
              <p:cNvPr id="16394" name="Group 10"/>
              <p:cNvGrpSpPr>
                <a:grpSpLocks/>
              </p:cNvGrpSpPr>
              <p:nvPr/>
            </p:nvGrpSpPr>
            <p:grpSpPr bwMode="auto">
              <a:xfrm>
                <a:off x="3072" y="2160"/>
                <a:ext cx="768" cy="584"/>
                <a:chOff x="2880" y="2256"/>
                <a:chExt cx="768" cy="584"/>
              </a:xfrm>
            </p:grpSpPr>
            <p:grpSp>
              <p:nvGrpSpPr>
                <p:cNvPr id="16395" name="Group 11"/>
                <p:cNvGrpSpPr>
                  <a:grpSpLocks/>
                </p:cNvGrpSpPr>
                <p:nvPr/>
              </p:nvGrpSpPr>
              <p:grpSpPr bwMode="auto">
                <a:xfrm>
                  <a:off x="3264" y="2352"/>
                  <a:ext cx="384" cy="336"/>
                  <a:chOff x="4656" y="912"/>
                  <a:chExt cx="384" cy="336"/>
                </a:xfrm>
              </p:grpSpPr>
              <p:sp>
                <p:nvSpPr>
                  <p:cNvPr id="16396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4656" y="960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397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4656" y="1104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398" name="Oval 14"/>
                  <p:cNvSpPr>
                    <a:spLocks noChangeArrowheads="1"/>
                  </p:cNvSpPr>
                  <p:nvPr/>
                </p:nvSpPr>
                <p:spPr bwMode="auto">
                  <a:xfrm>
                    <a:off x="4848" y="1200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399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4992" y="1104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0" name="Oval 16"/>
                  <p:cNvSpPr>
                    <a:spLocks noChangeArrowheads="1"/>
                  </p:cNvSpPr>
                  <p:nvPr/>
                </p:nvSpPr>
                <p:spPr bwMode="auto">
                  <a:xfrm>
                    <a:off x="4896" y="912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1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96" y="960"/>
                    <a:ext cx="48" cy="24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2" name="Line 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04" y="1008"/>
                    <a:ext cx="0" cy="9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3" name="Line 1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704" y="960"/>
                    <a:ext cx="144" cy="24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4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96" y="1104"/>
                    <a:ext cx="144" cy="9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5" name="Line 2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944" y="960"/>
                    <a:ext cx="96" cy="14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6" name="Line 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04" y="960"/>
                    <a:ext cx="192" cy="14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7" name="Line 2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04" y="960"/>
                    <a:ext cx="19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8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4704" y="1104"/>
                    <a:ext cx="288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09" name="Line 2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704" y="960"/>
                    <a:ext cx="336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10" name="Line 2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704" y="1104"/>
                    <a:ext cx="144" cy="14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</p:grpSp>
            <p:grpSp>
              <p:nvGrpSpPr>
                <p:cNvPr id="16411" name="Group 27"/>
                <p:cNvGrpSpPr>
                  <a:grpSpLocks/>
                </p:cNvGrpSpPr>
                <p:nvPr/>
              </p:nvGrpSpPr>
              <p:grpSpPr bwMode="auto">
                <a:xfrm>
                  <a:off x="2880" y="2256"/>
                  <a:ext cx="144" cy="528"/>
                  <a:chOff x="2832" y="2352"/>
                  <a:chExt cx="144" cy="528"/>
                </a:xfrm>
              </p:grpSpPr>
              <p:sp>
                <p:nvSpPr>
                  <p:cNvPr id="16412" name="Oval 28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496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13" name="Oval 29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592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14" name="Oval 30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784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15" name="AutoShape 31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640" y="2544"/>
                    <a:ext cx="528" cy="144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2700">
                    <a:solidFill>
                      <a:schemeClr val="tx2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16" name="Oval 32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400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  <p:sp>
                <p:nvSpPr>
                  <p:cNvPr id="16417" name="Oval 33"/>
                  <p:cNvSpPr>
                    <a:spLocks noChangeArrowheads="1"/>
                  </p:cNvSpPr>
                  <p:nvPr/>
                </p:nvSpPr>
                <p:spPr bwMode="auto">
                  <a:xfrm rot="16200000" flipH="1">
                    <a:off x="2880" y="2688"/>
                    <a:ext cx="48" cy="4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he-IL"/>
                  </a:p>
                </p:txBody>
              </p:sp>
            </p:grpSp>
            <p:sp>
              <p:nvSpPr>
                <p:cNvPr id="16418" name="Line 34"/>
                <p:cNvSpPr>
                  <a:spLocks noChangeShapeType="1"/>
                </p:cNvSpPr>
                <p:nvPr/>
              </p:nvSpPr>
              <p:spPr bwMode="auto">
                <a:xfrm>
                  <a:off x="3024" y="2304"/>
                  <a:ext cx="480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16419" name="Freeform 35"/>
                <p:cNvSpPr>
                  <a:spLocks/>
                </p:cNvSpPr>
                <p:nvPr/>
              </p:nvSpPr>
              <p:spPr bwMode="auto">
                <a:xfrm>
                  <a:off x="2944" y="2640"/>
                  <a:ext cx="656" cy="200"/>
                </a:xfrm>
                <a:custGeom>
                  <a:avLst/>
                  <a:gdLst>
                    <a:gd name="T0" fmla="*/ 32 w 656"/>
                    <a:gd name="T1" fmla="*/ 48 h 200"/>
                    <a:gd name="T2" fmla="*/ 80 w 656"/>
                    <a:gd name="T3" fmla="*/ 48 h 200"/>
                    <a:gd name="T4" fmla="*/ 512 w 656"/>
                    <a:gd name="T5" fmla="*/ 192 h 200"/>
                    <a:gd name="T6" fmla="*/ 656 w 656"/>
                    <a:gd name="T7" fmla="*/ 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6" h="200">
                      <a:moveTo>
                        <a:pt x="32" y="48"/>
                      </a:moveTo>
                      <a:cubicBezTo>
                        <a:pt x="16" y="36"/>
                        <a:pt x="0" y="24"/>
                        <a:pt x="80" y="48"/>
                      </a:cubicBezTo>
                      <a:cubicBezTo>
                        <a:pt x="160" y="72"/>
                        <a:pt x="416" y="200"/>
                        <a:pt x="512" y="192"/>
                      </a:cubicBezTo>
                      <a:cubicBezTo>
                        <a:pt x="608" y="184"/>
                        <a:pt x="632" y="92"/>
                        <a:pt x="656" y="0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16420" name="Line 36"/>
                <p:cNvSpPr>
                  <a:spLocks noChangeShapeType="1"/>
                </p:cNvSpPr>
                <p:nvPr/>
              </p:nvSpPr>
              <p:spPr bwMode="auto">
                <a:xfrm>
                  <a:off x="2976" y="2640"/>
                  <a:ext cx="43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16421" name="Line 37"/>
                <p:cNvSpPr>
                  <a:spLocks noChangeShapeType="1"/>
                </p:cNvSpPr>
                <p:nvPr/>
              </p:nvSpPr>
              <p:spPr bwMode="auto">
                <a:xfrm>
                  <a:off x="2976" y="2544"/>
                  <a:ext cx="288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16422" name="Line 38"/>
                <p:cNvSpPr>
                  <a:spLocks noChangeShapeType="1"/>
                </p:cNvSpPr>
                <p:nvPr/>
              </p:nvSpPr>
              <p:spPr bwMode="auto">
                <a:xfrm>
                  <a:off x="2976" y="2448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</p:grpSp>
          <p:sp>
            <p:nvSpPr>
              <p:cNvPr id="16423" name="Text Box 39"/>
              <p:cNvSpPr txBox="1">
                <a:spLocks noChangeArrowheads="1"/>
              </p:cNvSpPr>
              <p:nvPr/>
            </p:nvSpPr>
            <p:spPr bwMode="auto">
              <a:xfrm>
                <a:off x="2784" y="2258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nb-NO" altLang="he-IL"/>
              </a:p>
            </p:txBody>
          </p:sp>
          <p:sp>
            <p:nvSpPr>
              <p:cNvPr id="16424" name="Text Box 40"/>
              <p:cNvSpPr txBox="1">
                <a:spLocks noChangeArrowheads="1"/>
              </p:cNvSpPr>
              <p:nvPr/>
            </p:nvSpPr>
            <p:spPr bwMode="auto">
              <a:xfrm>
                <a:off x="3888" y="2258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nb-NO" altLang="he-IL"/>
              </a:p>
            </p:txBody>
          </p:sp>
        </p:grpSp>
        <p:sp>
          <p:nvSpPr>
            <p:cNvPr id="16425" name="Line 41"/>
            <p:cNvSpPr>
              <a:spLocks noChangeShapeType="1"/>
            </p:cNvSpPr>
            <p:nvPr/>
          </p:nvSpPr>
          <p:spPr bwMode="auto">
            <a:xfrm>
              <a:off x="1584" y="144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6426" name="Line 42"/>
            <p:cNvSpPr>
              <a:spLocks noChangeShapeType="1"/>
            </p:cNvSpPr>
            <p:nvPr/>
          </p:nvSpPr>
          <p:spPr bwMode="auto">
            <a:xfrm>
              <a:off x="3168" y="144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6427" name="Text Box 43"/>
          <p:cNvSpPr txBox="1">
            <a:spLocks noChangeArrowheads="1"/>
          </p:cNvSpPr>
          <p:nvPr/>
        </p:nvSpPr>
        <p:spPr bwMode="auto">
          <a:xfrm>
            <a:off x="3276600" y="3276600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Input</a:t>
            </a:r>
            <a:endParaRPr lang="nb-NO" altLang="he-IL"/>
          </a:p>
        </p:txBody>
      </p:sp>
      <p:sp>
        <p:nvSpPr>
          <p:cNvPr id="16428" name="Text Box 44"/>
          <p:cNvSpPr txBox="1">
            <a:spLocks noChangeArrowheads="1"/>
          </p:cNvSpPr>
          <p:nvPr/>
        </p:nvSpPr>
        <p:spPr bwMode="auto">
          <a:xfrm>
            <a:off x="4038600" y="3276600"/>
            <a:ext cx="292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Output (after many iterations)</a:t>
            </a:r>
            <a:endParaRPr lang="nb-NO" altLang="he-IL"/>
          </a:p>
        </p:txBody>
      </p:sp>
      <p:graphicFrame>
        <p:nvGraphicFramePr>
          <p:cNvPr id="16429" name="Object 45"/>
          <p:cNvGraphicFramePr>
            <a:graphicFrameLocks noChangeAspect="1"/>
          </p:cNvGraphicFramePr>
          <p:nvPr/>
        </p:nvGraphicFramePr>
        <p:xfrm>
          <a:off x="3810000" y="5334000"/>
          <a:ext cx="365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5" name="Formel" r:id="rId6" imgW="2057400" imgH="444240" progId="Equation.3">
                  <p:embed/>
                </p:oleObj>
              </mc:Choice>
              <mc:Fallback>
                <p:oleObj name="Formel" r:id="rId6" imgW="2057400" imgH="444240" progId="Equation.3">
                  <p:embed/>
                  <p:pic>
                    <p:nvPicPr>
                      <p:cNvPr id="16429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334000"/>
                        <a:ext cx="3657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0" name="Text Box 46"/>
          <p:cNvSpPr txBox="1">
            <a:spLocks noChangeArrowheads="1"/>
          </p:cNvSpPr>
          <p:nvPr/>
        </p:nvSpPr>
        <p:spPr bwMode="auto">
          <a:xfrm>
            <a:off x="609600" y="5562600"/>
            <a:ext cx="2852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Discrete node update rule:</a:t>
            </a:r>
            <a:endParaRPr lang="nb-NO" altLang="he-IL"/>
          </a:p>
        </p:txBody>
      </p:sp>
      <p:sp>
        <p:nvSpPr>
          <p:cNvPr id="16431" name="Line 47"/>
          <p:cNvSpPr>
            <a:spLocks noChangeShapeType="1"/>
          </p:cNvSpPr>
          <p:nvPr/>
        </p:nvSpPr>
        <p:spPr bwMode="auto">
          <a:xfrm>
            <a:off x="7086600" y="5943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6432" name="Text Box 48"/>
          <p:cNvSpPr txBox="1">
            <a:spLocks noChangeArrowheads="1"/>
          </p:cNvSpPr>
          <p:nvPr/>
        </p:nvSpPr>
        <p:spPr bwMode="auto">
          <a:xfrm>
            <a:off x="7527925" y="62865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Input value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194251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Hopfield Network Example</a:t>
            </a:r>
            <a:endParaRPr lang="nb-NO" altLang="he-IL"/>
          </a:p>
        </p:txBody>
      </p:sp>
      <p:sp>
        <p:nvSpPr>
          <p:cNvPr id="14369" name="Line 33"/>
          <p:cNvSpPr>
            <a:spLocks noChangeShapeType="1"/>
          </p:cNvSpPr>
          <p:nvPr/>
        </p:nvSpPr>
        <p:spPr bwMode="auto">
          <a:xfrm>
            <a:off x="25908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70" name="Line 34"/>
          <p:cNvSpPr>
            <a:spLocks noChangeShapeType="1"/>
          </p:cNvSpPr>
          <p:nvPr/>
        </p:nvSpPr>
        <p:spPr bwMode="auto">
          <a:xfrm flipH="1">
            <a:off x="25908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73" name="Rectangle 37"/>
          <p:cNvSpPr>
            <a:spLocks noChangeArrowheads="1"/>
          </p:cNvSpPr>
          <p:nvPr/>
        </p:nvSpPr>
        <p:spPr bwMode="auto">
          <a:xfrm flipH="1">
            <a:off x="2286000" y="16764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74" name="Rectangle 38"/>
          <p:cNvSpPr>
            <a:spLocks noChangeArrowheads="1"/>
          </p:cNvSpPr>
          <p:nvPr/>
        </p:nvSpPr>
        <p:spPr bwMode="auto">
          <a:xfrm flipH="1">
            <a:off x="1828800" y="21336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75" name="Rectangle 39"/>
          <p:cNvSpPr>
            <a:spLocks noChangeArrowheads="1"/>
          </p:cNvSpPr>
          <p:nvPr/>
        </p:nvSpPr>
        <p:spPr bwMode="auto">
          <a:xfrm flipH="1">
            <a:off x="2286000" y="21336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76" name="Rectangle 40"/>
          <p:cNvSpPr>
            <a:spLocks noChangeArrowheads="1"/>
          </p:cNvSpPr>
          <p:nvPr/>
        </p:nvSpPr>
        <p:spPr bwMode="auto">
          <a:xfrm flipH="1">
            <a:off x="1828800" y="16764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77" name="Text Box 41"/>
          <p:cNvSpPr txBox="1">
            <a:spLocks noChangeArrowheads="1"/>
          </p:cNvSpPr>
          <p:nvPr/>
        </p:nvSpPr>
        <p:spPr bwMode="auto">
          <a:xfrm>
            <a:off x="1905000" y="1752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14378" name="Text Box 42"/>
          <p:cNvSpPr txBox="1">
            <a:spLocks noChangeArrowheads="1"/>
          </p:cNvSpPr>
          <p:nvPr/>
        </p:nvSpPr>
        <p:spPr bwMode="auto">
          <a:xfrm>
            <a:off x="1905000" y="2209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14379" name="Text Box 43"/>
          <p:cNvSpPr txBox="1">
            <a:spLocks noChangeArrowheads="1"/>
          </p:cNvSpPr>
          <p:nvPr/>
        </p:nvSpPr>
        <p:spPr bwMode="auto">
          <a:xfrm>
            <a:off x="2362200" y="2209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14380" name="Text Box 44"/>
          <p:cNvSpPr txBox="1">
            <a:spLocks noChangeArrowheads="1"/>
          </p:cNvSpPr>
          <p:nvPr/>
        </p:nvSpPr>
        <p:spPr bwMode="auto">
          <a:xfrm>
            <a:off x="2362200" y="1752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14382" name="Line 46"/>
          <p:cNvSpPr>
            <a:spLocks noChangeShapeType="1"/>
          </p:cNvSpPr>
          <p:nvPr/>
        </p:nvSpPr>
        <p:spPr bwMode="auto">
          <a:xfrm>
            <a:off x="2590800" y="22098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83" name="Line 47"/>
          <p:cNvSpPr>
            <a:spLocks noChangeShapeType="1"/>
          </p:cNvSpPr>
          <p:nvPr/>
        </p:nvSpPr>
        <p:spPr bwMode="auto">
          <a:xfrm flipH="1">
            <a:off x="2590800" y="22098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85" name="Line 49"/>
          <p:cNvSpPr>
            <a:spLocks noChangeShapeType="1"/>
          </p:cNvSpPr>
          <p:nvPr/>
        </p:nvSpPr>
        <p:spPr bwMode="auto">
          <a:xfrm>
            <a:off x="21336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86" name="Line 50"/>
          <p:cNvSpPr>
            <a:spLocks noChangeShapeType="1"/>
          </p:cNvSpPr>
          <p:nvPr/>
        </p:nvSpPr>
        <p:spPr bwMode="auto">
          <a:xfrm flipH="1">
            <a:off x="21336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89" name="Line 53"/>
          <p:cNvSpPr>
            <a:spLocks noChangeShapeType="1"/>
          </p:cNvSpPr>
          <p:nvPr/>
        </p:nvSpPr>
        <p:spPr bwMode="auto">
          <a:xfrm>
            <a:off x="25908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 flipH="1">
            <a:off x="25908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4399" name="Group 63"/>
          <p:cNvGrpSpPr>
            <a:grpSpLocks/>
          </p:cNvGrpSpPr>
          <p:nvPr/>
        </p:nvGrpSpPr>
        <p:grpSpPr bwMode="auto">
          <a:xfrm>
            <a:off x="2971800" y="1676400"/>
            <a:ext cx="914400" cy="914400"/>
            <a:chOff x="816" y="1104"/>
            <a:chExt cx="576" cy="576"/>
          </a:xfrm>
        </p:grpSpPr>
        <p:sp>
          <p:nvSpPr>
            <p:cNvPr id="14400" name="Rectangle 64"/>
            <p:cNvSpPr>
              <a:spLocks noChangeArrowheads="1"/>
            </p:cNvSpPr>
            <p:nvPr/>
          </p:nvSpPr>
          <p:spPr bwMode="auto">
            <a:xfrm>
              <a:off x="816" y="1104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01" name="Rectangle 65"/>
            <p:cNvSpPr>
              <a:spLocks noChangeArrowheads="1"/>
            </p:cNvSpPr>
            <p:nvPr/>
          </p:nvSpPr>
          <p:spPr bwMode="auto">
            <a:xfrm>
              <a:off x="1104" y="139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02" name="Rectangle 66"/>
            <p:cNvSpPr>
              <a:spLocks noChangeArrowheads="1"/>
            </p:cNvSpPr>
            <p:nvPr/>
          </p:nvSpPr>
          <p:spPr bwMode="auto">
            <a:xfrm>
              <a:off x="816" y="1392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03" name="Rectangle 67"/>
            <p:cNvSpPr>
              <a:spLocks noChangeArrowheads="1"/>
            </p:cNvSpPr>
            <p:nvPr/>
          </p:nvSpPr>
          <p:spPr bwMode="auto">
            <a:xfrm>
              <a:off x="1104" y="1104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04" name="Text Box 68"/>
            <p:cNvSpPr txBox="1">
              <a:spLocks noChangeArrowheads="1"/>
            </p:cNvSpPr>
            <p:nvPr/>
          </p:nvSpPr>
          <p:spPr bwMode="auto">
            <a:xfrm>
              <a:off x="854" y="1143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1</a:t>
              </a:r>
              <a:endParaRPr lang="nb-NO" altLang="he-IL"/>
            </a:p>
          </p:txBody>
        </p:sp>
        <p:sp>
          <p:nvSpPr>
            <p:cNvPr id="14405" name="Text Box 69"/>
            <p:cNvSpPr txBox="1">
              <a:spLocks noChangeArrowheads="1"/>
            </p:cNvSpPr>
            <p:nvPr/>
          </p:nvSpPr>
          <p:spPr bwMode="auto">
            <a:xfrm>
              <a:off x="864" y="144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3</a:t>
              </a:r>
              <a:endParaRPr lang="nb-NO" altLang="he-IL"/>
            </a:p>
          </p:txBody>
        </p:sp>
        <p:sp>
          <p:nvSpPr>
            <p:cNvPr id="14406" name="Text Box 70"/>
            <p:cNvSpPr txBox="1">
              <a:spLocks noChangeArrowheads="1"/>
            </p:cNvSpPr>
            <p:nvPr/>
          </p:nvSpPr>
          <p:spPr bwMode="auto">
            <a:xfrm>
              <a:off x="1152" y="144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4</a:t>
              </a:r>
              <a:endParaRPr lang="nb-NO" altLang="he-IL"/>
            </a:p>
          </p:txBody>
        </p:sp>
        <p:sp>
          <p:nvSpPr>
            <p:cNvPr id="14407" name="Text Box 71"/>
            <p:cNvSpPr txBox="1">
              <a:spLocks noChangeArrowheads="1"/>
            </p:cNvSpPr>
            <p:nvPr/>
          </p:nvSpPr>
          <p:spPr bwMode="auto">
            <a:xfrm>
              <a:off x="1152" y="1152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2</a:t>
              </a:r>
              <a:endParaRPr lang="nb-NO" altLang="he-IL"/>
            </a:p>
          </p:txBody>
        </p:sp>
      </p:grpSp>
      <p:grpSp>
        <p:nvGrpSpPr>
          <p:cNvPr id="14408" name="Group 72"/>
          <p:cNvGrpSpPr>
            <a:grpSpLocks/>
          </p:cNvGrpSpPr>
          <p:nvPr/>
        </p:nvGrpSpPr>
        <p:grpSpPr bwMode="auto">
          <a:xfrm>
            <a:off x="3657600" y="1752600"/>
            <a:ext cx="76200" cy="76200"/>
            <a:chOff x="2688" y="2976"/>
            <a:chExt cx="48" cy="48"/>
          </a:xfrm>
        </p:grpSpPr>
        <p:sp>
          <p:nvSpPr>
            <p:cNvPr id="14409" name="Line 73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10" name="Line 74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4411" name="Group 75"/>
          <p:cNvGrpSpPr>
            <a:grpSpLocks/>
          </p:cNvGrpSpPr>
          <p:nvPr/>
        </p:nvGrpSpPr>
        <p:grpSpPr bwMode="auto">
          <a:xfrm>
            <a:off x="3276600" y="2209800"/>
            <a:ext cx="76200" cy="76200"/>
            <a:chOff x="2688" y="2976"/>
            <a:chExt cx="48" cy="48"/>
          </a:xfrm>
        </p:grpSpPr>
        <p:sp>
          <p:nvSpPr>
            <p:cNvPr id="14412" name="Line 76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13" name="Line 77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4414" name="Text Box 78"/>
          <p:cNvSpPr txBox="1">
            <a:spLocks noChangeArrowheads="1"/>
          </p:cNvSpPr>
          <p:nvPr/>
        </p:nvSpPr>
        <p:spPr bwMode="auto">
          <a:xfrm>
            <a:off x="381000" y="838200"/>
            <a:ext cx="26908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1. Patterns to Remember</a:t>
            </a:r>
            <a:endParaRPr lang="nb-NO" altLang="he-IL"/>
          </a:p>
        </p:txBody>
      </p:sp>
      <p:sp>
        <p:nvSpPr>
          <p:cNvPr id="14415" name="Text Box 79"/>
          <p:cNvSpPr txBox="1">
            <a:spLocks noChangeArrowheads="1"/>
          </p:cNvSpPr>
          <p:nvPr/>
        </p:nvSpPr>
        <p:spPr bwMode="auto">
          <a:xfrm>
            <a:off x="990600" y="1219200"/>
            <a:ext cx="393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p</a:t>
            </a:r>
            <a:r>
              <a:rPr lang="nb-NO" altLang="he-IL" sz="2000" baseline="-25000"/>
              <a:t>1</a:t>
            </a:r>
            <a:endParaRPr lang="nb-NO" altLang="he-IL"/>
          </a:p>
        </p:txBody>
      </p:sp>
      <p:sp>
        <p:nvSpPr>
          <p:cNvPr id="14416" name="Text Box 80"/>
          <p:cNvSpPr txBox="1">
            <a:spLocks noChangeArrowheads="1"/>
          </p:cNvSpPr>
          <p:nvPr/>
        </p:nvSpPr>
        <p:spPr bwMode="auto">
          <a:xfrm>
            <a:off x="2117725" y="1233488"/>
            <a:ext cx="393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p</a:t>
            </a:r>
            <a:r>
              <a:rPr lang="nb-NO" altLang="he-IL" sz="2000" baseline="-25000"/>
              <a:t>2</a:t>
            </a:r>
            <a:endParaRPr lang="nb-NO" altLang="he-IL"/>
          </a:p>
        </p:txBody>
      </p:sp>
      <p:sp>
        <p:nvSpPr>
          <p:cNvPr id="14417" name="Text Box 81"/>
          <p:cNvSpPr txBox="1">
            <a:spLocks noChangeArrowheads="1"/>
          </p:cNvSpPr>
          <p:nvPr/>
        </p:nvSpPr>
        <p:spPr bwMode="auto">
          <a:xfrm>
            <a:off x="3276600" y="1219200"/>
            <a:ext cx="393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p</a:t>
            </a:r>
            <a:r>
              <a:rPr lang="nb-NO" altLang="he-IL" sz="2000" baseline="-25000"/>
              <a:t>3</a:t>
            </a:r>
            <a:endParaRPr lang="nb-NO" altLang="he-IL"/>
          </a:p>
        </p:txBody>
      </p:sp>
      <p:sp>
        <p:nvSpPr>
          <p:cNvPr id="14418" name="Text Box 82"/>
          <p:cNvSpPr txBox="1">
            <a:spLocks noChangeArrowheads="1"/>
          </p:cNvSpPr>
          <p:nvPr/>
        </p:nvSpPr>
        <p:spPr bwMode="auto">
          <a:xfrm>
            <a:off x="228600" y="3048000"/>
            <a:ext cx="3173413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2. Hebbian Weight Init:</a:t>
            </a:r>
          </a:p>
          <a:p>
            <a:r>
              <a:rPr lang="nb-NO" altLang="he-IL" sz="1800"/>
              <a:t>   </a:t>
            </a:r>
            <a:r>
              <a:rPr lang="nb-NO" altLang="he-IL" sz="1600"/>
              <a:t>Avg Correlations across 3 patterns</a:t>
            </a:r>
            <a:endParaRPr lang="nb-NO" altLang="he-IL"/>
          </a:p>
        </p:txBody>
      </p:sp>
      <p:grpSp>
        <p:nvGrpSpPr>
          <p:cNvPr id="14433" name="Group 97"/>
          <p:cNvGrpSpPr>
            <a:grpSpLocks/>
          </p:cNvGrpSpPr>
          <p:nvPr/>
        </p:nvGrpSpPr>
        <p:grpSpPr bwMode="auto">
          <a:xfrm>
            <a:off x="457200" y="3733800"/>
            <a:ext cx="2667000" cy="2819400"/>
            <a:chOff x="96" y="2352"/>
            <a:chExt cx="1680" cy="1776"/>
          </a:xfrm>
        </p:grpSpPr>
        <p:sp>
          <p:nvSpPr>
            <p:cNvPr id="14423" name="Text Box 87"/>
            <p:cNvSpPr txBox="1">
              <a:spLocks noChangeArrowheads="1"/>
            </p:cNvSpPr>
            <p:nvPr/>
          </p:nvSpPr>
          <p:spPr bwMode="auto">
            <a:xfrm>
              <a:off x="134" y="2712"/>
              <a:ext cx="15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W</a:t>
              </a:r>
              <a:r>
                <a:rPr lang="nb-NO" altLang="he-IL" sz="1800" baseline="-25000"/>
                <a:t>12        </a:t>
              </a:r>
              <a:r>
                <a:rPr lang="nb-NO" altLang="he-IL" sz="1800"/>
                <a:t>1     1    -1       1/3</a:t>
              </a:r>
              <a:endParaRPr lang="nb-NO" altLang="he-IL"/>
            </a:p>
          </p:txBody>
        </p:sp>
        <p:grpSp>
          <p:nvGrpSpPr>
            <p:cNvPr id="14425" name="Group 89"/>
            <p:cNvGrpSpPr>
              <a:grpSpLocks/>
            </p:cNvGrpSpPr>
            <p:nvPr/>
          </p:nvGrpSpPr>
          <p:grpSpPr bwMode="auto">
            <a:xfrm>
              <a:off x="528" y="2352"/>
              <a:ext cx="1208" cy="250"/>
              <a:chOff x="874" y="2295"/>
              <a:chExt cx="1208" cy="250"/>
            </a:xfrm>
          </p:grpSpPr>
          <p:sp>
            <p:nvSpPr>
              <p:cNvPr id="14420" name="Text Box 84"/>
              <p:cNvSpPr txBox="1">
                <a:spLocks noChangeArrowheads="1"/>
              </p:cNvSpPr>
              <p:nvPr/>
            </p:nvSpPr>
            <p:spPr bwMode="auto">
              <a:xfrm>
                <a:off x="874" y="2295"/>
                <a:ext cx="24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2000"/>
                  <a:t>p</a:t>
                </a:r>
                <a:r>
                  <a:rPr lang="nb-NO" altLang="he-IL" sz="2000" baseline="-25000"/>
                  <a:t>1</a:t>
                </a:r>
                <a:endParaRPr lang="nb-NO" altLang="he-IL"/>
              </a:p>
            </p:txBody>
          </p:sp>
          <p:sp>
            <p:nvSpPr>
              <p:cNvPr id="14421" name="Text Box 85"/>
              <p:cNvSpPr txBox="1">
                <a:spLocks noChangeArrowheads="1"/>
              </p:cNvSpPr>
              <p:nvPr/>
            </p:nvSpPr>
            <p:spPr bwMode="auto">
              <a:xfrm>
                <a:off x="1104" y="2295"/>
                <a:ext cx="24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2000"/>
                  <a:t>p</a:t>
                </a:r>
                <a:r>
                  <a:rPr lang="nb-NO" altLang="he-IL" sz="2000" baseline="-25000"/>
                  <a:t>2</a:t>
                </a:r>
                <a:endParaRPr lang="nb-NO" altLang="he-IL"/>
              </a:p>
            </p:txBody>
          </p:sp>
          <p:sp>
            <p:nvSpPr>
              <p:cNvPr id="14422" name="Text Box 86"/>
              <p:cNvSpPr txBox="1">
                <a:spLocks noChangeArrowheads="1"/>
              </p:cNvSpPr>
              <p:nvPr/>
            </p:nvSpPr>
            <p:spPr bwMode="auto">
              <a:xfrm>
                <a:off x="1344" y="2295"/>
                <a:ext cx="24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2000"/>
                  <a:t>p</a:t>
                </a:r>
                <a:r>
                  <a:rPr lang="nb-NO" altLang="he-IL" sz="2000" baseline="-25000"/>
                  <a:t>3</a:t>
                </a:r>
                <a:endParaRPr lang="nb-NO" altLang="he-IL"/>
              </a:p>
            </p:txBody>
          </p:sp>
          <p:sp>
            <p:nvSpPr>
              <p:cNvPr id="14424" name="Text Box 88"/>
              <p:cNvSpPr txBox="1">
                <a:spLocks noChangeArrowheads="1"/>
              </p:cNvSpPr>
              <p:nvPr/>
            </p:nvSpPr>
            <p:spPr bwMode="auto">
              <a:xfrm>
                <a:off x="1718" y="2295"/>
                <a:ext cx="36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nb-NO" altLang="he-IL" sz="1800"/>
                  <a:t>Avg</a:t>
                </a:r>
                <a:endParaRPr lang="nb-NO" altLang="he-IL"/>
              </a:p>
            </p:txBody>
          </p:sp>
        </p:grpSp>
        <p:sp>
          <p:nvSpPr>
            <p:cNvPr id="14426" name="Text Box 90"/>
            <p:cNvSpPr txBox="1">
              <a:spLocks noChangeArrowheads="1"/>
            </p:cNvSpPr>
            <p:nvPr/>
          </p:nvSpPr>
          <p:spPr bwMode="auto">
            <a:xfrm>
              <a:off x="144" y="2928"/>
              <a:ext cx="15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W</a:t>
              </a:r>
              <a:r>
                <a:rPr lang="nb-NO" altLang="he-IL" sz="1800" baseline="-25000"/>
                <a:t>13        </a:t>
              </a:r>
              <a:r>
                <a:rPr lang="nb-NO" altLang="he-IL" sz="1800"/>
                <a:t>1    -1    -1      -1/3</a:t>
              </a:r>
              <a:endParaRPr lang="nb-NO" altLang="he-IL"/>
            </a:p>
          </p:txBody>
        </p:sp>
        <p:sp>
          <p:nvSpPr>
            <p:cNvPr id="14427" name="Text Box 91"/>
            <p:cNvSpPr txBox="1">
              <a:spLocks noChangeArrowheads="1"/>
            </p:cNvSpPr>
            <p:nvPr/>
          </p:nvSpPr>
          <p:spPr bwMode="auto">
            <a:xfrm>
              <a:off x="144" y="3168"/>
              <a:ext cx="15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W</a:t>
              </a:r>
              <a:r>
                <a:rPr lang="nb-NO" altLang="he-IL" sz="1800" baseline="-25000"/>
                <a:t>14</a:t>
              </a:r>
              <a:r>
                <a:rPr lang="nb-NO" altLang="he-IL" sz="1800"/>
                <a:t>    -1     1     1       1/3</a:t>
              </a:r>
              <a:endParaRPr lang="nb-NO" altLang="he-IL"/>
            </a:p>
          </p:txBody>
        </p:sp>
        <p:sp>
          <p:nvSpPr>
            <p:cNvPr id="14428" name="Text Box 92"/>
            <p:cNvSpPr txBox="1">
              <a:spLocks noChangeArrowheads="1"/>
            </p:cNvSpPr>
            <p:nvPr/>
          </p:nvSpPr>
          <p:spPr bwMode="auto">
            <a:xfrm>
              <a:off x="144" y="3408"/>
              <a:ext cx="15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W</a:t>
              </a:r>
              <a:r>
                <a:rPr lang="nb-NO" altLang="he-IL" sz="1800" baseline="-25000"/>
                <a:t>23</a:t>
              </a:r>
              <a:r>
                <a:rPr lang="nb-NO" altLang="he-IL" sz="1800"/>
                <a:t>    1     -1     1       1/3</a:t>
              </a:r>
              <a:endParaRPr lang="nb-NO" altLang="he-IL"/>
            </a:p>
          </p:txBody>
        </p:sp>
        <p:sp>
          <p:nvSpPr>
            <p:cNvPr id="14429" name="Text Box 93"/>
            <p:cNvSpPr txBox="1">
              <a:spLocks noChangeArrowheads="1"/>
            </p:cNvSpPr>
            <p:nvPr/>
          </p:nvSpPr>
          <p:spPr bwMode="auto">
            <a:xfrm>
              <a:off x="144" y="3648"/>
              <a:ext cx="1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W</a:t>
              </a:r>
              <a:r>
                <a:rPr lang="nb-NO" altLang="he-IL" sz="1800" baseline="-25000"/>
                <a:t>24</a:t>
              </a:r>
              <a:r>
                <a:rPr lang="nb-NO" altLang="he-IL" sz="1800"/>
                <a:t>   -1      1    -1      -1/3</a:t>
              </a:r>
              <a:endParaRPr lang="nb-NO" altLang="he-IL"/>
            </a:p>
          </p:txBody>
        </p:sp>
        <p:sp>
          <p:nvSpPr>
            <p:cNvPr id="14430" name="Text Box 94"/>
            <p:cNvSpPr txBox="1">
              <a:spLocks noChangeArrowheads="1"/>
            </p:cNvSpPr>
            <p:nvPr/>
          </p:nvSpPr>
          <p:spPr bwMode="auto">
            <a:xfrm>
              <a:off x="144" y="3888"/>
              <a:ext cx="15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W</a:t>
              </a:r>
              <a:r>
                <a:rPr lang="nb-NO" altLang="he-IL" sz="1800" baseline="-25000"/>
                <a:t>34</a:t>
              </a:r>
              <a:r>
                <a:rPr lang="nb-NO" altLang="he-IL" sz="1800"/>
                <a:t>   -1     -1    -1       -1</a:t>
              </a:r>
              <a:endParaRPr lang="nb-NO" altLang="he-IL"/>
            </a:p>
          </p:txBody>
        </p:sp>
        <p:sp>
          <p:nvSpPr>
            <p:cNvPr id="14431" name="Rectangle 95"/>
            <p:cNvSpPr>
              <a:spLocks noChangeArrowheads="1"/>
            </p:cNvSpPr>
            <p:nvPr/>
          </p:nvSpPr>
          <p:spPr bwMode="auto">
            <a:xfrm>
              <a:off x="1344" y="2688"/>
              <a:ext cx="432" cy="144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32" name="Rectangle 96"/>
            <p:cNvSpPr>
              <a:spLocks noChangeArrowheads="1"/>
            </p:cNvSpPr>
            <p:nvPr/>
          </p:nvSpPr>
          <p:spPr bwMode="auto">
            <a:xfrm>
              <a:off x="96" y="2688"/>
              <a:ext cx="432" cy="144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4456" name="Group 120"/>
          <p:cNvGrpSpPr>
            <a:grpSpLocks/>
          </p:cNvGrpSpPr>
          <p:nvPr/>
        </p:nvGrpSpPr>
        <p:grpSpPr bwMode="auto">
          <a:xfrm>
            <a:off x="4800600" y="1524000"/>
            <a:ext cx="3657600" cy="1928813"/>
            <a:chOff x="3168" y="1728"/>
            <a:chExt cx="2304" cy="1215"/>
          </a:xfrm>
        </p:grpSpPr>
        <p:sp>
          <p:nvSpPr>
            <p:cNvPr id="14435" name="Oval 99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nb-NO" altLang="he-IL" sz="1600"/>
                <a:t>1</a:t>
              </a:r>
              <a:endParaRPr lang="nb-NO" altLang="he-IL"/>
            </a:p>
          </p:txBody>
        </p:sp>
        <p:sp>
          <p:nvSpPr>
            <p:cNvPr id="14436" name="Oval 100"/>
            <p:cNvSpPr>
              <a:spLocks noChangeArrowheads="1"/>
            </p:cNvSpPr>
            <p:nvPr/>
          </p:nvSpPr>
          <p:spPr bwMode="auto">
            <a:xfrm>
              <a:off x="3408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nb-NO" altLang="he-IL" sz="1600"/>
                <a:t>3</a:t>
              </a:r>
              <a:endParaRPr lang="nb-NO" altLang="he-IL"/>
            </a:p>
          </p:txBody>
        </p:sp>
        <p:sp>
          <p:nvSpPr>
            <p:cNvPr id="14437" name="Oval 101"/>
            <p:cNvSpPr>
              <a:spLocks noChangeArrowheads="1"/>
            </p:cNvSpPr>
            <p:nvPr/>
          </p:nvSpPr>
          <p:spPr bwMode="auto">
            <a:xfrm>
              <a:off x="4320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nb-NO" altLang="he-IL" sz="1600"/>
                <a:t>4</a:t>
              </a:r>
              <a:endParaRPr lang="nb-NO" altLang="he-IL"/>
            </a:p>
          </p:txBody>
        </p:sp>
        <p:sp>
          <p:nvSpPr>
            <p:cNvPr id="14438" name="Oval 102"/>
            <p:cNvSpPr>
              <a:spLocks noChangeArrowheads="1"/>
            </p:cNvSpPr>
            <p:nvPr/>
          </p:nvSpPr>
          <p:spPr bwMode="auto">
            <a:xfrm>
              <a:off x="4320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nb-NO" altLang="he-IL" sz="1600"/>
                <a:t>2</a:t>
              </a:r>
              <a:endParaRPr lang="nb-NO" altLang="he-IL"/>
            </a:p>
          </p:txBody>
        </p:sp>
        <p:sp>
          <p:nvSpPr>
            <p:cNvPr id="14439" name="Line 103"/>
            <p:cNvSpPr>
              <a:spLocks noChangeShapeType="1"/>
            </p:cNvSpPr>
            <p:nvPr/>
          </p:nvSpPr>
          <p:spPr bwMode="auto">
            <a:xfrm flipV="1">
              <a:off x="3600" y="2064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40" name="Line 104"/>
            <p:cNvSpPr>
              <a:spLocks noChangeShapeType="1"/>
            </p:cNvSpPr>
            <p:nvPr/>
          </p:nvSpPr>
          <p:spPr bwMode="auto">
            <a:xfrm flipV="1">
              <a:off x="3648" y="201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41" name="Line 105"/>
            <p:cNvSpPr>
              <a:spLocks noChangeShapeType="1"/>
            </p:cNvSpPr>
            <p:nvPr/>
          </p:nvSpPr>
          <p:spPr bwMode="auto">
            <a:xfrm flipV="1">
              <a:off x="3552" y="211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42" name="Line 106"/>
            <p:cNvSpPr>
              <a:spLocks noChangeShapeType="1"/>
            </p:cNvSpPr>
            <p:nvPr/>
          </p:nvSpPr>
          <p:spPr bwMode="auto">
            <a:xfrm>
              <a:off x="3648" y="2064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43" name="Line 107"/>
            <p:cNvSpPr>
              <a:spLocks noChangeShapeType="1"/>
            </p:cNvSpPr>
            <p:nvPr/>
          </p:nvSpPr>
          <p:spPr bwMode="auto">
            <a:xfrm flipV="1">
              <a:off x="3648" y="2688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44" name="Line 108"/>
            <p:cNvSpPr>
              <a:spLocks noChangeShapeType="1"/>
            </p:cNvSpPr>
            <p:nvPr/>
          </p:nvSpPr>
          <p:spPr bwMode="auto">
            <a:xfrm flipV="1">
              <a:off x="4416" y="211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45" name="Line 109"/>
            <p:cNvSpPr>
              <a:spLocks noChangeShapeType="1"/>
            </p:cNvSpPr>
            <p:nvPr/>
          </p:nvSpPr>
          <p:spPr bwMode="auto">
            <a:xfrm>
              <a:off x="4896" y="2208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46" name="Text Box 110"/>
            <p:cNvSpPr txBox="1">
              <a:spLocks noChangeArrowheads="1"/>
            </p:cNvSpPr>
            <p:nvPr/>
          </p:nvSpPr>
          <p:spPr bwMode="auto">
            <a:xfrm>
              <a:off x="5040" y="1968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[-]</a:t>
              </a:r>
              <a:endParaRPr lang="nb-NO" altLang="he-IL"/>
            </a:p>
          </p:txBody>
        </p:sp>
        <p:sp>
          <p:nvSpPr>
            <p:cNvPr id="14447" name="Line 111"/>
            <p:cNvSpPr>
              <a:spLocks noChangeShapeType="1"/>
            </p:cNvSpPr>
            <p:nvPr/>
          </p:nvSpPr>
          <p:spPr bwMode="auto">
            <a:xfrm>
              <a:off x="4896" y="2544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48" name="Text Box 112"/>
            <p:cNvSpPr txBox="1">
              <a:spLocks noChangeArrowheads="1"/>
            </p:cNvSpPr>
            <p:nvPr/>
          </p:nvSpPr>
          <p:spPr bwMode="auto">
            <a:xfrm>
              <a:off x="5040" y="2304"/>
              <a:ext cx="2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[+]</a:t>
              </a:r>
              <a:endParaRPr lang="nb-NO" altLang="he-IL"/>
            </a:p>
          </p:txBody>
        </p:sp>
        <p:sp>
          <p:nvSpPr>
            <p:cNvPr id="14449" name="Text Box 113"/>
            <p:cNvSpPr txBox="1">
              <a:spLocks noChangeArrowheads="1"/>
            </p:cNvSpPr>
            <p:nvPr/>
          </p:nvSpPr>
          <p:spPr bwMode="auto">
            <a:xfrm>
              <a:off x="3878" y="271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</a:t>
              </a:r>
              <a:endParaRPr lang="nb-NO" altLang="he-IL"/>
            </a:p>
          </p:txBody>
        </p:sp>
        <p:sp>
          <p:nvSpPr>
            <p:cNvPr id="14450" name="Text Box 114"/>
            <p:cNvSpPr txBox="1">
              <a:spLocks noChangeArrowheads="1"/>
            </p:cNvSpPr>
            <p:nvPr/>
          </p:nvSpPr>
          <p:spPr bwMode="auto">
            <a:xfrm>
              <a:off x="4464" y="2208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4451" name="Text Box 115"/>
            <p:cNvSpPr txBox="1">
              <a:spLocks noChangeArrowheads="1"/>
            </p:cNvSpPr>
            <p:nvPr/>
          </p:nvSpPr>
          <p:spPr bwMode="auto">
            <a:xfrm>
              <a:off x="3168" y="2256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4452" name="Text Box 116"/>
            <p:cNvSpPr txBox="1">
              <a:spLocks noChangeArrowheads="1"/>
            </p:cNvSpPr>
            <p:nvPr/>
          </p:nvSpPr>
          <p:spPr bwMode="auto">
            <a:xfrm>
              <a:off x="3792" y="1728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4453" name="Text Box 117"/>
            <p:cNvSpPr txBox="1">
              <a:spLocks noChangeArrowheads="1"/>
            </p:cNvSpPr>
            <p:nvPr/>
          </p:nvSpPr>
          <p:spPr bwMode="auto">
            <a:xfrm>
              <a:off x="3744" y="2400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4454" name="Text Box 118"/>
            <p:cNvSpPr txBox="1">
              <a:spLocks noChangeArrowheads="1"/>
            </p:cNvSpPr>
            <p:nvPr/>
          </p:nvSpPr>
          <p:spPr bwMode="auto">
            <a:xfrm>
              <a:off x="3792" y="2016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</p:grpSp>
      <p:sp>
        <p:nvSpPr>
          <p:cNvPr id="14455" name="Text Box 119"/>
          <p:cNvSpPr txBox="1">
            <a:spLocks noChangeArrowheads="1"/>
          </p:cNvSpPr>
          <p:nvPr/>
        </p:nvSpPr>
        <p:spPr bwMode="auto">
          <a:xfrm>
            <a:off x="5181600" y="914400"/>
            <a:ext cx="1954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3. Build Network</a:t>
            </a:r>
            <a:endParaRPr lang="nb-NO" altLang="he-IL"/>
          </a:p>
        </p:txBody>
      </p:sp>
      <p:sp>
        <p:nvSpPr>
          <p:cNvPr id="14457" name="Text Box 121"/>
          <p:cNvSpPr txBox="1">
            <a:spLocks noChangeArrowheads="1"/>
          </p:cNvSpPr>
          <p:nvPr/>
        </p:nvSpPr>
        <p:spPr bwMode="auto">
          <a:xfrm>
            <a:off x="4953000" y="3733800"/>
            <a:ext cx="2268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4. Enter Test Pattern</a:t>
            </a:r>
            <a:endParaRPr lang="nb-NO" altLang="he-IL"/>
          </a:p>
        </p:txBody>
      </p:sp>
      <p:sp>
        <p:nvSpPr>
          <p:cNvPr id="14459" name="Rectangle 123"/>
          <p:cNvSpPr>
            <a:spLocks noChangeArrowheads="1"/>
          </p:cNvSpPr>
          <p:nvPr/>
        </p:nvSpPr>
        <p:spPr bwMode="auto">
          <a:xfrm>
            <a:off x="4495800" y="45720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60" name="Rectangle 124"/>
          <p:cNvSpPr>
            <a:spLocks noChangeArrowheads="1"/>
          </p:cNvSpPr>
          <p:nvPr/>
        </p:nvSpPr>
        <p:spPr bwMode="auto">
          <a:xfrm>
            <a:off x="4953000" y="50292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61" name="Rectangle 125"/>
          <p:cNvSpPr>
            <a:spLocks noChangeArrowheads="1"/>
          </p:cNvSpPr>
          <p:nvPr/>
        </p:nvSpPr>
        <p:spPr bwMode="auto">
          <a:xfrm>
            <a:off x="4495800" y="50292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62" name="Rectangle 126"/>
          <p:cNvSpPr>
            <a:spLocks noChangeArrowheads="1"/>
          </p:cNvSpPr>
          <p:nvPr/>
        </p:nvSpPr>
        <p:spPr bwMode="auto">
          <a:xfrm>
            <a:off x="4953000" y="45720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63" name="Text Box 127"/>
          <p:cNvSpPr txBox="1">
            <a:spLocks noChangeArrowheads="1"/>
          </p:cNvSpPr>
          <p:nvPr/>
        </p:nvSpPr>
        <p:spPr bwMode="auto">
          <a:xfrm>
            <a:off x="4556125" y="4633913"/>
            <a:ext cx="295275" cy="3460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14464" name="Text Box 128"/>
          <p:cNvSpPr txBox="1">
            <a:spLocks noChangeArrowheads="1"/>
          </p:cNvSpPr>
          <p:nvPr/>
        </p:nvSpPr>
        <p:spPr bwMode="auto">
          <a:xfrm>
            <a:off x="4572000" y="5105400"/>
            <a:ext cx="285750" cy="336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14465" name="Text Box 129"/>
          <p:cNvSpPr txBox="1">
            <a:spLocks noChangeArrowheads="1"/>
          </p:cNvSpPr>
          <p:nvPr/>
        </p:nvSpPr>
        <p:spPr bwMode="auto">
          <a:xfrm>
            <a:off x="5029200" y="51054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14466" name="Text Box 130"/>
          <p:cNvSpPr txBox="1">
            <a:spLocks noChangeArrowheads="1"/>
          </p:cNvSpPr>
          <p:nvPr/>
        </p:nvSpPr>
        <p:spPr bwMode="auto">
          <a:xfrm>
            <a:off x="5029200" y="4648200"/>
            <a:ext cx="295275" cy="3460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grpSp>
        <p:nvGrpSpPr>
          <p:cNvPr id="14473" name="Group 137"/>
          <p:cNvGrpSpPr>
            <a:grpSpLocks/>
          </p:cNvGrpSpPr>
          <p:nvPr/>
        </p:nvGrpSpPr>
        <p:grpSpPr bwMode="auto">
          <a:xfrm>
            <a:off x="4724400" y="4648200"/>
            <a:ext cx="76200" cy="76200"/>
            <a:chOff x="2688" y="2976"/>
            <a:chExt cx="48" cy="48"/>
          </a:xfrm>
        </p:grpSpPr>
        <p:sp>
          <p:nvSpPr>
            <p:cNvPr id="14474" name="Line 138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75" name="Line 139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4477" name="Line 141"/>
          <p:cNvSpPr>
            <a:spLocks noChangeShapeType="1"/>
          </p:cNvSpPr>
          <p:nvPr/>
        </p:nvSpPr>
        <p:spPr bwMode="auto">
          <a:xfrm>
            <a:off x="5638800" y="5029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79" name="Oval 143"/>
          <p:cNvSpPr>
            <a:spLocks noChangeArrowheads="1"/>
          </p:cNvSpPr>
          <p:nvPr/>
        </p:nvSpPr>
        <p:spPr bwMode="auto">
          <a:xfrm>
            <a:off x="6705600" y="44196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4480" name="Oval 144"/>
          <p:cNvSpPr>
            <a:spLocks noChangeArrowheads="1"/>
          </p:cNvSpPr>
          <p:nvPr/>
        </p:nvSpPr>
        <p:spPr bwMode="auto">
          <a:xfrm>
            <a:off x="6705600" y="5562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4481" name="Oval 145"/>
          <p:cNvSpPr>
            <a:spLocks noChangeArrowheads="1"/>
          </p:cNvSpPr>
          <p:nvPr/>
        </p:nvSpPr>
        <p:spPr bwMode="auto">
          <a:xfrm>
            <a:off x="8153400" y="54864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4482" name="Oval 146"/>
          <p:cNvSpPr>
            <a:spLocks noChangeArrowheads="1"/>
          </p:cNvSpPr>
          <p:nvPr/>
        </p:nvSpPr>
        <p:spPr bwMode="auto">
          <a:xfrm>
            <a:off x="8153400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4483" name="Line 147"/>
          <p:cNvSpPr>
            <a:spLocks noChangeShapeType="1"/>
          </p:cNvSpPr>
          <p:nvPr/>
        </p:nvSpPr>
        <p:spPr bwMode="auto">
          <a:xfrm flipV="1">
            <a:off x="7010400" y="47244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84" name="Line 148"/>
          <p:cNvSpPr>
            <a:spLocks noChangeShapeType="1"/>
          </p:cNvSpPr>
          <p:nvPr/>
        </p:nvSpPr>
        <p:spPr bwMode="auto">
          <a:xfrm flipV="1">
            <a:off x="7086600" y="4648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85" name="Line 149"/>
          <p:cNvSpPr>
            <a:spLocks noChangeShapeType="1"/>
          </p:cNvSpPr>
          <p:nvPr/>
        </p:nvSpPr>
        <p:spPr bwMode="auto">
          <a:xfrm flipV="1">
            <a:off x="6934200" y="48006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86" name="Line 150"/>
          <p:cNvSpPr>
            <a:spLocks noChangeShapeType="1"/>
          </p:cNvSpPr>
          <p:nvPr/>
        </p:nvSpPr>
        <p:spPr bwMode="auto">
          <a:xfrm>
            <a:off x="7086600" y="47244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87" name="Line 151"/>
          <p:cNvSpPr>
            <a:spLocks noChangeShapeType="1"/>
          </p:cNvSpPr>
          <p:nvPr/>
        </p:nvSpPr>
        <p:spPr bwMode="auto">
          <a:xfrm flipV="1">
            <a:off x="7086600" y="57150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88" name="Line 152"/>
          <p:cNvSpPr>
            <a:spLocks noChangeShapeType="1"/>
          </p:cNvSpPr>
          <p:nvPr/>
        </p:nvSpPr>
        <p:spPr bwMode="auto">
          <a:xfrm flipV="1"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493" name="Text Box 157"/>
          <p:cNvSpPr txBox="1">
            <a:spLocks noChangeArrowheads="1"/>
          </p:cNvSpPr>
          <p:nvPr/>
        </p:nvSpPr>
        <p:spPr bwMode="auto">
          <a:xfrm>
            <a:off x="7451725" y="57531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14495" name="Text Box 159"/>
          <p:cNvSpPr txBox="1">
            <a:spLocks noChangeArrowheads="1"/>
          </p:cNvSpPr>
          <p:nvPr/>
        </p:nvSpPr>
        <p:spPr bwMode="auto">
          <a:xfrm>
            <a:off x="6324600" y="50292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4497" name="Text Box 161"/>
          <p:cNvSpPr txBox="1">
            <a:spLocks noChangeArrowheads="1"/>
          </p:cNvSpPr>
          <p:nvPr/>
        </p:nvSpPr>
        <p:spPr bwMode="auto">
          <a:xfrm>
            <a:off x="7239000" y="52578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4498" name="Text Box 162"/>
          <p:cNvSpPr txBox="1">
            <a:spLocks noChangeArrowheads="1"/>
          </p:cNvSpPr>
          <p:nvPr/>
        </p:nvSpPr>
        <p:spPr bwMode="auto">
          <a:xfrm>
            <a:off x="7315200" y="46482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4499" name="Text Box 163"/>
          <p:cNvSpPr txBox="1">
            <a:spLocks noChangeArrowheads="1"/>
          </p:cNvSpPr>
          <p:nvPr/>
        </p:nvSpPr>
        <p:spPr bwMode="auto">
          <a:xfrm>
            <a:off x="8382000" y="49530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4500" name="Text Box 164"/>
          <p:cNvSpPr txBox="1">
            <a:spLocks noChangeArrowheads="1"/>
          </p:cNvSpPr>
          <p:nvPr/>
        </p:nvSpPr>
        <p:spPr bwMode="auto">
          <a:xfrm>
            <a:off x="7391400" y="42672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grpSp>
        <p:nvGrpSpPr>
          <p:cNvPr id="14470" name="Group 134"/>
          <p:cNvGrpSpPr>
            <a:grpSpLocks/>
          </p:cNvGrpSpPr>
          <p:nvPr/>
        </p:nvGrpSpPr>
        <p:grpSpPr bwMode="auto">
          <a:xfrm>
            <a:off x="6858000" y="4572000"/>
            <a:ext cx="76200" cy="76200"/>
            <a:chOff x="2688" y="2976"/>
            <a:chExt cx="48" cy="48"/>
          </a:xfrm>
        </p:grpSpPr>
        <p:sp>
          <p:nvSpPr>
            <p:cNvPr id="14471" name="Line 135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472" name="Line 136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85800" y="1676400"/>
            <a:ext cx="457200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1143000" y="2133600"/>
            <a:ext cx="457200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52" name="Rectangle 16"/>
          <p:cNvSpPr>
            <a:spLocks noChangeArrowheads="1"/>
          </p:cNvSpPr>
          <p:nvPr/>
        </p:nvSpPr>
        <p:spPr bwMode="auto">
          <a:xfrm>
            <a:off x="685800" y="2133600"/>
            <a:ext cx="457200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1143000" y="1676400"/>
            <a:ext cx="457200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746125" y="1738313"/>
            <a:ext cx="295275" cy="3460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762000" y="2209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1219200" y="2209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1219200" y="1752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grpSp>
        <p:nvGrpSpPr>
          <p:cNvPr id="14358" name="Group 22"/>
          <p:cNvGrpSpPr>
            <a:grpSpLocks/>
          </p:cNvGrpSpPr>
          <p:nvPr/>
        </p:nvGrpSpPr>
        <p:grpSpPr bwMode="auto">
          <a:xfrm>
            <a:off x="1371600" y="1752600"/>
            <a:ext cx="76200" cy="76200"/>
            <a:chOff x="2688" y="2976"/>
            <a:chExt cx="48" cy="48"/>
          </a:xfrm>
        </p:grpSpPr>
        <p:sp>
          <p:nvSpPr>
            <p:cNvPr id="14359" name="Line 23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360" name="Line 24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4361" name="Group 25"/>
          <p:cNvGrpSpPr>
            <a:grpSpLocks/>
          </p:cNvGrpSpPr>
          <p:nvPr/>
        </p:nvGrpSpPr>
        <p:grpSpPr bwMode="auto">
          <a:xfrm>
            <a:off x="990600" y="2209800"/>
            <a:ext cx="76200" cy="76200"/>
            <a:chOff x="2688" y="2976"/>
            <a:chExt cx="48" cy="48"/>
          </a:xfrm>
        </p:grpSpPr>
        <p:sp>
          <p:nvSpPr>
            <p:cNvPr id="14362" name="Line 26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363" name="Line 27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4364" name="Group 28"/>
          <p:cNvGrpSpPr>
            <a:grpSpLocks/>
          </p:cNvGrpSpPr>
          <p:nvPr/>
        </p:nvGrpSpPr>
        <p:grpSpPr bwMode="auto">
          <a:xfrm>
            <a:off x="914400" y="1752600"/>
            <a:ext cx="76200" cy="76200"/>
            <a:chOff x="2688" y="2976"/>
            <a:chExt cx="48" cy="48"/>
          </a:xfrm>
        </p:grpSpPr>
        <p:sp>
          <p:nvSpPr>
            <p:cNvPr id="14365" name="Line 29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366" name="Line 30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4503" name="Line 167"/>
          <p:cNvSpPr>
            <a:spLocks noChangeShapeType="1"/>
          </p:cNvSpPr>
          <p:nvPr/>
        </p:nvSpPr>
        <p:spPr bwMode="auto">
          <a:xfrm>
            <a:off x="14478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504" name="Line 168"/>
          <p:cNvSpPr>
            <a:spLocks noChangeShapeType="1"/>
          </p:cNvSpPr>
          <p:nvPr/>
        </p:nvSpPr>
        <p:spPr bwMode="auto">
          <a:xfrm flipH="1">
            <a:off x="14478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506" name="Line 170"/>
          <p:cNvSpPr>
            <a:spLocks noChangeShapeType="1"/>
          </p:cNvSpPr>
          <p:nvPr/>
        </p:nvSpPr>
        <p:spPr bwMode="auto">
          <a:xfrm>
            <a:off x="9906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507" name="Line 171"/>
          <p:cNvSpPr>
            <a:spLocks noChangeShapeType="1"/>
          </p:cNvSpPr>
          <p:nvPr/>
        </p:nvSpPr>
        <p:spPr bwMode="auto">
          <a:xfrm flipH="1">
            <a:off x="990600" y="17526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509" name="Line 173"/>
          <p:cNvSpPr>
            <a:spLocks noChangeShapeType="1"/>
          </p:cNvSpPr>
          <p:nvPr/>
        </p:nvSpPr>
        <p:spPr bwMode="auto">
          <a:xfrm>
            <a:off x="990600" y="22098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4510" name="Line 174"/>
          <p:cNvSpPr>
            <a:spLocks noChangeShapeType="1"/>
          </p:cNvSpPr>
          <p:nvPr/>
        </p:nvSpPr>
        <p:spPr bwMode="auto">
          <a:xfrm flipH="1">
            <a:off x="990600" y="2209800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4521" name="Group 185"/>
          <p:cNvGrpSpPr>
            <a:grpSpLocks/>
          </p:cNvGrpSpPr>
          <p:nvPr/>
        </p:nvGrpSpPr>
        <p:grpSpPr bwMode="auto">
          <a:xfrm>
            <a:off x="5029200" y="5943600"/>
            <a:ext cx="1600200" cy="762000"/>
            <a:chOff x="2592" y="3744"/>
            <a:chExt cx="1008" cy="480"/>
          </a:xfrm>
        </p:grpSpPr>
        <p:grpSp>
          <p:nvGrpSpPr>
            <p:cNvPr id="14518" name="Group 182"/>
            <p:cNvGrpSpPr>
              <a:grpSpLocks/>
            </p:cNvGrpSpPr>
            <p:nvPr/>
          </p:nvGrpSpPr>
          <p:grpSpPr bwMode="auto">
            <a:xfrm>
              <a:off x="2592" y="3984"/>
              <a:ext cx="240" cy="240"/>
              <a:chOff x="2592" y="3888"/>
              <a:chExt cx="240" cy="240"/>
            </a:xfrm>
          </p:grpSpPr>
          <p:sp>
            <p:nvSpPr>
              <p:cNvPr id="14511" name="Oval 175"/>
              <p:cNvSpPr>
                <a:spLocks noChangeArrowheads="1"/>
              </p:cNvSpPr>
              <p:nvPr/>
            </p:nvSpPr>
            <p:spPr bwMode="auto">
              <a:xfrm>
                <a:off x="2592" y="3888"/>
                <a:ext cx="240" cy="24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nb-NO" altLang="he-IL"/>
              </a:p>
            </p:txBody>
          </p:sp>
          <p:grpSp>
            <p:nvGrpSpPr>
              <p:cNvPr id="14512" name="Group 176"/>
              <p:cNvGrpSpPr>
                <a:grpSpLocks/>
              </p:cNvGrpSpPr>
              <p:nvPr/>
            </p:nvGrpSpPr>
            <p:grpSpPr bwMode="auto">
              <a:xfrm>
                <a:off x="2688" y="3984"/>
                <a:ext cx="48" cy="48"/>
                <a:chOff x="2688" y="2976"/>
                <a:chExt cx="48" cy="48"/>
              </a:xfrm>
            </p:grpSpPr>
            <p:sp>
              <p:nvSpPr>
                <p:cNvPr id="14513" name="Line 177"/>
                <p:cNvSpPr>
                  <a:spLocks noChangeShapeType="1"/>
                </p:cNvSpPr>
                <p:nvPr/>
              </p:nvSpPr>
              <p:spPr bwMode="auto">
                <a:xfrm>
                  <a:off x="2688" y="2976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14514" name="Line 178"/>
                <p:cNvSpPr>
                  <a:spLocks noChangeShapeType="1"/>
                </p:cNvSpPr>
                <p:nvPr/>
              </p:nvSpPr>
              <p:spPr bwMode="auto">
                <a:xfrm flipH="1">
                  <a:off x="2688" y="2976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</p:grpSp>
        </p:grpSp>
        <p:sp>
          <p:nvSpPr>
            <p:cNvPr id="14515" name="Oval 179"/>
            <p:cNvSpPr>
              <a:spLocks noChangeArrowheads="1"/>
            </p:cNvSpPr>
            <p:nvPr/>
          </p:nvSpPr>
          <p:spPr bwMode="auto">
            <a:xfrm>
              <a:off x="2976" y="398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4516" name="Oval 180"/>
            <p:cNvSpPr>
              <a:spLocks noChangeArrowheads="1"/>
            </p:cNvSpPr>
            <p:nvPr/>
          </p:nvSpPr>
          <p:spPr bwMode="auto">
            <a:xfrm>
              <a:off x="3360" y="3984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4517" name="Text Box 181"/>
            <p:cNvSpPr txBox="1">
              <a:spLocks noChangeArrowheads="1"/>
            </p:cNvSpPr>
            <p:nvPr/>
          </p:nvSpPr>
          <p:spPr bwMode="auto">
            <a:xfrm>
              <a:off x="2592" y="3744"/>
              <a:ext cx="2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+1</a:t>
              </a:r>
              <a:endParaRPr lang="nb-NO" altLang="he-IL"/>
            </a:p>
          </p:txBody>
        </p:sp>
        <p:sp>
          <p:nvSpPr>
            <p:cNvPr id="14519" name="Text Box 183"/>
            <p:cNvSpPr txBox="1">
              <a:spLocks noChangeArrowheads="1"/>
            </p:cNvSpPr>
            <p:nvPr/>
          </p:nvSpPr>
          <p:spPr bwMode="auto">
            <a:xfrm>
              <a:off x="3024" y="374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0</a:t>
              </a:r>
              <a:endParaRPr lang="nb-NO" altLang="he-IL"/>
            </a:p>
          </p:txBody>
        </p:sp>
        <p:sp>
          <p:nvSpPr>
            <p:cNvPr id="14520" name="Text Box 184"/>
            <p:cNvSpPr txBox="1">
              <a:spLocks noChangeArrowheads="1"/>
            </p:cNvSpPr>
            <p:nvPr/>
          </p:nvSpPr>
          <p:spPr bwMode="auto">
            <a:xfrm>
              <a:off x="3360" y="3744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</a:t>
              </a:r>
              <a:endParaRPr lang="nb-NO" altLang="he-IL"/>
            </a:p>
          </p:txBody>
        </p:sp>
      </p:grpSp>
    </p:spTree>
    <p:extLst>
      <p:ext uri="{BB962C8B-B14F-4D97-AF65-F5344CB8AC3E}">
        <p14:creationId xmlns:p14="http://schemas.microsoft.com/office/powerpoint/2010/main" val="209361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Hopfield Network Example (2)</a:t>
            </a:r>
            <a:endParaRPr lang="nb-NO" altLang="he-IL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365125" y="1157288"/>
            <a:ext cx="5353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5. Synchronous Iteration (update all nodes at once)</a:t>
            </a:r>
            <a:endParaRPr lang="nb-NO" altLang="he-IL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212725" y="2019300"/>
            <a:ext cx="50482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 u="sng"/>
              <a:t>Node	1	2	3	4</a:t>
            </a:r>
            <a:r>
              <a:rPr lang="nb-NO" altLang="he-IL" sz="1800"/>
              <a:t>        </a:t>
            </a:r>
            <a:r>
              <a:rPr lang="nb-NO" altLang="he-IL" sz="1800" u="sng"/>
              <a:t>Output</a:t>
            </a:r>
            <a:endParaRPr lang="nb-NO" altLang="he-IL" sz="1800"/>
          </a:p>
          <a:p>
            <a:r>
              <a:rPr lang="nb-NO" altLang="he-IL" sz="1800"/>
              <a:t>   1	1	0</a:t>
            </a:r>
            <a:r>
              <a:rPr lang="nb-NO" altLang="he-IL"/>
              <a:t>	</a:t>
            </a:r>
            <a:r>
              <a:rPr lang="nb-NO" altLang="he-IL" sz="1800"/>
              <a:t>0	-1/3	1</a:t>
            </a:r>
          </a:p>
          <a:p>
            <a:r>
              <a:rPr lang="nb-NO" altLang="he-IL" sz="1800"/>
              <a:t>   2	1/3	0	0	1/3	1</a:t>
            </a:r>
          </a:p>
          <a:p>
            <a:r>
              <a:rPr lang="nb-NO" altLang="he-IL" sz="1800"/>
              <a:t>   3	-1/3	0	0	1	1</a:t>
            </a:r>
          </a:p>
          <a:p>
            <a:r>
              <a:rPr lang="nb-NO" altLang="he-IL" sz="1800"/>
              <a:t>   4	1/3	0	0	-1	-1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2209800" y="167640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 u="sng"/>
              <a:t>Inputs</a:t>
            </a:r>
            <a:endParaRPr lang="nb-NO" altLang="he-IL"/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4343400" y="41910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4343400" y="53340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5791200" y="52578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5791200" y="41910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 flipV="1">
            <a:off x="4648200" y="44958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 flipV="1">
            <a:off x="4724400" y="44196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V="1">
            <a:off x="4572000" y="45720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4724400" y="44958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 flipV="1">
            <a:off x="4724400" y="5486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 flipV="1">
            <a:off x="5943600" y="45720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5383" name="Group 23"/>
          <p:cNvGrpSpPr>
            <a:grpSpLocks/>
          </p:cNvGrpSpPr>
          <p:nvPr/>
        </p:nvGrpSpPr>
        <p:grpSpPr bwMode="auto">
          <a:xfrm>
            <a:off x="4495800" y="4343400"/>
            <a:ext cx="76200" cy="76200"/>
            <a:chOff x="2688" y="2976"/>
            <a:chExt cx="48" cy="48"/>
          </a:xfrm>
        </p:grpSpPr>
        <p:sp>
          <p:nvSpPr>
            <p:cNvPr id="15384" name="Line 24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5385" name="Line 25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5386" name="Oval 26"/>
          <p:cNvSpPr>
            <a:spLocks noChangeArrowheads="1"/>
          </p:cNvSpPr>
          <p:nvPr/>
        </p:nvSpPr>
        <p:spPr bwMode="auto">
          <a:xfrm>
            <a:off x="990600" y="41910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5387" name="Oval 27"/>
          <p:cNvSpPr>
            <a:spLocks noChangeArrowheads="1"/>
          </p:cNvSpPr>
          <p:nvPr/>
        </p:nvSpPr>
        <p:spPr bwMode="auto">
          <a:xfrm>
            <a:off x="990600" y="5334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5388" name="Oval 28"/>
          <p:cNvSpPr>
            <a:spLocks noChangeArrowheads="1"/>
          </p:cNvSpPr>
          <p:nvPr/>
        </p:nvSpPr>
        <p:spPr bwMode="auto">
          <a:xfrm>
            <a:off x="2438400" y="52578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5389" name="Oval 29"/>
          <p:cNvSpPr>
            <a:spLocks noChangeArrowheads="1"/>
          </p:cNvSpPr>
          <p:nvPr/>
        </p:nvSpPr>
        <p:spPr bwMode="auto">
          <a:xfrm>
            <a:off x="2438400" y="4191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5390" name="Line 30"/>
          <p:cNvSpPr>
            <a:spLocks noChangeShapeType="1"/>
          </p:cNvSpPr>
          <p:nvPr/>
        </p:nvSpPr>
        <p:spPr bwMode="auto">
          <a:xfrm flipV="1">
            <a:off x="1295400" y="44958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91" name="Line 31"/>
          <p:cNvSpPr>
            <a:spLocks noChangeShapeType="1"/>
          </p:cNvSpPr>
          <p:nvPr/>
        </p:nvSpPr>
        <p:spPr bwMode="auto">
          <a:xfrm flipV="1">
            <a:off x="1371600" y="44196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 flipV="1">
            <a:off x="1219200" y="45720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93" name="Line 33"/>
          <p:cNvSpPr>
            <a:spLocks noChangeShapeType="1"/>
          </p:cNvSpPr>
          <p:nvPr/>
        </p:nvSpPr>
        <p:spPr bwMode="auto">
          <a:xfrm>
            <a:off x="1371600" y="44958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94" name="Line 34"/>
          <p:cNvSpPr>
            <a:spLocks noChangeShapeType="1"/>
          </p:cNvSpPr>
          <p:nvPr/>
        </p:nvSpPr>
        <p:spPr bwMode="auto">
          <a:xfrm flipV="1">
            <a:off x="1371600" y="5486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95" name="Line 35"/>
          <p:cNvSpPr>
            <a:spLocks noChangeShapeType="1"/>
          </p:cNvSpPr>
          <p:nvPr/>
        </p:nvSpPr>
        <p:spPr bwMode="auto">
          <a:xfrm flipV="1">
            <a:off x="2590800" y="45720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96" name="Text Box 36"/>
          <p:cNvSpPr txBox="1">
            <a:spLocks noChangeArrowheads="1"/>
          </p:cNvSpPr>
          <p:nvPr/>
        </p:nvSpPr>
        <p:spPr bwMode="auto">
          <a:xfrm>
            <a:off x="1736725" y="55245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15397" name="Text Box 37"/>
          <p:cNvSpPr txBox="1">
            <a:spLocks noChangeArrowheads="1"/>
          </p:cNvSpPr>
          <p:nvPr/>
        </p:nvSpPr>
        <p:spPr bwMode="auto">
          <a:xfrm>
            <a:off x="609600" y="48006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5398" name="Text Box 38"/>
          <p:cNvSpPr txBox="1">
            <a:spLocks noChangeArrowheads="1"/>
          </p:cNvSpPr>
          <p:nvPr/>
        </p:nvSpPr>
        <p:spPr bwMode="auto">
          <a:xfrm>
            <a:off x="1524000" y="50292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5399" name="Text Box 39"/>
          <p:cNvSpPr txBox="1">
            <a:spLocks noChangeArrowheads="1"/>
          </p:cNvSpPr>
          <p:nvPr/>
        </p:nvSpPr>
        <p:spPr bwMode="auto">
          <a:xfrm>
            <a:off x="1600200" y="44196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5400" name="Text Box 40"/>
          <p:cNvSpPr txBox="1">
            <a:spLocks noChangeArrowheads="1"/>
          </p:cNvSpPr>
          <p:nvPr/>
        </p:nvSpPr>
        <p:spPr bwMode="auto">
          <a:xfrm>
            <a:off x="2667000" y="47244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5401" name="Text Box 41"/>
          <p:cNvSpPr txBox="1">
            <a:spLocks noChangeArrowheads="1"/>
          </p:cNvSpPr>
          <p:nvPr/>
        </p:nvSpPr>
        <p:spPr bwMode="auto">
          <a:xfrm>
            <a:off x="1676400" y="40386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grpSp>
        <p:nvGrpSpPr>
          <p:cNvPr id="15402" name="Group 42"/>
          <p:cNvGrpSpPr>
            <a:grpSpLocks/>
          </p:cNvGrpSpPr>
          <p:nvPr/>
        </p:nvGrpSpPr>
        <p:grpSpPr bwMode="auto">
          <a:xfrm>
            <a:off x="1143000" y="4343400"/>
            <a:ext cx="76200" cy="76200"/>
            <a:chOff x="2688" y="2976"/>
            <a:chExt cx="48" cy="48"/>
          </a:xfrm>
        </p:grpSpPr>
        <p:sp>
          <p:nvSpPr>
            <p:cNvPr id="15403" name="Line 43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5404" name="Line 44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5405" name="Group 45"/>
          <p:cNvGrpSpPr>
            <a:grpSpLocks/>
          </p:cNvGrpSpPr>
          <p:nvPr/>
        </p:nvGrpSpPr>
        <p:grpSpPr bwMode="auto">
          <a:xfrm>
            <a:off x="4495800" y="5486400"/>
            <a:ext cx="76200" cy="76200"/>
            <a:chOff x="2688" y="2976"/>
            <a:chExt cx="48" cy="48"/>
          </a:xfrm>
        </p:grpSpPr>
        <p:sp>
          <p:nvSpPr>
            <p:cNvPr id="15406" name="Line 46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5407" name="Line 47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5408" name="Group 48"/>
          <p:cNvGrpSpPr>
            <a:grpSpLocks/>
          </p:cNvGrpSpPr>
          <p:nvPr/>
        </p:nvGrpSpPr>
        <p:grpSpPr bwMode="auto">
          <a:xfrm>
            <a:off x="5943600" y="4343400"/>
            <a:ext cx="76200" cy="76200"/>
            <a:chOff x="2688" y="2976"/>
            <a:chExt cx="48" cy="48"/>
          </a:xfrm>
        </p:grpSpPr>
        <p:sp>
          <p:nvSpPr>
            <p:cNvPr id="15409" name="Line 49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5410" name="Line 50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5411" name="Line 51"/>
          <p:cNvSpPr>
            <a:spLocks noChangeShapeType="1"/>
          </p:cNvSpPr>
          <p:nvPr/>
        </p:nvSpPr>
        <p:spPr bwMode="auto">
          <a:xfrm>
            <a:off x="3352800" y="49530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12" name="Text Box 52"/>
          <p:cNvSpPr txBox="1">
            <a:spLocks noChangeArrowheads="1"/>
          </p:cNvSpPr>
          <p:nvPr/>
        </p:nvSpPr>
        <p:spPr bwMode="auto">
          <a:xfrm>
            <a:off x="4572000" y="5943600"/>
            <a:ext cx="1387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Stable State</a:t>
            </a:r>
            <a:endParaRPr lang="nb-NO" altLang="he-IL"/>
          </a:p>
        </p:txBody>
      </p:sp>
      <p:sp>
        <p:nvSpPr>
          <p:cNvPr id="15413" name="Text Box 53"/>
          <p:cNvSpPr txBox="1">
            <a:spLocks noChangeArrowheads="1"/>
          </p:cNvSpPr>
          <p:nvPr/>
        </p:nvSpPr>
        <p:spPr bwMode="auto">
          <a:xfrm>
            <a:off x="7712075" y="4129088"/>
            <a:ext cx="393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p</a:t>
            </a:r>
            <a:r>
              <a:rPr lang="nb-NO" altLang="he-IL" sz="2000" baseline="-25000"/>
              <a:t>1</a:t>
            </a:r>
            <a:endParaRPr lang="nb-NO" altLang="he-IL"/>
          </a:p>
        </p:txBody>
      </p:sp>
      <p:sp>
        <p:nvSpPr>
          <p:cNvPr id="15414" name="Rectangle 54"/>
          <p:cNvSpPr>
            <a:spLocks noChangeArrowheads="1"/>
          </p:cNvSpPr>
          <p:nvPr/>
        </p:nvSpPr>
        <p:spPr bwMode="auto">
          <a:xfrm>
            <a:off x="7407275" y="4586288"/>
            <a:ext cx="457200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15" name="Rectangle 55"/>
          <p:cNvSpPr>
            <a:spLocks noChangeArrowheads="1"/>
          </p:cNvSpPr>
          <p:nvPr/>
        </p:nvSpPr>
        <p:spPr bwMode="auto">
          <a:xfrm>
            <a:off x="7864475" y="5043488"/>
            <a:ext cx="457200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16" name="Rectangle 56"/>
          <p:cNvSpPr>
            <a:spLocks noChangeArrowheads="1"/>
          </p:cNvSpPr>
          <p:nvPr/>
        </p:nvSpPr>
        <p:spPr bwMode="auto">
          <a:xfrm>
            <a:off x="7407275" y="5043488"/>
            <a:ext cx="457200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17" name="Rectangle 57"/>
          <p:cNvSpPr>
            <a:spLocks noChangeArrowheads="1"/>
          </p:cNvSpPr>
          <p:nvPr/>
        </p:nvSpPr>
        <p:spPr bwMode="auto">
          <a:xfrm>
            <a:off x="7864475" y="4586288"/>
            <a:ext cx="457200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18" name="Text Box 58"/>
          <p:cNvSpPr txBox="1">
            <a:spLocks noChangeArrowheads="1"/>
          </p:cNvSpPr>
          <p:nvPr/>
        </p:nvSpPr>
        <p:spPr bwMode="auto">
          <a:xfrm>
            <a:off x="7467600" y="4648200"/>
            <a:ext cx="295275" cy="3460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15419" name="Text Box 59"/>
          <p:cNvSpPr txBox="1">
            <a:spLocks noChangeArrowheads="1"/>
          </p:cNvSpPr>
          <p:nvPr/>
        </p:nvSpPr>
        <p:spPr bwMode="auto">
          <a:xfrm>
            <a:off x="7483475" y="51196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15420" name="Text Box 60"/>
          <p:cNvSpPr txBox="1">
            <a:spLocks noChangeArrowheads="1"/>
          </p:cNvSpPr>
          <p:nvPr/>
        </p:nvSpPr>
        <p:spPr bwMode="auto">
          <a:xfrm>
            <a:off x="7940675" y="51196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15421" name="Text Box 61"/>
          <p:cNvSpPr txBox="1">
            <a:spLocks noChangeArrowheads="1"/>
          </p:cNvSpPr>
          <p:nvPr/>
        </p:nvSpPr>
        <p:spPr bwMode="auto">
          <a:xfrm>
            <a:off x="7940675" y="46624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grpSp>
        <p:nvGrpSpPr>
          <p:cNvPr id="15422" name="Group 62"/>
          <p:cNvGrpSpPr>
            <a:grpSpLocks/>
          </p:cNvGrpSpPr>
          <p:nvPr/>
        </p:nvGrpSpPr>
        <p:grpSpPr bwMode="auto">
          <a:xfrm>
            <a:off x="8093075" y="4662488"/>
            <a:ext cx="76200" cy="76200"/>
            <a:chOff x="2688" y="2976"/>
            <a:chExt cx="48" cy="48"/>
          </a:xfrm>
        </p:grpSpPr>
        <p:sp>
          <p:nvSpPr>
            <p:cNvPr id="15423" name="Line 63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5424" name="Line 64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5425" name="Group 65"/>
          <p:cNvGrpSpPr>
            <a:grpSpLocks/>
          </p:cNvGrpSpPr>
          <p:nvPr/>
        </p:nvGrpSpPr>
        <p:grpSpPr bwMode="auto">
          <a:xfrm>
            <a:off x="7712075" y="5119688"/>
            <a:ext cx="76200" cy="76200"/>
            <a:chOff x="2688" y="2976"/>
            <a:chExt cx="48" cy="48"/>
          </a:xfrm>
        </p:grpSpPr>
        <p:sp>
          <p:nvSpPr>
            <p:cNvPr id="15426" name="Line 66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5427" name="Line 67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5428" name="Group 68"/>
          <p:cNvGrpSpPr>
            <a:grpSpLocks/>
          </p:cNvGrpSpPr>
          <p:nvPr/>
        </p:nvGrpSpPr>
        <p:grpSpPr bwMode="auto">
          <a:xfrm>
            <a:off x="7635875" y="4662488"/>
            <a:ext cx="76200" cy="76200"/>
            <a:chOff x="2688" y="2976"/>
            <a:chExt cx="48" cy="48"/>
          </a:xfrm>
        </p:grpSpPr>
        <p:sp>
          <p:nvSpPr>
            <p:cNvPr id="15429" name="Line 69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5430" name="Line 70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5431" name="Line 71"/>
          <p:cNvSpPr>
            <a:spLocks noChangeShapeType="1"/>
          </p:cNvSpPr>
          <p:nvPr/>
        </p:nvSpPr>
        <p:spPr bwMode="auto">
          <a:xfrm>
            <a:off x="8169275" y="4662488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32" name="Line 72"/>
          <p:cNvSpPr>
            <a:spLocks noChangeShapeType="1"/>
          </p:cNvSpPr>
          <p:nvPr/>
        </p:nvSpPr>
        <p:spPr bwMode="auto">
          <a:xfrm flipH="1">
            <a:off x="8169275" y="4662488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33" name="Line 73"/>
          <p:cNvSpPr>
            <a:spLocks noChangeShapeType="1"/>
          </p:cNvSpPr>
          <p:nvPr/>
        </p:nvSpPr>
        <p:spPr bwMode="auto">
          <a:xfrm>
            <a:off x="7712075" y="4662488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34" name="Line 74"/>
          <p:cNvSpPr>
            <a:spLocks noChangeShapeType="1"/>
          </p:cNvSpPr>
          <p:nvPr/>
        </p:nvSpPr>
        <p:spPr bwMode="auto">
          <a:xfrm flipH="1">
            <a:off x="7712075" y="4662488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35" name="Line 75"/>
          <p:cNvSpPr>
            <a:spLocks noChangeShapeType="1"/>
          </p:cNvSpPr>
          <p:nvPr/>
        </p:nvSpPr>
        <p:spPr bwMode="auto">
          <a:xfrm>
            <a:off x="7712075" y="5119688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36" name="Line 76"/>
          <p:cNvSpPr>
            <a:spLocks noChangeShapeType="1"/>
          </p:cNvSpPr>
          <p:nvPr/>
        </p:nvSpPr>
        <p:spPr bwMode="auto">
          <a:xfrm flipH="1">
            <a:off x="7712075" y="5119688"/>
            <a:ext cx="76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37" name="Text Box 77"/>
          <p:cNvSpPr txBox="1">
            <a:spLocks noChangeArrowheads="1"/>
          </p:cNvSpPr>
          <p:nvPr/>
        </p:nvSpPr>
        <p:spPr bwMode="auto">
          <a:xfrm>
            <a:off x="6461125" y="4443413"/>
            <a:ext cx="5000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4400"/>
              <a:t>=</a:t>
            </a:r>
            <a:endParaRPr lang="nb-NO" altLang="he-IL"/>
          </a:p>
        </p:txBody>
      </p:sp>
      <p:sp>
        <p:nvSpPr>
          <p:cNvPr id="15438" name="Freeform 78"/>
          <p:cNvSpPr>
            <a:spLocks/>
          </p:cNvSpPr>
          <p:nvPr/>
        </p:nvSpPr>
        <p:spPr bwMode="auto">
          <a:xfrm>
            <a:off x="1085850" y="2398713"/>
            <a:ext cx="3209925" cy="1238250"/>
          </a:xfrm>
          <a:custGeom>
            <a:avLst/>
            <a:gdLst>
              <a:gd name="T0" fmla="*/ 1981 w 2022"/>
              <a:gd name="T1" fmla="*/ 726 h 780"/>
              <a:gd name="T2" fmla="*/ 2004 w 2022"/>
              <a:gd name="T3" fmla="*/ 655 h 780"/>
              <a:gd name="T4" fmla="*/ 1950 w 2022"/>
              <a:gd name="T5" fmla="*/ 539 h 780"/>
              <a:gd name="T6" fmla="*/ 1755 w 2022"/>
              <a:gd name="T7" fmla="*/ 507 h 780"/>
              <a:gd name="T8" fmla="*/ 1560 w 2022"/>
              <a:gd name="T9" fmla="*/ 445 h 780"/>
              <a:gd name="T10" fmla="*/ 1241 w 2022"/>
              <a:gd name="T11" fmla="*/ 375 h 780"/>
              <a:gd name="T12" fmla="*/ 1139 w 2022"/>
              <a:gd name="T13" fmla="*/ 344 h 780"/>
              <a:gd name="T14" fmla="*/ 1116 w 2022"/>
              <a:gd name="T15" fmla="*/ 328 h 780"/>
              <a:gd name="T16" fmla="*/ 1054 w 2022"/>
              <a:gd name="T17" fmla="*/ 313 h 780"/>
              <a:gd name="T18" fmla="*/ 641 w 2022"/>
              <a:gd name="T19" fmla="*/ 196 h 780"/>
              <a:gd name="T20" fmla="*/ 610 w 2022"/>
              <a:gd name="T21" fmla="*/ 172 h 780"/>
              <a:gd name="T22" fmla="*/ 586 w 2022"/>
              <a:gd name="T23" fmla="*/ 165 h 780"/>
              <a:gd name="T24" fmla="*/ 532 w 2022"/>
              <a:gd name="T25" fmla="*/ 118 h 780"/>
              <a:gd name="T26" fmla="*/ 220 w 2022"/>
              <a:gd name="T27" fmla="*/ 1 h 780"/>
              <a:gd name="T28" fmla="*/ 41 w 2022"/>
              <a:gd name="T29" fmla="*/ 9 h 780"/>
              <a:gd name="T30" fmla="*/ 25 w 2022"/>
              <a:gd name="T31" fmla="*/ 94 h 780"/>
              <a:gd name="T32" fmla="*/ 49 w 2022"/>
              <a:gd name="T33" fmla="*/ 110 h 780"/>
              <a:gd name="T34" fmla="*/ 95 w 2022"/>
              <a:gd name="T35" fmla="*/ 157 h 780"/>
              <a:gd name="T36" fmla="*/ 165 w 2022"/>
              <a:gd name="T37" fmla="*/ 188 h 780"/>
              <a:gd name="T38" fmla="*/ 368 w 2022"/>
              <a:gd name="T39" fmla="*/ 242 h 780"/>
              <a:gd name="T40" fmla="*/ 430 w 2022"/>
              <a:gd name="T41" fmla="*/ 266 h 780"/>
              <a:gd name="T42" fmla="*/ 563 w 2022"/>
              <a:gd name="T43" fmla="*/ 320 h 780"/>
              <a:gd name="T44" fmla="*/ 797 w 2022"/>
              <a:gd name="T45" fmla="*/ 383 h 780"/>
              <a:gd name="T46" fmla="*/ 898 w 2022"/>
              <a:gd name="T47" fmla="*/ 429 h 780"/>
              <a:gd name="T48" fmla="*/ 945 w 2022"/>
              <a:gd name="T49" fmla="*/ 445 h 780"/>
              <a:gd name="T50" fmla="*/ 1272 w 2022"/>
              <a:gd name="T51" fmla="*/ 531 h 780"/>
              <a:gd name="T52" fmla="*/ 1326 w 2022"/>
              <a:gd name="T53" fmla="*/ 546 h 780"/>
              <a:gd name="T54" fmla="*/ 1397 w 2022"/>
              <a:gd name="T55" fmla="*/ 585 h 780"/>
              <a:gd name="T56" fmla="*/ 1576 w 2022"/>
              <a:gd name="T57" fmla="*/ 648 h 780"/>
              <a:gd name="T58" fmla="*/ 1638 w 2022"/>
              <a:gd name="T59" fmla="*/ 694 h 780"/>
              <a:gd name="T60" fmla="*/ 1708 w 2022"/>
              <a:gd name="T61" fmla="*/ 733 h 780"/>
              <a:gd name="T62" fmla="*/ 1895 w 2022"/>
              <a:gd name="T63" fmla="*/ 780 h 780"/>
              <a:gd name="T64" fmla="*/ 1973 w 2022"/>
              <a:gd name="T65" fmla="*/ 772 h 780"/>
              <a:gd name="T66" fmla="*/ 1981 w 2022"/>
              <a:gd name="T67" fmla="*/ 726 h 7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022" h="780">
                <a:moveTo>
                  <a:pt x="1981" y="726"/>
                </a:moveTo>
                <a:cubicBezTo>
                  <a:pt x="2000" y="671"/>
                  <a:pt x="1992" y="695"/>
                  <a:pt x="2004" y="655"/>
                </a:cubicBezTo>
                <a:cubicBezTo>
                  <a:pt x="1999" y="589"/>
                  <a:pt x="2012" y="558"/>
                  <a:pt x="1950" y="539"/>
                </a:cubicBezTo>
                <a:cubicBezTo>
                  <a:pt x="1887" y="495"/>
                  <a:pt x="1848" y="512"/>
                  <a:pt x="1755" y="507"/>
                </a:cubicBezTo>
                <a:cubicBezTo>
                  <a:pt x="1688" y="492"/>
                  <a:pt x="1626" y="462"/>
                  <a:pt x="1560" y="445"/>
                </a:cubicBezTo>
                <a:cubicBezTo>
                  <a:pt x="1462" y="377"/>
                  <a:pt x="1358" y="380"/>
                  <a:pt x="1241" y="375"/>
                </a:cubicBezTo>
                <a:cubicBezTo>
                  <a:pt x="1208" y="367"/>
                  <a:pt x="1170" y="360"/>
                  <a:pt x="1139" y="344"/>
                </a:cubicBezTo>
                <a:cubicBezTo>
                  <a:pt x="1131" y="340"/>
                  <a:pt x="1125" y="331"/>
                  <a:pt x="1116" y="328"/>
                </a:cubicBezTo>
                <a:cubicBezTo>
                  <a:pt x="1096" y="320"/>
                  <a:pt x="1074" y="319"/>
                  <a:pt x="1054" y="313"/>
                </a:cubicBezTo>
                <a:cubicBezTo>
                  <a:pt x="934" y="233"/>
                  <a:pt x="777" y="237"/>
                  <a:pt x="641" y="196"/>
                </a:cubicBezTo>
                <a:cubicBezTo>
                  <a:pt x="631" y="188"/>
                  <a:pt x="621" y="178"/>
                  <a:pt x="610" y="172"/>
                </a:cubicBezTo>
                <a:cubicBezTo>
                  <a:pt x="603" y="168"/>
                  <a:pt x="593" y="170"/>
                  <a:pt x="586" y="165"/>
                </a:cubicBezTo>
                <a:cubicBezTo>
                  <a:pt x="566" y="152"/>
                  <a:pt x="551" y="132"/>
                  <a:pt x="532" y="118"/>
                </a:cubicBezTo>
                <a:cubicBezTo>
                  <a:pt x="480" y="41"/>
                  <a:pt x="308" y="16"/>
                  <a:pt x="220" y="1"/>
                </a:cubicBezTo>
                <a:cubicBezTo>
                  <a:pt x="160" y="4"/>
                  <a:pt x="100" y="0"/>
                  <a:pt x="41" y="9"/>
                </a:cubicBezTo>
                <a:cubicBezTo>
                  <a:pt x="0" y="15"/>
                  <a:pt x="19" y="80"/>
                  <a:pt x="25" y="94"/>
                </a:cubicBezTo>
                <a:cubicBezTo>
                  <a:pt x="29" y="103"/>
                  <a:pt x="42" y="104"/>
                  <a:pt x="49" y="110"/>
                </a:cubicBezTo>
                <a:cubicBezTo>
                  <a:pt x="65" y="125"/>
                  <a:pt x="74" y="150"/>
                  <a:pt x="95" y="157"/>
                </a:cubicBezTo>
                <a:cubicBezTo>
                  <a:pt x="120" y="165"/>
                  <a:pt x="139" y="181"/>
                  <a:pt x="165" y="188"/>
                </a:cubicBezTo>
                <a:cubicBezTo>
                  <a:pt x="233" y="206"/>
                  <a:pt x="301" y="221"/>
                  <a:pt x="368" y="242"/>
                </a:cubicBezTo>
                <a:cubicBezTo>
                  <a:pt x="418" y="277"/>
                  <a:pt x="359" y="240"/>
                  <a:pt x="430" y="266"/>
                </a:cubicBezTo>
                <a:cubicBezTo>
                  <a:pt x="474" y="282"/>
                  <a:pt x="517" y="307"/>
                  <a:pt x="563" y="320"/>
                </a:cubicBezTo>
                <a:cubicBezTo>
                  <a:pt x="635" y="370"/>
                  <a:pt x="711" y="375"/>
                  <a:pt x="797" y="383"/>
                </a:cubicBezTo>
                <a:cubicBezTo>
                  <a:pt x="833" y="396"/>
                  <a:pt x="864" y="414"/>
                  <a:pt x="898" y="429"/>
                </a:cubicBezTo>
                <a:cubicBezTo>
                  <a:pt x="913" y="436"/>
                  <a:pt x="945" y="445"/>
                  <a:pt x="945" y="445"/>
                </a:cubicBezTo>
                <a:cubicBezTo>
                  <a:pt x="1022" y="499"/>
                  <a:pt x="1180" y="515"/>
                  <a:pt x="1272" y="531"/>
                </a:cubicBezTo>
                <a:cubicBezTo>
                  <a:pt x="1290" y="537"/>
                  <a:pt x="1309" y="539"/>
                  <a:pt x="1326" y="546"/>
                </a:cubicBezTo>
                <a:cubicBezTo>
                  <a:pt x="1350" y="556"/>
                  <a:pt x="1373" y="574"/>
                  <a:pt x="1397" y="585"/>
                </a:cubicBezTo>
                <a:cubicBezTo>
                  <a:pt x="1454" y="610"/>
                  <a:pt x="1517" y="628"/>
                  <a:pt x="1576" y="648"/>
                </a:cubicBezTo>
                <a:cubicBezTo>
                  <a:pt x="1600" y="656"/>
                  <a:pt x="1617" y="679"/>
                  <a:pt x="1638" y="694"/>
                </a:cubicBezTo>
                <a:cubicBezTo>
                  <a:pt x="1657" y="709"/>
                  <a:pt x="1686" y="724"/>
                  <a:pt x="1708" y="733"/>
                </a:cubicBezTo>
                <a:cubicBezTo>
                  <a:pt x="1767" y="758"/>
                  <a:pt x="1834" y="764"/>
                  <a:pt x="1895" y="780"/>
                </a:cubicBezTo>
                <a:cubicBezTo>
                  <a:pt x="1921" y="777"/>
                  <a:pt x="1948" y="780"/>
                  <a:pt x="1973" y="772"/>
                </a:cubicBezTo>
                <a:cubicBezTo>
                  <a:pt x="1975" y="771"/>
                  <a:pt x="2022" y="726"/>
                  <a:pt x="1981" y="726"/>
                </a:cubicBezTo>
                <a:close/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39" name="Line 79"/>
          <p:cNvSpPr>
            <a:spLocks noChangeShapeType="1"/>
          </p:cNvSpPr>
          <p:nvPr/>
        </p:nvSpPr>
        <p:spPr bwMode="auto">
          <a:xfrm>
            <a:off x="4343400" y="35814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440" name="Text Box 80"/>
          <p:cNvSpPr txBox="1">
            <a:spLocks noChangeArrowheads="1"/>
          </p:cNvSpPr>
          <p:nvPr/>
        </p:nvSpPr>
        <p:spPr bwMode="auto">
          <a:xfrm>
            <a:off x="4860925" y="3643313"/>
            <a:ext cx="22034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Values from Input Layer</a:t>
            </a:r>
            <a:endParaRPr lang="nb-NO" altLang="he-IL"/>
          </a:p>
        </p:txBody>
      </p:sp>
      <p:sp>
        <p:nvSpPr>
          <p:cNvPr id="15441" name="Text Box 81"/>
          <p:cNvSpPr txBox="1">
            <a:spLocks noChangeArrowheads="1"/>
          </p:cNvSpPr>
          <p:nvPr/>
        </p:nvSpPr>
        <p:spPr bwMode="auto">
          <a:xfrm>
            <a:off x="5410200" y="1752600"/>
            <a:ext cx="3175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From discrete output rule: sign(sum)</a:t>
            </a:r>
            <a:endParaRPr lang="nb-NO" altLang="he-IL"/>
          </a:p>
        </p:txBody>
      </p:sp>
      <p:sp>
        <p:nvSpPr>
          <p:cNvPr id="15442" name="Line 82"/>
          <p:cNvSpPr>
            <a:spLocks noChangeShapeType="1"/>
          </p:cNvSpPr>
          <p:nvPr/>
        </p:nvSpPr>
        <p:spPr bwMode="auto">
          <a:xfrm flipV="1">
            <a:off x="5029200" y="19050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8487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609600"/>
          </a:xfrm>
        </p:spPr>
        <p:txBody>
          <a:bodyPr/>
          <a:lstStyle/>
          <a:p>
            <a:r>
              <a:rPr lang="en-US" altLang="he-IL" sz="3200"/>
              <a:t>Using Matrices</a:t>
            </a:r>
            <a:endParaRPr lang="en-US" altLang="he-IL"/>
          </a:p>
        </p:txBody>
      </p:sp>
      <p:sp>
        <p:nvSpPr>
          <p:cNvPr id="27651" name="Rectangle 1027"/>
          <p:cNvSpPr>
            <a:spLocks noChangeArrowheads="1"/>
          </p:cNvSpPr>
          <p:nvPr/>
        </p:nvSpPr>
        <p:spPr bwMode="auto">
          <a:xfrm>
            <a:off x="685800" y="990600"/>
            <a:ext cx="7772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nb-NO" altLang="he-IL" sz="2000"/>
              <a:t>Goal: Set weights such that an input vector Vi, yields itself when multiplied by the weights, W.</a:t>
            </a:r>
          </a:p>
          <a:p>
            <a:pPr>
              <a:buFontTx/>
              <a:buNone/>
            </a:pPr>
            <a:r>
              <a:rPr lang="nb-NO" altLang="he-IL" sz="2000"/>
              <a:t>X = V1,V2..Vp, where p = # input vectors (i.e., patterns)</a:t>
            </a:r>
          </a:p>
          <a:p>
            <a:pPr>
              <a:buFontTx/>
              <a:buNone/>
            </a:pPr>
            <a:endParaRPr lang="nb-NO" altLang="he-IL" sz="2000"/>
          </a:p>
          <a:p>
            <a:pPr>
              <a:buFontTx/>
              <a:buNone/>
            </a:pPr>
            <a:r>
              <a:rPr lang="nb-NO" altLang="he-IL" sz="2000"/>
              <a:t>So Y=X, and the Hebbian weight calculation is:  W = X</a:t>
            </a:r>
            <a:r>
              <a:rPr lang="nb-NO" altLang="he-IL" sz="2000" baseline="30000"/>
              <a:t>T</a:t>
            </a:r>
            <a:r>
              <a:rPr lang="nb-NO" altLang="he-IL" sz="2000"/>
              <a:t>Y = X</a:t>
            </a:r>
            <a:r>
              <a:rPr lang="nb-NO" altLang="he-IL" sz="2000" baseline="30000"/>
              <a:t>T</a:t>
            </a:r>
            <a:r>
              <a:rPr lang="nb-NO" altLang="he-IL" sz="2000"/>
              <a:t>X</a:t>
            </a:r>
          </a:p>
          <a:p>
            <a:pPr>
              <a:buFontTx/>
              <a:buNone/>
            </a:pPr>
            <a:r>
              <a:rPr lang="nb-NO" altLang="he-IL" sz="2000"/>
              <a:t>						 1   1  -1</a:t>
            </a:r>
          </a:p>
          <a:p>
            <a:pPr>
              <a:buFontTx/>
              <a:buNone/>
            </a:pPr>
            <a:r>
              <a:rPr lang="nb-NO" altLang="he-IL" sz="2000"/>
              <a:t>	 	 1  1  1 -1			 1   1   1</a:t>
            </a:r>
          </a:p>
          <a:p>
            <a:pPr>
              <a:buFontTx/>
              <a:buNone/>
            </a:pPr>
            <a:r>
              <a:rPr lang="nb-NO" altLang="he-IL" sz="2000"/>
              <a:t>X =	 1  1 -1  1		X</a:t>
            </a:r>
            <a:r>
              <a:rPr lang="nb-NO" altLang="he-IL" sz="2000" baseline="30000"/>
              <a:t>T</a:t>
            </a:r>
            <a:r>
              <a:rPr lang="nb-NO" altLang="he-IL" sz="2000"/>
              <a:t>= 	 1  -1   1</a:t>
            </a:r>
          </a:p>
          <a:p>
            <a:pPr>
              <a:buFontTx/>
              <a:buNone/>
            </a:pPr>
            <a:r>
              <a:rPr lang="nb-NO" altLang="he-IL" sz="2000"/>
              <a:t>		-1  1  1 -1			-1   1  -1</a:t>
            </a:r>
          </a:p>
          <a:p>
            <a:pPr>
              <a:buFontTx/>
              <a:buNone/>
            </a:pPr>
            <a:r>
              <a:rPr lang="nb-NO" altLang="he-IL" sz="2000"/>
              <a:t>			</a:t>
            </a:r>
          </a:p>
          <a:p>
            <a:pPr>
              <a:buFontTx/>
              <a:buNone/>
            </a:pPr>
            <a:r>
              <a:rPr lang="nb-NO" altLang="he-IL" sz="2000"/>
              <a:t>			3  1 -1  1			</a:t>
            </a:r>
            <a:r>
              <a:rPr lang="nb-NO" altLang="he-IL" sz="1800"/>
              <a:t>Common index = pattern #, so</a:t>
            </a:r>
            <a:endParaRPr lang="nb-NO" altLang="he-IL" sz="2000"/>
          </a:p>
          <a:p>
            <a:pPr>
              <a:buFontTx/>
              <a:buNone/>
            </a:pPr>
            <a:r>
              <a:rPr lang="nb-NO" altLang="he-IL" sz="2000"/>
              <a:t>		X</a:t>
            </a:r>
            <a:r>
              <a:rPr lang="nb-NO" altLang="he-IL" sz="2000" baseline="30000"/>
              <a:t>T</a:t>
            </a:r>
            <a:r>
              <a:rPr lang="nb-NO" altLang="he-IL" sz="2000"/>
              <a:t>X = 	1  3  1 -1			</a:t>
            </a:r>
            <a:r>
              <a:rPr lang="nb-NO" altLang="he-IL" sz="1800"/>
              <a:t>this is correlation sum</a:t>
            </a:r>
            <a:r>
              <a:rPr lang="nb-NO" altLang="he-IL" sz="2000"/>
              <a:t>.</a:t>
            </a:r>
          </a:p>
          <a:p>
            <a:pPr>
              <a:buFontTx/>
              <a:buNone/>
            </a:pPr>
            <a:r>
              <a:rPr lang="nb-NO" altLang="he-IL" sz="2000"/>
              <a:t>		             -1  1  3 -3</a:t>
            </a:r>
          </a:p>
          <a:p>
            <a:pPr>
              <a:buFontTx/>
              <a:buNone/>
            </a:pPr>
            <a:r>
              <a:rPr lang="nb-NO" altLang="he-IL" sz="2000"/>
              <a:t>			1 -1 -3  3</a:t>
            </a:r>
          </a:p>
        </p:txBody>
      </p:sp>
      <p:sp>
        <p:nvSpPr>
          <p:cNvPr id="27652" name="Freeform 1028"/>
          <p:cNvSpPr>
            <a:spLocks/>
          </p:cNvSpPr>
          <p:nvPr/>
        </p:nvSpPr>
        <p:spPr bwMode="auto">
          <a:xfrm>
            <a:off x="2749550" y="4641850"/>
            <a:ext cx="866775" cy="1006475"/>
          </a:xfrm>
          <a:custGeom>
            <a:avLst/>
            <a:gdLst>
              <a:gd name="T0" fmla="*/ 0 w 546"/>
              <a:gd name="T1" fmla="*/ 3 h 634"/>
              <a:gd name="T2" fmla="*/ 56 w 546"/>
              <a:gd name="T3" fmla="*/ 144 h 634"/>
              <a:gd name="T4" fmla="*/ 84 w 546"/>
              <a:gd name="T5" fmla="*/ 210 h 634"/>
              <a:gd name="T6" fmla="*/ 141 w 546"/>
              <a:gd name="T7" fmla="*/ 229 h 634"/>
              <a:gd name="T8" fmla="*/ 169 w 546"/>
              <a:gd name="T9" fmla="*/ 238 h 634"/>
              <a:gd name="T10" fmla="*/ 310 w 546"/>
              <a:gd name="T11" fmla="*/ 436 h 634"/>
              <a:gd name="T12" fmla="*/ 301 w 546"/>
              <a:gd name="T13" fmla="*/ 568 h 634"/>
              <a:gd name="T14" fmla="*/ 310 w 546"/>
              <a:gd name="T15" fmla="*/ 605 h 634"/>
              <a:gd name="T16" fmla="*/ 442 w 546"/>
              <a:gd name="T17" fmla="*/ 634 h 634"/>
              <a:gd name="T18" fmla="*/ 508 w 546"/>
              <a:gd name="T19" fmla="*/ 624 h 634"/>
              <a:gd name="T20" fmla="*/ 517 w 546"/>
              <a:gd name="T21" fmla="*/ 596 h 634"/>
              <a:gd name="T22" fmla="*/ 546 w 546"/>
              <a:gd name="T23" fmla="*/ 502 h 634"/>
              <a:gd name="T24" fmla="*/ 536 w 546"/>
              <a:gd name="T25" fmla="*/ 182 h 634"/>
              <a:gd name="T26" fmla="*/ 527 w 546"/>
              <a:gd name="T27" fmla="*/ 41 h 634"/>
              <a:gd name="T28" fmla="*/ 461 w 546"/>
              <a:gd name="T29" fmla="*/ 12 h 634"/>
              <a:gd name="T30" fmla="*/ 0 w 546"/>
              <a:gd name="T31" fmla="*/ 3 h 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6" h="634">
                <a:moveTo>
                  <a:pt x="0" y="3"/>
                </a:moveTo>
                <a:cubicBezTo>
                  <a:pt x="15" y="51"/>
                  <a:pt x="41" y="94"/>
                  <a:pt x="56" y="144"/>
                </a:cubicBezTo>
                <a:cubicBezTo>
                  <a:pt x="60" y="160"/>
                  <a:pt x="65" y="198"/>
                  <a:pt x="84" y="210"/>
                </a:cubicBezTo>
                <a:cubicBezTo>
                  <a:pt x="100" y="220"/>
                  <a:pt x="121" y="222"/>
                  <a:pt x="141" y="229"/>
                </a:cubicBezTo>
                <a:cubicBezTo>
                  <a:pt x="150" y="232"/>
                  <a:pt x="169" y="238"/>
                  <a:pt x="169" y="238"/>
                </a:cubicBezTo>
                <a:cubicBezTo>
                  <a:pt x="203" y="337"/>
                  <a:pt x="194" y="398"/>
                  <a:pt x="310" y="436"/>
                </a:cubicBezTo>
                <a:cubicBezTo>
                  <a:pt x="324" y="477"/>
                  <a:pt x="301" y="568"/>
                  <a:pt x="301" y="568"/>
                </a:cubicBezTo>
                <a:cubicBezTo>
                  <a:pt x="304" y="580"/>
                  <a:pt x="300" y="596"/>
                  <a:pt x="310" y="605"/>
                </a:cubicBezTo>
                <a:cubicBezTo>
                  <a:pt x="317" y="611"/>
                  <a:pt x="427" y="630"/>
                  <a:pt x="442" y="634"/>
                </a:cubicBezTo>
                <a:cubicBezTo>
                  <a:pt x="464" y="630"/>
                  <a:pt x="488" y="634"/>
                  <a:pt x="508" y="624"/>
                </a:cubicBezTo>
                <a:cubicBezTo>
                  <a:pt x="516" y="619"/>
                  <a:pt x="513" y="605"/>
                  <a:pt x="517" y="596"/>
                </a:cubicBezTo>
                <a:cubicBezTo>
                  <a:pt x="527" y="564"/>
                  <a:pt x="537" y="534"/>
                  <a:pt x="546" y="502"/>
                </a:cubicBezTo>
                <a:cubicBezTo>
                  <a:pt x="542" y="395"/>
                  <a:pt x="540" y="288"/>
                  <a:pt x="536" y="182"/>
                </a:cubicBezTo>
                <a:cubicBezTo>
                  <a:pt x="534" y="134"/>
                  <a:pt x="546" y="84"/>
                  <a:pt x="527" y="41"/>
                </a:cubicBezTo>
                <a:cubicBezTo>
                  <a:pt x="517" y="19"/>
                  <a:pt x="484" y="13"/>
                  <a:pt x="461" y="12"/>
                </a:cubicBezTo>
                <a:cubicBezTo>
                  <a:pt x="307" y="0"/>
                  <a:pt x="153" y="6"/>
                  <a:pt x="0" y="3"/>
                </a:cubicBezTo>
                <a:close/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7653" name="Freeform 1029"/>
          <p:cNvSpPr>
            <a:spLocks/>
          </p:cNvSpPr>
          <p:nvPr/>
        </p:nvSpPr>
        <p:spPr bwMode="auto">
          <a:xfrm>
            <a:off x="2420938" y="4930775"/>
            <a:ext cx="911225" cy="1135063"/>
          </a:xfrm>
          <a:custGeom>
            <a:avLst/>
            <a:gdLst>
              <a:gd name="T0" fmla="*/ 94 w 574"/>
              <a:gd name="T1" fmla="*/ 0 h 715"/>
              <a:gd name="T2" fmla="*/ 150 w 574"/>
              <a:gd name="T3" fmla="*/ 19 h 715"/>
              <a:gd name="T4" fmla="*/ 160 w 574"/>
              <a:gd name="T5" fmla="*/ 47 h 715"/>
              <a:gd name="T6" fmla="*/ 273 w 574"/>
              <a:gd name="T7" fmla="*/ 235 h 715"/>
              <a:gd name="T8" fmla="*/ 329 w 574"/>
              <a:gd name="T9" fmla="*/ 310 h 715"/>
              <a:gd name="T10" fmla="*/ 367 w 574"/>
              <a:gd name="T11" fmla="*/ 461 h 715"/>
              <a:gd name="T12" fmla="*/ 470 w 574"/>
              <a:gd name="T13" fmla="*/ 480 h 715"/>
              <a:gd name="T14" fmla="*/ 546 w 574"/>
              <a:gd name="T15" fmla="*/ 499 h 715"/>
              <a:gd name="T16" fmla="*/ 546 w 574"/>
              <a:gd name="T17" fmla="*/ 659 h 715"/>
              <a:gd name="T18" fmla="*/ 527 w 574"/>
              <a:gd name="T19" fmla="*/ 687 h 715"/>
              <a:gd name="T20" fmla="*/ 470 w 574"/>
              <a:gd name="T21" fmla="*/ 706 h 715"/>
              <a:gd name="T22" fmla="*/ 442 w 574"/>
              <a:gd name="T23" fmla="*/ 715 h 715"/>
              <a:gd name="T24" fmla="*/ 179 w 574"/>
              <a:gd name="T25" fmla="*/ 706 h 715"/>
              <a:gd name="T26" fmla="*/ 56 w 574"/>
              <a:gd name="T27" fmla="*/ 678 h 715"/>
              <a:gd name="T28" fmla="*/ 19 w 574"/>
              <a:gd name="T29" fmla="*/ 565 h 715"/>
              <a:gd name="T30" fmla="*/ 0 w 574"/>
              <a:gd name="T31" fmla="*/ 348 h 715"/>
              <a:gd name="T32" fmla="*/ 9 w 574"/>
              <a:gd name="T33" fmla="*/ 207 h 715"/>
              <a:gd name="T34" fmla="*/ 94 w 574"/>
              <a:gd name="T35" fmla="*/ 0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74" h="715">
                <a:moveTo>
                  <a:pt x="94" y="0"/>
                </a:moveTo>
                <a:cubicBezTo>
                  <a:pt x="96" y="0"/>
                  <a:pt x="148" y="17"/>
                  <a:pt x="150" y="19"/>
                </a:cubicBezTo>
                <a:cubicBezTo>
                  <a:pt x="157" y="26"/>
                  <a:pt x="156" y="37"/>
                  <a:pt x="160" y="47"/>
                </a:cubicBezTo>
                <a:cubicBezTo>
                  <a:pt x="188" y="111"/>
                  <a:pt x="198" y="211"/>
                  <a:pt x="273" y="235"/>
                </a:cubicBezTo>
                <a:cubicBezTo>
                  <a:pt x="293" y="266"/>
                  <a:pt x="319" y="273"/>
                  <a:pt x="329" y="310"/>
                </a:cubicBezTo>
                <a:cubicBezTo>
                  <a:pt x="338" y="346"/>
                  <a:pt x="343" y="438"/>
                  <a:pt x="367" y="461"/>
                </a:cubicBezTo>
                <a:cubicBezTo>
                  <a:pt x="392" y="485"/>
                  <a:pt x="435" y="474"/>
                  <a:pt x="470" y="480"/>
                </a:cubicBezTo>
                <a:cubicBezTo>
                  <a:pt x="484" y="482"/>
                  <a:pt x="532" y="495"/>
                  <a:pt x="546" y="499"/>
                </a:cubicBezTo>
                <a:cubicBezTo>
                  <a:pt x="570" y="576"/>
                  <a:pt x="574" y="557"/>
                  <a:pt x="546" y="659"/>
                </a:cubicBezTo>
                <a:cubicBezTo>
                  <a:pt x="542" y="669"/>
                  <a:pt x="536" y="681"/>
                  <a:pt x="527" y="687"/>
                </a:cubicBezTo>
                <a:cubicBezTo>
                  <a:pt x="509" y="697"/>
                  <a:pt x="489" y="699"/>
                  <a:pt x="470" y="706"/>
                </a:cubicBezTo>
                <a:cubicBezTo>
                  <a:pt x="460" y="709"/>
                  <a:pt x="442" y="715"/>
                  <a:pt x="442" y="715"/>
                </a:cubicBezTo>
                <a:cubicBezTo>
                  <a:pt x="354" y="712"/>
                  <a:pt x="266" y="714"/>
                  <a:pt x="179" y="706"/>
                </a:cubicBezTo>
                <a:cubicBezTo>
                  <a:pt x="137" y="701"/>
                  <a:pt x="56" y="678"/>
                  <a:pt x="56" y="678"/>
                </a:cubicBezTo>
                <a:cubicBezTo>
                  <a:pt x="42" y="633"/>
                  <a:pt x="24" y="615"/>
                  <a:pt x="19" y="565"/>
                </a:cubicBezTo>
                <a:cubicBezTo>
                  <a:pt x="11" y="492"/>
                  <a:pt x="0" y="348"/>
                  <a:pt x="0" y="348"/>
                </a:cubicBezTo>
                <a:cubicBezTo>
                  <a:pt x="3" y="301"/>
                  <a:pt x="3" y="253"/>
                  <a:pt x="9" y="207"/>
                </a:cubicBezTo>
                <a:cubicBezTo>
                  <a:pt x="17" y="133"/>
                  <a:pt x="69" y="67"/>
                  <a:pt x="94" y="0"/>
                </a:cubicBezTo>
                <a:close/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7654" name="Freeform 1030"/>
          <p:cNvSpPr>
            <a:spLocks/>
          </p:cNvSpPr>
          <p:nvPr/>
        </p:nvSpPr>
        <p:spPr bwMode="auto">
          <a:xfrm>
            <a:off x="2714625" y="5737225"/>
            <a:ext cx="1722438" cy="560388"/>
          </a:xfrm>
          <a:custGeom>
            <a:avLst/>
            <a:gdLst>
              <a:gd name="T0" fmla="*/ 191 w 1085"/>
              <a:gd name="T1" fmla="*/ 179 h 353"/>
              <a:gd name="T2" fmla="*/ 191 w 1085"/>
              <a:gd name="T3" fmla="*/ 57 h 353"/>
              <a:gd name="T4" fmla="*/ 135 w 1085"/>
              <a:gd name="T5" fmla="*/ 19 h 353"/>
              <a:gd name="T6" fmla="*/ 106 w 1085"/>
              <a:gd name="T7" fmla="*/ 0 h 353"/>
              <a:gd name="T8" fmla="*/ 50 w 1085"/>
              <a:gd name="T9" fmla="*/ 10 h 353"/>
              <a:gd name="T10" fmla="*/ 41 w 1085"/>
              <a:gd name="T11" fmla="*/ 38 h 353"/>
              <a:gd name="T12" fmla="*/ 12 w 1085"/>
              <a:gd name="T13" fmla="*/ 94 h 353"/>
              <a:gd name="T14" fmla="*/ 50 w 1085"/>
              <a:gd name="T15" fmla="*/ 141 h 353"/>
              <a:gd name="T16" fmla="*/ 69 w 1085"/>
              <a:gd name="T17" fmla="*/ 170 h 353"/>
              <a:gd name="T18" fmla="*/ 201 w 1085"/>
              <a:gd name="T19" fmla="*/ 188 h 353"/>
              <a:gd name="T20" fmla="*/ 295 w 1085"/>
              <a:gd name="T21" fmla="*/ 282 h 353"/>
              <a:gd name="T22" fmla="*/ 323 w 1085"/>
              <a:gd name="T23" fmla="*/ 311 h 353"/>
              <a:gd name="T24" fmla="*/ 521 w 1085"/>
              <a:gd name="T25" fmla="*/ 330 h 353"/>
              <a:gd name="T26" fmla="*/ 652 w 1085"/>
              <a:gd name="T27" fmla="*/ 320 h 353"/>
              <a:gd name="T28" fmla="*/ 699 w 1085"/>
              <a:gd name="T29" fmla="*/ 301 h 353"/>
              <a:gd name="T30" fmla="*/ 878 w 1085"/>
              <a:gd name="T31" fmla="*/ 264 h 353"/>
              <a:gd name="T32" fmla="*/ 1085 w 1085"/>
              <a:gd name="T33" fmla="*/ 226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85" h="353">
                <a:moveTo>
                  <a:pt x="191" y="179"/>
                </a:moveTo>
                <a:cubicBezTo>
                  <a:pt x="206" y="136"/>
                  <a:pt x="219" y="113"/>
                  <a:pt x="191" y="57"/>
                </a:cubicBezTo>
                <a:cubicBezTo>
                  <a:pt x="180" y="36"/>
                  <a:pt x="153" y="31"/>
                  <a:pt x="135" y="19"/>
                </a:cubicBezTo>
                <a:cubicBezTo>
                  <a:pt x="125" y="12"/>
                  <a:pt x="106" y="0"/>
                  <a:pt x="106" y="0"/>
                </a:cubicBezTo>
                <a:cubicBezTo>
                  <a:pt x="87" y="3"/>
                  <a:pt x="66" y="0"/>
                  <a:pt x="50" y="10"/>
                </a:cubicBezTo>
                <a:cubicBezTo>
                  <a:pt x="41" y="14"/>
                  <a:pt x="45" y="29"/>
                  <a:pt x="41" y="38"/>
                </a:cubicBezTo>
                <a:cubicBezTo>
                  <a:pt x="0" y="119"/>
                  <a:pt x="39" y="15"/>
                  <a:pt x="12" y="94"/>
                </a:cubicBezTo>
                <a:cubicBezTo>
                  <a:pt x="31" y="149"/>
                  <a:pt x="6" y="96"/>
                  <a:pt x="50" y="141"/>
                </a:cubicBezTo>
                <a:cubicBezTo>
                  <a:pt x="58" y="149"/>
                  <a:pt x="60" y="162"/>
                  <a:pt x="69" y="170"/>
                </a:cubicBezTo>
                <a:cubicBezTo>
                  <a:pt x="103" y="197"/>
                  <a:pt x="156" y="184"/>
                  <a:pt x="201" y="188"/>
                </a:cubicBezTo>
                <a:cubicBezTo>
                  <a:pt x="308" y="353"/>
                  <a:pt x="160" y="143"/>
                  <a:pt x="295" y="282"/>
                </a:cubicBezTo>
                <a:cubicBezTo>
                  <a:pt x="304" y="291"/>
                  <a:pt x="310" y="305"/>
                  <a:pt x="323" y="311"/>
                </a:cubicBezTo>
                <a:cubicBezTo>
                  <a:pt x="384" y="335"/>
                  <a:pt x="454" y="324"/>
                  <a:pt x="521" y="330"/>
                </a:cubicBezTo>
                <a:cubicBezTo>
                  <a:pt x="564" y="326"/>
                  <a:pt x="608" y="327"/>
                  <a:pt x="652" y="320"/>
                </a:cubicBezTo>
                <a:cubicBezTo>
                  <a:pt x="668" y="317"/>
                  <a:pt x="682" y="305"/>
                  <a:pt x="699" y="301"/>
                </a:cubicBezTo>
                <a:cubicBezTo>
                  <a:pt x="756" y="283"/>
                  <a:pt x="820" y="280"/>
                  <a:pt x="878" y="264"/>
                </a:cubicBezTo>
                <a:cubicBezTo>
                  <a:pt x="949" y="243"/>
                  <a:pt x="1009" y="226"/>
                  <a:pt x="1085" y="22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7655" name="Freeform 1031"/>
          <p:cNvSpPr>
            <a:spLocks/>
          </p:cNvSpPr>
          <p:nvPr/>
        </p:nvSpPr>
        <p:spPr bwMode="auto">
          <a:xfrm>
            <a:off x="3241675" y="5000625"/>
            <a:ext cx="822325" cy="1179513"/>
          </a:xfrm>
          <a:custGeom>
            <a:avLst/>
            <a:gdLst>
              <a:gd name="T0" fmla="*/ 179 w 518"/>
              <a:gd name="T1" fmla="*/ 154 h 743"/>
              <a:gd name="T2" fmla="*/ 38 w 518"/>
              <a:gd name="T3" fmla="*/ 163 h 743"/>
              <a:gd name="T4" fmla="*/ 0 w 518"/>
              <a:gd name="T5" fmla="*/ 106 h 743"/>
              <a:gd name="T6" fmla="*/ 123 w 518"/>
              <a:gd name="T7" fmla="*/ 22 h 743"/>
              <a:gd name="T8" fmla="*/ 151 w 518"/>
              <a:gd name="T9" fmla="*/ 3 h 743"/>
              <a:gd name="T10" fmla="*/ 170 w 518"/>
              <a:gd name="T11" fmla="*/ 31 h 743"/>
              <a:gd name="T12" fmla="*/ 189 w 518"/>
              <a:gd name="T13" fmla="*/ 88 h 743"/>
              <a:gd name="T14" fmla="*/ 273 w 518"/>
              <a:gd name="T15" fmla="*/ 257 h 743"/>
              <a:gd name="T16" fmla="*/ 320 w 518"/>
              <a:gd name="T17" fmla="*/ 379 h 743"/>
              <a:gd name="T18" fmla="*/ 490 w 518"/>
              <a:gd name="T19" fmla="*/ 709 h 743"/>
              <a:gd name="T20" fmla="*/ 518 w 518"/>
              <a:gd name="T21" fmla="*/ 737 h 7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8" h="743">
                <a:moveTo>
                  <a:pt x="179" y="154"/>
                </a:moveTo>
                <a:cubicBezTo>
                  <a:pt x="131" y="184"/>
                  <a:pt x="120" y="199"/>
                  <a:pt x="38" y="163"/>
                </a:cubicBezTo>
                <a:cubicBezTo>
                  <a:pt x="17" y="153"/>
                  <a:pt x="0" y="106"/>
                  <a:pt x="0" y="106"/>
                </a:cubicBezTo>
                <a:cubicBezTo>
                  <a:pt x="19" y="50"/>
                  <a:pt x="72" y="37"/>
                  <a:pt x="123" y="22"/>
                </a:cubicBezTo>
                <a:cubicBezTo>
                  <a:pt x="132" y="15"/>
                  <a:pt x="139" y="0"/>
                  <a:pt x="151" y="3"/>
                </a:cubicBezTo>
                <a:cubicBezTo>
                  <a:pt x="162" y="5"/>
                  <a:pt x="165" y="20"/>
                  <a:pt x="170" y="31"/>
                </a:cubicBezTo>
                <a:cubicBezTo>
                  <a:pt x="178" y="49"/>
                  <a:pt x="189" y="88"/>
                  <a:pt x="189" y="88"/>
                </a:cubicBezTo>
                <a:cubicBezTo>
                  <a:pt x="197" y="178"/>
                  <a:pt x="200" y="207"/>
                  <a:pt x="273" y="257"/>
                </a:cubicBezTo>
                <a:cubicBezTo>
                  <a:pt x="287" y="298"/>
                  <a:pt x="308" y="335"/>
                  <a:pt x="320" y="379"/>
                </a:cubicBezTo>
                <a:cubicBezTo>
                  <a:pt x="350" y="494"/>
                  <a:pt x="358" y="662"/>
                  <a:pt x="490" y="709"/>
                </a:cubicBezTo>
                <a:cubicBezTo>
                  <a:pt x="500" y="743"/>
                  <a:pt x="489" y="737"/>
                  <a:pt x="518" y="737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7656" name="Text Box 1032"/>
          <p:cNvSpPr txBox="1">
            <a:spLocks noChangeArrowheads="1"/>
          </p:cNvSpPr>
          <p:nvPr/>
        </p:nvSpPr>
        <p:spPr bwMode="auto">
          <a:xfrm>
            <a:off x="4572000" y="5867400"/>
            <a:ext cx="42068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he-IL" sz="2000" b="1"/>
              <a:t>w</a:t>
            </a:r>
            <a:r>
              <a:rPr lang="en-US" altLang="he-IL" sz="2000" b="1" baseline="-25000"/>
              <a:t>2,4 </a:t>
            </a:r>
            <a:r>
              <a:rPr lang="en-US" altLang="he-IL" sz="2000" b="1"/>
              <a:t>= w</a:t>
            </a:r>
            <a:r>
              <a:rPr lang="en-US" altLang="he-IL" sz="2000" b="1" baseline="-25000"/>
              <a:t>4,2 </a:t>
            </a:r>
            <a:r>
              <a:rPr lang="en-US" altLang="he-IL" sz="2000" b="1"/>
              <a:t>= x</a:t>
            </a:r>
            <a:r>
              <a:rPr lang="en-US" altLang="he-IL" sz="2000" b="1" baseline="30000"/>
              <a:t>T</a:t>
            </a:r>
            <a:r>
              <a:rPr lang="en-US" altLang="he-IL" sz="2000" b="1" baseline="-25000"/>
              <a:t>2,1</a:t>
            </a:r>
            <a:r>
              <a:rPr lang="en-US" altLang="he-IL" sz="2000" b="1"/>
              <a:t>x</a:t>
            </a:r>
            <a:r>
              <a:rPr lang="en-US" altLang="he-IL" sz="2000" b="1" baseline="-25000"/>
              <a:t>1,4 </a:t>
            </a:r>
            <a:r>
              <a:rPr lang="en-US" altLang="he-IL" sz="2000" b="1"/>
              <a:t>+ x</a:t>
            </a:r>
            <a:r>
              <a:rPr lang="en-US" altLang="he-IL" sz="2000" b="1" baseline="30000"/>
              <a:t>T</a:t>
            </a:r>
            <a:r>
              <a:rPr lang="en-US" altLang="he-IL" sz="2000" b="1" baseline="-25000"/>
              <a:t>2,2</a:t>
            </a:r>
            <a:r>
              <a:rPr lang="en-US" altLang="he-IL" sz="2000" b="1"/>
              <a:t>x</a:t>
            </a:r>
            <a:r>
              <a:rPr lang="en-US" altLang="he-IL" sz="2000" b="1" baseline="-25000"/>
              <a:t>2,4 </a:t>
            </a:r>
            <a:r>
              <a:rPr lang="en-US" altLang="he-IL" sz="2000" b="1"/>
              <a:t>+ x</a:t>
            </a:r>
            <a:r>
              <a:rPr lang="en-US" altLang="he-IL" sz="2000" b="1" baseline="30000"/>
              <a:t>T</a:t>
            </a:r>
            <a:r>
              <a:rPr lang="en-US" altLang="he-IL" sz="2000" b="1" baseline="-25000"/>
              <a:t>2,3</a:t>
            </a:r>
            <a:r>
              <a:rPr lang="en-US" altLang="he-IL" sz="2000" b="1"/>
              <a:t>x</a:t>
            </a:r>
            <a:r>
              <a:rPr lang="en-US" altLang="he-IL" sz="2000" b="1" baseline="-25000"/>
              <a:t>3,4</a:t>
            </a:r>
            <a:r>
              <a:rPr lang="en-US" altLang="he-IL" baseline="-25000"/>
              <a:t> </a:t>
            </a:r>
          </a:p>
        </p:txBody>
      </p:sp>
      <p:sp>
        <p:nvSpPr>
          <p:cNvPr id="27657" name="Freeform 1033"/>
          <p:cNvSpPr>
            <a:spLocks/>
          </p:cNvSpPr>
          <p:nvPr/>
        </p:nvSpPr>
        <p:spPr bwMode="auto">
          <a:xfrm>
            <a:off x="7315200" y="5943600"/>
            <a:ext cx="277813" cy="160338"/>
          </a:xfrm>
          <a:custGeom>
            <a:avLst/>
            <a:gdLst>
              <a:gd name="T0" fmla="*/ 0 w 175"/>
              <a:gd name="T1" fmla="*/ 92 h 101"/>
              <a:gd name="T2" fmla="*/ 66 w 175"/>
              <a:gd name="T3" fmla="*/ 7 h 101"/>
              <a:gd name="T4" fmla="*/ 160 w 175"/>
              <a:gd name="T5" fmla="*/ 101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5" h="101">
                <a:moveTo>
                  <a:pt x="0" y="92"/>
                </a:moveTo>
                <a:cubicBezTo>
                  <a:pt x="15" y="6"/>
                  <a:pt x="5" y="48"/>
                  <a:pt x="66" y="7"/>
                </a:cubicBezTo>
                <a:cubicBezTo>
                  <a:pt x="175" y="18"/>
                  <a:pt x="160" y="0"/>
                  <a:pt x="160" y="10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7658" name="Freeform 1034"/>
          <p:cNvSpPr>
            <a:spLocks/>
          </p:cNvSpPr>
          <p:nvPr/>
        </p:nvSpPr>
        <p:spPr bwMode="auto">
          <a:xfrm>
            <a:off x="6324600" y="5943600"/>
            <a:ext cx="300038" cy="188913"/>
          </a:xfrm>
          <a:custGeom>
            <a:avLst/>
            <a:gdLst>
              <a:gd name="T0" fmla="*/ 0 w 189"/>
              <a:gd name="T1" fmla="*/ 99 h 119"/>
              <a:gd name="T2" fmla="*/ 66 w 189"/>
              <a:gd name="T3" fmla="*/ 23 h 119"/>
              <a:gd name="T4" fmla="*/ 160 w 189"/>
              <a:gd name="T5" fmla="*/ 71 h 119"/>
              <a:gd name="T6" fmla="*/ 141 w 189"/>
              <a:gd name="T7" fmla="*/ 108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9" h="119">
                <a:moveTo>
                  <a:pt x="0" y="99"/>
                </a:moveTo>
                <a:cubicBezTo>
                  <a:pt x="11" y="38"/>
                  <a:pt x="9" y="42"/>
                  <a:pt x="66" y="23"/>
                </a:cubicBezTo>
                <a:cubicBezTo>
                  <a:pt x="147" y="30"/>
                  <a:pt x="189" y="0"/>
                  <a:pt x="160" y="71"/>
                </a:cubicBezTo>
                <a:cubicBezTo>
                  <a:pt x="139" y="119"/>
                  <a:pt x="141" y="82"/>
                  <a:pt x="141" y="10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7659" name="Freeform 1035"/>
          <p:cNvSpPr>
            <a:spLocks/>
          </p:cNvSpPr>
          <p:nvPr/>
        </p:nvSpPr>
        <p:spPr bwMode="auto">
          <a:xfrm>
            <a:off x="6499225" y="5394325"/>
            <a:ext cx="1031875" cy="508000"/>
          </a:xfrm>
          <a:custGeom>
            <a:avLst/>
            <a:gdLst>
              <a:gd name="T0" fmla="*/ 650 w 650"/>
              <a:gd name="T1" fmla="*/ 320 h 320"/>
              <a:gd name="T2" fmla="*/ 574 w 650"/>
              <a:gd name="T3" fmla="*/ 235 h 320"/>
              <a:gd name="T4" fmla="*/ 546 w 650"/>
              <a:gd name="T5" fmla="*/ 207 h 320"/>
              <a:gd name="T6" fmla="*/ 471 w 650"/>
              <a:gd name="T7" fmla="*/ 188 h 320"/>
              <a:gd name="T8" fmla="*/ 358 w 650"/>
              <a:gd name="T9" fmla="*/ 122 h 320"/>
              <a:gd name="T10" fmla="*/ 217 w 650"/>
              <a:gd name="T11" fmla="*/ 56 h 320"/>
              <a:gd name="T12" fmla="*/ 75 w 650"/>
              <a:gd name="T13" fmla="*/ 18 h 320"/>
              <a:gd name="T14" fmla="*/ 0 w 650"/>
              <a:gd name="T15" fmla="*/ 0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50" h="320">
                <a:moveTo>
                  <a:pt x="650" y="320"/>
                </a:moveTo>
                <a:cubicBezTo>
                  <a:pt x="628" y="254"/>
                  <a:pt x="640" y="256"/>
                  <a:pt x="574" y="235"/>
                </a:cubicBezTo>
                <a:cubicBezTo>
                  <a:pt x="564" y="225"/>
                  <a:pt x="558" y="212"/>
                  <a:pt x="546" y="207"/>
                </a:cubicBezTo>
                <a:cubicBezTo>
                  <a:pt x="522" y="196"/>
                  <a:pt x="471" y="188"/>
                  <a:pt x="471" y="188"/>
                </a:cubicBezTo>
                <a:cubicBezTo>
                  <a:pt x="431" y="161"/>
                  <a:pt x="401" y="136"/>
                  <a:pt x="358" y="122"/>
                </a:cubicBezTo>
                <a:cubicBezTo>
                  <a:pt x="325" y="73"/>
                  <a:pt x="273" y="64"/>
                  <a:pt x="217" y="56"/>
                </a:cubicBezTo>
                <a:cubicBezTo>
                  <a:pt x="168" y="40"/>
                  <a:pt x="124" y="28"/>
                  <a:pt x="75" y="18"/>
                </a:cubicBezTo>
                <a:cubicBezTo>
                  <a:pt x="49" y="12"/>
                  <a:pt x="0" y="0"/>
                  <a:pt x="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7661" name="Freeform 1037"/>
          <p:cNvSpPr>
            <a:spLocks/>
          </p:cNvSpPr>
          <p:nvPr/>
        </p:nvSpPr>
        <p:spPr bwMode="auto">
          <a:xfrm>
            <a:off x="6494463" y="5229225"/>
            <a:ext cx="66675" cy="717550"/>
          </a:xfrm>
          <a:custGeom>
            <a:avLst/>
            <a:gdLst>
              <a:gd name="T0" fmla="*/ 22 w 42"/>
              <a:gd name="T1" fmla="*/ 452 h 452"/>
              <a:gd name="T2" fmla="*/ 41 w 42"/>
              <a:gd name="T3" fmla="*/ 301 h 452"/>
              <a:gd name="T4" fmla="*/ 31 w 42"/>
              <a:gd name="T5" fmla="*/ 198 h 452"/>
              <a:gd name="T6" fmla="*/ 13 w 42"/>
              <a:gd name="T7" fmla="*/ 141 h 452"/>
              <a:gd name="T8" fmla="*/ 3 w 42"/>
              <a:gd name="T9" fmla="*/ 0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452">
                <a:moveTo>
                  <a:pt x="22" y="452"/>
                </a:moveTo>
                <a:cubicBezTo>
                  <a:pt x="28" y="401"/>
                  <a:pt x="39" y="351"/>
                  <a:pt x="41" y="301"/>
                </a:cubicBezTo>
                <a:cubicBezTo>
                  <a:pt x="42" y="266"/>
                  <a:pt x="36" y="231"/>
                  <a:pt x="31" y="198"/>
                </a:cubicBezTo>
                <a:cubicBezTo>
                  <a:pt x="27" y="178"/>
                  <a:pt x="13" y="141"/>
                  <a:pt x="13" y="141"/>
                </a:cubicBezTo>
                <a:cubicBezTo>
                  <a:pt x="0" y="44"/>
                  <a:pt x="3" y="91"/>
                  <a:pt x="3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0555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/>
          <a:lstStyle/>
          <a:p>
            <a:r>
              <a:rPr lang="en-US" altLang="he-IL" sz="3200"/>
              <a:t>Matrices (2)</a:t>
            </a:r>
            <a:endParaRPr lang="en-US" altLang="he-IL"/>
          </a:p>
        </p:txBody>
      </p:sp>
      <p:sp>
        <p:nvSpPr>
          <p:cNvPr id="2867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638800"/>
          </a:xfrm>
        </p:spPr>
        <p:txBody>
          <a:bodyPr/>
          <a:lstStyle/>
          <a:p>
            <a:r>
              <a:rPr lang="en-US" altLang="he-IL" sz="2000"/>
              <a:t>The upper and lower triangles of the product matrix represents the 6 weights w</a:t>
            </a:r>
            <a:r>
              <a:rPr lang="en-US" altLang="he-IL" sz="2000" baseline="-25000"/>
              <a:t>i,j</a:t>
            </a:r>
            <a:r>
              <a:rPr lang="en-US" altLang="he-IL" sz="2000"/>
              <a:t> = w</a:t>
            </a:r>
            <a:r>
              <a:rPr lang="en-US" altLang="he-IL" sz="2000" baseline="-25000"/>
              <a:t>j,i  </a:t>
            </a:r>
          </a:p>
          <a:p>
            <a:r>
              <a:rPr lang="en-US" altLang="he-IL" sz="2000"/>
              <a:t>Scale the weights by dividing by p (i.e., averaging) . Picton (ANN book) subtracts p from each.  Either method is fine, as long we apply the appropriate thresholds to the output values.</a:t>
            </a:r>
          </a:p>
          <a:p>
            <a:r>
              <a:rPr lang="en-US" altLang="he-IL" sz="2000"/>
              <a:t>This produces the same weights as in the non-matrix description.</a:t>
            </a:r>
          </a:p>
          <a:p>
            <a:r>
              <a:rPr lang="en-US" altLang="he-IL" sz="2000"/>
              <a:t>Testing with input = ( 1 0 0 -1)</a:t>
            </a:r>
          </a:p>
          <a:p>
            <a:pPr lvl="1">
              <a:buFontTx/>
              <a:buNone/>
            </a:pPr>
            <a:r>
              <a:rPr lang="en-US" altLang="he-IL"/>
              <a:t>				 </a:t>
            </a:r>
            <a:r>
              <a:rPr lang="nb-NO" altLang="he-IL" sz="1800"/>
              <a:t>3  1 -1  1						         (1 0 0 -1)	 1  3  1 -1	        =  (2  2  2  -2)</a:t>
            </a:r>
          </a:p>
          <a:p>
            <a:pPr lvl="1">
              <a:buFontTx/>
              <a:buNone/>
            </a:pPr>
            <a:r>
              <a:rPr lang="nb-NO" altLang="he-IL" sz="1800"/>
              <a:t>			             	-1  1  3 -3</a:t>
            </a:r>
          </a:p>
          <a:p>
            <a:pPr>
              <a:buFontTx/>
              <a:buNone/>
            </a:pPr>
            <a:r>
              <a:rPr lang="nb-NO" altLang="he-IL" sz="2000"/>
              <a:t>				 1 -1 -3  3</a:t>
            </a:r>
            <a:endParaRPr lang="en-US" altLang="he-IL" sz="2000"/>
          </a:p>
        </p:txBody>
      </p:sp>
      <p:sp>
        <p:nvSpPr>
          <p:cNvPr id="28680" name="AutoShape 1032"/>
          <p:cNvSpPr>
            <a:spLocks noChangeArrowheads="1"/>
          </p:cNvSpPr>
          <p:nvPr/>
        </p:nvSpPr>
        <p:spPr bwMode="auto">
          <a:xfrm>
            <a:off x="3276600" y="3581400"/>
            <a:ext cx="1447800" cy="12954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8681" name="Rectangle 1033"/>
          <p:cNvSpPr>
            <a:spLocks noChangeArrowheads="1"/>
          </p:cNvSpPr>
          <p:nvPr/>
        </p:nvSpPr>
        <p:spPr bwMode="auto">
          <a:xfrm>
            <a:off x="1143000" y="5410200"/>
            <a:ext cx="5462588" cy="125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Times" panose="02020603050405020304" pitchFamily="18" charset="0"/>
              <a:buNone/>
            </a:pPr>
            <a:r>
              <a:rPr lang="en-US" altLang="he-IL" sz="2000"/>
              <a:t>  Scaling* by p = 3 and using 0 as a threshold gives:</a:t>
            </a:r>
          </a:p>
          <a:p>
            <a:r>
              <a:rPr lang="en-US" altLang="he-IL" sz="2000"/>
              <a:t>	(2/3   2/3   2/3   -2/3)  =&gt;  (1  1  1  -1)</a:t>
            </a:r>
          </a:p>
          <a:p>
            <a:r>
              <a:rPr lang="en-US" altLang="he-IL" sz="2000"/>
              <a:t>*</a:t>
            </a:r>
            <a:r>
              <a:rPr lang="en-US" altLang="he-IL" sz="1600"/>
              <a:t>For illustrative purposes, it’s easier to scale by p at the end instead of scaling the entire weight matrix, W, prior to testing.</a:t>
            </a:r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76717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Hopfield Network Example (3)</a:t>
            </a:r>
            <a:endParaRPr lang="nb-NO" altLang="he-IL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304800" y="3733800"/>
            <a:ext cx="2811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5b. Synchronous Iteration</a:t>
            </a:r>
            <a:endParaRPr lang="nb-NO" altLang="he-IL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81000" y="4572000"/>
            <a:ext cx="50482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 u="sng"/>
              <a:t>Node	1	2	3	4</a:t>
            </a:r>
            <a:r>
              <a:rPr lang="nb-NO" altLang="he-IL" sz="1800"/>
              <a:t>        </a:t>
            </a:r>
            <a:r>
              <a:rPr lang="nb-NO" altLang="he-IL" sz="1800" u="sng"/>
              <a:t>Output</a:t>
            </a:r>
            <a:endParaRPr lang="nb-NO" altLang="he-IL" sz="1800"/>
          </a:p>
          <a:p>
            <a:r>
              <a:rPr lang="nb-NO" altLang="he-IL" sz="1800"/>
              <a:t>   1	1	1/3</a:t>
            </a:r>
            <a:r>
              <a:rPr lang="nb-NO" altLang="he-IL"/>
              <a:t>	</a:t>
            </a:r>
            <a:r>
              <a:rPr lang="nb-NO" altLang="he-IL" sz="1800"/>
              <a:t>0	0	1</a:t>
            </a:r>
          </a:p>
          <a:p>
            <a:r>
              <a:rPr lang="nb-NO" altLang="he-IL" sz="1800"/>
              <a:t>   2	1/3	1	0	0	1</a:t>
            </a:r>
          </a:p>
          <a:p>
            <a:r>
              <a:rPr lang="nb-NO" altLang="he-IL" sz="1800"/>
              <a:t>   3	-1/3	1/3	0	0	0</a:t>
            </a:r>
          </a:p>
          <a:p>
            <a:r>
              <a:rPr lang="nb-NO" altLang="he-IL" sz="1800"/>
              <a:t>   4	1/3	-1/3	0	0	0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378075" y="422910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 u="sng"/>
              <a:t>Inputs</a:t>
            </a:r>
            <a:endParaRPr lang="nb-NO" altLang="he-IL"/>
          </a:p>
        </p:txBody>
      </p:sp>
      <p:sp>
        <p:nvSpPr>
          <p:cNvPr id="17479" name="Text Box 71"/>
          <p:cNvSpPr txBox="1">
            <a:spLocks noChangeArrowheads="1"/>
          </p:cNvSpPr>
          <p:nvPr/>
        </p:nvSpPr>
        <p:spPr bwMode="auto">
          <a:xfrm>
            <a:off x="457200" y="1143000"/>
            <a:ext cx="32908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4b. Enter Another Test Pattern</a:t>
            </a:r>
            <a:endParaRPr lang="nb-NO" altLang="he-IL"/>
          </a:p>
        </p:txBody>
      </p:sp>
      <p:sp>
        <p:nvSpPr>
          <p:cNvPr id="17491" name="Line 83"/>
          <p:cNvSpPr>
            <a:spLocks noChangeShapeType="1"/>
          </p:cNvSpPr>
          <p:nvPr/>
        </p:nvSpPr>
        <p:spPr bwMode="auto">
          <a:xfrm>
            <a:off x="1524000" y="2438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7517" name="Group 109"/>
          <p:cNvGrpSpPr>
            <a:grpSpLocks/>
          </p:cNvGrpSpPr>
          <p:nvPr/>
        </p:nvGrpSpPr>
        <p:grpSpPr bwMode="auto">
          <a:xfrm>
            <a:off x="381000" y="1981200"/>
            <a:ext cx="914400" cy="914400"/>
            <a:chOff x="240" y="1248"/>
            <a:chExt cx="576" cy="576"/>
          </a:xfrm>
        </p:grpSpPr>
        <p:sp>
          <p:nvSpPr>
            <p:cNvPr id="17480" name="Rectangle 72"/>
            <p:cNvSpPr>
              <a:spLocks noChangeArrowheads="1"/>
            </p:cNvSpPr>
            <p:nvPr/>
          </p:nvSpPr>
          <p:spPr bwMode="auto">
            <a:xfrm>
              <a:off x="240" y="1248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481" name="Rectangle 73"/>
            <p:cNvSpPr>
              <a:spLocks noChangeArrowheads="1"/>
            </p:cNvSpPr>
            <p:nvPr/>
          </p:nvSpPr>
          <p:spPr bwMode="auto">
            <a:xfrm>
              <a:off x="528" y="1536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482" name="Rectangle 74"/>
            <p:cNvSpPr>
              <a:spLocks noChangeArrowheads="1"/>
            </p:cNvSpPr>
            <p:nvPr/>
          </p:nvSpPr>
          <p:spPr bwMode="auto">
            <a:xfrm>
              <a:off x="240" y="1536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483" name="Rectangle 75"/>
            <p:cNvSpPr>
              <a:spLocks noChangeArrowheads="1"/>
            </p:cNvSpPr>
            <p:nvPr/>
          </p:nvSpPr>
          <p:spPr bwMode="auto">
            <a:xfrm>
              <a:off x="528" y="1248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484" name="Text Box 76"/>
            <p:cNvSpPr txBox="1">
              <a:spLocks noChangeArrowheads="1"/>
            </p:cNvSpPr>
            <p:nvPr/>
          </p:nvSpPr>
          <p:spPr bwMode="auto">
            <a:xfrm>
              <a:off x="278" y="1287"/>
              <a:ext cx="186" cy="21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1</a:t>
              </a:r>
              <a:endParaRPr lang="nb-NO" altLang="he-IL"/>
            </a:p>
          </p:txBody>
        </p:sp>
        <p:sp>
          <p:nvSpPr>
            <p:cNvPr id="17485" name="Text Box 77"/>
            <p:cNvSpPr txBox="1">
              <a:spLocks noChangeArrowheads="1"/>
            </p:cNvSpPr>
            <p:nvPr/>
          </p:nvSpPr>
          <p:spPr bwMode="auto">
            <a:xfrm>
              <a:off x="288" y="1584"/>
              <a:ext cx="180" cy="2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3</a:t>
              </a:r>
              <a:endParaRPr lang="nb-NO" altLang="he-IL"/>
            </a:p>
          </p:txBody>
        </p:sp>
        <p:sp>
          <p:nvSpPr>
            <p:cNvPr id="17486" name="Text Box 78"/>
            <p:cNvSpPr txBox="1">
              <a:spLocks noChangeArrowheads="1"/>
            </p:cNvSpPr>
            <p:nvPr/>
          </p:nvSpPr>
          <p:spPr bwMode="auto">
            <a:xfrm>
              <a:off x="576" y="1584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4</a:t>
              </a:r>
              <a:endParaRPr lang="nb-NO" altLang="he-IL"/>
            </a:p>
          </p:txBody>
        </p:sp>
        <p:sp>
          <p:nvSpPr>
            <p:cNvPr id="17487" name="Text Box 79"/>
            <p:cNvSpPr txBox="1">
              <a:spLocks noChangeArrowheads="1"/>
            </p:cNvSpPr>
            <p:nvPr/>
          </p:nvSpPr>
          <p:spPr bwMode="auto">
            <a:xfrm>
              <a:off x="576" y="1296"/>
              <a:ext cx="186" cy="21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600"/>
                <a:t>2</a:t>
              </a:r>
              <a:endParaRPr lang="nb-NO" altLang="he-IL"/>
            </a:p>
          </p:txBody>
        </p:sp>
        <p:grpSp>
          <p:nvGrpSpPr>
            <p:cNvPr id="17488" name="Group 80"/>
            <p:cNvGrpSpPr>
              <a:grpSpLocks/>
            </p:cNvGrpSpPr>
            <p:nvPr/>
          </p:nvGrpSpPr>
          <p:grpSpPr bwMode="auto">
            <a:xfrm>
              <a:off x="384" y="1296"/>
              <a:ext cx="48" cy="48"/>
              <a:chOff x="2688" y="2976"/>
              <a:chExt cx="48" cy="48"/>
            </a:xfrm>
          </p:grpSpPr>
          <p:sp>
            <p:nvSpPr>
              <p:cNvPr id="17489" name="Line 81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7490" name="Line 82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17511" name="Group 103"/>
            <p:cNvGrpSpPr>
              <a:grpSpLocks/>
            </p:cNvGrpSpPr>
            <p:nvPr/>
          </p:nvGrpSpPr>
          <p:grpSpPr bwMode="auto">
            <a:xfrm>
              <a:off x="720" y="1296"/>
              <a:ext cx="48" cy="48"/>
              <a:chOff x="2688" y="2976"/>
              <a:chExt cx="48" cy="48"/>
            </a:xfrm>
          </p:grpSpPr>
          <p:sp>
            <p:nvSpPr>
              <p:cNvPr id="17512" name="Line 104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7513" name="Line 105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grpSp>
        <p:nvGrpSpPr>
          <p:cNvPr id="17522" name="Group 114"/>
          <p:cNvGrpSpPr>
            <a:grpSpLocks/>
          </p:cNvGrpSpPr>
          <p:nvPr/>
        </p:nvGrpSpPr>
        <p:grpSpPr bwMode="auto">
          <a:xfrm>
            <a:off x="2209800" y="1676400"/>
            <a:ext cx="2609850" cy="1852613"/>
            <a:chOff x="1392" y="1056"/>
            <a:chExt cx="1644" cy="1167"/>
          </a:xfrm>
        </p:grpSpPr>
        <p:sp>
          <p:nvSpPr>
            <p:cNvPr id="17492" name="Oval 84"/>
            <p:cNvSpPr>
              <a:spLocks noChangeArrowheads="1"/>
            </p:cNvSpPr>
            <p:nvPr/>
          </p:nvSpPr>
          <p:spPr bwMode="auto">
            <a:xfrm>
              <a:off x="1632" y="1152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7493" name="Oval 85"/>
            <p:cNvSpPr>
              <a:spLocks noChangeArrowheads="1"/>
            </p:cNvSpPr>
            <p:nvPr/>
          </p:nvSpPr>
          <p:spPr bwMode="auto">
            <a:xfrm>
              <a:off x="163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7494" name="Oval 86"/>
            <p:cNvSpPr>
              <a:spLocks noChangeArrowheads="1"/>
            </p:cNvSpPr>
            <p:nvPr/>
          </p:nvSpPr>
          <p:spPr bwMode="auto">
            <a:xfrm>
              <a:off x="2544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7495" name="Oval 87"/>
            <p:cNvSpPr>
              <a:spLocks noChangeArrowheads="1"/>
            </p:cNvSpPr>
            <p:nvPr/>
          </p:nvSpPr>
          <p:spPr bwMode="auto">
            <a:xfrm>
              <a:off x="2544" y="1152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7496" name="Line 88"/>
            <p:cNvSpPr>
              <a:spLocks noChangeShapeType="1"/>
            </p:cNvSpPr>
            <p:nvPr/>
          </p:nvSpPr>
          <p:spPr bwMode="auto">
            <a:xfrm flipV="1">
              <a:off x="1824" y="1344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497" name="Line 89"/>
            <p:cNvSpPr>
              <a:spLocks noChangeShapeType="1"/>
            </p:cNvSpPr>
            <p:nvPr/>
          </p:nvSpPr>
          <p:spPr bwMode="auto">
            <a:xfrm flipV="1">
              <a:off x="1872" y="129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498" name="Line 90"/>
            <p:cNvSpPr>
              <a:spLocks noChangeShapeType="1"/>
            </p:cNvSpPr>
            <p:nvPr/>
          </p:nvSpPr>
          <p:spPr bwMode="auto">
            <a:xfrm flipV="1">
              <a:off x="1776" y="139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499" name="Line 91"/>
            <p:cNvSpPr>
              <a:spLocks noChangeShapeType="1"/>
            </p:cNvSpPr>
            <p:nvPr/>
          </p:nvSpPr>
          <p:spPr bwMode="auto">
            <a:xfrm>
              <a:off x="1872" y="1344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500" name="Line 92"/>
            <p:cNvSpPr>
              <a:spLocks noChangeShapeType="1"/>
            </p:cNvSpPr>
            <p:nvPr/>
          </p:nvSpPr>
          <p:spPr bwMode="auto">
            <a:xfrm flipV="1">
              <a:off x="1872" y="1968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501" name="Line 93"/>
            <p:cNvSpPr>
              <a:spLocks noChangeShapeType="1"/>
            </p:cNvSpPr>
            <p:nvPr/>
          </p:nvSpPr>
          <p:spPr bwMode="auto">
            <a:xfrm flipV="1">
              <a:off x="2640" y="139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502" name="Text Box 94"/>
            <p:cNvSpPr txBox="1">
              <a:spLocks noChangeArrowheads="1"/>
            </p:cNvSpPr>
            <p:nvPr/>
          </p:nvSpPr>
          <p:spPr bwMode="auto">
            <a:xfrm>
              <a:off x="2102" y="199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</a:t>
              </a:r>
              <a:endParaRPr lang="nb-NO" altLang="he-IL"/>
            </a:p>
          </p:txBody>
        </p:sp>
        <p:sp>
          <p:nvSpPr>
            <p:cNvPr id="17503" name="Text Box 95"/>
            <p:cNvSpPr txBox="1">
              <a:spLocks noChangeArrowheads="1"/>
            </p:cNvSpPr>
            <p:nvPr/>
          </p:nvSpPr>
          <p:spPr bwMode="auto">
            <a:xfrm>
              <a:off x="1392" y="1536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7504" name="Text Box 96"/>
            <p:cNvSpPr txBox="1">
              <a:spLocks noChangeArrowheads="1"/>
            </p:cNvSpPr>
            <p:nvPr/>
          </p:nvSpPr>
          <p:spPr bwMode="auto">
            <a:xfrm>
              <a:off x="1968" y="1680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7505" name="Text Box 97"/>
            <p:cNvSpPr txBox="1">
              <a:spLocks noChangeArrowheads="1"/>
            </p:cNvSpPr>
            <p:nvPr/>
          </p:nvSpPr>
          <p:spPr bwMode="auto">
            <a:xfrm>
              <a:off x="2016" y="1296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7506" name="Text Box 98"/>
            <p:cNvSpPr txBox="1">
              <a:spLocks noChangeArrowheads="1"/>
            </p:cNvSpPr>
            <p:nvPr/>
          </p:nvSpPr>
          <p:spPr bwMode="auto">
            <a:xfrm>
              <a:off x="2688" y="1488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7507" name="Text Box 99"/>
            <p:cNvSpPr txBox="1">
              <a:spLocks noChangeArrowheads="1"/>
            </p:cNvSpPr>
            <p:nvPr/>
          </p:nvSpPr>
          <p:spPr bwMode="auto">
            <a:xfrm>
              <a:off x="2064" y="1056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grpSp>
          <p:nvGrpSpPr>
            <p:cNvPr id="17508" name="Group 100"/>
            <p:cNvGrpSpPr>
              <a:grpSpLocks/>
            </p:cNvGrpSpPr>
            <p:nvPr/>
          </p:nvGrpSpPr>
          <p:grpSpPr bwMode="auto">
            <a:xfrm>
              <a:off x="1728" y="1248"/>
              <a:ext cx="48" cy="48"/>
              <a:chOff x="2688" y="2976"/>
              <a:chExt cx="48" cy="48"/>
            </a:xfrm>
          </p:grpSpPr>
          <p:sp>
            <p:nvSpPr>
              <p:cNvPr id="17509" name="Line 101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7510" name="Line 102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17514" name="Group 106"/>
            <p:cNvGrpSpPr>
              <a:grpSpLocks/>
            </p:cNvGrpSpPr>
            <p:nvPr/>
          </p:nvGrpSpPr>
          <p:grpSpPr bwMode="auto">
            <a:xfrm>
              <a:off x="2640" y="1248"/>
              <a:ext cx="48" cy="48"/>
              <a:chOff x="2688" y="2976"/>
              <a:chExt cx="48" cy="48"/>
            </a:xfrm>
          </p:grpSpPr>
          <p:sp>
            <p:nvSpPr>
              <p:cNvPr id="17515" name="Line 107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7516" name="Line 108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sp>
        <p:nvSpPr>
          <p:cNvPr id="17518" name="Freeform 110"/>
          <p:cNvSpPr>
            <a:spLocks/>
          </p:cNvSpPr>
          <p:nvPr/>
        </p:nvSpPr>
        <p:spPr bwMode="auto">
          <a:xfrm>
            <a:off x="5029200" y="2743200"/>
            <a:ext cx="1524000" cy="2667000"/>
          </a:xfrm>
          <a:custGeom>
            <a:avLst/>
            <a:gdLst>
              <a:gd name="T0" fmla="*/ 432 w 960"/>
              <a:gd name="T1" fmla="*/ 1680 h 1680"/>
              <a:gd name="T2" fmla="*/ 864 w 960"/>
              <a:gd name="T3" fmla="*/ 1152 h 1680"/>
              <a:gd name="T4" fmla="*/ 816 w 960"/>
              <a:gd name="T5" fmla="*/ 288 h 1680"/>
              <a:gd name="T6" fmla="*/ 0 w 960"/>
              <a:gd name="T7" fmla="*/ 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0" h="1680">
                <a:moveTo>
                  <a:pt x="432" y="1680"/>
                </a:moveTo>
                <a:cubicBezTo>
                  <a:pt x="616" y="1532"/>
                  <a:pt x="800" y="1384"/>
                  <a:pt x="864" y="1152"/>
                </a:cubicBezTo>
                <a:cubicBezTo>
                  <a:pt x="928" y="920"/>
                  <a:pt x="960" y="480"/>
                  <a:pt x="816" y="288"/>
                </a:cubicBezTo>
                <a:cubicBezTo>
                  <a:pt x="672" y="96"/>
                  <a:pt x="336" y="48"/>
                  <a:pt x="0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7521" name="Group 113"/>
          <p:cNvGrpSpPr>
            <a:grpSpLocks/>
          </p:cNvGrpSpPr>
          <p:nvPr/>
        </p:nvGrpSpPr>
        <p:grpSpPr bwMode="auto">
          <a:xfrm>
            <a:off x="6553200" y="1752600"/>
            <a:ext cx="2581275" cy="3584575"/>
            <a:chOff x="4128" y="1872"/>
            <a:chExt cx="1626" cy="2258"/>
          </a:xfrm>
        </p:grpSpPr>
        <p:sp>
          <p:nvSpPr>
            <p:cNvPr id="17519" name="Text Box 111"/>
            <p:cNvSpPr txBox="1">
              <a:spLocks noChangeArrowheads="1"/>
            </p:cNvSpPr>
            <p:nvPr/>
          </p:nvSpPr>
          <p:spPr bwMode="auto">
            <a:xfrm>
              <a:off x="4128" y="2112"/>
              <a:ext cx="1626" cy="2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FontTx/>
                <a:buChar char="•"/>
              </a:pPr>
              <a:r>
                <a:rPr lang="nb-NO" altLang="he-IL" sz="1800"/>
                <a:t>  Input pattern is stable,</a:t>
              </a:r>
            </a:p>
            <a:p>
              <a:r>
                <a:rPr lang="nb-NO" altLang="he-IL" sz="1800"/>
                <a:t>   but not one of the </a:t>
              </a:r>
            </a:p>
            <a:p>
              <a:r>
                <a:rPr lang="nb-NO" altLang="he-IL" sz="1800"/>
                <a:t>   original patterns.</a:t>
              </a:r>
            </a:p>
            <a:p>
              <a:endParaRPr lang="nb-NO" altLang="he-IL" sz="1800"/>
            </a:p>
            <a:p>
              <a:pPr>
                <a:buFontTx/>
                <a:buChar char="•"/>
              </a:pPr>
              <a:r>
                <a:rPr lang="nb-NO" altLang="he-IL" sz="1800"/>
                <a:t>  Attractors in node-state </a:t>
              </a:r>
            </a:p>
            <a:p>
              <a:r>
                <a:rPr lang="nb-NO" altLang="he-IL" sz="1800"/>
                <a:t>   space can be whole</a:t>
              </a:r>
            </a:p>
            <a:p>
              <a:r>
                <a:rPr lang="nb-NO" altLang="he-IL" sz="1800"/>
                <a:t>   patterns, parts of </a:t>
              </a:r>
            </a:p>
            <a:p>
              <a:r>
                <a:rPr lang="nb-NO" altLang="he-IL" sz="1800"/>
                <a:t>   patterns, or other</a:t>
              </a:r>
            </a:p>
            <a:p>
              <a:r>
                <a:rPr lang="nb-NO" altLang="he-IL" sz="1800"/>
                <a:t>   combinations.</a:t>
              </a:r>
            </a:p>
            <a:p>
              <a:r>
                <a:rPr lang="nb-NO" altLang="he-IL" sz="1800"/>
                <a:t>    </a:t>
              </a:r>
            </a:p>
            <a:p>
              <a:endParaRPr lang="nb-NO" altLang="he-IL"/>
            </a:p>
          </p:txBody>
        </p:sp>
        <p:sp>
          <p:nvSpPr>
            <p:cNvPr id="17520" name="Text Box 112"/>
            <p:cNvSpPr txBox="1">
              <a:spLocks noChangeArrowheads="1"/>
            </p:cNvSpPr>
            <p:nvPr/>
          </p:nvSpPr>
          <p:spPr bwMode="auto">
            <a:xfrm>
              <a:off x="4320" y="1872"/>
              <a:ext cx="11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 u="sng"/>
                <a:t>Spurious Outputs</a:t>
              </a:r>
              <a:endParaRPr lang="nb-NO" altLang="he-IL"/>
            </a:p>
          </p:txBody>
        </p:sp>
      </p:grpSp>
    </p:spTree>
    <p:extLst>
      <p:ext uri="{BB962C8B-B14F-4D97-AF65-F5344CB8AC3E}">
        <p14:creationId xmlns:p14="http://schemas.microsoft.com/office/powerpoint/2010/main" val="2059044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Hopfield Network Example (4)</a:t>
            </a:r>
            <a:endParaRPr lang="nb-NO" altLang="he-IL"/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304800" y="3733800"/>
            <a:ext cx="6910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5c. Asynchronous Iteration (One randomly-chosen node at a time)</a:t>
            </a:r>
            <a:endParaRPr lang="nb-NO" altLang="he-IL"/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57200" y="1143000"/>
            <a:ext cx="327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4c. Enter Another Test Pattern</a:t>
            </a:r>
            <a:endParaRPr lang="nb-NO" altLang="he-IL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1524000" y="2438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460" name="Rectangle 28"/>
          <p:cNvSpPr>
            <a:spLocks noChangeArrowheads="1"/>
          </p:cNvSpPr>
          <p:nvPr/>
        </p:nvSpPr>
        <p:spPr bwMode="auto">
          <a:xfrm>
            <a:off x="381000" y="19812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461" name="Rectangle 29"/>
          <p:cNvSpPr>
            <a:spLocks noChangeArrowheads="1"/>
          </p:cNvSpPr>
          <p:nvPr/>
        </p:nvSpPr>
        <p:spPr bwMode="auto">
          <a:xfrm>
            <a:off x="838200" y="2438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462" name="Rectangle 30"/>
          <p:cNvSpPr>
            <a:spLocks noChangeArrowheads="1"/>
          </p:cNvSpPr>
          <p:nvPr/>
        </p:nvSpPr>
        <p:spPr bwMode="auto">
          <a:xfrm>
            <a:off x="381000" y="2438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463" name="Rectangle 31"/>
          <p:cNvSpPr>
            <a:spLocks noChangeArrowheads="1"/>
          </p:cNvSpPr>
          <p:nvPr/>
        </p:nvSpPr>
        <p:spPr bwMode="auto">
          <a:xfrm>
            <a:off x="838200" y="19812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441325" y="2043113"/>
            <a:ext cx="295275" cy="3460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457200" y="2514600"/>
            <a:ext cx="285750" cy="336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18466" name="Text Box 34"/>
          <p:cNvSpPr txBox="1">
            <a:spLocks noChangeArrowheads="1"/>
          </p:cNvSpPr>
          <p:nvPr/>
        </p:nvSpPr>
        <p:spPr bwMode="auto">
          <a:xfrm>
            <a:off x="914400" y="2514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18467" name="Text Box 35"/>
          <p:cNvSpPr txBox="1">
            <a:spLocks noChangeArrowheads="1"/>
          </p:cNvSpPr>
          <p:nvPr/>
        </p:nvSpPr>
        <p:spPr bwMode="auto">
          <a:xfrm>
            <a:off x="914400" y="2057400"/>
            <a:ext cx="295275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grpSp>
        <p:nvGrpSpPr>
          <p:cNvPr id="18468" name="Group 36"/>
          <p:cNvGrpSpPr>
            <a:grpSpLocks/>
          </p:cNvGrpSpPr>
          <p:nvPr/>
        </p:nvGrpSpPr>
        <p:grpSpPr bwMode="auto">
          <a:xfrm>
            <a:off x="609600" y="2057400"/>
            <a:ext cx="76200" cy="76200"/>
            <a:chOff x="2688" y="2976"/>
            <a:chExt cx="48" cy="48"/>
          </a:xfrm>
        </p:grpSpPr>
        <p:sp>
          <p:nvSpPr>
            <p:cNvPr id="18469" name="Line 37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470" name="Line 38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8481" name="Text Box 49"/>
          <p:cNvSpPr txBox="1">
            <a:spLocks noChangeArrowheads="1"/>
          </p:cNvSpPr>
          <p:nvPr/>
        </p:nvSpPr>
        <p:spPr bwMode="auto">
          <a:xfrm>
            <a:off x="990600" y="42672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Update 3</a:t>
            </a:r>
            <a:endParaRPr lang="nb-NO" altLang="he-IL"/>
          </a:p>
        </p:txBody>
      </p:sp>
      <p:grpSp>
        <p:nvGrpSpPr>
          <p:cNvPr id="18524" name="Group 92"/>
          <p:cNvGrpSpPr>
            <a:grpSpLocks/>
          </p:cNvGrpSpPr>
          <p:nvPr/>
        </p:nvGrpSpPr>
        <p:grpSpPr bwMode="auto">
          <a:xfrm>
            <a:off x="2209800" y="1676400"/>
            <a:ext cx="2609850" cy="1852613"/>
            <a:chOff x="1392" y="1056"/>
            <a:chExt cx="1644" cy="1167"/>
          </a:xfrm>
        </p:grpSpPr>
        <p:sp>
          <p:nvSpPr>
            <p:cNvPr id="18502" name="Oval 70"/>
            <p:cNvSpPr>
              <a:spLocks noChangeArrowheads="1"/>
            </p:cNvSpPr>
            <p:nvPr/>
          </p:nvSpPr>
          <p:spPr bwMode="auto">
            <a:xfrm>
              <a:off x="1632" y="1152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03" name="Oval 71"/>
            <p:cNvSpPr>
              <a:spLocks noChangeArrowheads="1"/>
            </p:cNvSpPr>
            <p:nvPr/>
          </p:nvSpPr>
          <p:spPr bwMode="auto">
            <a:xfrm>
              <a:off x="163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04" name="Oval 72"/>
            <p:cNvSpPr>
              <a:spLocks noChangeArrowheads="1"/>
            </p:cNvSpPr>
            <p:nvPr/>
          </p:nvSpPr>
          <p:spPr bwMode="auto">
            <a:xfrm>
              <a:off x="2544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05" name="Oval 73"/>
            <p:cNvSpPr>
              <a:spLocks noChangeArrowheads="1"/>
            </p:cNvSpPr>
            <p:nvPr/>
          </p:nvSpPr>
          <p:spPr bwMode="auto">
            <a:xfrm>
              <a:off x="2544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06" name="Line 74"/>
            <p:cNvSpPr>
              <a:spLocks noChangeShapeType="1"/>
            </p:cNvSpPr>
            <p:nvPr/>
          </p:nvSpPr>
          <p:spPr bwMode="auto">
            <a:xfrm flipV="1">
              <a:off x="1824" y="1344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07" name="Line 75"/>
            <p:cNvSpPr>
              <a:spLocks noChangeShapeType="1"/>
            </p:cNvSpPr>
            <p:nvPr/>
          </p:nvSpPr>
          <p:spPr bwMode="auto">
            <a:xfrm flipV="1">
              <a:off x="1872" y="129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08" name="Line 76"/>
            <p:cNvSpPr>
              <a:spLocks noChangeShapeType="1"/>
            </p:cNvSpPr>
            <p:nvPr/>
          </p:nvSpPr>
          <p:spPr bwMode="auto">
            <a:xfrm flipV="1">
              <a:off x="1776" y="139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09" name="Line 77"/>
            <p:cNvSpPr>
              <a:spLocks noChangeShapeType="1"/>
            </p:cNvSpPr>
            <p:nvPr/>
          </p:nvSpPr>
          <p:spPr bwMode="auto">
            <a:xfrm>
              <a:off x="1872" y="1344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10" name="Line 78"/>
            <p:cNvSpPr>
              <a:spLocks noChangeShapeType="1"/>
            </p:cNvSpPr>
            <p:nvPr/>
          </p:nvSpPr>
          <p:spPr bwMode="auto">
            <a:xfrm flipV="1">
              <a:off x="1872" y="1968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11" name="Line 79"/>
            <p:cNvSpPr>
              <a:spLocks noChangeShapeType="1"/>
            </p:cNvSpPr>
            <p:nvPr/>
          </p:nvSpPr>
          <p:spPr bwMode="auto">
            <a:xfrm flipV="1">
              <a:off x="2640" y="139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12" name="Text Box 80"/>
            <p:cNvSpPr txBox="1">
              <a:spLocks noChangeArrowheads="1"/>
            </p:cNvSpPr>
            <p:nvPr/>
          </p:nvSpPr>
          <p:spPr bwMode="auto">
            <a:xfrm>
              <a:off x="2102" y="199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</a:t>
              </a:r>
              <a:endParaRPr lang="nb-NO" altLang="he-IL"/>
            </a:p>
          </p:txBody>
        </p:sp>
        <p:sp>
          <p:nvSpPr>
            <p:cNvPr id="18513" name="Text Box 81"/>
            <p:cNvSpPr txBox="1">
              <a:spLocks noChangeArrowheads="1"/>
            </p:cNvSpPr>
            <p:nvPr/>
          </p:nvSpPr>
          <p:spPr bwMode="auto">
            <a:xfrm>
              <a:off x="1392" y="1536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8514" name="Text Box 82"/>
            <p:cNvSpPr txBox="1">
              <a:spLocks noChangeArrowheads="1"/>
            </p:cNvSpPr>
            <p:nvPr/>
          </p:nvSpPr>
          <p:spPr bwMode="auto">
            <a:xfrm>
              <a:off x="1968" y="1680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8515" name="Text Box 83"/>
            <p:cNvSpPr txBox="1">
              <a:spLocks noChangeArrowheads="1"/>
            </p:cNvSpPr>
            <p:nvPr/>
          </p:nvSpPr>
          <p:spPr bwMode="auto">
            <a:xfrm>
              <a:off x="2016" y="1296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8516" name="Text Box 84"/>
            <p:cNvSpPr txBox="1">
              <a:spLocks noChangeArrowheads="1"/>
            </p:cNvSpPr>
            <p:nvPr/>
          </p:nvSpPr>
          <p:spPr bwMode="auto">
            <a:xfrm>
              <a:off x="2688" y="1488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8517" name="Text Box 85"/>
            <p:cNvSpPr txBox="1">
              <a:spLocks noChangeArrowheads="1"/>
            </p:cNvSpPr>
            <p:nvPr/>
          </p:nvSpPr>
          <p:spPr bwMode="auto">
            <a:xfrm>
              <a:off x="2064" y="1056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grpSp>
          <p:nvGrpSpPr>
            <p:cNvPr id="18518" name="Group 86"/>
            <p:cNvGrpSpPr>
              <a:grpSpLocks/>
            </p:cNvGrpSpPr>
            <p:nvPr/>
          </p:nvGrpSpPr>
          <p:grpSpPr bwMode="auto">
            <a:xfrm>
              <a:off x="1728" y="1248"/>
              <a:ext cx="48" cy="48"/>
              <a:chOff x="2688" y="2976"/>
              <a:chExt cx="48" cy="48"/>
            </a:xfrm>
          </p:grpSpPr>
          <p:sp>
            <p:nvSpPr>
              <p:cNvPr id="18519" name="Line 87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8520" name="Line 88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grpSp>
        <p:nvGrpSpPr>
          <p:cNvPr id="18546" name="Group 114"/>
          <p:cNvGrpSpPr>
            <a:grpSpLocks/>
          </p:cNvGrpSpPr>
          <p:nvPr/>
        </p:nvGrpSpPr>
        <p:grpSpPr bwMode="auto">
          <a:xfrm>
            <a:off x="76200" y="4800600"/>
            <a:ext cx="2609850" cy="1852613"/>
            <a:chOff x="96" y="3024"/>
            <a:chExt cx="1644" cy="1167"/>
          </a:xfrm>
        </p:grpSpPr>
        <p:sp>
          <p:nvSpPr>
            <p:cNvPr id="18526" name="Oval 94"/>
            <p:cNvSpPr>
              <a:spLocks noChangeArrowheads="1"/>
            </p:cNvSpPr>
            <p:nvPr/>
          </p:nvSpPr>
          <p:spPr bwMode="auto">
            <a:xfrm>
              <a:off x="336" y="3120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27" name="Oval 95"/>
            <p:cNvSpPr>
              <a:spLocks noChangeArrowheads="1"/>
            </p:cNvSpPr>
            <p:nvPr/>
          </p:nvSpPr>
          <p:spPr bwMode="auto">
            <a:xfrm>
              <a:off x="336" y="3840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28" name="Oval 96"/>
            <p:cNvSpPr>
              <a:spLocks noChangeArrowheads="1"/>
            </p:cNvSpPr>
            <p:nvPr/>
          </p:nvSpPr>
          <p:spPr bwMode="auto">
            <a:xfrm>
              <a:off x="1248" y="379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29" name="Oval 97"/>
            <p:cNvSpPr>
              <a:spLocks noChangeArrowheads="1"/>
            </p:cNvSpPr>
            <p:nvPr/>
          </p:nvSpPr>
          <p:spPr bwMode="auto">
            <a:xfrm>
              <a:off x="1248" y="312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30" name="Line 98"/>
            <p:cNvSpPr>
              <a:spLocks noChangeShapeType="1"/>
            </p:cNvSpPr>
            <p:nvPr/>
          </p:nvSpPr>
          <p:spPr bwMode="auto">
            <a:xfrm flipV="1">
              <a:off x="528" y="3312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31" name="Line 99"/>
            <p:cNvSpPr>
              <a:spLocks noChangeShapeType="1"/>
            </p:cNvSpPr>
            <p:nvPr/>
          </p:nvSpPr>
          <p:spPr bwMode="auto">
            <a:xfrm flipV="1">
              <a:off x="576" y="326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32" name="Line 100"/>
            <p:cNvSpPr>
              <a:spLocks noChangeShapeType="1"/>
            </p:cNvSpPr>
            <p:nvPr/>
          </p:nvSpPr>
          <p:spPr bwMode="auto">
            <a:xfrm flipV="1">
              <a:off x="480" y="336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33" name="Line 101"/>
            <p:cNvSpPr>
              <a:spLocks noChangeShapeType="1"/>
            </p:cNvSpPr>
            <p:nvPr/>
          </p:nvSpPr>
          <p:spPr bwMode="auto">
            <a:xfrm>
              <a:off x="576" y="3312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34" name="Line 102"/>
            <p:cNvSpPr>
              <a:spLocks noChangeShapeType="1"/>
            </p:cNvSpPr>
            <p:nvPr/>
          </p:nvSpPr>
          <p:spPr bwMode="auto">
            <a:xfrm flipV="1">
              <a:off x="576" y="393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35" name="Line 103"/>
            <p:cNvSpPr>
              <a:spLocks noChangeShapeType="1"/>
            </p:cNvSpPr>
            <p:nvPr/>
          </p:nvSpPr>
          <p:spPr bwMode="auto">
            <a:xfrm flipV="1">
              <a:off x="1344" y="336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36" name="Text Box 104"/>
            <p:cNvSpPr txBox="1">
              <a:spLocks noChangeArrowheads="1"/>
            </p:cNvSpPr>
            <p:nvPr/>
          </p:nvSpPr>
          <p:spPr bwMode="auto">
            <a:xfrm>
              <a:off x="806" y="3960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</a:t>
              </a:r>
              <a:endParaRPr lang="nb-NO" altLang="he-IL"/>
            </a:p>
          </p:txBody>
        </p:sp>
        <p:sp>
          <p:nvSpPr>
            <p:cNvPr id="18537" name="Text Box 105"/>
            <p:cNvSpPr txBox="1">
              <a:spLocks noChangeArrowheads="1"/>
            </p:cNvSpPr>
            <p:nvPr/>
          </p:nvSpPr>
          <p:spPr bwMode="auto">
            <a:xfrm>
              <a:off x="96" y="3504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8538" name="Text Box 106"/>
            <p:cNvSpPr txBox="1">
              <a:spLocks noChangeArrowheads="1"/>
            </p:cNvSpPr>
            <p:nvPr/>
          </p:nvSpPr>
          <p:spPr bwMode="auto">
            <a:xfrm>
              <a:off x="672" y="3648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8539" name="Text Box 107"/>
            <p:cNvSpPr txBox="1">
              <a:spLocks noChangeArrowheads="1"/>
            </p:cNvSpPr>
            <p:nvPr/>
          </p:nvSpPr>
          <p:spPr bwMode="auto">
            <a:xfrm>
              <a:off x="720" y="3264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8540" name="Text Box 108"/>
            <p:cNvSpPr txBox="1">
              <a:spLocks noChangeArrowheads="1"/>
            </p:cNvSpPr>
            <p:nvPr/>
          </p:nvSpPr>
          <p:spPr bwMode="auto">
            <a:xfrm>
              <a:off x="1392" y="3456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8541" name="Text Box 109"/>
            <p:cNvSpPr txBox="1">
              <a:spLocks noChangeArrowheads="1"/>
            </p:cNvSpPr>
            <p:nvPr/>
          </p:nvSpPr>
          <p:spPr bwMode="auto">
            <a:xfrm>
              <a:off x="768" y="3024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grpSp>
          <p:nvGrpSpPr>
            <p:cNvPr id="18542" name="Group 110"/>
            <p:cNvGrpSpPr>
              <a:grpSpLocks/>
            </p:cNvGrpSpPr>
            <p:nvPr/>
          </p:nvGrpSpPr>
          <p:grpSpPr bwMode="auto">
            <a:xfrm>
              <a:off x="432" y="3216"/>
              <a:ext cx="48" cy="48"/>
              <a:chOff x="2688" y="2976"/>
              <a:chExt cx="48" cy="48"/>
            </a:xfrm>
          </p:grpSpPr>
          <p:sp>
            <p:nvSpPr>
              <p:cNvPr id="18543" name="Line 111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8544" name="Line 112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sp>
        <p:nvSpPr>
          <p:cNvPr id="18545" name="Text Box 113"/>
          <p:cNvSpPr txBox="1">
            <a:spLocks noChangeArrowheads="1"/>
          </p:cNvSpPr>
          <p:nvPr/>
        </p:nvSpPr>
        <p:spPr bwMode="auto">
          <a:xfrm>
            <a:off x="3581400" y="42672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Update 4</a:t>
            </a:r>
            <a:endParaRPr lang="nb-NO" altLang="he-IL"/>
          </a:p>
        </p:txBody>
      </p:sp>
      <p:grpSp>
        <p:nvGrpSpPr>
          <p:cNvPr id="18570" name="Group 138"/>
          <p:cNvGrpSpPr>
            <a:grpSpLocks/>
          </p:cNvGrpSpPr>
          <p:nvPr/>
        </p:nvGrpSpPr>
        <p:grpSpPr bwMode="auto">
          <a:xfrm>
            <a:off x="2819400" y="4724400"/>
            <a:ext cx="2609850" cy="1852613"/>
            <a:chOff x="1776" y="2976"/>
            <a:chExt cx="1644" cy="1167"/>
          </a:xfrm>
        </p:grpSpPr>
        <p:sp>
          <p:nvSpPr>
            <p:cNvPr id="18548" name="Oval 116"/>
            <p:cNvSpPr>
              <a:spLocks noChangeArrowheads="1"/>
            </p:cNvSpPr>
            <p:nvPr/>
          </p:nvSpPr>
          <p:spPr bwMode="auto">
            <a:xfrm>
              <a:off x="2016" y="3072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49" name="Oval 117"/>
            <p:cNvSpPr>
              <a:spLocks noChangeArrowheads="1"/>
            </p:cNvSpPr>
            <p:nvPr/>
          </p:nvSpPr>
          <p:spPr bwMode="auto">
            <a:xfrm>
              <a:off x="2016" y="3792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50" name="Oval 118"/>
            <p:cNvSpPr>
              <a:spLocks noChangeArrowheads="1"/>
            </p:cNvSpPr>
            <p:nvPr/>
          </p:nvSpPr>
          <p:spPr bwMode="auto">
            <a:xfrm>
              <a:off x="2928" y="3744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51" name="Oval 119"/>
            <p:cNvSpPr>
              <a:spLocks noChangeArrowheads="1"/>
            </p:cNvSpPr>
            <p:nvPr/>
          </p:nvSpPr>
          <p:spPr bwMode="auto">
            <a:xfrm>
              <a:off x="2928" y="307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18552" name="Line 120"/>
            <p:cNvSpPr>
              <a:spLocks noChangeShapeType="1"/>
            </p:cNvSpPr>
            <p:nvPr/>
          </p:nvSpPr>
          <p:spPr bwMode="auto">
            <a:xfrm flipV="1">
              <a:off x="2208" y="3264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53" name="Line 121"/>
            <p:cNvSpPr>
              <a:spLocks noChangeShapeType="1"/>
            </p:cNvSpPr>
            <p:nvPr/>
          </p:nvSpPr>
          <p:spPr bwMode="auto">
            <a:xfrm flipV="1">
              <a:off x="2256" y="321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54" name="Line 122"/>
            <p:cNvSpPr>
              <a:spLocks noChangeShapeType="1"/>
            </p:cNvSpPr>
            <p:nvPr/>
          </p:nvSpPr>
          <p:spPr bwMode="auto">
            <a:xfrm flipV="1">
              <a:off x="2160" y="331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55" name="Line 123"/>
            <p:cNvSpPr>
              <a:spLocks noChangeShapeType="1"/>
            </p:cNvSpPr>
            <p:nvPr/>
          </p:nvSpPr>
          <p:spPr bwMode="auto">
            <a:xfrm>
              <a:off x="2256" y="3264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56" name="Line 124"/>
            <p:cNvSpPr>
              <a:spLocks noChangeShapeType="1"/>
            </p:cNvSpPr>
            <p:nvPr/>
          </p:nvSpPr>
          <p:spPr bwMode="auto">
            <a:xfrm flipV="1">
              <a:off x="2256" y="3888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57" name="Line 125"/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58" name="Text Box 126"/>
            <p:cNvSpPr txBox="1">
              <a:spLocks noChangeArrowheads="1"/>
            </p:cNvSpPr>
            <p:nvPr/>
          </p:nvSpPr>
          <p:spPr bwMode="auto">
            <a:xfrm>
              <a:off x="2486" y="391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</a:t>
              </a:r>
              <a:endParaRPr lang="nb-NO" altLang="he-IL"/>
            </a:p>
          </p:txBody>
        </p:sp>
        <p:sp>
          <p:nvSpPr>
            <p:cNvPr id="18559" name="Text Box 127"/>
            <p:cNvSpPr txBox="1">
              <a:spLocks noChangeArrowheads="1"/>
            </p:cNvSpPr>
            <p:nvPr/>
          </p:nvSpPr>
          <p:spPr bwMode="auto">
            <a:xfrm>
              <a:off x="1776" y="3456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8560" name="Text Box 128"/>
            <p:cNvSpPr txBox="1">
              <a:spLocks noChangeArrowheads="1"/>
            </p:cNvSpPr>
            <p:nvPr/>
          </p:nvSpPr>
          <p:spPr bwMode="auto">
            <a:xfrm>
              <a:off x="2352" y="3600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8561" name="Text Box 129"/>
            <p:cNvSpPr txBox="1">
              <a:spLocks noChangeArrowheads="1"/>
            </p:cNvSpPr>
            <p:nvPr/>
          </p:nvSpPr>
          <p:spPr bwMode="auto">
            <a:xfrm>
              <a:off x="2400" y="3216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18562" name="Text Box 130"/>
            <p:cNvSpPr txBox="1">
              <a:spLocks noChangeArrowheads="1"/>
            </p:cNvSpPr>
            <p:nvPr/>
          </p:nvSpPr>
          <p:spPr bwMode="auto">
            <a:xfrm>
              <a:off x="3072" y="3408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18563" name="Text Box 131"/>
            <p:cNvSpPr txBox="1">
              <a:spLocks noChangeArrowheads="1"/>
            </p:cNvSpPr>
            <p:nvPr/>
          </p:nvSpPr>
          <p:spPr bwMode="auto">
            <a:xfrm>
              <a:off x="2448" y="2976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grpSp>
          <p:nvGrpSpPr>
            <p:cNvPr id="18564" name="Group 132"/>
            <p:cNvGrpSpPr>
              <a:grpSpLocks/>
            </p:cNvGrpSpPr>
            <p:nvPr/>
          </p:nvGrpSpPr>
          <p:grpSpPr bwMode="auto">
            <a:xfrm>
              <a:off x="2112" y="3168"/>
              <a:ext cx="48" cy="48"/>
              <a:chOff x="2688" y="2976"/>
              <a:chExt cx="48" cy="48"/>
            </a:xfrm>
          </p:grpSpPr>
          <p:sp>
            <p:nvSpPr>
              <p:cNvPr id="18565" name="Line 133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8566" name="Line 134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18567" name="Group 135"/>
            <p:cNvGrpSpPr>
              <a:grpSpLocks/>
            </p:cNvGrpSpPr>
            <p:nvPr/>
          </p:nvGrpSpPr>
          <p:grpSpPr bwMode="auto">
            <a:xfrm>
              <a:off x="3024" y="3840"/>
              <a:ext cx="48" cy="48"/>
              <a:chOff x="2688" y="2976"/>
              <a:chExt cx="48" cy="48"/>
            </a:xfrm>
          </p:grpSpPr>
          <p:sp>
            <p:nvSpPr>
              <p:cNvPr id="18568" name="Line 136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18569" name="Line 137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sp>
        <p:nvSpPr>
          <p:cNvPr id="18572" name="Oval 140"/>
          <p:cNvSpPr>
            <a:spLocks noChangeArrowheads="1"/>
          </p:cNvSpPr>
          <p:nvPr/>
        </p:nvSpPr>
        <p:spPr bwMode="auto">
          <a:xfrm>
            <a:off x="6019800" y="48768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8573" name="Oval 141"/>
          <p:cNvSpPr>
            <a:spLocks noChangeArrowheads="1"/>
          </p:cNvSpPr>
          <p:nvPr/>
        </p:nvSpPr>
        <p:spPr bwMode="auto">
          <a:xfrm>
            <a:off x="6019800" y="60198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8574" name="Oval 142"/>
          <p:cNvSpPr>
            <a:spLocks noChangeArrowheads="1"/>
          </p:cNvSpPr>
          <p:nvPr/>
        </p:nvSpPr>
        <p:spPr bwMode="auto">
          <a:xfrm>
            <a:off x="7467600" y="59436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8575" name="Oval 143"/>
          <p:cNvSpPr>
            <a:spLocks noChangeArrowheads="1"/>
          </p:cNvSpPr>
          <p:nvPr/>
        </p:nvSpPr>
        <p:spPr bwMode="auto">
          <a:xfrm>
            <a:off x="7467600" y="48768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8576" name="Line 144"/>
          <p:cNvSpPr>
            <a:spLocks noChangeShapeType="1"/>
          </p:cNvSpPr>
          <p:nvPr/>
        </p:nvSpPr>
        <p:spPr bwMode="auto">
          <a:xfrm flipV="1">
            <a:off x="6324600" y="5181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77" name="Line 145"/>
          <p:cNvSpPr>
            <a:spLocks noChangeShapeType="1"/>
          </p:cNvSpPr>
          <p:nvPr/>
        </p:nvSpPr>
        <p:spPr bwMode="auto">
          <a:xfrm flipV="1">
            <a:off x="6400800" y="5105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78" name="Line 146"/>
          <p:cNvSpPr>
            <a:spLocks noChangeShapeType="1"/>
          </p:cNvSpPr>
          <p:nvPr/>
        </p:nvSpPr>
        <p:spPr bwMode="auto">
          <a:xfrm flipV="1">
            <a:off x="6248400" y="5257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79" name="Line 147"/>
          <p:cNvSpPr>
            <a:spLocks noChangeShapeType="1"/>
          </p:cNvSpPr>
          <p:nvPr/>
        </p:nvSpPr>
        <p:spPr bwMode="auto">
          <a:xfrm>
            <a:off x="6400800" y="5181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80" name="Line 148"/>
          <p:cNvSpPr>
            <a:spLocks noChangeShapeType="1"/>
          </p:cNvSpPr>
          <p:nvPr/>
        </p:nvSpPr>
        <p:spPr bwMode="auto">
          <a:xfrm flipV="1">
            <a:off x="6400800" y="6172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81" name="Line 149"/>
          <p:cNvSpPr>
            <a:spLocks noChangeShapeType="1"/>
          </p:cNvSpPr>
          <p:nvPr/>
        </p:nvSpPr>
        <p:spPr bwMode="auto">
          <a:xfrm flipV="1">
            <a:off x="7620000" y="52578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82" name="Text Box 150"/>
          <p:cNvSpPr txBox="1">
            <a:spLocks noChangeArrowheads="1"/>
          </p:cNvSpPr>
          <p:nvPr/>
        </p:nvSpPr>
        <p:spPr bwMode="auto">
          <a:xfrm>
            <a:off x="6765925" y="62103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18583" name="Text Box 151"/>
          <p:cNvSpPr txBox="1">
            <a:spLocks noChangeArrowheads="1"/>
          </p:cNvSpPr>
          <p:nvPr/>
        </p:nvSpPr>
        <p:spPr bwMode="auto">
          <a:xfrm>
            <a:off x="5638800" y="54864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8584" name="Text Box 152"/>
          <p:cNvSpPr txBox="1">
            <a:spLocks noChangeArrowheads="1"/>
          </p:cNvSpPr>
          <p:nvPr/>
        </p:nvSpPr>
        <p:spPr bwMode="auto">
          <a:xfrm>
            <a:off x="6553200" y="57150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8585" name="Text Box 153"/>
          <p:cNvSpPr txBox="1">
            <a:spLocks noChangeArrowheads="1"/>
          </p:cNvSpPr>
          <p:nvPr/>
        </p:nvSpPr>
        <p:spPr bwMode="auto">
          <a:xfrm>
            <a:off x="6629400" y="5105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8586" name="Text Box 154"/>
          <p:cNvSpPr txBox="1">
            <a:spLocks noChangeArrowheads="1"/>
          </p:cNvSpPr>
          <p:nvPr/>
        </p:nvSpPr>
        <p:spPr bwMode="auto">
          <a:xfrm>
            <a:off x="7696200" y="54102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8587" name="Text Box 155"/>
          <p:cNvSpPr txBox="1">
            <a:spLocks noChangeArrowheads="1"/>
          </p:cNvSpPr>
          <p:nvPr/>
        </p:nvSpPr>
        <p:spPr bwMode="auto">
          <a:xfrm>
            <a:off x="6705600" y="4724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grpSp>
        <p:nvGrpSpPr>
          <p:cNvPr id="18588" name="Group 156"/>
          <p:cNvGrpSpPr>
            <a:grpSpLocks/>
          </p:cNvGrpSpPr>
          <p:nvPr/>
        </p:nvGrpSpPr>
        <p:grpSpPr bwMode="auto">
          <a:xfrm>
            <a:off x="6172200" y="5029200"/>
            <a:ext cx="76200" cy="76200"/>
            <a:chOff x="2688" y="2976"/>
            <a:chExt cx="48" cy="48"/>
          </a:xfrm>
        </p:grpSpPr>
        <p:sp>
          <p:nvSpPr>
            <p:cNvPr id="18589" name="Line 157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90" name="Line 158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8591" name="Group 159"/>
          <p:cNvGrpSpPr>
            <a:grpSpLocks/>
          </p:cNvGrpSpPr>
          <p:nvPr/>
        </p:nvGrpSpPr>
        <p:grpSpPr bwMode="auto">
          <a:xfrm>
            <a:off x="7620000" y="6096000"/>
            <a:ext cx="76200" cy="76200"/>
            <a:chOff x="2688" y="2976"/>
            <a:chExt cx="48" cy="48"/>
          </a:xfrm>
        </p:grpSpPr>
        <p:sp>
          <p:nvSpPr>
            <p:cNvPr id="18592" name="Line 160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593" name="Line 161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8594" name="Text Box 162"/>
          <p:cNvSpPr txBox="1">
            <a:spLocks noChangeArrowheads="1"/>
          </p:cNvSpPr>
          <p:nvPr/>
        </p:nvSpPr>
        <p:spPr bwMode="auto">
          <a:xfrm>
            <a:off x="6324600" y="42672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Update 2</a:t>
            </a:r>
            <a:endParaRPr lang="nb-NO" altLang="he-IL"/>
          </a:p>
        </p:txBody>
      </p:sp>
      <p:sp>
        <p:nvSpPr>
          <p:cNvPr id="18595" name="Text Box 163"/>
          <p:cNvSpPr txBox="1">
            <a:spLocks noChangeArrowheads="1"/>
          </p:cNvSpPr>
          <p:nvPr/>
        </p:nvSpPr>
        <p:spPr bwMode="auto">
          <a:xfrm>
            <a:off x="8001000" y="4419600"/>
            <a:ext cx="996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Stable &amp;</a:t>
            </a:r>
          </a:p>
          <a:p>
            <a:r>
              <a:rPr lang="nb-NO" altLang="he-IL" sz="1800"/>
              <a:t>Spurious</a:t>
            </a:r>
            <a:endParaRPr lang="nb-NO" altLang="he-IL"/>
          </a:p>
        </p:txBody>
      </p:sp>
      <p:sp>
        <p:nvSpPr>
          <p:cNvPr id="18596" name="Line 164"/>
          <p:cNvSpPr>
            <a:spLocks noChangeShapeType="1"/>
          </p:cNvSpPr>
          <p:nvPr/>
        </p:nvSpPr>
        <p:spPr bwMode="auto">
          <a:xfrm>
            <a:off x="2286000" y="4495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97" name="Line 165"/>
          <p:cNvSpPr>
            <a:spLocks noChangeShapeType="1"/>
          </p:cNvSpPr>
          <p:nvPr/>
        </p:nvSpPr>
        <p:spPr bwMode="auto">
          <a:xfrm>
            <a:off x="5029200" y="4495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98" name="Line 166"/>
          <p:cNvSpPr>
            <a:spLocks noChangeShapeType="1"/>
          </p:cNvSpPr>
          <p:nvPr/>
        </p:nvSpPr>
        <p:spPr bwMode="auto">
          <a:xfrm>
            <a:off x="152400" y="4495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599" name="Line 167"/>
          <p:cNvSpPr>
            <a:spLocks noChangeShapeType="1"/>
          </p:cNvSpPr>
          <p:nvPr/>
        </p:nvSpPr>
        <p:spPr bwMode="auto">
          <a:xfrm flipV="1">
            <a:off x="5410200" y="31242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8600" name="Text Box 168"/>
          <p:cNvSpPr txBox="1">
            <a:spLocks noChangeArrowheads="1"/>
          </p:cNvSpPr>
          <p:nvPr/>
        </p:nvSpPr>
        <p:spPr bwMode="auto">
          <a:xfrm>
            <a:off x="5562600" y="2435225"/>
            <a:ext cx="3517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Asynchronous Updating is central</a:t>
            </a:r>
          </a:p>
          <a:p>
            <a:r>
              <a:rPr lang="nb-NO" altLang="he-IL" sz="1800"/>
              <a:t>to Hopfield’s (1982) original model.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423746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Hopfield Network Example (5)</a:t>
            </a:r>
            <a:endParaRPr lang="nb-NO" altLang="he-IL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304800" y="3733800"/>
            <a:ext cx="2952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5d. Asynchronous Iteration</a:t>
            </a:r>
            <a:endParaRPr lang="nb-NO" altLang="he-IL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57200" y="1143000"/>
            <a:ext cx="32908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4d. Enter Another Test Pattern</a:t>
            </a:r>
            <a:endParaRPr lang="nb-NO" altLang="he-IL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1524000" y="2438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381000" y="19812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838200" y="2438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81000" y="2438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838200" y="19812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441325" y="2043113"/>
            <a:ext cx="295275" cy="34607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457200" y="2514600"/>
            <a:ext cx="285750" cy="336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914400" y="2514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914400" y="2057400"/>
            <a:ext cx="295275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990600" y="42672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Update 3</a:t>
            </a:r>
            <a:endParaRPr lang="nb-NO" altLang="he-IL"/>
          </a:p>
        </p:txBody>
      </p:sp>
      <p:sp>
        <p:nvSpPr>
          <p:cNvPr id="19475" name="Oval 19"/>
          <p:cNvSpPr>
            <a:spLocks noChangeArrowheads="1"/>
          </p:cNvSpPr>
          <p:nvPr/>
        </p:nvSpPr>
        <p:spPr bwMode="auto">
          <a:xfrm>
            <a:off x="2590800" y="18288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476" name="Oval 20"/>
          <p:cNvSpPr>
            <a:spLocks noChangeArrowheads="1"/>
          </p:cNvSpPr>
          <p:nvPr/>
        </p:nvSpPr>
        <p:spPr bwMode="auto">
          <a:xfrm>
            <a:off x="2590800" y="2971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477" name="Oval 21"/>
          <p:cNvSpPr>
            <a:spLocks noChangeArrowheads="1"/>
          </p:cNvSpPr>
          <p:nvPr/>
        </p:nvSpPr>
        <p:spPr bwMode="auto">
          <a:xfrm>
            <a:off x="4038600" y="2895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478" name="Oval 22"/>
          <p:cNvSpPr>
            <a:spLocks noChangeArrowheads="1"/>
          </p:cNvSpPr>
          <p:nvPr/>
        </p:nvSpPr>
        <p:spPr bwMode="auto">
          <a:xfrm>
            <a:off x="4038600" y="182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479" name="Line 23"/>
          <p:cNvSpPr>
            <a:spLocks noChangeShapeType="1"/>
          </p:cNvSpPr>
          <p:nvPr/>
        </p:nvSpPr>
        <p:spPr bwMode="auto">
          <a:xfrm flipV="1">
            <a:off x="2895600" y="2133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80" name="Line 24"/>
          <p:cNvSpPr>
            <a:spLocks noChangeShapeType="1"/>
          </p:cNvSpPr>
          <p:nvPr/>
        </p:nvSpPr>
        <p:spPr bwMode="auto">
          <a:xfrm flipV="1">
            <a:off x="2971800" y="2057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81" name="Line 25"/>
          <p:cNvSpPr>
            <a:spLocks noChangeShapeType="1"/>
          </p:cNvSpPr>
          <p:nvPr/>
        </p:nvSpPr>
        <p:spPr bwMode="auto">
          <a:xfrm flipV="1">
            <a:off x="2819400" y="2209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82" name="Line 26"/>
          <p:cNvSpPr>
            <a:spLocks noChangeShapeType="1"/>
          </p:cNvSpPr>
          <p:nvPr/>
        </p:nvSpPr>
        <p:spPr bwMode="auto">
          <a:xfrm>
            <a:off x="2971800" y="2133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83" name="Line 27"/>
          <p:cNvSpPr>
            <a:spLocks noChangeShapeType="1"/>
          </p:cNvSpPr>
          <p:nvPr/>
        </p:nvSpPr>
        <p:spPr bwMode="auto">
          <a:xfrm flipV="1">
            <a:off x="2971800" y="3124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84" name="Line 28"/>
          <p:cNvSpPr>
            <a:spLocks noChangeShapeType="1"/>
          </p:cNvSpPr>
          <p:nvPr/>
        </p:nvSpPr>
        <p:spPr bwMode="auto">
          <a:xfrm flipV="1">
            <a:off x="4191000" y="22098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3336925" y="31623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2209800" y="24384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9487" name="Text Box 31"/>
          <p:cNvSpPr txBox="1">
            <a:spLocks noChangeArrowheads="1"/>
          </p:cNvSpPr>
          <p:nvPr/>
        </p:nvSpPr>
        <p:spPr bwMode="auto">
          <a:xfrm>
            <a:off x="3124200" y="26670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3200400" y="2057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489" name="Text Box 33"/>
          <p:cNvSpPr txBox="1">
            <a:spLocks noChangeArrowheads="1"/>
          </p:cNvSpPr>
          <p:nvPr/>
        </p:nvSpPr>
        <p:spPr bwMode="auto">
          <a:xfrm>
            <a:off x="4267200" y="23622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9490" name="Text Box 34"/>
          <p:cNvSpPr txBox="1">
            <a:spLocks noChangeArrowheads="1"/>
          </p:cNvSpPr>
          <p:nvPr/>
        </p:nvSpPr>
        <p:spPr bwMode="auto">
          <a:xfrm>
            <a:off x="3276600" y="1676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495" name="Oval 39"/>
          <p:cNvSpPr>
            <a:spLocks noChangeArrowheads="1"/>
          </p:cNvSpPr>
          <p:nvPr/>
        </p:nvSpPr>
        <p:spPr bwMode="auto">
          <a:xfrm>
            <a:off x="457200" y="49530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496" name="Oval 40"/>
          <p:cNvSpPr>
            <a:spLocks noChangeArrowheads="1"/>
          </p:cNvSpPr>
          <p:nvPr/>
        </p:nvSpPr>
        <p:spPr bwMode="auto">
          <a:xfrm>
            <a:off x="457200" y="60960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497" name="Oval 41"/>
          <p:cNvSpPr>
            <a:spLocks noChangeArrowheads="1"/>
          </p:cNvSpPr>
          <p:nvPr/>
        </p:nvSpPr>
        <p:spPr bwMode="auto">
          <a:xfrm>
            <a:off x="1905000" y="6019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498" name="Oval 42"/>
          <p:cNvSpPr>
            <a:spLocks noChangeArrowheads="1"/>
          </p:cNvSpPr>
          <p:nvPr/>
        </p:nvSpPr>
        <p:spPr bwMode="auto">
          <a:xfrm>
            <a:off x="1905000" y="4953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499" name="Line 43"/>
          <p:cNvSpPr>
            <a:spLocks noChangeShapeType="1"/>
          </p:cNvSpPr>
          <p:nvPr/>
        </p:nvSpPr>
        <p:spPr bwMode="auto">
          <a:xfrm flipV="1">
            <a:off x="762000" y="52578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00" name="Line 44"/>
          <p:cNvSpPr>
            <a:spLocks noChangeShapeType="1"/>
          </p:cNvSpPr>
          <p:nvPr/>
        </p:nvSpPr>
        <p:spPr bwMode="auto">
          <a:xfrm flipV="1">
            <a:off x="838200" y="51816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01" name="Line 45"/>
          <p:cNvSpPr>
            <a:spLocks noChangeShapeType="1"/>
          </p:cNvSpPr>
          <p:nvPr/>
        </p:nvSpPr>
        <p:spPr bwMode="auto">
          <a:xfrm flipV="1">
            <a:off x="685800" y="53340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02" name="Line 46"/>
          <p:cNvSpPr>
            <a:spLocks noChangeShapeType="1"/>
          </p:cNvSpPr>
          <p:nvPr/>
        </p:nvSpPr>
        <p:spPr bwMode="auto">
          <a:xfrm>
            <a:off x="838200" y="52578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03" name="Line 47"/>
          <p:cNvSpPr>
            <a:spLocks noChangeShapeType="1"/>
          </p:cNvSpPr>
          <p:nvPr/>
        </p:nvSpPr>
        <p:spPr bwMode="auto">
          <a:xfrm flipV="1">
            <a:off x="838200" y="6248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04" name="Line 48"/>
          <p:cNvSpPr>
            <a:spLocks noChangeShapeType="1"/>
          </p:cNvSpPr>
          <p:nvPr/>
        </p:nvSpPr>
        <p:spPr bwMode="auto">
          <a:xfrm flipV="1">
            <a:off x="2057400" y="53340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05" name="Text Box 49"/>
          <p:cNvSpPr txBox="1">
            <a:spLocks noChangeArrowheads="1"/>
          </p:cNvSpPr>
          <p:nvPr/>
        </p:nvSpPr>
        <p:spPr bwMode="auto">
          <a:xfrm>
            <a:off x="1203325" y="62865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19506" name="Text Box 50"/>
          <p:cNvSpPr txBox="1">
            <a:spLocks noChangeArrowheads="1"/>
          </p:cNvSpPr>
          <p:nvPr/>
        </p:nvSpPr>
        <p:spPr bwMode="auto">
          <a:xfrm>
            <a:off x="76200" y="55626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9507" name="Text Box 51"/>
          <p:cNvSpPr txBox="1">
            <a:spLocks noChangeArrowheads="1"/>
          </p:cNvSpPr>
          <p:nvPr/>
        </p:nvSpPr>
        <p:spPr bwMode="auto">
          <a:xfrm>
            <a:off x="990600" y="57912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508" name="Text Box 52"/>
          <p:cNvSpPr txBox="1">
            <a:spLocks noChangeArrowheads="1"/>
          </p:cNvSpPr>
          <p:nvPr/>
        </p:nvSpPr>
        <p:spPr bwMode="auto">
          <a:xfrm>
            <a:off x="1066800" y="51816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509" name="Text Box 53"/>
          <p:cNvSpPr txBox="1">
            <a:spLocks noChangeArrowheads="1"/>
          </p:cNvSpPr>
          <p:nvPr/>
        </p:nvSpPr>
        <p:spPr bwMode="auto">
          <a:xfrm>
            <a:off x="2133600" y="54864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9510" name="Text Box 54"/>
          <p:cNvSpPr txBox="1">
            <a:spLocks noChangeArrowheads="1"/>
          </p:cNvSpPr>
          <p:nvPr/>
        </p:nvSpPr>
        <p:spPr bwMode="auto">
          <a:xfrm>
            <a:off x="1143000" y="48006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grpSp>
        <p:nvGrpSpPr>
          <p:cNvPr id="19511" name="Group 55"/>
          <p:cNvGrpSpPr>
            <a:grpSpLocks/>
          </p:cNvGrpSpPr>
          <p:nvPr/>
        </p:nvGrpSpPr>
        <p:grpSpPr bwMode="auto">
          <a:xfrm>
            <a:off x="609600" y="6248400"/>
            <a:ext cx="76200" cy="76200"/>
            <a:chOff x="2688" y="2976"/>
            <a:chExt cx="48" cy="48"/>
          </a:xfrm>
        </p:grpSpPr>
        <p:sp>
          <p:nvSpPr>
            <p:cNvPr id="19512" name="Line 56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9513" name="Line 57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9514" name="Text Box 58"/>
          <p:cNvSpPr txBox="1">
            <a:spLocks noChangeArrowheads="1"/>
          </p:cNvSpPr>
          <p:nvPr/>
        </p:nvSpPr>
        <p:spPr bwMode="auto">
          <a:xfrm>
            <a:off x="3581400" y="42672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Update 4</a:t>
            </a:r>
            <a:endParaRPr lang="nb-NO" altLang="he-IL"/>
          </a:p>
        </p:txBody>
      </p:sp>
      <p:sp>
        <p:nvSpPr>
          <p:cNvPr id="19516" name="Oval 60"/>
          <p:cNvSpPr>
            <a:spLocks noChangeArrowheads="1"/>
          </p:cNvSpPr>
          <p:nvPr/>
        </p:nvSpPr>
        <p:spPr bwMode="auto">
          <a:xfrm>
            <a:off x="3200400" y="48768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517" name="Oval 61"/>
          <p:cNvSpPr>
            <a:spLocks noChangeArrowheads="1"/>
          </p:cNvSpPr>
          <p:nvPr/>
        </p:nvSpPr>
        <p:spPr bwMode="auto">
          <a:xfrm>
            <a:off x="3200400" y="60198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518" name="Oval 62"/>
          <p:cNvSpPr>
            <a:spLocks noChangeArrowheads="1"/>
          </p:cNvSpPr>
          <p:nvPr/>
        </p:nvSpPr>
        <p:spPr bwMode="auto">
          <a:xfrm>
            <a:off x="4648200" y="59436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519" name="Oval 63"/>
          <p:cNvSpPr>
            <a:spLocks noChangeArrowheads="1"/>
          </p:cNvSpPr>
          <p:nvPr/>
        </p:nvSpPr>
        <p:spPr bwMode="auto">
          <a:xfrm>
            <a:off x="4648200" y="4876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520" name="Line 64"/>
          <p:cNvSpPr>
            <a:spLocks noChangeShapeType="1"/>
          </p:cNvSpPr>
          <p:nvPr/>
        </p:nvSpPr>
        <p:spPr bwMode="auto">
          <a:xfrm flipV="1">
            <a:off x="3505200" y="5181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21" name="Line 65"/>
          <p:cNvSpPr>
            <a:spLocks noChangeShapeType="1"/>
          </p:cNvSpPr>
          <p:nvPr/>
        </p:nvSpPr>
        <p:spPr bwMode="auto">
          <a:xfrm flipV="1">
            <a:off x="3581400" y="5105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22" name="Line 66"/>
          <p:cNvSpPr>
            <a:spLocks noChangeShapeType="1"/>
          </p:cNvSpPr>
          <p:nvPr/>
        </p:nvSpPr>
        <p:spPr bwMode="auto">
          <a:xfrm flipV="1">
            <a:off x="3429000" y="5257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23" name="Line 67"/>
          <p:cNvSpPr>
            <a:spLocks noChangeShapeType="1"/>
          </p:cNvSpPr>
          <p:nvPr/>
        </p:nvSpPr>
        <p:spPr bwMode="auto">
          <a:xfrm>
            <a:off x="3581400" y="5181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24" name="Line 68"/>
          <p:cNvSpPr>
            <a:spLocks noChangeShapeType="1"/>
          </p:cNvSpPr>
          <p:nvPr/>
        </p:nvSpPr>
        <p:spPr bwMode="auto">
          <a:xfrm flipV="1">
            <a:off x="3581400" y="6172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25" name="Line 69"/>
          <p:cNvSpPr>
            <a:spLocks noChangeShapeType="1"/>
          </p:cNvSpPr>
          <p:nvPr/>
        </p:nvSpPr>
        <p:spPr bwMode="auto">
          <a:xfrm flipV="1">
            <a:off x="4800600" y="52578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26" name="Text Box 70"/>
          <p:cNvSpPr txBox="1">
            <a:spLocks noChangeArrowheads="1"/>
          </p:cNvSpPr>
          <p:nvPr/>
        </p:nvSpPr>
        <p:spPr bwMode="auto">
          <a:xfrm>
            <a:off x="3946525" y="62103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19527" name="Text Box 71"/>
          <p:cNvSpPr txBox="1">
            <a:spLocks noChangeArrowheads="1"/>
          </p:cNvSpPr>
          <p:nvPr/>
        </p:nvSpPr>
        <p:spPr bwMode="auto">
          <a:xfrm>
            <a:off x="2819400" y="54864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9528" name="Text Box 72"/>
          <p:cNvSpPr txBox="1">
            <a:spLocks noChangeArrowheads="1"/>
          </p:cNvSpPr>
          <p:nvPr/>
        </p:nvSpPr>
        <p:spPr bwMode="auto">
          <a:xfrm>
            <a:off x="3733800" y="57150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529" name="Text Box 73"/>
          <p:cNvSpPr txBox="1">
            <a:spLocks noChangeArrowheads="1"/>
          </p:cNvSpPr>
          <p:nvPr/>
        </p:nvSpPr>
        <p:spPr bwMode="auto">
          <a:xfrm>
            <a:off x="3810000" y="5105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530" name="Text Box 74"/>
          <p:cNvSpPr txBox="1">
            <a:spLocks noChangeArrowheads="1"/>
          </p:cNvSpPr>
          <p:nvPr/>
        </p:nvSpPr>
        <p:spPr bwMode="auto">
          <a:xfrm>
            <a:off x="4876800" y="54102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9531" name="Text Box 75"/>
          <p:cNvSpPr txBox="1">
            <a:spLocks noChangeArrowheads="1"/>
          </p:cNvSpPr>
          <p:nvPr/>
        </p:nvSpPr>
        <p:spPr bwMode="auto">
          <a:xfrm>
            <a:off x="3886200" y="4724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grpSp>
        <p:nvGrpSpPr>
          <p:cNvPr id="19535" name="Group 79"/>
          <p:cNvGrpSpPr>
            <a:grpSpLocks/>
          </p:cNvGrpSpPr>
          <p:nvPr/>
        </p:nvGrpSpPr>
        <p:grpSpPr bwMode="auto">
          <a:xfrm>
            <a:off x="3352800" y="6172200"/>
            <a:ext cx="76200" cy="76200"/>
            <a:chOff x="2688" y="2976"/>
            <a:chExt cx="48" cy="48"/>
          </a:xfrm>
        </p:grpSpPr>
        <p:sp>
          <p:nvSpPr>
            <p:cNvPr id="19536" name="Line 80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9537" name="Line 81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9538" name="Oval 82"/>
          <p:cNvSpPr>
            <a:spLocks noChangeArrowheads="1"/>
          </p:cNvSpPr>
          <p:nvPr/>
        </p:nvSpPr>
        <p:spPr bwMode="auto">
          <a:xfrm>
            <a:off x="6019800" y="48768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539" name="Oval 83"/>
          <p:cNvSpPr>
            <a:spLocks noChangeArrowheads="1"/>
          </p:cNvSpPr>
          <p:nvPr/>
        </p:nvSpPr>
        <p:spPr bwMode="auto">
          <a:xfrm>
            <a:off x="6019800" y="60198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540" name="Oval 84"/>
          <p:cNvSpPr>
            <a:spLocks noChangeArrowheads="1"/>
          </p:cNvSpPr>
          <p:nvPr/>
        </p:nvSpPr>
        <p:spPr bwMode="auto">
          <a:xfrm>
            <a:off x="7467600" y="59436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541" name="Oval 85"/>
          <p:cNvSpPr>
            <a:spLocks noChangeArrowheads="1"/>
          </p:cNvSpPr>
          <p:nvPr/>
        </p:nvSpPr>
        <p:spPr bwMode="auto">
          <a:xfrm>
            <a:off x="7467600" y="4876800"/>
            <a:ext cx="3810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19542" name="Line 86"/>
          <p:cNvSpPr>
            <a:spLocks noChangeShapeType="1"/>
          </p:cNvSpPr>
          <p:nvPr/>
        </p:nvSpPr>
        <p:spPr bwMode="auto">
          <a:xfrm flipV="1">
            <a:off x="6324600" y="5181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43" name="Line 87"/>
          <p:cNvSpPr>
            <a:spLocks noChangeShapeType="1"/>
          </p:cNvSpPr>
          <p:nvPr/>
        </p:nvSpPr>
        <p:spPr bwMode="auto">
          <a:xfrm flipV="1">
            <a:off x="6400800" y="5105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44" name="Line 88"/>
          <p:cNvSpPr>
            <a:spLocks noChangeShapeType="1"/>
          </p:cNvSpPr>
          <p:nvPr/>
        </p:nvSpPr>
        <p:spPr bwMode="auto">
          <a:xfrm flipV="1">
            <a:off x="6248400" y="5257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45" name="Line 89"/>
          <p:cNvSpPr>
            <a:spLocks noChangeShapeType="1"/>
          </p:cNvSpPr>
          <p:nvPr/>
        </p:nvSpPr>
        <p:spPr bwMode="auto">
          <a:xfrm>
            <a:off x="6400800" y="5181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46" name="Line 90"/>
          <p:cNvSpPr>
            <a:spLocks noChangeShapeType="1"/>
          </p:cNvSpPr>
          <p:nvPr/>
        </p:nvSpPr>
        <p:spPr bwMode="auto">
          <a:xfrm flipV="1">
            <a:off x="6400800" y="6172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47" name="Line 91"/>
          <p:cNvSpPr>
            <a:spLocks noChangeShapeType="1"/>
          </p:cNvSpPr>
          <p:nvPr/>
        </p:nvSpPr>
        <p:spPr bwMode="auto">
          <a:xfrm flipV="1">
            <a:off x="7620000" y="52578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48" name="Text Box 92"/>
          <p:cNvSpPr txBox="1">
            <a:spLocks noChangeArrowheads="1"/>
          </p:cNvSpPr>
          <p:nvPr/>
        </p:nvSpPr>
        <p:spPr bwMode="auto">
          <a:xfrm>
            <a:off x="6765925" y="62103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19549" name="Text Box 93"/>
          <p:cNvSpPr txBox="1">
            <a:spLocks noChangeArrowheads="1"/>
          </p:cNvSpPr>
          <p:nvPr/>
        </p:nvSpPr>
        <p:spPr bwMode="auto">
          <a:xfrm>
            <a:off x="5638800" y="54864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9550" name="Text Box 94"/>
          <p:cNvSpPr txBox="1">
            <a:spLocks noChangeArrowheads="1"/>
          </p:cNvSpPr>
          <p:nvPr/>
        </p:nvSpPr>
        <p:spPr bwMode="auto">
          <a:xfrm>
            <a:off x="6553200" y="57150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551" name="Text Box 95"/>
          <p:cNvSpPr txBox="1">
            <a:spLocks noChangeArrowheads="1"/>
          </p:cNvSpPr>
          <p:nvPr/>
        </p:nvSpPr>
        <p:spPr bwMode="auto">
          <a:xfrm>
            <a:off x="6629400" y="5105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19552" name="Text Box 96"/>
          <p:cNvSpPr txBox="1">
            <a:spLocks noChangeArrowheads="1"/>
          </p:cNvSpPr>
          <p:nvPr/>
        </p:nvSpPr>
        <p:spPr bwMode="auto">
          <a:xfrm>
            <a:off x="7696200" y="54102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19553" name="Text Box 97"/>
          <p:cNvSpPr txBox="1">
            <a:spLocks noChangeArrowheads="1"/>
          </p:cNvSpPr>
          <p:nvPr/>
        </p:nvSpPr>
        <p:spPr bwMode="auto">
          <a:xfrm>
            <a:off x="6705600" y="4724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grpSp>
        <p:nvGrpSpPr>
          <p:cNvPr id="19554" name="Group 98"/>
          <p:cNvGrpSpPr>
            <a:grpSpLocks/>
          </p:cNvGrpSpPr>
          <p:nvPr/>
        </p:nvGrpSpPr>
        <p:grpSpPr bwMode="auto">
          <a:xfrm>
            <a:off x="6172200" y="6172200"/>
            <a:ext cx="76200" cy="76200"/>
            <a:chOff x="2688" y="2976"/>
            <a:chExt cx="48" cy="48"/>
          </a:xfrm>
        </p:grpSpPr>
        <p:sp>
          <p:nvSpPr>
            <p:cNvPr id="19555" name="Line 99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9556" name="Line 100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19557" name="Group 101"/>
          <p:cNvGrpSpPr>
            <a:grpSpLocks/>
          </p:cNvGrpSpPr>
          <p:nvPr/>
        </p:nvGrpSpPr>
        <p:grpSpPr bwMode="auto">
          <a:xfrm>
            <a:off x="7620000" y="5029200"/>
            <a:ext cx="76200" cy="76200"/>
            <a:chOff x="2688" y="2976"/>
            <a:chExt cx="48" cy="48"/>
          </a:xfrm>
        </p:grpSpPr>
        <p:sp>
          <p:nvSpPr>
            <p:cNvPr id="19558" name="Line 102"/>
            <p:cNvSpPr>
              <a:spLocks noChangeShapeType="1"/>
            </p:cNvSpPr>
            <p:nvPr/>
          </p:nvSpPr>
          <p:spPr bwMode="auto">
            <a:xfrm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9559" name="Line 103"/>
            <p:cNvSpPr>
              <a:spLocks noChangeShapeType="1"/>
            </p:cNvSpPr>
            <p:nvPr/>
          </p:nvSpPr>
          <p:spPr bwMode="auto">
            <a:xfrm flipH="1">
              <a:off x="2688" y="2976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19560" name="Text Box 104"/>
          <p:cNvSpPr txBox="1">
            <a:spLocks noChangeArrowheads="1"/>
          </p:cNvSpPr>
          <p:nvPr/>
        </p:nvSpPr>
        <p:spPr bwMode="auto">
          <a:xfrm>
            <a:off x="6324600" y="42672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Update 2</a:t>
            </a:r>
            <a:endParaRPr lang="nb-NO" altLang="he-IL"/>
          </a:p>
        </p:txBody>
      </p:sp>
      <p:sp>
        <p:nvSpPr>
          <p:cNvPr id="19561" name="Text Box 105"/>
          <p:cNvSpPr txBox="1">
            <a:spLocks noChangeArrowheads="1"/>
          </p:cNvSpPr>
          <p:nvPr/>
        </p:nvSpPr>
        <p:spPr bwMode="auto">
          <a:xfrm>
            <a:off x="8229600" y="4419600"/>
            <a:ext cx="8318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Stable</a:t>
            </a:r>
          </a:p>
          <a:p>
            <a:r>
              <a:rPr lang="nb-NO" altLang="he-IL" sz="1800"/>
              <a:t>Pattern</a:t>
            </a:r>
          </a:p>
          <a:p>
            <a:r>
              <a:rPr lang="nb-NO" altLang="he-IL" sz="1800"/>
              <a:t>p</a:t>
            </a:r>
            <a:r>
              <a:rPr lang="nb-NO" altLang="he-IL" sz="1800" baseline="-25000"/>
              <a:t>3</a:t>
            </a:r>
            <a:endParaRPr lang="nb-NO" altLang="he-IL"/>
          </a:p>
        </p:txBody>
      </p:sp>
      <p:sp>
        <p:nvSpPr>
          <p:cNvPr id="19562" name="Line 106"/>
          <p:cNvSpPr>
            <a:spLocks noChangeShapeType="1"/>
          </p:cNvSpPr>
          <p:nvPr/>
        </p:nvSpPr>
        <p:spPr bwMode="auto">
          <a:xfrm>
            <a:off x="2286000" y="4495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63" name="Line 107"/>
          <p:cNvSpPr>
            <a:spLocks noChangeShapeType="1"/>
          </p:cNvSpPr>
          <p:nvPr/>
        </p:nvSpPr>
        <p:spPr bwMode="auto">
          <a:xfrm>
            <a:off x="5029200" y="4495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564" name="Line 108"/>
          <p:cNvSpPr>
            <a:spLocks noChangeShapeType="1"/>
          </p:cNvSpPr>
          <p:nvPr/>
        </p:nvSpPr>
        <p:spPr bwMode="auto">
          <a:xfrm>
            <a:off x="152400" y="4495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3503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Hopfield Network Example (6)</a:t>
            </a:r>
            <a:endParaRPr lang="nb-NO" altLang="he-IL"/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304800" y="3733800"/>
            <a:ext cx="5287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5e. Asynchronous Iteration (but in different order)</a:t>
            </a:r>
            <a:endParaRPr lang="nb-NO" altLang="he-IL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457200" y="1143000"/>
            <a:ext cx="3008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 u="sng"/>
              <a:t>4e. Enter Same Test Pattern</a:t>
            </a:r>
            <a:endParaRPr lang="nb-NO" altLang="he-IL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1524000" y="2438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381000" y="1981200"/>
            <a:ext cx="4572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838200" y="2438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381000" y="2438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838200" y="19812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441325" y="2043113"/>
            <a:ext cx="295275" cy="34607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1</a:t>
            </a:r>
            <a:endParaRPr lang="nb-NO" altLang="he-IL"/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457200" y="2514600"/>
            <a:ext cx="285750" cy="336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3</a:t>
            </a:r>
            <a:endParaRPr lang="nb-NO" altLang="he-IL"/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914400" y="2514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4</a:t>
            </a:r>
            <a:endParaRPr lang="nb-NO" altLang="he-IL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914400" y="2057400"/>
            <a:ext cx="295275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600"/>
              <a:t>2</a:t>
            </a:r>
            <a:endParaRPr lang="nb-NO" altLang="he-IL"/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990600" y="42672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Update 2</a:t>
            </a:r>
            <a:endParaRPr lang="nb-NO" altLang="he-IL"/>
          </a:p>
        </p:txBody>
      </p:sp>
      <p:sp>
        <p:nvSpPr>
          <p:cNvPr id="20495" name="Oval 15"/>
          <p:cNvSpPr>
            <a:spLocks noChangeArrowheads="1"/>
          </p:cNvSpPr>
          <p:nvPr/>
        </p:nvSpPr>
        <p:spPr bwMode="auto">
          <a:xfrm>
            <a:off x="2590800" y="1828800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20496" name="Oval 16"/>
          <p:cNvSpPr>
            <a:spLocks noChangeArrowheads="1"/>
          </p:cNvSpPr>
          <p:nvPr/>
        </p:nvSpPr>
        <p:spPr bwMode="auto">
          <a:xfrm>
            <a:off x="2590800" y="2971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20497" name="Oval 17"/>
          <p:cNvSpPr>
            <a:spLocks noChangeArrowheads="1"/>
          </p:cNvSpPr>
          <p:nvPr/>
        </p:nvSpPr>
        <p:spPr bwMode="auto">
          <a:xfrm>
            <a:off x="4038600" y="2895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20498" name="Oval 18"/>
          <p:cNvSpPr>
            <a:spLocks noChangeArrowheads="1"/>
          </p:cNvSpPr>
          <p:nvPr/>
        </p:nvSpPr>
        <p:spPr bwMode="auto">
          <a:xfrm>
            <a:off x="4038600" y="1828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nb-NO" altLang="he-IL"/>
          </a:p>
        </p:txBody>
      </p:sp>
      <p:sp>
        <p:nvSpPr>
          <p:cNvPr id="20499" name="Line 19"/>
          <p:cNvSpPr>
            <a:spLocks noChangeShapeType="1"/>
          </p:cNvSpPr>
          <p:nvPr/>
        </p:nvSpPr>
        <p:spPr bwMode="auto">
          <a:xfrm flipV="1">
            <a:off x="2895600" y="2133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00" name="Line 20"/>
          <p:cNvSpPr>
            <a:spLocks noChangeShapeType="1"/>
          </p:cNvSpPr>
          <p:nvPr/>
        </p:nvSpPr>
        <p:spPr bwMode="auto">
          <a:xfrm flipV="1">
            <a:off x="2971800" y="2057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01" name="Line 21"/>
          <p:cNvSpPr>
            <a:spLocks noChangeShapeType="1"/>
          </p:cNvSpPr>
          <p:nvPr/>
        </p:nvSpPr>
        <p:spPr bwMode="auto">
          <a:xfrm flipV="1">
            <a:off x="2819400" y="2209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02" name="Line 22"/>
          <p:cNvSpPr>
            <a:spLocks noChangeShapeType="1"/>
          </p:cNvSpPr>
          <p:nvPr/>
        </p:nvSpPr>
        <p:spPr bwMode="auto">
          <a:xfrm>
            <a:off x="2971800" y="2133600"/>
            <a:ext cx="1143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03" name="Line 23"/>
          <p:cNvSpPr>
            <a:spLocks noChangeShapeType="1"/>
          </p:cNvSpPr>
          <p:nvPr/>
        </p:nvSpPr>
        <p:spPr bwMode="auto">
          <a:xfrm flipV="1">
            <a:off x="2971800" y="3124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04" name="Line 24"/>
          <p:cNvSpPr>
            <a:spLocks noChangeShapeType="1"/>
          </p:cNvSpPr>
          <p:nvPr/>
        </p:nvSpPr>
        <p:spPr bwMode="auto">
          <a:xfrm flipV="1">
            <a:off x="4191000" y="22098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05" name="Text Box 25"/>
          <p:cNvSpPr txBox="1">
            <a:spLocks noChangeArrowheads="1"/>
          </p:cNvSpPr>
          <p:nvPr/>
        </p:nvSpPr>
        <p:spPr bwMode="auto">
          <a:xfrm>
            <a:off x="3336925" y="31623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</a:t>
            </a:r>
            <a:endParaRPr lang="nb-NO" altLang="he-IL"/>
          </a:p>
        </p:txBody>
      </p:sp>
      <p:sp>
        <p:nvSpPr>
          <p:cNvPr id="20506" name="Text Box 26"/>
          <p:cNvSpPr txBox="1">
            <a:spLocks noChangeArrowheads="1"/>
          </p:cNvSpPr>
          <p:nvPr/>
        </p:nvSpPr>
        <p:spPr bwMode="auto">
          <a:xfrm>
            <a:off x="2209800" y="24384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20507" name="Text Box 27"/>
          <p:cNvSpPr txBox="1">
            <a:spLocks noChangeArrowheads="1"/>
          </p:cNvSpPr>
          <p:nvPr/>
        </p:nvSpPr>
        <p:spPr bwMode="auto">
          <a:xfrm>
            <a:off x="3124200" y="26670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20508" name="Text Box 28"/>
          <p:cNvSpPr txBox="1">
            <a:spLocks noChangeArrowheads="1"/>
          </p:cNvSpPr>
          <p:nvPr/>
        </p:nvSpPr>
        <p:spPr bwMode="auto">
          <a:xfrm>
            <a:off x="3200400" y="2057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4267200" y="23622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-1/3</a:t>
            </a:r>
            <a:endParaRPr lang="nb-NO" altLang="he-IL"/>
          </a:p>
        </p:txBody>
      </p:sp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3276600" y="16764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1/3</a:t>
            </a:r>
            <a:endParaRPr lang="nb-NO" altLang="he-IL"/>
          </a:p>
        </p:txBody>
      </p:sp>
      <p:grpSp>
        <p:nvGrpSpPr>
          <p:cNvPr id="20577" name="Group 97"/>
          <p:cNvGrpSpPr>
            <a:grpSpLocks/>
          </p:cNvGrpSpPr>
          <p:nvPr/>
        </p:nvGrpSpPr>
        <p:grpSpPr bwMode="auto">
          <a:xfrm>
            <a:off x="76200" y="4800600"/>
            <a:ext cx="2609850" cy="1852613"/>
            <a:chOff x="48" y="3024"/>
            <a:chExt cx="1644" cy="1167"/>
          </a:xfrm>
        </p:grpSpPr>
        <p:sp>
          <p:nvSpPr>
            <p:cNvPr id="20511" name="Oval 31"/>
            <p:cNvSpPr>
              <a:spLocks noChangeArrowheads="1"/>
            </p:cNvSpPr>
            <p:nvPr/>
          </p:nvSpPr>
          <p:spPr bwMode="auto">
            <a:xfrm>
              <a:off x="288" y="3120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20512" name="Oval 32"/>
            <p:cNvSpPr>
              <a:spLocks noChangeArrowheads="1"/>
            </p:cNvSpPr>
            <p:nvPr/>
          </p:nvSpPr>
          <p:spPr bwMode="auto">
            <a:xfrm>
              <a:off x="288" y="38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20513" name="Oval 33"/>
            <p:cNvSpPr>
              <a:spLocks noChangeArrowheads="1"/>
            </p:cNvSpPr>
            <p:nvPr/>
          </p:nvSpPr>
          <p:spPr bwMode="auto">
            <a:xfrm>
              <a:off x="1200" y="379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20514" name="Oval 34"/>
            <p:cNvSpPr>
              <a:spLocks noChangeArrowheads="1"/>
            </p:cNvSpPr>
            <p:nvPr/>
          </p:nvSpPr>
          <p:spPr bwMode="auto">
            <a:xfrm>
              <a:off x="1200" y="3120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20515" name="Line 35"/>
            <p:cNvSpPr>
              <a:spLocks noChangeShapeType="1"/>
            </p:cNvSpPr>
            <p:nvPr/>
          </p:nvSpPr>
          <p:spPr bwMode="auto">
            <a:xfrm flipV="1">
              <a:off x="480" y="3312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16" name="Line 36"/>
            <p:cNvSpPr>
              <a:spLocks noChangeShapeType="1"/>
            </p:cNvSpPr>
            <p:nvPr/>
          </p:nvSpPr>
          <p:spPr bwMode="auto">
            <a:xfrm flipV="1">
              <a:off x="528" y="326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17" name="Line 37"/>
            <p:cNvSpPr>
              <a:spLocks noChangeShapeType="1"/>
            </p:cNvSpPr>
            <p:nvPr/>
          </p:nvSpPr>
          <p:spPr bwMode="auto">
            <a:xfrm flipV="1">
              <a:off x="432" y="336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18" name="Line 38"/>
            <p:cNvSpPr>
              <a:spLocks noChangeShapeType="1"/>
            </p:cNvSpPr>
            <p:nvPr/>
          </p:nvSpPr>
          <p:spPr bwMode="auto">
            <a:xfrm>
              <a:off x="528" y="3312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19" name="Line 39"/>
            <p:cNvSpPr>
              <a:spLocks noChangeShapeType="1"/>
            </p:cNvSpPr>
            <p:nvPr/>
          </p:nvSpPr>
          <p:spPr bwMode="auto">
            <a:xfrm flipV="1">
              <a:off x="528" y="393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20" name="Line 40"/>
            <p:cNvSpPr>
              <a:spLocks noChangeShapeType="1"/>
            </p:cNvSpPr>
            <p:nvPr/>
          </p:nvSpPr>
          <p:spPr bwMode="auto">
            <a:xfrm flipV="1">
              <a:off x="1296" y="336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21" name="Text Box 41"/>
            <p:cNvSpPr txBox="1">
              <a:spLocks noChangeArrowheads="1"/>
            </p:cNvSpPr>
            <p:nvPr/>
          </p:nvSpPr>
          <p:spPr bwMode="auto">
            <a:xfrm>
              <a:off x="758" y="3960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</a:t>
              </a:r>
              <a:endParaRPr lang="nb-NO" altLang="he-IL"/>
            </a:p>
          </p:txBody>
        </p:sp>
        <p:sp>
          <p:nvSpPr>
            <p:cNvPr id="20522" name="Text Box 42"/>
            <p:cNvSpPr txBox="1">
              <a:spLocks noChangeArrowheads="1"/>
            </p:cNvSpPr>
            <p:nvPr/>
          </p:nvSpPr>
          <p:spPr bwMode="auto">
            <a:xfrm>
              <a:off x="48" y="3504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20523" name="Text Box 43"/>
            <p:cNvSpPr txBox="1">
              <a:spLocks noChangeArrowheads="1"/>
            </p:cNvSpPr>
            <p:nvPr/>
          </p:nvSpPr>
          <p:spPr bwMode="auto">
            <a:xfrm>
              <a:off x="624" y="3648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20524" name="Text Box 44"/>
            <p:cNvSpPr txBox="1">
              <a:spLocks noChangeArrowheads="1"/>
            </p:cNvSpPr>
            <p:nvPr/>
          </p:nvSpPr>
          <p:spPr bwMode="auto">
            <a:xfrm>
              <a:off x="672" y="3264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20525" name="Text Box 45"/>
            <p:cNvSpPr txBox="1">
              <a:spLocks noChangeArrowheads="1"/>
            </p:cNvSpPr>
            <p:nvPr/>
          </p:nvSpPr>
          <p:spPr bwMode="auto">
            <a:xfrm>
              <a:off x="1344" y="3456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20526" name="Text Box 46"/>
            <p:cNvSpPr txBox="1">
              <a:spLocks noChangeArrowheads="1"/>
            </p:cNvSpPr>
            <p:nvPr/>
          </p:nvSpPr>
          <p:spPr bwMode="auto">
            <a:xfrm>
              <a:off x="720" y="3024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</p:grpSp>
      <p:sp>
        <p:nvSpPr>
          <p:cNvPr id="20530" name="Text Box 50"/>
          <p:cNvSpPr txBox="1">
            <a:spLocks noChangeArrowheads="1"/>
          </p:cNvSpPr>
          <p:nvPr/>
        </p:nvSpPr>
        <p:spPr bwMode="auto">
          <a:xfrm>
            <a:off x="3276600" y="4343400"/>
            <a:ext cx="2628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Update 3 or 4 (No change)</a:t>
            </a:r>
            <a:endParaRPr lang="nb-NO" altLang="he-IL"/>
          </a:p>
        </p:txBody>
      </p:sp>
      <p:sp>
        <p:nvSpPr>
          <p:cNvPr id="20574" name="Line 94"/>
          <p:cNvSpPr>
            <a:spLocks noChangeShapeType="1"/>
          </p:cNvSpPr>
          <p:nvPr/>
        </p:nvSpPr>
        <p:spPr bwMode="auto">
          <a:xfrm>
            <a:off x="2286000" y="4495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76" name="Line 96"/>
          <p:cNvSpPr>
            <a:spLocks noChangeShapeType="1"/>
          </p:cNvSpPr>
          <p:nvPr/>
        </p:nvSpPr>
        <p:spPr bwMode="auto">
          <a:xfrm>
            <a:off x="152400" y="4495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20578" name="Group 98"/>
          <p:cNvGrpSpPr>
            <a:grpSpLocks/>
          </p:cNvGrpSpPr>
          <p:nvPr/>
        </p:nvGrpSpPr>
        <p:grpSpPr bwMode="auto">
          <a:xfrm>
            <a:off x="2895600" y="4800600"/>
            <a:ext cx="2609850" cy="1852613"/>
            <a:chOff x="48" y="3024"/>
            <a:chExt cx="1644" cy="1167"/>
          </a:xfrm>
        </p:grpSpPr>
        <p:sp>
          <p:nvSpPr>
            <p:cNvPr id="20579" name="Oval 99"/>
            <p:cNvSpPr>
              <a:spLocks noChangeArrowheads="1"/>
            </p:cNvSpPr>
            <p:nvPr/>
          </p:nvSpPr>
          <p:spPr bwMode="auto">
            <a:xfrm>
              <a:off x="288" y="3120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20580" name="Oval 100"/>
            <p:cNvSpPr>
              <a:spLocks noChangeArrowheads="1"/>
            </p:cNvSpPr>
            <p:nvPr/>
          </p:nvSpPr>
          <p:spPr bwMode="auto">
            <a:xfrm>
              <a:off x="288" y="38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20581" name="Oval 101"/>
            <p:cNvSpPr>
              <a:spLocks noChangeArrowheads="1"/>
            </p:cNvSpPr>
            <p:nvPr/>
          </p:nvSpPr>
          <p:spPr bwMode="auto">
            <a:xfrm>
              <a:off x="1200" y="379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20582" name="Oval 102"/>
            <p:cNvSpPr>
              <a:spLocks noChangeArrowheads="1"/>
            </p:cNvSpPr>
            <p:nvPr/>
          </p:nvSpPr>
          <p:spPr bwMode="auto">
            <a:xfrm>
              <a:off x="1200" y="3120"/>
              <a:ext cx="24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nb-NO" altLang="he-IL"/>
            </a:p>
          </p:txBody>
        </p:sp>
        <p:sp>
          <p:nvSpPr>
            <p:cNvPr id="20583" name="Line 103"/>
            <p:cNvSpPr>
              <a:spLocks noChangeShapeType="1"/>
            </p:cNvSpPr>
            <p:nvPr/>
          </p:nvSpPr>
          <p:spPr bwMode="auto">
            <a:xfrm flipV="1">
              <a:off x="480" y="3312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84" name="Line 104"/>
            <p:cNvSpPr>
              <a:spLocks noChangeShapeType="1"/>
            </p:cNvSpPr>
            <p:nvPr/>
          </p:nvSpPr>
          <p:spPr bwMode="auto">
            <a:xfrm flipV="1">
              <a:off x="528" y="326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85" name="Line 105"/>
            <p:cNvSpPr>
              <a:spLocks noChangeShapeType="1"/>
            </p:cNvSpPr>
            <p:nvPr/>
          </p:nvSpPr>
          <p:spPr bwMode="auto">
            <a:xfrm flipV="1">
              <a:off x="432" y="336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86" name="Line 106"/>
            <p:cNvSpPr>
              <a:spLocks noChangeShapeType="1"/>
            </p:cNvSpPr>
            <p:nvPr/>
          </p:nvSpPr>
          <p:spPr bwMode="auto">
            <a:xfrm>
              <a:off x="528" y="3312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87" name="Line 107"/>
            <p:cNvSpPr>
              <a:spLocks noChangeShapeType="1"/>
            </p:cNvSpPr>
            <p:nvPr/>
          </p:nvSpPr>
          <p:spPr bwMode="auto">
            <a:xfrm flipV="1">
              <a:off x="528" y="393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88" name="Line 108"/>
            <p:cNvSpPr>
              <a:spLocks noChangeShapeType="1"/>
            </p:cNvSpPr>
            <p:nvPr/>
          </p:nvSpPr>
          <p:spPr bwMode="auto">
            <a:xfrm flipV="1">
              <a:off x="1296" y="336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589" name="Text Box 109"/>
            <p:cNvSpPr txBox="1">
              <a:spLocks noChangeArrowheads="1"/>
            </p:cNvSpPr>
            <p:nvPr/>
          </p:nvSpPr>
          <p:spPr bwMode="auto">
            <a:xfrm>
              <a:off x="758" y="3960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</a:t>
              </a:r>
              <a:endParaRPr lang="nb-NO" altLang="he-IL"/>
            </a:p>
          </p:txBody>
        </p:sp>
        <p:sp>
          <p:nvSpPr>
            <p:cNvPr id="20590" name="Text Box 110"/>
            <p:cNvSpPr txBox="1">
              <a:spLocks noChangeArrowheads="1"/>
            </p:cNvSpPr>
            <p:nvPr/>
          </p:nvSpPr>
          <p:spPr bwMode="auto">
            <a:xfrm>
              <a:off x="48" y="3504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20591" name="Text Box 111"/>
            <p:cNvSpPr txBox="1">
              <a:spLocks noChangeArrowheads="1"/>
            </p:cNvSpPr>
            <p:nvPr/>
          </p:nvSpPr>
          <p:spPr bwMode="auto">
            <a:xfrm>
              <a:off x="624" y="3648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20592" name="Text Box 112"/>
            <p:cNvSpPr txBox="1">
              <a:spLocks noChangeArrowheads="1"/>
            </p:cNvSpPr>
            <p:nvPr/>
          </p:nvSpPr>
          <p:spPr bwMode="auto">
            <a:xfrm>
              <a:off x="672" y="3264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  <p:sp>
          <p:nvSpPr>
            <p:cNvPr id="20593" name="Text Box 113"/>
            <p:cNvSpPr txBox="1">
              <a:spLocks noChangeArrowheads="1"/>
            </p:cNvSpPr>
            <p:nvPr/>
          </p:nvSpPr>
          <p:spPr bwMode="auto">
            <a:xfrm>
              <a:off x="1344" y="3456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-1/3</a:t>
              </a:r>
              <a:endParaRPr lang="nb-NO" altLang="he-IL"/>
            </a:p>
          </p:txBody>
        </p:sp>
        <p:sp>
          <p:nvSpPr>
            <p:cNvPr id="20594" name="Text Box 114"/>
            <p:cNvSpPr txBox="1">
              <a:spLocks noChangeArrowheads="1"/>
            </p:cNvSpPr>
            <p:nvPr/>
          </p:nvSpPr>
          <p:spPr bwMode="auto">
            <a:xfrm>
              <a:off x="720" y="3024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nb-NO" altLang="he-IL" sz="1800"/>
                <a:t>1/3</a:t>
              </a:r>
              <a:endParaRPr lang="nb-NO" altLang="he-IL"/>
            </a:p>
          </p:txBody>
        </p:sp>
      </p:grpSp>
      <p:sp>
        <p:nvSpPr>
          <p:cNvPr id="20595" name="Text Box 115"/>
          <p:cNvSpPr txBox="1">
            <a:spLocks noChangeArrowheads="1"/>
          </p:cNvSpPr>
          <p:nvPr/>
        </p:nvSpPr>
        <p:spPr bwMode="auto">
          <a:xfrm>
            <a:off x="6096000" y="5105400"/>
            <a:ext cx="996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Stable &amp;</a:t>
            </a:r>
          </a:p>
          <a:p>
            <a:r>
              <a:rPr lang="nb-NO" altLang="he-IL" sz="1800"/>
              <a:t>Spurious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3876540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381000"/>
          </a:xfrm>
        </p:spPr>
        <p:txBody>
          <a:bodyPr>
            <a:normAutofit fontScale="90000"/>
          </a:bodyPr>
          <a:lstStyle/>
          <a:p>
            <a:r>
              <a:rPr lang="nb-NO" altLang="he-IL" sz="3600"/>
              <a:t>Associative Retrieval = Search</a:t>
            </a:r>
            <a:endParaRPr lang="nb-NO" altLang="he-IL"/>
          </a:p>
        </p:txBody>
      </p:sp>
      <p:sp>
        <p:nvSpPr>
          <p:cNvPr id="21507" name="Freeform 3"/>
          <p:cNvSpPr>
            <a:spLocks/>
          </p:cNvSpPr>
          <p:nvPr/>
        </p:nvSpPr>
        <p:spPr bwMode="auto">
          <a:xfrm>
            <a:off x="533400" y="990600"/>
            <a:ext cx="7924800" cy="3136900"/>
          </a:xfrm>
          <a:custGeom>
            <a:avLst/>
            <a:gdLst>
              <a:gd name="T0" fmla="*/ 0 w 4992"/>
              <a:gd name="T1" fmla="*/ 208 h 1976"/>
              <a:gd name="T2" fmla="*/ 336 w 4992"/>
              <a:gd name="T3" fmla="*/ 448 h 1976"/>
              <a:gd name="T4" fmla="*/ 480 w 4992"/>
              <a:gd name="T5" fmla="*/ 976 h 1976"/>
              <a:gd name="T6" fmla="*/ 768 w 4992"/>
              <a:gd name="T7" fmla="*/ 832 h 1976"/>
              <a:gd name="T8" fmla="*/ 912 w 4992"/>
              <a:gd name="T9" fmla="*/ 1072 h 1976"/>
              <a:gd name="T10" fmla="*/ 1104 w 4992"/>
              <a:gd name="T11" fmla="*/ 1792 h 1976"/>
              <a:gd name="T12" fmla="*/ 1440 w 4992"/>
              <a:gd name="T13" fmla="*/ 1552 h 1976"/>
              <a:gd name="T14" fmla="*/ 1584 w 4992"/>
              <a:gd name="T15" fmla="*/ 1312 h 1976"/>
              <a:gd name="T16" fmla="*/ 1728 w 4992"/>
              <a:gd name="T17" fmla="*/ 1552 h 1976"/>
              <a:gd name="T18" fmla="*/ 2016 w 4992"/>
              <a:gd name="T19" fmla="*/ 832 h 1976"/>
              <a:gd name="T20" fmla="*/ 2304 w 4992"/>
              <a:gd name="T21" fmla="*/ 1600 h 1976"/>
              <a:gd name="T22" fmla="*/ 2832 w 4992"/>
              <a:gd name="T23" fmla="*/ 592 h 1976"/>
              <a:gd name="T24" fmla="*/ 3120 w 4992"/>
              <a:gd name="T25" fmla="*/ 832 h 1976"/>
              <a:gd name="T26" fmla="*/ 3456 w 4992"/>
              <a:gd name="T27" fmla="*/ 160 h 1976"/>
              <a:gd name="T28" fmla="*/ 3840 w 4992"/>
              <a:gd name="T29" fmla="*/ 1792 h 1976"/>
              <a:gd name="T30" fmla="*/ 4224 w 4992"/>
              <a:gd name="T31" fmla="*/ 1264 h 1976"/>
              <a:gd name="T32" fmla="*/ 4512 w 4992"/>
              <a:gd name="T33" fmla="*/ 1072 h 1976"/>
              <a:gd name="T34" fmla="*/ 4656 w 4992"/>
              <a:gd name="T35" fmla="*/ 592 h 1976"/>
              <a:gd name="T36" fmla="*/ 4992 w 4992"/>
              <a:gd name="T37" fmla="*/ 400 h 1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92" h="1976">
                <a:moveTo>
                  <a:pt x="0" y="208"/>
                </a:moveTo>
                <a:cubicBezTo>
                  <a:pt x="128" y="264"/>
                  <a:pt x="256" y="320"/>
                  <a:pt x="336" y="448"/>
                </a:cubicBezTo>
                <a:cubicBezTo>
                  <a:pt x="416" y="576"/>
                  <a:pt x="408" y="912"/>
                  <a:pt x="480" y="976"/>
                </a:cubicBezTo>
                <a:cubicBezTo>
                  <a:pt x="552" y="1040"/>
                  <a:pt x="696" y="816"/>
                  <a:pt x="768" y="832"/>
                </a:cubicBezTo>
                <a:cubicBezTo>
                  <a:pt x="840" y="848"/>
                  <a:pt x="856" y="912"/>
                  <a:pt x="912" y="1072"/>
                </a:cubicBezTo>
                <a:cubicBezTo>
                  <a:pt x="968" y="1232"/>
                  <a:pt x="1016" y="1712"/>
                  <a:pt x="1104" y="1792"/>
                </a:cubicBezTo>
                <a:cubicBezTo>
                  <a:pt x="1192" y="1872"/>
                  <a:pt x="1360" y="1632"/>
                  <a:pt x="1440" y="1552"/>
                </a:cubicBezTo>
                <a:cubicBezTo>
                  <a:pt x="1520" y="1472"/>
                  <a:pt x="1536" y="1312"/>
                  <a:pt x="1584" y="1312"/>
                </a:cubicBezTo>
                <a:cubicBezTo>
                  <a:pt x="1632" y="1312"/>
                  <a:pt x="1656" y="1632"/>
                  <a:pt x="1728" y="1552"/>
                </a:cubicBezTo>
                <a:cubicBezTo>
                  <a:pt x="1800" y="1472"/>
                  <a:pt x="1920" y="824"/>
                  <a:pt x="2016" y="832"/>
                </a:cubicBezTo>
                <a:cubicBezTo>
                  <a:pt x="2112" y="840"/>
                  <a:pt x="2168" y="1640"/>
                  <a:pt x="2304" y="1600"/>
                </a:cubicBezTo>
                <a:cubicBezTo>
                  <a:pt x="2440" y="1560"/>
                  <a:pt x="2696" y="720"/>
                  <a:pt x="2832" y="592"/>
                </a:cubicBezTo>
                <a:cubicBezTo>
                  <a:pt x="2968" y="464"/>
                  <a:pt x="3016" y="904"/>
                  <a:pt x="3120" y="832"/>
                </a:cubicBezTo>
                <a:cubicBezTo>
                  <a:pt x="3224" y="760"/>
                  <a:pt x="3336" y="0"/>
                  <a:pt x="3456" y="160"/>
                </a:cubicBezTo>
                <a:cubicBezTo>
                  <a:pt x="3576" y="320"/>
                  <a:pt x="3712" y="1608"/>
                  <a:pt x="3840" y="1792"/>
                </a:cubicBezTo>
                <a:cubicBezTo>
                  <a:pt x="3968" y="1976"/>
                  <a:pt x="4112" y="1384"/>
                  <a:pt x="4224" y="1264"/>
                </a:cubicBezTo>
                <a:cubicBezTo>
                  <a:pt x="4336" y="1144"/>
                  <a:pt x="4440" y="1184"/>
                  <a:pt x="4512" y="1072"/>
                </a:cubicBezTo>
                <a:cubicBezTo>
                  <a:pt x="4584" y="960"/>
                  <a:pt x="4576" y="704"/>
                  <a:pt x="4656" y="592"/>
                </a:cubicBezTo>
                <a:cubicBezTo>
                  <a:pt x="4736" y="480"/>
                  <a:pt x="4864" y="440"/>
                  <a:pt x="4992" y="40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28600" y="4038600"/>
            <a:ext cx="84836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nb-NO" altLang="he-IL" sz="1800" u="sng"/>
              <a:t>Back-propagation:</a:t>
            </a:r>
            <a:r>
              <a:rPr lang="nb-NO" altLang="he-IL" sz="1800"/>
              <a:t> </a:t>
            </a:r>
          </a:p>
          <a:p>
            <a:pPr>
              <a:buFontTx/>
              <a:buChar char="•"/>
            </a:pPr>
            <a:r>
              <a:rPr lang="nb-NO" altLang="he-IL" sz="1800"/>
              <a:t>   Search in space of weight vectors to minimize output error</a:t>
            </a:r>
          </a:p>
          <a:p>
            <a:endParaRPr lang="nb-NO" altLang="he-IL" sz="1800"/>
          </a:p>
          <a:p>
            <a:r>
              <a:rPr lang="nb-NO" altLang="he-IL" sz="1800" u="sng"/>
              <a:t>Associative Memory Retrieval:</a:t>
            </a:r>
            <a:r>
              <a:rPr lang="nb-NO" altLang="he-IL" sz="1800"/>
              <a:t> </a:t>
            </a:r>
          </a:p>
          <a:p>
            <a:pPr>
              <a:buFontTx/>
              <a:buChar char="•"/>
            </a:pPr>
            <a:r>
              <a:rPr lang="nb-NO" altLang="he-IL" sz="1800"/>
              <a:t>   Search in space of node values to minimize conflicts between a) node-value pairs </a:t>
            </a:r>
          </a:p>
          <a:p>
            <a:r>
              <a:rPr lang="nb-NO" altLang="he-IL" sz="1800"/>
              <a:t>    and average correlations (weights), and b) node values and their initial values.</a:t>
            </a:r>
          </a:p>
          <a:p>
            <a:pPr>
              <a:buFontTx/>
              <a:buChar char="•"/>
            </a:pPr>
            <a:r>
              <a:rPr lang="nb-NO" altLang="he-IL" sz="1800"/>
              <a:t>  Input patterns are local (sometimes global) minima, but many</a:t>
            </a:r>
          </a:p>
          <a:p>
            <a:r>
              <a:rPr lang="nb-NO" altLang="he-IL" sz="1800"/>
              <a:t>   spurious patterns are also minima.</a:t>
            </a:r>
          </a:p>
          <a:p>
            <a:pPr>
              <a:buFontTx/>
              <a:buChar char="•"/>
            </a:pPr>
            <a:r>
              <a:rPr lang="nb-NO" altLang="he-IL"/>
              <a:t> </a:t>
            </a:r>
            <a:r>
              <a:rPr lang="nb-NO" altLang="he-IL" sz="1800"/>
              <a:t>High dependence upon initial pattern and update sequence (if asynchronous)</a:t>
            </a:r>
            <a:endParaRPr lang="nb-NO" altLang="he-IL"/>
          </a:p>
        </p:txBody>
      </p:sp>
      <p:grpSp>
        <p:nvGrpSpPr>
          <p:cNvPr id="21567" name="Group 63"/>
          <p:cNvGrpSpPr>
            <a:grpSpLocks/>
          </p:cNvGrpSpPr>
          <p:nvPr/>
        </p:nvGrpSpPr>
        <p:grpSpPr bwMode="auto">
          <a:xfrm>
            <a:off x="6553200" y="3124200"/>
            <a:ext cx="457200" cy="457200"/>
            <a:chOff x="1728" y="864"/>
            <a:chExt cx="576" cy="576"/>
          </a:xfrm>
        </p:grpSpPr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>
              <a:off x="2208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 flipH="1">
              <a:off x="2208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 flipH="1">
              <a:off x="2016" y="864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 flipH="1">
              <a:off x="1728" y="115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 flipH="1">
              <a:off x="2016" y="1152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 flipH="1">
              <a:off x="1728" y="864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19" name="Line 15"/>
            <p:cNvSpPr>
              <a:spLocks noChangeShapeType="1"/>
            </p:cNvSpPr>
            <p:nvPr/>
          </p:nvSpPr>
          <p:spPr bwMode="auto">
            <a:xfrm>
              <a:off x="2208" y="120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20" name="Line 16"/>
            <p:cNvSpPr>
              <a:spLocks noChangeShapeType="1"/>
            </p:cNvSpPr>
            <p:nvPr/>
          </p:nvSpPr>
          <p:spPr bwMode="auto">
            <a:xfrm flipH="1">
              <a:off x="2208" y="120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21" name="Line 17"/>
            <p:cNvSpPr>
              <a:spLocks noChangeShapeType="1"/>
            </p:cNvSpPr>
            <p:nvPr/>
          </p:nvSpPr>
          <p:spPr bwMode="auto">
            <a:xfrm>
              <a:off x="1920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 flipH="1">
              <a:off x="1920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23" name="Line 19"/>
            <p:cNvSpPr>
              <a:spLocks noChangeShapeType="1"/>
            </p:cNvSpPr>
            <p:nvPr/>
          </p:nvSpPr>
          <p:spPr bwMode="auto">
            <a:xfrm>
              <a:off x="2208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24" name="Line 20"/>
            <p:cNvSpPr>
              <a:spLocks noChangeShapeType="1"/>
            </p:cNvSpPr>
            <p:nvPr/>
          </p:nvSpPr>
          <p:spPr bwMode="auto">
            <a:xfrm flipH="1">
              <a:off x="2208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21568" name="Group 64"/>
          <p:cNvGrpSpPr>
            <a:grpSpLocks/>
          </p:cNvGrpSpPr>
          <p:nvPr/>
        </p:nvGrpSpPr>
        <p:grpSpPr bwMode="auto">
          <a:xfrm>
            <a:off x="4038600" y="2667000"/>
            <a:ext cx="457200" cy="533400"/>
            <a:chOff x="2448" y="864"/>
            <a:chExt cx="576" cy="576"/>
          </a:xfrm>
        </p:grpSpPr>
        <p:sp>
          <p:nvSpPr>
            <p:cNvPr id="21526" name="Rectangle 22"/>
            <p:cNvSpPr>
              <a:spLocks noChangeArrowheads="1"/>
            </p:cNvSpPr>
            <p:nvPr/>
          </p:nvSpPr>
          <p:spPr bwMode="auto">
            <a:xfrm>
              <a:off x="2448" y="864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27" name="Rectangle 23"/>
            <p:cNvSpPr>
              <a:spLocks noChangeArrowheads="1"/>
            </p:cNvSpPr>
            <p:nvPr/>
          </p:nvSpPr>
          <p:spPr bwMode="auto">
            <a:xfrm>
              <a:off x="2736" y="115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28" name="Rectangle 24"/>
            <p:cNvSpPr>
              <a:spLocks noChangeArrowheads="1"/>
            </p:cNvSpPr>
            <p:nvPr/>
          </p:nvSpPr>
          <p:spPr bwMode="auto">
            <a:xfrm>
              <a:off x="2448" y="1152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29" name="Rectangle 25"/>
            <p:cNvSpPr>
              <a:spLocks noChangeArrowheads="1"/>
            </p:cNvSpPr>
            <p:nvPr/>
          </p:nvSpPr>
          <p:spPr bwMode="auto">
            <a:xfrm>
              <a:off x="2736" y="864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35" name="Line 31"/>
            <p:cNvSpPr>
              <a:spLocks noChangeShapeType="1"/>
            </p:cNvSpPr>
            <p:nvPr/>
          </p:nvSpPr>
          <p:spPr bwMode="auto">
            <a:xfrm>
              <a:off x="2880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36" name="Line 32"/>
            <p:cNvSpPr>
              <a:spLocks noChangeShapeType="1"/>
            </p:cNvSpPr>
            <p:nvPr/>
          </p:nvSpPr>
          <p:spPr bwMode="auto">
            <a:xfrm flipH="1">
              <a:off x="2880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38" name="Line 34"/>
            <p:cNvSpPr>
              <a:spLocks noChangeShapeType="1"/>
            </p:cNvSpPr>
            <p:nvPr/>
          </p:nvSpPr>
          <p:spPr bwMode="auto">
            <a:xfrm>
              <a:off x="2640" y="120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 flipH="1">
              <a:off x="2640" y="120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21540" name="Text Box 36"/>
          <p:cNvSpPr txBox="1">
            <a:spLocks noChangeArrowheads="1"/>
          </p:cNvSpPr>
          <p:nvPr/>
        </p:nvSpPr>
        <p:spPr bwMode="auto">
          <a:xfrm>
            <a:off x="2286000" y="25908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p</a:t>
            </a:r>
            <a:r>
              <a:rPr lang="nb-NO" altLang="he-IL" sz="1800" baseline="-25000"/>
              <a:t>1</a:t>
            </a:r>
            <a:endParaRPr lang="nb-NO" altLang="he-IL"/>
          </a:p>
        </p:txBody>
      </p:sp>
      <p:sp>
        <p:nvSpPr>
          <p:cNvPr id="21541" name="Text Box 37"/>
          <p:cNvSpPr txBox="1">
            <a:spLocks noChangeArrowheads="1"/>
          </p:cNvSpPr>
          <p:nvPr/>
        </p:nvSpPr>
        <p:spPr bwMode="auto">
          <a:xfrm>
            <a:off x="6629400" y="26670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p</a:t>
            </a:r>
            <a:r>
              <a:rPr lang="nb-NO" altLang="he-IL" sz="1800" baseline="-25000"/>
              <a:t>2</a:t>
            </a:r>
            <a:endParaRPr lang="nb-NO" altLang="he-IL"/>
          </a:p>
        </p:txBody>
      </p:sp>
      <p:sp>
        <p:nvSpPr>
          <p:cNvPr id="21542" name="Text Box 38"/>
          <p:cNvSpPr txBox="1">
            <a:spLocks noChangeArrowheads="1"/>
          </p:cNvSpPr>
          <p:nvPr/>
        </p:nvSpPr>
        <p:spPr bwMode="auto">
          <a:xfrm>
            <a:off x="4114800" y="22098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/>
              <a:t>p</a:t>
            </a:r>
            <a:r>
              <a:rPr lang="nb-NO" altLang="he-IL" sz="1800" baseline="-25000"/>
              <a:t>3</a:t>
            </a:r>
            <a:endParaRPr lang="nb-NO" altLang="he-IL"/>
          </a:p>
        </p:txBody>
      </p:sp>
      <p:grpSp>
        <p:nvGrpSpPr>
          <p:cNvPr id="21566" name="Group 62"/>
          <p:cNvGrpSpPr>
            <a:grpSpLocks/>
          </p:cNvGrpSpPr>
          <p:nvPr/>
        </p:nvGrpSpPr>
        <p:grpSpPr bwMode="auto">
          <a:xfrm>
            <a:off x="2209800" y="3048000"/>
            <a:ext cx="457200" cy="457200"/>
            <a:chOff x="1008" y="864"/>
            <a:chExt cx="576" cy="576"/>
          </a:xfrm>
        </p:grpSpPr>
        <p:sp>
          <p:nvSpPr>
            <p:cNvPr id="21543" name="Rectangle 39"/>
            <p:cNvSpPr>
              <a:spLocks noChangeArrowheads="1"/>
            </p:cNvSpPr>
            <p:nvPr/>
          </p:nvSpPr>
          <p:spPr bwMode="auto">
            <a:xfrm>
              <a:off x="1008" y="864"/>
              <a:ext cx="288" cy="2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44" name="Rectangle 40"/>
            <p:cNvSpPr>
              <a:spLocks noChangeArrowheads="1"/>
            </p:cNvSpPr>
            <p:nvPr/>
          </p:nvSpPr>
          <p:spPr bwMode="auto">
            <a:xfrm>
              <a:off x="1296" y="1152"/>
              <a:ext cx="288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45" name="Rectangle 41"/>
            <p:cNvSpPr>
              <a:spLocks noChangeArrowheads="1"/>
            </p:cNvSpPr>
            <p:nvPr/>
          </p:nvSpPr>
          <p:spPr bwMode="auto">
            <a:xfrm>
              <a:off x="1008" y="1152"/>
              <a:ext cx="288" cy="2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46" name="Rectangle 42"/>
            <p:cNvSpPr>
              <a:spLocks noChangeArrowheads="1"/>
            </p:cNvSpPr>
            <p:nvPr/>
          </p:nvSpPr>
          <p:spPr bwMode="auto">
            <a:xfrm>
              <a:off x="1296" y="864"/>
              <a:ext cx="288" cy="2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grpSp>
          <p:nvGrpSpPr>
            <p:cNvPr id="21551" name="Group 47"/>
            <p:cNvGrpSpPr>
              <a:grpSpLocks/>
            </p:cNvGrpSpPr>
            <p:nvPr/>
          </p:nvGrpSpPr>
          <p:grpSpPr bwMode="auto">
            <a:xfrm>
              <a:off x="1440" y="912"/>
              <a:ext cx="48" cy="48"/>
              <a:chOff x="2688" y="2976"/>
              <a:chExt cx="48" cy="48"/>
            </a:xfrm>
          </p:grpSpPr>
          <p:sp>
            <p:nvSpPr>
              <p:cNvPr id="21552" name="Line 48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21553" name="Line 49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21554" name="Group 50"/>
            <p:cNvGrpSpPr>
              <a:grpSpLocks/>
            </p:cNvGrpSpPr>
            <p:nvPr/>
          </p:nvGrpSpPr>
          <p:grpSpPr bwMode="auto">
            <a:xfrm>
              <a:off x="1200" y="1200"/>
              <a:ext cx="48" cy="48"/>
              <a:chOff x="2688" y="2976"/>
              <a:chExt cx="48" cy="48"/>
            </a:xfrm>
          </p:grpSpPr>
          <p:sp>
            <p:nvSpPr>
              <p:cNvPr id="21555" name="Line 51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21556" name="Line 52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21557" name="Group 53"/>
            <p:cNvGrpSpPr>
              <a:grpSpLocks/>
            </p:cNvGrpSpPr>
            <p:nvPr/>
          </p:nvGrpSpPr>
          <p:grpSpPr bwMode="auto">
            <a:xfrm>
              <a:off x="1152" y="912"/>
              <a:ext cx="48" cy="48"/>
              <a:chOff x="2688" y="2976"/>
              <a:chExt cx="48" cy="48"/>
            </a:xfrm>
          </p:grpSpPr>
          <p:sp>
            <p:nvSpPr>
              <p:cNvPr id="21558" name="Line 54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21559" name="Line 55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sp>
          <p:nvSpPr>
            <p:cNvPr id="21560" name="Line 56"/>
            <p:cNvSpPr>
              <a:spLocks noChangeShapeType="1"/>
            </p:cNvSpPr>
            <p:nvPr/>
          </p:nvSpPr>
          <p:spPr bwMode="auto">
            <a:xfrm>
              <a:off x="1488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61" name="Line 57"/>
            <p:cNvSpPr>
              <a:spLocks noChangeShapeType="1"/>
            </p:cNvSpPr>
            <p:nvPr/>
          </p:nvSpPr>
          <p:spPr bwMode="auto">
            <a:xfrm flipH="1">
              <a:off x="1488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62" name="Line 58"/>
            <p:cNvSpPr>
              <a:spLocks noChangeShapeType="1"/>
            </p:cNvSpPr>
            <p:nvPr/>
          </p:nvSpPr>
          <p:spPr bwMode="auto">
            <a:xfrm>
              <a:off x="1200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63" name="Line 59"/>
            <p:cNvSpPr>
              <a:spLocks noChangeShapeType="1"/>
            </p:cNvSpPr>
            <p:nvPr/>
          </p:nvSpPr>
          <p:spPr bwMode="auto">
            <a:xfrm flipH="1">
              <a:off x="1200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64" name="Line 60"/>
            <p:cNvSpPr>
              <a:spLocks noChangeShapeType="1"/>
            </p:cNvSpPr>
            <p:nvPr/>
          </p:nvSpPr>
          <p:spPr bwMode="auto">
            <a:xfrm>
              <a:off x="1200" y="120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65" name="Line 61"/>
            <p:cNvSpPr>
              <a:spLocks noChangeShapeType="1"/>
            </p:cNvSpPr>
            <p:nvPr/>
          </p:nvSpPr>
          <p:spPr bwMode="auto">
            <a:xfrm flipH="1">
              <a:off x="1200" y="120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21569" name="Group 65"/>
          <p:cNvGrpSpPr>
            <a:grpSpLocks/>
          </p:cNvGrpSpPr>
          <p:nvPr/>
        </p:nvGrpSpPr>
        <p:grpSpPr bwMode="auto">
          <a:xfrm rot="5400000">
            <a:off x="3009900" y="2552700"/>
            <a:ext cx="495300" cy="419100"/>
            <a:chOff x="2448" y="864"/>
            <a:chExt cx="576" cy="576"/>
          </a:xfrm>
        </p:grpSpPr>
        <p:sp>
          <p:nvSpPr>
            <p:cNvPr id="21570" name="Rectangle 66"/>
            <p:cNvSpPr>
              <a:spLocks noChangeArrowheads="1"/>
            </p:cNvSpPr>
            <p:nvPr/>
          </p:nvSpPr>
          <p:spPr bwMode="auto">
            <a:xfrm>
              <a:off x="2448" y="864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71" name="Rectangle 67"/>
            <p:cNvSpPr>
              <a:spLocks noChangeArrowheads="1"/>
            </p:cNvSpPr>
            <p:nvPr/>
          </p:nvSpPr>
          <p:spPr bwMode="auto">
            <a:xfrm>
              <a:off x="2736" y="115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72" name="Rectangle 68"/>
            <p:cNvSpPr>
              <a:spLocks noChangeArrowheads="1"/>
            </p:cNvSpPr>
            <p:nvPr/>
          </p:nvSpPr>
          <p:spPr bwMode="auto">
            <a:xfrm>
              <a:off x="2448" y="1152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73" name="Rectangle 69"/>
            <p:cNvSpPr>
              <a:spLocks noChangeArrowheads="1"/>
            </p:cNvSpPr>
            <p:nvPr/>
          </p:nvSpPr>
          <p:spPr bwMode="auto">
            <a:xfrm>
              <a:off x="2736" y="864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74" name="Line 70"/>
            <p:cNvSpPr>
              <a:spLocks noChangeShapeType="1"/>
            </p:cNvSpPr>
            <p:nvPr/>
          </p:nvSpPr>
          <p:spPr bwMode="auto">
            <a:xfrm>
              <a:off x="2880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75" name="Line 71"/>
            <p:cNvSpPr>
              <a:spLocks noChangeShapeType="1"/>
            </p:cNvSpPr>
            <p:nvPr/>
          </p:nvSpPr>
          <p:spPr bwMode="auto">
            <a:xfrm flipH="1">
              <a:off x="2880" y="912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76" name="Line 72"/>
            <p:cNvSpPr>
              <a:spLocks noChangeShapeType="1"/>
            </p:cNvSpPr>
            <p:nvPr/>
          </p:nvSpPr>
          <p:spPr bwMode="auto">
            <a:xfrm>
              <a:off x="2640" y="120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77" name="Line 73"/>
            <p:cNvSpPr>
              <a:spLocks noChangeShapeType="1"/>
            </p:cNvSpPr>
            <p:nvPr/>
          </p:nvSpPr>
          <p:spPr bwMode="auto">
            <a:xfrm flipH="1">
              <a:off x="2640" y="120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21578" name="Line 74"/>
          <p:cNvSpPr>
            <a:spLocks noChangeShapeType="1"/>
          </p:cNvSpPr>
          <p:nvPr/>
        </p:nvSpPr>
        <p:spPr bwMode="auto">
          <a:xfrm>
            <a:off x="32766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1579" name="Line 75"/>
          <p:cNvSpPr>
            <a:spLocks noChangeShapeType="1"/>
          </p:cNvSpPr>
          <p:nvPr/>
        </p:nvSpPr>
        <p:spPr bwMode="auto">
          <a:xfrm>
            <a:off x="2362200" y="3505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1580" name="Line 76"/>
          <p:cNvSpPr>
            <a:spLocks noChangeShapeType="1"/>
          </p:cNvSpPr>
          <p:nvPr/>
        </p:nvSpPr>
        <p:spPr bwMode="auto">
          <a:xfrm>
            <a:off x="6705600" y="3581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1581" name="Line 77"/>
          <p:cNvSpPr>
            <a:spLocks noChangeShapeType="1"/>
          </p:cNvSpPr>
          <p:nvPr/>
        </p:nvSpPr>
        <p:spPr bwMode="auto">
          <a:xfrm>
            <a:off x="4191000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21597" name="Group 93"/>
          <p:cNvGrpSpPr>
            <a:grpSpLocks/>
          </p:cNvGrpSpPr>
          <p:nvPr/>
        </p:nvGrpSpPr>
        <p:grpSpPr bwMode="auto">
          <a:xfrm>
            <a:off x="1219200" y="1676400"/>
            <a:ext cx="457200" cy="533400"/>
            <a:chOff x="1392" y="912"/>
            <a:chExt cx="576" cy="576"/>
          </a:xfrm>
        </p:grpSpPr>
        <p:sp>
          <p:nvSpPr>
            <p:cNvPr id="21583" name="Rectangle 79"/>
            <p:cNvSpPr>
              <a:spLocks noChangeArrowheads="1"/>
            </p:cNvSpPr>
            <p:nvPr/>
          </p:nvSpPr>
          <p:spPr bwMode="auto">
            <a:xfrm>
              <a:off x="1392" y="912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84" name="Rectangle 80"/>
            <p:cNvSpPr>
              <a:spLocks noChangeArrowheads="1"/>
            </p:cNvSpPr>
            <p:nvPr/>
          </p:nvSpPr>
          <p:spPr bwMode="auto">
            <a:xfrm>
              <a:off x="1680" y="1200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85" name="Rectangle 81"/>
            <p:cNvSpPr>
              <a:spLocks noChangeArrowheads="1"/>
            </p:cNvSpPr>
            <p:nvPr/>
          </p:nvSpPr>
          <p:spPr bwMode="auto">
            <a:xfrm>
              <a:off x="1392" y="1200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586" name="Rectangle 82"/>
            <p:cNvSpPr>
              <a:spLocks noChangeArrowheads="1"/>
            </p:cNvSpPr>
            <p:nvPr/>
          </p:nvSpPr>
          <p:spPr bwMode="auto">
            <a:xfrm>
              <a:off x="1680" y="912"/>
              <a:ext cx="288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grpSp>
          <p:nvGrpSpPr>
            <p:cNvPr id="21591" name="Group 87"/>
            <p:cNvGrpSpPr>
              <a:grpSpLocks/>
            </p:cNvGrpSpPr>
            <p:nvPr/>
          </p:nvGrpSpPr>
          <p:grpSpPr bwMode="auto">
            <a:xfrm>
              <a:off x="1536" y="960"/>
              <a:ext cx="48" cy="48"/>
              <a:chOff x="2688" y="2976"/>
              <a:chExt cx="48" cy="48"/>
            </a:xfrm>
          </p:grpSpPr>
          <p:sp>
            <p:nvSpPr>
              <p:cNvPr id="21592" name="Line 88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21593" name="Line 89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21594" name="Group 90"/>
            <p:cNvGrpSpPr>
              <a:grpSpLocks/>
            </p:cNvGrpSpPr>
            <p:nvPr/>
          </p:nvGrpSpPr>
          <p:grpSpPr bwMode="auto">
            <a:xfrm>
              <a:off x="1872" y="960"/>
              <a:ext cx="48" cy="48"/>
              <a:chOff x="2688" y="2976"/>
              <a:chExt cx="48" cy="48"/>
            </a:xfrm>
          </p:grpSpPr>
          <p:sp>
            <p:nvSpPr>
              <p:cNvPr id="21595" name="Line 91"/>
              <p:cNvSpPr>
                <a:spLocks noChangeShapeType="1"/>
              </p:cNvSpPr>
              <p:nvPr/>
            </p:nvSpPr>
            <p:spPr bwMode="auto">
              <a:xfrm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21596" name="Line 92"/>
              <p:cNvSpPr>
                <a:spLocks noChangeShapeType="1"/>
              </p:cNvSpPr>
              <p:nvPr/>
            </p:nvSpPr>
            <p:spPr bwMode="auto">
              <a:xfrm flipH="1">
                <a:off x="2688" y="297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</p:grpSp>
      <p:sp>
        <p:nvSpPr>
          <p:cNvPr id="21598" name="Line 94"/>
          <p:cNvSpPr>
            <a:spLocks noChangeShapeType="1"/>
          </p:cNvSpPr>
          <p:nvPr/>
        </p:nvSpPr>
        <p:spPr bwMode="auto">
          <a:xfrm flipH="1">
            <a:off x="1371600" y="22098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21610" name="Group 106"/>
          <p:cNvGrpSpPr>
            <a:grpSpLocks/>
          </p:cNvGrpSpPr>
          <p:nvPr/>
        </p:nvGrpSpPr>
        <p:grpSpPr bwMode="auto">
          <a:xfrm>
            <a:off x="5181600" y="1371600"/>
            <a:ext cx="457200" cy="533400"/>
            <a:chOff x="2400" y="1008"/>
            <a:chExt cx="288" cy="336"/>
          </a:xfrm>
        </p:grpSpPr>
        <p:sp>
          <p:nvSpPr>
            <p:cNvPr id="21600" name="Rectangle 96"/>
            <p:cNvSpPr>
              <a:spLocks noChangeArrowheads="1"/>
            </p:cNvSpPr>
            <p:nvPr/>
          </p:nvSpPr>
          <p:spPr bwMode="auto">
            <a:xfrm>
              <a:off x="2400" y="1008"/>
              <a:ext cx="144" cy="16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601" name="Rectangle 97"/>
            <p:cNvSpPr>
              <a:spLocks noChangeArrowheads="1"/>
            </p:cNvSpPr>
            <p:nvPr/>
          </p:nvSpPr>
          <p:spPr bwMode="auto">
            <a:xfrm>
              <a:off x="2544" y="1176"/>
              <a:ext cx="144" cy="1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602" name="Rectangle 98"/>
            <p:cNvSpPr>
              <a:spLocks noChangeArrowheads="1"/>
            </p:cNvSpPr>
            <p:nvPr/>
          </p:nvSpPr>
          <p:spPr bwMode="auto">
            <a:xfrm>
              <a:off x="2400" y="1176"/>
              <a:ext cx="144" cy="1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603" name="Rectangle 99"/>
            <p:cNvSpPr>
              <a:spLocks noChangeArrowheads="1"/>
            </p:cNvSpPr>
            <p:nvPr/>
          </p:nvSpPr>
          <p:spPr bwMode="auto">
            <a:xfrm>
              <a:off x="2544" y="1008"/>
              <a:ext cx="144" cy="16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21611" name="Line 107"/>
          <p:cNvSpPr>
            <a:spLocks noChangeShapeType="1"/>
          </p:cNvSpPr>
          <p:nvPr/>
        </p:nvSpPr>
        <p:spPr bwMode="auto">
          <a:xfrm>
            <a:off x="5410200" y="1905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3024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r>
              <a:rPr lang="nb-NO" altLang="he-IL" sz="3600"/>
              <a:t>Storage Capacity of Hopfield Networks</a:t>
            </a:r>
            <a:endParaRPr lang="nb-NO" altLang="he-IL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3352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nb-NO" altLang="he-IL" sz="2000"/>
              <a:t>Capacity = Relationship between # patterns that can be stored &amp; retrieved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nb-NO" altLang="he-IL" sz="2000"/>
              <a:t>	             without error to the size of the network.</a:t>
            </a:r>
          </a:p>
          <a:p>
            <a:pPr>
              <a:lnSpc>
                <a:spcPct val="90000"/>
              </a:lnSpc>
              <a:buFontTx/>
              <a:buNone/>
            </a:pPr>
            <a:endParaRPr lang="nb-NO" altLang="he-IL" sz="2000"/>
          </a:p>
          <a:p>
            <a:pPr>
              <a:lnSpc>
                <a:spcPct val="90000"/>
              </a:lnSpc>
              <a:buFontTx/>
              <a:buNone/>
            </a:pPr>
            <a:r>
              <a:rPr lang="nb-NO" altLang="he-IL" sz="2000"/>
              <a:t>Capacity = # patterns / # nodes   or   # patterns / # weights</a:t>
            </a:r>
          </a:p>
          <a:p>
            <a:pPr>
              <a:lnSpc>
                <a:spcPct val="90000"/>
              </a:lnSpc>
              <a:buFontTx/>
              <a:buNone/>
            </a:pPr>
            <a:endParaRPr lang="nb-NO" altLang="he-IL" sz="2000"/>
          </a:p>
          <a:p>
            <a:pPr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nb-NO" altLang="he-IL" sz="2000"/>
              <a:t>If we use the following definition of 100% correct retrieval: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nb-NO" altLang="he-IL" sz="2000"/>
              <a:t>	</a:t>
            </a:r>
            <a:r>
              <a:rPr lang="nb-NO" altLang="he-IL" sz="1800"/>
              <a:t>When any of the stored patterns is entered completely (no noise), then that same pattern is returned by the network; i.e. The pattern is a stable attractor.</a:t>
            </a:r>
            <a:r>
              <a:rPr lang="nb-NO" altLang="he-IL" sz="2000"/>
              <a:t> </a:t>
            </a:r>
          </a:p>
          <a:p>
            <a:pPr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nb-NO" altLang="he-IL" sz="2000"/>
              <a:t>A detailed proof shows that a Hopfield network of N nodes can achieve 100% correct retrieval on P patterns if: P &lt; N/(4*ln(N))	</a:t>
            </a:r>
            <a:endParaRPr lang="nb-NO" altLang="he-IL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7391400" y="4876800"/>
            <a:ext cx="1479550" cy="17780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1800" u="sng"/>
              <a:t>N</a:t>
            </a:r>
            <a:r>
              <a:rPr lang="nb-NO" altLang="he-IL" sz="1800"/>
              <a:t>      </a:t>
            </a:r>
            <a:r>
              <a:rPr lang="nb-NO" altLang="he-IL" sz="1800" u="sng"/>
              <a:t>Max P</a:t>
            </a:r>
            <a:endParaRPr lang="nb-NO" altLang="he-IL" sz="1800"/>
          </a:p>
          <a:p>
            <a:r>
              <a:rPr lang="nb-NO" altLang="he-IL" sz="1800"/>
              <a:t>10	1</a:t>
            </a:r>
          </a:p>
          <a:p>
            <a:r>
              <a:rPr lang="nb-NO" altLang="he-IL" sz="1800"/>
              <a:t>100	5</a:t>
            </a:r>
          </a:p>
          <a:p>
            <a:r>
              <a:rPr lang="nb-NO" altLang="he-IL" sz="1800"/>
              <a:t>1000 	36</a:t>
            </a:r>
          </a:p>
          <a:p>
            <a:r>
              <a:rPr lang="nb-NO" altLang="he-IL" sz="1800"/>
              <a:t>10000	271</a:t>
            </a:r>
          </a:p>
          <a:p>
            <a:r>
              <a:rPr lang="nb-NO" altLang="he-IL" sz="1800"/>
              <a:t>10</a:t>
            </a:r>
            <a:r>
              <a:rPr lang="nb-NO" altLang="he-IL" sz="1800" baseline="30000"/>
              <a:t>11	</a:t>
            </a:r>
            <a:r>
              <a:rPr lang="nb-NO" altLang="he-IL" sz="1800"/>
              <a:t>10</a:t>
            </a:r>
            <a:r>
              <a:rPr lang="nb-NO" altLang="he-IL" sz="1800" baseline="30000"/>
              <a:t>9</a:t>
            </a:r>
            <a:endParaRPr lang="nb-NO" altLang="he-IL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6248400" y="4419600"/>
            <a:ext cx="1066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914400" y="4953000"/>
            <a:ext cx="5487988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nb-NO" altLang="he-IL" sz="2000"/>
              <a:t>In general, as more patterns are added to a network,</a:t>
            </a:r>
          </a:p>
          <a:p>
            <a:r>
              <a:rPr lang="nb-NO" altLang="he-IL" sz="2000"/>
              <a:t>the avg correlations will be less likely to match the</a:t>
            </a:r>
          </a:p>
          <a:p>
            <a:r>
              <a:rPr lang="nb-NO" altLang="he-IL" sz="2000"/>
              <a:t>correlations in any particular pattern.  Hence, the </a:t>
            </a:r>
          </a:p>
          <a:p>
            <a:r>
              <a:rPr lang="nb-NO" altLang="he-IL" sz="2000"/>
              <a:t>likelihood of retrieval error will increase.</a:t>
            </a:r>
          </a:p>
          <a:p>
            <a:r>
              <a:rPr lang="nb-NO" altLang="he-IL" sz="2000"/>
              <a:t> =&gt; The key to perfect recall is selective ignorance!!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863036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/>
          <a:lstStyle/>
          <a:p>
            <a:r>
              <a:rPr lang="nb-NO" altLang="he-IL" sz="3200"/>
              <a:t>Hopfield Nets in the Brain??</a:t>
            </a:r>
            <a:endParaRPr lang="en-GB" altLang="he-IL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772400" cy="2057400"/>
          </a:xfrm>
        </p:spPr>
        <p:txBody>
          <a:bodyPr/>
          <a:lstStyle/>
          <a:p>
            <a:r>
              <a:rPr lang="en-US" altLang="he-IL" sz="1600"/>
              <a:t>The cerebral cortex is full of recurrent connections, and there is solid evidence for Hebbian synapse modification there.  Hence, the cerebrum is believed to function as an associative memory.</a:t>
            </a:r>
          </a:p>
          <a:p>
            <a:pPr>
              <a:buFontTx/>
              <a:buNone/>
            </a:pPr>
            <a:endParaRPr lang="nb-NO" altLang="he-IL" sz="1600"/>
          </a:p>
          <a:p>
            <a:r>
              <a:rPr lang="nb-NO" altLang="he-IL" sz="1600"/>
              <a:t>Flip-flop figures indicate distributed hopfield-type coding, since we cannot hold both perceptions simultaneously (binding problem)</a:t>
            </a:r>
            <a:endParaRPr lang="en-GB" altLang="he-IL" sz="1600"/>
          </a:p>
        </p:txBody>
      </p:sp>
      <p:pic>
        <p:nvPicPr>
          <p:cNvPr id="55300" name="Picture 4" descr="C:\classes\mnfit378\lectures\pics\two-wome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581400"/>
            <a:ext cx="4084638" cy="179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42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304800"/>
          </a:xfrm>
        </p:spPr>
        <p:txBody>
          <a:bodyPr>
            <a:normAutofit fontScale="90000"/>
          </a:bodyPr>
          <a:lstStyle/>
          <a:p>
            <a:r>
              <a:rPr lang="nb-NO" altLang="he-IL" sz="3200"/>
              <a:t>Things to Remember</a:t>
            </a:r>
            <a:endParaRPr lang="nb-NO" altLang="he-IL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6172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nb-NO" altLang="he-IL" sz="2000"/>
              <a:t>Auto-Associative -vs- Hetero-associative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Wide variety of net topologies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All use Hebbian Learning =&gt; weights ~ avg correlations</a:t>
            </a:r>
          </a:p>
          <a:p>
            <a:pPr>
              <a:lnSpc>
                <a:spcPct val="90000"/>
              </a:lnSpc>
            </a:pPr>
            <a:r>
              <a:rPr lang="nb-NO" altLang="he-IL" sz="2000"/>
              <a:t>One-shot -vs- Iterative Retrieval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Iterative gives much better error correction</a:t>
            </a:r>
            <a:r>
              <a:rPr lang="nb-NO" altLang="he-IL" sz="2000"/>
              <a:t>.</a:t>
            </a:r>
          </a:p>
          <a:p>
            <a:pPr>
              <a:lnSpc>
                <a:spcPct val="90000"/>
              </a:lnSpc>
            </a:pPr>
            <a:r>
              <a:rPr lang="nb-NO" altLang="he-IL" sz="2000"/>
              <a:t>Asynchronous -vs- Synchronous state updates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Synchronous updates can easily lead to oscillation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Asynchronous updates can quickly find a local optima (attractor)</a:t>
            </a:r>
            <a:endParaRPr lang="nb-NO" altLang="he-IL" sz="2000"/>
          </a:p>
          <a:p>
            <a:pPr lvl="2">
              <a:lnSpc>
                <a:spcPct val="90000"/>
              </a:lnSpc>
            </a:pPr>
            <a:r>
              <a:rPr lang="nb-NO" altLang="he-IL" sz="1800"/>
              <a:t>Update order can determine attractor that is reached.</a:t>
            </a:r>
          </a:p>
          <a:p>
            <a:pPr>
              <a:lnSpc>
                <a:spcPct val="90000"/>
              </a:lnSpc>
            </a:pPr>
            <a:r>
              <a:rPr lang="nb-NO" altLang="he-IL" sz="2000"/>
              <a:t>Pattern Retrieval = Search in node-state space.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Spurious patterns are hard to avoid, since many are attractors also.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Stochasticity helps jiggle out of local minima.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Memory load increase =&gt; recall error increase.  </a:t>
            </a:r>
          </a:p>
          <a:p>
            <a:pPr>
              <a:lnSpc>
                <a:spcPct val="90000"/>
              </a:lnSpc>
            </a:pPr>
            <a:r>
              <a:rPr lang="nb-NO" altLang="he-IL" sz="2000"/>
              <a:t>Associative -vs- Feed-Forward Nets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Assoc: Many - 1 mapping    Feed-Forward: many-many mapping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Backprop is resource-intensive, while Hopfield iterative update is O(n)</a:t>
            </a:r>
          </a:p>
          <a:p>
            <a:pPr lvl="1">
              <a:lnSpc>
                <a:spcPct val="90000"/>
              </a:lnSpc>
            </a:pPr>
            <a:r>
              <a:rPr lang="nb-NO" altLang="he-IL" sz="1800"/>
              <a:t>Gradient-Descent on an Error -vs- Energy Landscape: </a:t>
            </a:r>
          </a:p>
          <a:p>
            <a:pPr lvl="2">
              <a:lnSpc>
                <a:spcPct val="90000"/>
              </a:lnSpc>
            </a:pPr>
            <a:r>
              <a:rPr lang="nb-NO" altLang="he-IL" sz="1800"/>
              <a:t>Backprop =&gt; arc-weight space      Hopfield =&gt; node-state space</a:t>
            </a:r>
            <a:endParaRPr lang="nb-NO" altLang="he-IL"/>
          </a:p>
        </p:txBody>
      </p:sp>
    </p:spTree>
    <p:extLst>
      <p:ext uri="{BB962C8B-B14F-4D97-AF65-F5344CB8AC3E}">
        <p14:creationId xmlns:p14="http://schemas.microsoft.com/office/powerpoint/2010/main" val="1452718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  <a:endParaRPr lang="zh-TW" alt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83703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deep (many layered) neural networks</a:t>
            </a:r>
          </a:p>
          <a:p>
            <a:r>
              <a:rPr lang="en-US" dirty="0"/>
              <a:t>The more layers in a Neural Network, the more abstract features can be represented</a:t>
            </a:r>
          </a:p>
          <a:p>
            <a:r>
              <a:rPr lang="en-US" dirty="0"/>
              <a:t>E.g. Classify a cat:</a:t>
            </a:r>
          </a:p>
          <a:p>
            <a:pPr lvl="1"/>
            <a:r>
              <a:rPr lang="en-US" dirty="0"/>
              <a:t>Bottom Layers: Edge detectors, curves, corners straight lines</a:t>
            </a:r>
          </a:p>
          <a:p>
            <a:pPr lvl="1"/>
            <a:r>
              <a:rPr lang="en-US" dirty="0"/>
              <a:t>Middle Layers: Fur patterns, eyes, ears</a:t>
            </a:r>
          </a:p>
          <a:p>
            <a:pPr lvl="1"/>
            <a:r>
              <a:rPr lang="en-US" dirty="0"/>
              <a:t>Higher Layers: Body, head, legs</a:t>
            </a:r>
          </a:p>
          <a:p>
            <a:pPr lvl="1"/>
            <a:r>
              <a:rPr lang="en-US" dirty="0"/>
              <a:t>Top Layer: Cat or Dog</a:t>
            </a:r>
          </a:p>
        </p:txBody>
      </p:sp>
    </p:spTree>
    <p:extLst>
      <p:ext uri="{BB962C8B-B14F-4D97-AF65-F5344CB8AC3E}">
        <p14:creationId xmlns:p14="http://schemas.microsoft.com/office/powerpoint/2010/main" val="712122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world information has a hierarchical structure, cannot easily be modeled by a neural network with 3 layers</a:t>
            </a:r>
          </a:p>
          <a:p>
            <a:r>
              <a:rPr lang="en-US" dirty="0"/>
              <a:t>The human brain is a deep neural network, has many layers of neurons which acts as feature detectors, detecting more and more abstract features as you go up</a:t>
            </a:r>
          </a:p>
        </p:txBody>
      </p:sp>
    </p:spTree>
    <p:extLst>
      <p:ext uri="{BB962C8B-B14F-4D97-AF65-F5344CB8AC3E}">
        <p14:creationId xmlns:p14="http://schemas.microsoft.com/office/powerpoint/2010/main" val="3840285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approach is to use back propagation to train multiple layers</a:t>
            </a:r>
          </a:p>
          <a:p>
            <a:r>
              <a:rPr lang="en-US" dirty="0"/>
              <a:t>However back propagation does not work well over multiple layers and does not scale well</a:t>
            </a:r>
          </a:p>
          <a:p>
            <a:r>
              <a:rPr lang="en-US" dirty="0"/>
              <a:t>Back propagation cannot leverage unlabelled data</a:t>
            </a:r>
          </a:p>
          <a:p>
            <a:r>
              <a:rPr lang="en-US" dirty="0"/>
              <a:t>Recent advances in deep learning attempt to address this short-comings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445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Deep-Learning is Typically 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1. Layer-wise, bottom-up pre-training of unsupervised neural networks (auto-encoders, RBM’s)</a:t>
            </a:r>
          </a:p>
          <a:p>
            <a:endParaRPr lang="en-US" dirty="0"/>
          </a:p>
          <a:p>
            <a:r>
              <a:rPr lang="en-US" dirty="0"/>
              <a:t>2. Supervised training on labeled data using either:</a:t>
            </a:r>
          </a:p>
          <a:p>
            <a:pPr lvl="2">
              <a:buNone/>
            </a:pPr>
            <a:r>
              <a:rPr lang="en-US" dirty="0" err="1"/>
              <a:t>i</a:t>
            </a:r>
            <a:r>
              <a:rPr lang="en-US" dirty="0"/>
              <a:t>) Features learned from 1. fed into a classifier </a:t>
            </a:r>
          </a:p>
          <a:p>
            <a:pPr lvl="2"/>
            <a:r>
              <a:rPr lang="en-US" dirty="0"/>
              <a:t>e.g. SVM</a:t>
            </a:r>
          </a:p>
          <a:p>
            <a:pPr lvl="2">
              <a:buNone/>
            </a:pPr>
            <a:r>
              <a:rPr lang="en-US" dirty="0"/>
              <a:t>ii)  An additional output layer is placed on top to form a feed forward network, which is then trained using back prop on labeled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641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77724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Why? – </a:t>
            </a:r>
            <a:br>
              <a:rPr lang="en-US" dirty="0"/>
            </a:br>
            <a:r>
              <a:rPr lang="en-US" dirty="0"/>
              <a:t>Achieved State of the Art in a Number of Different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38400"/>
            <a:ext cx="7772400" cy="4419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Language Modeling (2012, </a:t>
            </a:r>
            <a:r>
              <a:rPr lang="en-US" dirty="0" err="1"/>
              <a:t>Mikolov</a:t>
            </a:r>
            <a:r>
              <a:rPr lang="en-US" dirty="0"/>
              <a:t> et al)</a:t>
            </a:r>
          </a:p>
          <a:p>
            <a:r>
              <a:rPr lang="en-US" dirty="0"/>
              <a:t>Image Recognition (</a:t>
            </a:r>
            <a:r>
              <a:rPr lang="en-US" sz="3200" dirty="0" err="1"/>
              <a:t>Krizhevsky</a:t>
            </a:r>
            <a:r>
              <a:rPr lang="en-US" sz="3200" dirty="0"/>
              <a:t> </a:t>
            </a:r>
            <a:r>
              <a:rPr lang="en-US" dirty="0"/>
              <a:t>won 2012 ImageNet  competition)</a:t>
            </a:r>
          </a:p>
          <a:p>
            <a:r>
              <a:rPr lang="en-US" dirty="0"/>
              <a:t>Sentiment Classification (2011, </a:t>
            </a:r>
            <a:r>
              <a:rPr lang="en-US" dirty="0" err="1"/>
              <a:t>Socher</a:t>
            </a:r>
            <a:r>
              <a:rPr lang="en-US" dirty="0"/>
              <a:t> et al)</a:t>
            </a:r>
          </a:p>
          <a:p>
            <a:r>
              <a:rPr lang="en-US" dirty="0"/>
              <a:t>Speech Recognition (2010, Dahl et al)</a:t>
            </a:r>
          </a:p>
          <a:p>
            <a:r>
              <a:rPr lang="en-US" dirty="0"/>
              <a:t>MNIST hand-written digit recognition (</a:t>
            </a:r>
            <a:r>
              <a:rPr lang="en-US" dirty="0" err="1"/>
              <a:t>Ciresan</a:t>
            </a:r>
            <a:r>
              <a:rPr lang="en-US" dirty="0"/>
              <a:t> et al, 2010)</a:t>
            </a:r>
          </a:p>
          <a:p>
            <a:r>
              <a:rPr lang="en-US" dirty="0"/>
              <a:t>Andrew Ng – Machine Learning Professor, Stanford:</a:t>
            </a:r>
          </a:p>
          <a:p>
            <a:pPr lvl="1"/>
            <a:r>
              <a:rPr lang="en-US" dirty="0"/>
              <a:t> “I’ve worked all my life in Machine Learning, and I’ve never seen one algorithm knock over benchmarks like Deep Learning”</a:t>
            </a:r>
          </a:p>
        </p:txBody>
      </p:sp>
    </p:spTree>
    <p:extLst>
      <p:ext uri="{BB962C8B-B14F-4D97-AF65-F5344CB8AC3E}">
        <p14:creationId xmlns:p14="http://schemas.microsoft.com/office/powerpoint/2010/main" val="3961704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applied to image and speech recognition, and NLP</a:t>
            </a:r>
          </a:p>
          <a:p>
            <a:r>
              <a:rPr lang="en-US" dirty="0"/>
              <a:t>Each are non-linear classification problems where the inputs are highly hierarchal in nature (language, images, etc)</a:t>
            </a:r>
          </a:p>
          <a:p>
            <a:r>
              <a:rPr lang="en-US" dirty="0"/>
              <a:t>The world has a hierarchical structure – Jeff Hawkins – On Intelligence	</a:t>
            </a:r>
          </a:p>
          <a:p>
            <a:r>
              <a:rPr lang="en-US" dirty="0"/>
              <a:t>Problems that humans excel in and machine do very poorly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5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</a:t>
            </a:r>
            <a:r>
              <a:rPr lang="en-US" dirty="0" err="1"/>
              <a:t>vs</a:t>
            </a:r>
            <a:r>
              <a:rPr lang="en-US" dirty="0"/>
              <a:t> Shallow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same number of non-linear (neural network) units, a deep architecture is more expressive than a shallow one (Bishop 1995)</a:t>
            </a:r>
          </a:p>
          <a:p>
            <a:r>
              <a:rPr lang="en-US" dirty="0"/>
              <a:t>Two layer (plus input layer) neural networks have been shown to be able to approximate </a:t>
            </a:r>
            <a:r>
              <a:rPr lang="en-US" b="1" dirty="0"/>
              <a:t>any </a:t>
            </a:r>
            <a:r>
              <a:rPr lang="en-US" dirty="0"/>
              <a:t>function</a:t>
            </a:r>
          </a:p>
          <a:p>
            <a:r>
              <a:rPr lang="en-US" dirty="0"/>
              <a:t>However, functions compactly represented in k layers may require exponential size when expressed in 2 layers</a:t>
            </a:r>
          </a:p>
        </p:txBody>
      </p:sp>
    </p:spTree>
    <p:extLst>
      <p:ext uri="{BB962C8B-B14F-4D97-AF65-F5344CB8AC3E}">
        <p14:creationId xmlns:p14="http://schemas.microsoft.com/office/powerpoint/2010/main" val="263148803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3581400" cy="914400"/>
          </a:xfrm>
        </p:spPr>
        <p:txBody>
          <a:bodyPr/>
          <a:lstStyle/>
          <a:p>
            <a:r>
              <a:rPr lang="en-US" dirty="0"/>
              <a:t>Deep Network</a:t>
            </a:r>
          </a:p>
        </p:txBody>
      </p:sp>
      <p:sp>
        <p:nvSpPr>
          <p:cNvPr id="4" name="Oval 3"/>
          <p:cNvSpPr/>
          <p:nvPr/>
        </p:nvSpPr>
        <p:spPr>
          <a:xfrm>
            <a:off x="1066800" y="4648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447800" y="3733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86000" y="3733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743200" y="2971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905000" y="4648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743200" y="4648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81400" y="4648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124200" y="3733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816600" y="28194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876800" y="28194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209800" y="1371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828800" y="2971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756400" y="28194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696200" y="28194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248400" y="1371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7670800" y="2133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959600" y="2133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248400" y="2133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537200" y="2133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8382000" y="2133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828800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743200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724400" y="533400"/>
            <a:ext cx="41910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Shallow Network</a:t>
            </a:r>
          </a:p>
        </p:txBody>
      </p:sp>
      <p:sp>
        <p:nvSpPr>
          <p:cNvPr id="28" name="Oval 27"/>
          <p:cNvSpPr/>
          <p:nvPr/>
        </p:nvSpPr>
        <p:spPr>
          <a:xfrm>
            <a:off x="4826000" y="2133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114800" y="2133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419600" y="3810000"/>
            <a:ext cx="472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Shallow (2 layer) networks need a lot more hidden layer nodes to compensate for lack of expressivity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5486400"/>
            <a:ext cx="548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a deep network, high levels can express combinations between  features learned at lower levels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274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Supervised 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each new problem:</a:t>
            </a:r>
          </a:p>
          <a:p>
            <a:pPr lvl="1"/>
            <a:r>
              <a:rPr lang="en-US" dirty="0"/>
              <a:t>Gather as much </a:t>
            </a:r>
            <a:r>
              <a:rPr lang="en-US" b="1" dirty="0"/>
              <a:t>LABELED</a:t>
            </a:r>
            <a:r>
              <a:rPr lang="en-US" dirty="0"/>
              <a:t> data as you can get \ handle</a:t>
            </a:r>
          </a:p>
          <a:p>
            <a:pPr lvl="1"/>
            <a:r>
              <a:rPr lang="en-US" dirty="0"/>
              <a:t>Throw a bunch of algorithms at it (after trying RF \ SVM .. insert favorite </a:t>
            </a:r>
            <a:r>
              <a:rPr lang="en-US" dirty="0" err="1"/>
              <a:t>algo</a:t>
            </a:r>
            <a:r>
              <a:rPr lang="en-US" dirty="0"/>
              <a:t> here)</a:t>
            </a:r>
          </a:p>
          <a:p>
            <a:pPr lvl="1"/>
            <a:r>
              <a:rPr lang="en-US" dirty="0"/>
              <a:t>Pick the best</a:t>
            </a:r>
          </a:p>
          <a:p>
            <a:pPr lvl="1"/>
            <a:r>
              <a:rPr lang="en-US" dirty="0"/>
              <a:t>Spend hours hand engineering some features \ doing feature selection \ dimensionality reduction (PCA, SVD, etc)</a:t>
            </a:r>
          </a:p>
          <a:p>
            <a:pPr lvl="1"/>
            <a:r>
              <a:rPr lang="en-US" b="1" dirty="0"/>
              <a:t>RINSE AND REPEAT…..</a:t>
            </a:r>
          </a:p>
        </p:txBody>
      </p:sp>
    </p:spTree>
    <p:extLst>
      <p:ext uri="{BB962C8B-B14F-4D97-AF65-F5344CB8AC3E}">
        <p14:creationId xmlns:p14="http://schemas.microsoft.com/office/powerpoint/2010/main" val="712340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5029200"/>
          </a:xfrm>
        </p:spPr>
        <p:txBody>
          <a:bodyPr>
            <a:normAutofit/>
          </a:bodyPr>
          <a:lstStyle/>
          <a:p>
            <a:r>
              <a:rPr lang="en-US" dirty="0"/>
              <a:t>Far more un-labeled data in the world (i.e. online) than labeled data:</a:t>
            </a:r>
          </a:p>
          <a:p>
            <a:pPr lvl="1"/>
            <a:r>
              <a:rPr lang="en-US" dirty="0"/>
              <a:t>Websites</a:t>
            </a:r>
          </a:p>
          <a:p>
            <a:pPr lvl="1"/>
            <a:r>
              <a:rPr lang="en-US" dirty="0"/>
              <a:t>Books</a:t>
            </a:r>
          </a:p>
          <a:p>
            <a:pPr lvl="1"/>
            <a:r>
              <a:rPr lang="en-US" dirty="0"/>
              <a:t>Videos</a:t>
            </a:r>
          </a:p>
          <a:p>
            <a:pPr lvl="1"/>
            <a:r>
              <a:rPr lang="en-US" dirty="0"/>
              <a:t>Pictures</a:t>
            </a:r>
          </a:p>
          <a:p>
            <a:r>
              <a:rPr lang="en-US" dirty="0"/>
              <a:t>Deep networks take advantage of unlabelled data by learning </a:t>
            </a:r>
            <a:r>
              <a:rPr lang="en-US" b="1" dirty="0"/>
              <a:t>good representations </a:t>
            </a:r>
            <a:r>
              <a:rPr lang="en-US" dirty="0"/>
              <a:t>of the data </a:t>
            </a:r>
            <a:r>
              <a:rPr lang="en-US" b="1" dirty="0"/>
              <a:t>through unsupervised learning</a:t>
            </a:r>
          </a:p>
          <a:p>
            <a:r>
              <a:rPr lang="en-US" dirty="0"/>
              <a:t>Humans learn initially from unlabelled examples</a:t>
            </a:r>
          </a:p>
          <a:p>
            <a:r>
              <a:rPr lang="en-US" dirty="0"/>
              <a:t>Babies learn to talk without labeled data</a:t>
            </a:r>
          </a:p>
        </p:txBody>
      </p:sp>
    </p:spTree>
    <p:extLst>
      <p:ext uri="{BB962C8B-B14F-4D97-AF65-F5344CB8AC3E}">
        <p14:creationId xmlns:p14="http://schemas.microsoft.com/office/powerpoint/2010/main" val="3194942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Feature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09800"/>
            <a:ext cx="7772400" cy="4572000"/>
          </a:xfrm>
        </p:spPr>
        <p:txBody>
          <a:bodyPr>
            <a:normAutofit/>
          </a:bodyPr>
          <a:lstStyle/>
          <a:p>
            <a:r>
              <a:rPr lang="en-US" dirty="0"/>
              <a:t>Learning features that represent the data allows them to be used to train a supervised classifier</a:t>
            </a:r>
          </a:p>
          <a:p>
            <a:r>
              <a:rPr lang="en-US" dirty="0"/>
              <a:t>As the features are learned in an unsupervised way from a different and larger dataset, </a:t>
            </a:r>
            <a:r>
              <a:rPr lang="en-US" b="1" dirty="0"/>
              <a:t>less risk of over-fitting</a:t>
            </a:r>
          </a:p>
          <a:p>
            <a:r>
              <a:rPr lang="en-US" b="1" dirty="0"/>
              <a:t>No need for manual feature engineering </a:t>
            </a:r>
          </a:p>
          <a:p>
            <a:pPr lvl="1"/>
            <a:r>
              <a:rPr lang="en-US" dirty="0"/>
              <a:t>(e.g. </a:t>
            </a:r>
            <a:r>
              <a:rPr lang="en-US" dirty="0" err="1"/>
              <a:t>Kaggle</a:t>
            </a:r>
            <a:r>
              <a:rPr lang="en-US" dirty="0"/>
              <a:t> Salary Prediction contest)</a:t>
            </a:r>
          </a:p>
          <a:p>
            <a:r>
              <a:rPr lang="en-US" dirty="0"/>
              <a:t>Latent features are learned that attempt to explain the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4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3464"/>
            <a:ext cx="7772400" cy="1240536"/>
          </a:xfrm>
        </p:spPr>
        <p:txBody>
          <a:bodyPr>
            <a:normAutofit fontScale="90000"/>
          </a:bodyPr>
          <a:lstStyle/>
          <a:p>
            <a:r>
              <a:rPr lang="en-US" dirty="0"/>
              <a:t>Unsupervised Learning - Distributed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83560"/>
            <a:ext cx="7772400" cy="484584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Approaches to unsupervised learning of features fall into two categories:</a:t>
            </a:r>
          </a:p>
          <a:p>
            <a:pPr lvl="1"/>
            <a:r>
              <a:rPr lang="en-US" dirty="0"/>
              <a:t>Local Representations (hard clustering)</a:t>
            </a:r>
          </a:p>
          <a:p>
            <a:pPr lvl="1"/>
            <a:r>
              <a:rPr lang="en-US" dirty="0"/>
              <a:t>Distributed Representations (soft \ fuzzy clustering)</a:t>
            </a:r>
          </a:p>
          <a:p>
            <a:r>
              <a:rPr lang="en-US" dirty="0"/>
              <a:t>Hard clustering approaches (e.g. k-means, DBSCAN) - learn to map a set of data points to individual clusters</a:t>
            </a:r>
          </a:p>
          <a:p>
            <a:r>
              <a:rPr lang="en-US" dirty="0"/>
              <a:t>Fuzzy clustering, dimensionality reduction approaches (SVD, PCA), topic modeling (LDA)  and unsupervised feature learning with neural networks learn </a:t>
            </a:r>
            <a:r>
              <a:rPr lang="en-US" b="1" dirty="0"/>
              <a:t>distributed representations</a:t>
            </a:r>
          </a:p>
          <a:p>
            <a:r>
              <a:rPr lang="en-US" dirty="0"/>
              <a:t>Assumes that the data can be explained by the interaction of many different unobserved factors</a:t>
            </a:r>
          </a:p>
          <a:p>
            <a:r>
              <a:rPr lang="en-US" dirty="0"/>
              <a:t>Unseen configurations of these factors can more effectively explain unseen data</a:t>
            </a:r>
          </a:p>
          <a:p>
            <a:r>
              <a:rPr lang="en-US" dirty="0"/>
              <a:t>Much fewer features needed to describe the space as they can be combined in many different ways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309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6172200" cy="9144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Local Representation</a:t>
            </a:r>
          </a:p>
        </p:txBody>
      </p:sp>
      <p:pic>
        <p:nvPicPr>
          <p:cNvPr id="4" name="Content Placeholder 3" descr="plot_kmeans_digits_1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990600"/>
            <a:ext cx="8331200" cy="6248400"/>
          </a:xfrm>
        </p:spPr>
      </p:pic>
    </p:spTree>
    <p:extLst>
      <p:ext uri="{BB962C8B-B14F-4D97-AF65-F5344CB8AC3E}">
        <p14:creationId xmlns:p14="http://schemas.microsoft.com/office/powerpoint/2010/main" val="2045629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9144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Distributed Representation</a:t>
            </a:r>
          </a:p>
        </p:txBody>
      </p:sp>
      <p:pic>
        <p:nvPicPr>
          <p:cNvPr id="4" name="Content Placeholder 3" descr="multi-partition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5800" y="1219200"/>
            <a:ext cx="8153400" cy="5545786"/>
          </a:xfrm>
        </p:spPr>
      </p:pic>
    </p:spTree>
    <p:extLst>
      <p:ext uri="{BB962C8B-B14F-4D97-AF65-F5344CB8AC3E}">
        <p14:creationId xmlns:p14="http://schemas.microsoft.com/office/powerpoint/2010/main" val="435038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76400"/>
            <a:ext cx="7772400" cy="5029200"/>
          </a:xfrm>
        </p:spPr>
        <p:txBody>
          <a:bodyPr>
            <a:normAutofit/>
          </a:bodyPr>
          <a:lstStyle/>
          <a:p>
            <a:r>
              <a:rPr lang="en-US" dirty="0"/>
              <a:t>These factors are organized into multiple levels</a:t>
            </a:r>
          </a:p>
          <a:p>
            <a:r>
              <a:rPr lang="en-US" dirty="0"/>
              <a:t>Each level creates new features from combinations of features from the level below</a:t>
            </a:r>
          </a:p>
          <a:p>
            <a:r>
              <a:rPr lang="en-US" dirty="0"/>
              <a:t>Each level is more abstract than the ones below</a:t>
            </a:r>
          </a:p>
          <a:p>
            <a:r>
              <a:rPr lang="en-US" dirty="0"/>
              <a:t>Hierarchies of distributed representations attempt to solve the “Curse of Dimensionality” by learning the underlying latent variables that cause the variability in the data</a:t>
            </a:r>
          </a:p>
        </p:txBody>
      </p:sp>
    </p:spTree>
    <p:extLst>
      <p:ext uri="{BB962C8B-B14F-4D97-AF65-F5344CB8AC3E}">
        <p14:creationId xmlns:p14="http://schemas.microsoft.com/office/powerpoint/2010/main" val="7129220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914400"/>
          </a:xfrm>
        </p:spPr>
        <p:txBody>
          <a:bodyPr/>
          <a:lstStyle/>
          <a:p>
            <a:r>
              <a:rPr lang="en-US" dirty="0"/>
              <a:t>Hierarchical Representations</a:t>
            </a:r>
          </a:p>
        </p:txBody>
      </p:sp>
      <p:pic>
        <p:nvPicPr>
          <p:cNvPr id="4" name="Content Placeholder 3" descr="SOA_P3_Fig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95400" y="1101626"/>
            <a:ext cx="6480032" cy="5756374"/>
          </a:xfrm>
        </p:spPr>
      </p:pic>
    </p:spTree>
    <p:extLst>
      <p:ext uri="{BB962C8B-B14F-4D97-AF65-F5344CB8AC3E}">
        <p14:creationId xmlns:p14="http://schemas.microsoft.com/office/powerpoint/2010/main" val="4435309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DeepBMFaces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-35023"/>
            <a:ext cx="9286434" cy="6893023"/>
          </a:xfrm>
        </p:spPr>
      </p:pic>
    </p:spTree>
    <p:extLst>
      <p:ext uri="{BB962C8B-B14F-4D97-AF65-F5344CB8AC3E}">
        <p14:creationId xmlns:p14="http://schemas.microsoft.com/office/powerpoint/2010/main" val="6884678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Deep learning </a:t>
            </a:r>
            <a:br>
              <a:rPr lang="en-US" altLang="zh-TW" dirty="0"/>
            </a:br>
            <a:r>
              <a:rPr lang="en-US" altLang="zh-TW" dirty="0"/>
              <a:t>attracts lots of attention.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Google Trends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" y="2797284"/>
            <a:ext cx="8547800" cy="342039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979902" y="2535674"/>
            <a:ext cx="6683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Deep learning obtains many exciting results.</a:t>
            </a:r>
            <a:endParaRPr lang="zh-TW" altLang="en-US" sz="28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628650" y="5898493"/>
            <a:ext cx="9071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2007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305050" y="5898493"/>
            <a:ext cx="9071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2009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169780" y="5898493"/>
            <a:ext cx="9071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2011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916392" y="5898493"/>
            <a:ext cx="9071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2013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663005" y="5898493"/>
            <a:ext cx="9071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2015</a:t>
            </a:r>
            <a:endParaRPr lang="zh-TW" altLang="en-US" sz="2400" dirty="0"/>
          </a:p>
        </p:txBody>
      </p:sp>
      <p:cxnSp>
        <p:nvCxnSpPr>
          <p:cNvPr id="12" name="直線接點 11"/>
          <p:cNvCxnSpPr/>
          <p:nvPr/>
        </p:nvCxnSpPr>
        <p:spPr>
          <a:xfrm>
            <a:off x="-274320" y="5883253"/>
            <a:ext cx="94183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向右箭號 12"/>
          <p:cNvSpPr/>
          <p:nvPr/>
        </p:nvSpPr>
        <p:spPr>
          <a:xfrm>
            <a:off x="1113165" y="3193830"/>
            <a:ext cx="728073" cy="396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1957666" y="3130340"/>
            <a:ext cx="6441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The talks in this afternoon</a:t>
            </a:r>
            <a:endParaRPr lang="zh-TW" altLang="en-US" sz="28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79902" y="3788496"/>
            <a:ext cx="6441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This talk will focus on the technical part.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4645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910011"/>
            <a:ext cx="7772400" cy="2387600"/>
          </a:xfrm>
        </p:spPr>
        <p:txBody>
          <a:bodyPr>
            <a:noAutofit/>
          </a:bodyPr>
          <a:lstStyle/>
          <a:p>
            <a:r>
              <a:rPr lang="en-US" altLang="zh-TW" sz="3600" dirty="0"/>
              <a:t>Three questions:</a:t>
            </a:r>
            <a:br>
              <a:rPr lang="en-US" altLang="zh-TW" sz="3600" dirty="0"/>
            </a:br>
            <a:br>
              <a:rPr lang="en-US" altLang="zh-TW" sz="3600" dirty="0"/>
            </a:br>
            <a:r>
              <a:rPr lang="en-US" altLang="zh-TW" sz="3600" dirty="0"/>
              <a:t>Model</a:t>
            </a:r>
            <a:br>
              <a:rPr lang="en-US" altLang="zh-TW" sz="3600" dirty="0"/>
            </a:br>
            <a:r>
              <a:rPr lang="en-US" altLang="zh-TW" sz="3600" dirty="0"/>
              <a:t>Cost</a:t>
            </a:r>
            <a:br>
              <a:rPr lang="en-US" altLang="zh-TW" sz="3600" dirty="0"/>
            </a:br>
            <a:r>
              <a:rPr lang="en-US" altLang="zh-TW" sz="3600" dirty="0"/>
              <a:t>Train</a:t>
            </a:r>
            <a:br>
              <a:rPr lang="en-US" altLang="zh-TW" sz="3600" dirty="0"/>
            </a:b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83115" y="5409035"/>
            <a:ext cx="577777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2800" dirty="0"/>
              <a:t>What people already knew in 1980s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11700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Handwriting Digit Recognition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162" y="3503955"/>
            <a:ext cx="1602442" cy="1592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57246" y="3518469"/>
            <a:ext cx="2034073" cy="15167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Machine</a:t>
            </a:r>
            <a:endParaRPr lang="zh-TW" altLang="en-US" sz="2800" dirty="0"/>
          </a:p>
        </p:txBody>
      </p:sp>
      <p:sp>
        <p:nvSpPr>
          <p:cNvPr id="8" name="向右箭號 7"/>
          <p:cNvSpPr/>
          <p:nvPr/>
        </p:nvSpPr>
        <p:spPr>
          <a:xfrm>
            <a:off x="3328044" y="3864273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6183987" y="3874139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898676" y="4005524"/>
            <a:ext cx="721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“2”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5253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Handwriting Digit Recognition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Input</a:t>
            </a:r>
            <a:endParaRPr lang="zh-TW" altLang="en-US" sz="3200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Output</a:t>
            </a:r>
            <a:endParaRPr lang="zh-TW" altLang="en-US" sz="3200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33" y="3309806"/>
            <a:ext cx="2130022" cy="211645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336292" y="541328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16 x 16 = 256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448638" y="300672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517026" y="37244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3522844" y="315409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106544"/>
              </p:ext>
            </p:extLst>
          </p:nvPr>
        </p:nvGraphicFramePr>
        <p:xfrm>
          <a:off x="3535543" y="3058840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54" name="方程式" r:id="rId5" imgW="152280" imgH="215640" progId="Equation.3">
                  <p:embed/>
                </p:oleObj>
              </mc:Choice>
              <mc:Fallback>
                <p:oleObj name="方程式" r:id="rId5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543" y="3058840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717373"/>
              </p:ext>
            </p:extLst>
          </p:nvPr>
        </p:nvGraphicFramePr>
        <p:xfrm>
          <a:off x="3540839" y="3641569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55" name="方程式" r:id="rId7" imgW="164880" imgH="215640" progId="Equation.3">
                  <p:embed/>
                </p:oleObj>
              </mc:Choice>
              <mc:Fallback>
                <p:oleObj name="方程式" r:id="rId7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839" y="3641569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3526551" y="512217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919168"/>
              </p:ext>
            </p:extLst>
          </p:nvPr>
        </p:nvGraphicFramePr>
        <p:xfrm>
          <a:off x="3454628" y="5025409"/>
          <a:ext cx="544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56" name="方程式" r:id="rId9" imgW="253800" imgH="228600" progId="Equation.3">
                  <p:embed/>
                </p:oleObj>
              </mc:Choice>
              <mc:Fallback>
                <p:oleObj name="方程式" r:id="rId9" imgW="253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628" y="5025409"/>
                        <a:ext cx="5445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字方塊 15"/>
          <p:cNvSpPr txBox="1"/>
          <p:nvPr/>
        </p:nvSpPr>
        <p:spPr>
          <a:xfrm rot="5400000">
            <a:off x="3402483" y="440711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7" name="手繪多邊形 16"/>
          <p:cNvSpPr/>
          <p:nvPr/>
        </p:nvSpPr>
        <p:spPr>
          <a:xfrm>
            <a:off x="1214665" y="3068121"/>
            <a:ext cx="2305050" cy="363941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1348015" y="3241062"/>
            <a:ext cx="2171700" cy="646109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>
            <a:off x="3081565" y="5284171"/>
            <a:ext cx="463550" cy="243308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1371218" y="5765880"/>
            <a:ext cx="1661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Ink → 1</a:t>
            </a:r>
          </a:p>
          <a:p>
            <a:r>
              <a:rPr lang="en-US" altLang="zh-TW" sz="2400" dirty="0"/>
              <a:t>No ink → 0</a:t>
            </a:r>
            <a:endParaRPr lang="zh-TW" altLang="en-US" sz="2400" dirty="0"/>
          </a:p>
        </p:txBody>
      </p:sp>
      <p:grpSp>
        <p:nvGrpSpPr>
          <p:cNvPr id="26" name="群組 25"/>
          <p:cNvGrpSpPr/>
          <p:nvPr/>
        </p:nvGrpSpPr>
        <p:grpSpPr>
          <a:xfrm>
            <a:off x="5179092" y="2822199"/>
            <a:ext cx="642352" cy="2642877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50594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</a:t>
              </a:r>
              <a:endParaRPr lang="zh-TW" altLang="en-US" sz="2800" baseline="-25000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2</a:t>
              </a:r>
              <a:endParaRPr lang="zh-TW" altLang="en-US" sz="2800" baseline="-25000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10</a:t>
              </a:r>
              <a:endParaRPr lang="zh-TW" altLang="en-US" sz="2800" baseline="-25000" dirty="0"/>
            </a:p>
          </p:txBody>
        </p:sp>
      </p:grpSp>
      <p:sp>
        <p:nvSpPr>
          <p:cNvPr id="27" name="文字方塊 26"/>
          <p:cNvSpPr txBox="1"/>
          <p:nvPr/>
        </p:nvSpPr>
        <p:spPr>
          <a:xfrm>
            <a:off x="5106944" y="5737345"/>
            <a:ext cx="3566686" cy="8309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Each dimension represents the confidence of a digit.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6048212" y="2883754"/>
            <a:ext cx="86163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1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6055521" y="3665036"/>
            <a:ext cx="84701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2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055521" y="4939005"/>
            <a:ext cx="834766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0</a:t>
            </a:r>
            <a:endParaRPr lang="zh-TW" altLang="en-US" sz="2400" dirty="0"/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6188216" y="432180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2" name="矩形 31"/>
          <p:cNvSpPr/>
          <p:nvPr/>
        </p:nvSpPr>
        <p:spPr>
          <a:xfrm>
            <a:off x="5115795" y="2944663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0.1</a:t>
            </a:r>
            <a:endParaRPr lang="zh-TW" altLang="en-US" sz="2400" dirty="0"/>
          </a:p>
        </p:txBody>
      </p:sp>
      <p:sp>
        <p:nvSpPr>
          <p:cNvPr id="33" name="矩形 32"/>
          <p:cNvSpPr/>
          <p:nvPr/>
        </p:nvSpPr>
        <p:spPr>
          <a:xfrm>
            <a:off x="5115795" y="3669068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0.7</a:t>
            </a:r>
            <a:endParaRPr lang="zh-TW" altLang="en-US" sz="2400" dirty="0"/>
          </a:p>
        </p:txBody>
      </p:sp>
      <p:sp>
        <p:nvSpPr>
          <p:cNvPr id="34" name="矩形 33"/>
          <p:cNvSpPr/>
          <p:nvPr/>
        </p:nvSpPr>
        <p:spPr>
          <a:xfrm>
            <a:off x="5096948" y="4938330"/>
            <a:ext cx="656740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0.2</a:t>
            </a:r>
            <a:endParaRPr lang="zh-TW" altLang="en-US" sz="2400" dirty="0"/>
          </a:p>
        </p:txBody>
      </p:sp>
      <p:sp>
        <p:nvSpPr>
          <p:cNvPr id="35" name="矩形 34"/>
          <p:cNvSpPr/>
          <p:nvPr/>
        </p:nvSpPr>
        <p:spPr>
          <a:xfrm>
            <a:off x="5007951" y="3577013"/>
            <a:ext cx="1950970" cy="6409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7006627" y="3813785"/>
            <a:ext cx="1940923" cy="90335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The image is  “2”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9475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4" grpId="0" animBg="1"/>
      <p:bldP spid="16" grpId="0"/>
      <p:bldP spid="17" grpId="0" animBg="1"/>
      <p:bldP spid="18" grpId="0" animBg="1"/>
      <p:bldP spid="19" grpId="0" animBg="1"/>
      <p:bldP spid="20" grpId="0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788413"/>
            <a:ext cx="7886700" cy="4351338"/>
          </a:xfrm>
        </p:spPr>
        <p:txBody>
          <a:bodyPr/>
          <a:lstStyle/>
          <a:p>
            <a:r>
              <a:rPr lang="en-US" altLang="zh-TW" dirty="0"/>
              <a:t>Handwriting Digit Recognition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933" y="3170126"/>
            <a:ext cx="1602442" cy="1592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825017" y="3184640"/>
            <a:ext cx="2034073" cy="15167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Machine</a:t>
            </a:r>
            <a:endParaRPr lang="zh-TW" altLang="en-US" sz="2800" dirty="0"/>
          </a:p>
        </p:txBody>
      </p:sp>
      <p:sp>
        <p:nvSpPr>
          <p:cNvPr id="8" name="向右箭號 7"/>
          <p:cNvSpPr/>
          <p:nvPr/>
        </p:nvSpPr>
        <p:spPr>
          <a:xfrm>
            <a:off x="3095815" y="3530444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5951758" y="3540310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666447" y="3671695"/>
            <a:ext cx="721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“2”</a:t>
            </a:r>
            <a:endParaRPr lang="zh-TW" altLang="en-US" sz="3200" dirty="0"/>
          </a:p>
        </p:txBody>
      </p:sp>
      <p:grpSp>
        <p:nvGrpSpPr>
          <p:cNvPr id="6" name="群組 5"/>
          <p:cNvGrpSpPr/>
          <p:nvPr/>
        </p:nvGrpSpPr>
        <p:grpSpPr>
          <a:xfrm>
            <a:off x="2462115" y="2538616"/>
            <a:ext cx="600084" cy="2625052"/>
            <a:chOff x="2462115" y="2538616"/>
            <a:chExt cx="600084" cy="2625052"/>
          </a:xfrm>
        </p:grpSpPr>
        <p:sp>
          <p:nvSpPr>
            <p:cNvPr id="12" name="矩形 11"/>
            <p:cNvSpPr/>
            <p:nvPr/>
          </p:nvSpPr>
          <p:spPr>
            <a:xfrm>
              <a:off x="2462115" y="253861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30503" y="325630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536321" y="268598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1748135"/>
                </p:ext>
              </p:extLst>
            </p:nvPr>
          </p:nvGraphicFramePr>
          <p:xfrm>
            <a:off x="2549020" y="259073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47" name="方程式" r:id="rId5" imgW="152280" imgH="215640" progId="Equation.3">
                    <p:embed/>
                  </p:oleObj>
                </mc:Choice>
                <mc:Fallback>
                  <p:oleObj name="方程式" r:id="rId5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020" y="259073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8351405"/>
                </p:ext>
              </p:extLst>
            </p:nvPr>
          </p:nvGraphicFramePr>
          <p:xfrm>
            <a:off x="2554316" y="317345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48" name="方程式" r:id="rId7" imgW="164880" imgH="215640" progId="Equation.3">
                    <p:embed/>
                  </p:oleObj>
                </mc:Choice>
                <mc:Fallback>
                  <p:oleObj name="方程式" r:id="rId7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316" y="317345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/>
            <p:nvPr/>
          </p:nvSpPr>
          <p:spPr>
            <a:xfrm>
              <a:off x="2540028" y="465406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5344105"/>
                </p:ext>
              </p:extLst>
            </p:nvPr>
          </p:nvGraphicFramePr>
          <p:xfrm>
            <a:off x="2468105" y="4557299"/>
            <a:ext cx="544512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49" name="方程式" r:id="rId9" imgW="253800" imgH="228600" progId="Equation.3">
                    <p:embed/>
                  </p:oleObj>
                </mc:Choice>
                <mc:Fallback>
                  <p:oleObj name="方程式" r:id="rId9" imgW="2538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8105" y="4557299"/>
                          <a:ext cx="544512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字方塊 18"/>
            <p:cNvSpPr txBox="1"/>
            <p:nvPr/>
          </p:nvSpPr>
          <p:spPr>
            <a:xfrm rot="5400000">
              <a:off x="2415960" y="393900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745418" y="2501358"/>
            <a:ext cx="642352" cy="2642877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50594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</a:t>
              </a:r>
              <a:endParaRPr lang="zh-TW" altLang="en-US" sz="2800" baseline="-25000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2</a:t>
              </a:r>
              <a:endParaRPr lang="zh-TW" altLang="en-US" sz="2800" baseline="-25000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10</a:t>
              </a:r>
              <a:endParaRPr lang="zh-TW" altLang="en-US" sz="2800" baseline="-25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3749382" y="4801774"/>
                <a:ext cx="2207720" cy="435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382" y="4801774"/>
                <a:ext cx="2207720" cy="43576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997253" y="5438668"/>
                <a:ext cx="5689600" cy="954107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In deep learning, the function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is represented by neural network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253" y="5438668"/>
                <a:ext cx="5689600" cy="95410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75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342192"/>
              </p:ext>
            </p:extLst>
          </p:nvPr>
        </p:nvGraphicFramePr>
        <p:xfrm>
          <a:off x="3437393" y="2894648"/>
          <a:ext cx="53244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74" name="方程式" r:id="rId4" imgW="1917360" imgH="215640" progId="Equation.3">
                  <p:embed/>
                </p:oleObj>
              </mc:Choice>
              <mc:Fallback>
                <p:oleObj name="方程式" r:id="rId4" imgW="1917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7393" y="2894648"/>
                        <a:ext cx="5324475" cy="596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Element of Neural Network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227506" y="1902037"/>
                <a:ext cx="16440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06" y="1902037"/>
                <a:ext cx="1644040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2082333" y="2938572"/>
            <a:ext cx="622890" cy="22193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5697288" y="4441558"/>
            <a:ext cx="80468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771942" y="5463176"/>
            <a:ext cx="596697" cy="58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097648" y="2850704"/>
            <a:ext cx="596697" cy="28070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>
            <a:stCxn id="18" idx="3"/>
            <a:endCxn id="22" idx="1"/>
          </p:cNvCxnSpPr>
          <p:nvPr/>
        </p:nvCxnSpPr>
        <p:spPr>
          <a:xfrm flipV="1">
            <a:off x="1686725" y="4452003"/>
            <a:ext cx="2145559" cy="7888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橢圓 6"/>
          <p:cNvSpPr/>
          <p:nvPr/>
        </p:nvSpPr>
        <p:spPr>
          <a:xfrm>
            <a:off x="4986856" y="3943097"/>
            <a:ext cx="941612" cy="9416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64104"/>
              </p:ext>
            </p:extLst>
          </p:nvPr>
        </p:nvGraphicFramePr>
        <p:xfrm>
          <a:off x="4515922" y="4054524"/>
          <a:ext cx="3524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75" name="方程式" r:id="rId7" imgW="126720" imgH="126720" progId="Equation.3">
                  <p:embed/>
                </p:oleObj>
              </mc:Choice>
              <mc:Fallback>
                <p:oleObj name="方程式" r:id="rId7" imgW="126720" imgH="126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5922" y="4054524"/>
                        <a:ext cx="352425" cy="3508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688913"/>
              </p:ext>
            </p:extLst>
          </p:nvPr>
        </p:nvGraphicFramePr>
        <p:xfrm>
          <a:off x="2140424" y="2959301"/>
          <a:ext cx="49371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76" name="方程式" r:id="rId9" imgW="177480" imgH="215640" progId="Equation.3">
                  <p:embed/>
                </p:oleObj>
              </mc:Choice>
              <mc:Fallback>
                <p:oleObj name="方程式" r:id="rId9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424" y="2959301"/>
                        <a:ext cx="493713" cy="5953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799279"/>
              </p:ext>
            </p:extLst>
          </p:nvPr>
        </p:nvGraphicFramePr>
        <p:xfrm>
          <a:off x="2144274" y="3595555"/>
          <a:ext cx="52863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77" name="方程式" r:id="rId11" imgW="190440" imgH="215640" progId="Equation.3">
                  <p:embed/>
                </p:oleObj>
              </mc:Choice>
              <mc:Fallback>
                <p:oleObj name="方程式" r:id="rId11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274" y="3595555"/>
                        <a:ext cx="528638" cy="5953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923169"/>
              </p:ext>
            </p:extLst>
          </p:nvPr>
        </p:nvGraphicFramePr>
        <p:xfrm>
          <a:off x="2140424" y="4374405"/>
          <a:ext cx="598487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78" name="方程式" r:id="rId13" imgW="215640" imgH="215640" progId="Equation.3">
                  <p:embed/>
                </p:oleObj>
              </mc:Choice>
              <mc:Fallback>
                <p:oleObj name="方程式" r:id="rId13" imgW="2156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424" y="4374405"/>
                        <a:ext cx="598487" cy="5953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線單箭頭接點 11"/>
          <p:cNvCxnSpPr/>
          <p:nvPr/>
        </p:nvCxnSpPr>
        <p:spPr>
          <a:xfrm flipV="1">
            <a:off x="4173798" y="4421401"/>
            <a:ext cx="80468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17" idx="3"/>
            <a:endCxn id="22" idx="1"/>
          </p:cNvCxnSpPr>
          <p:nvPr/>
        </p:nvCxnSpPr>
        <p:spPr>
          <a:xfrm>
            <a:off x="1674694" y="4024747"/>
            <a:ext cx="2157590" cy="4272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22" idx="1"/>
          </p:cNvCxnSpPr>
          <p:nvPr/>
        </p:nvCxnSpPr>
        <p:spPr>
          <a:xfrm>
            <a:off x="1694345" y="3166471"/>
            <a:ext cx="2137939" cy="12855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 rot="5400000">
            <a:off x="1104498" y="451168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599115"/>
              </p:ext>
            </p:extLst>
          </p:nvPr>
        </p:nvGraphicFramePr>
        <p:xfrm>
          <a:off x="1179394" y="2807928"/>
          <a:ext cx="4953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79" name="方程式" r:id="rId15" imgW="177480" imgH="228600" progId="Equation.3">
                  <p:embed/>
                </p:oleObj>
              </mc:Choice>
              <mc:Fallback>
                <p:oleObj name="方程式" r:id="rId15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394" y="2807928"/>
                        <a:ext cx="495300" cy="6302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680723"/>
              </p:ext>
            </p:extLst>
          </p:nvPr>
        </p:nvGraphicFramePr>
        <p:xfrm>
          <a:off x="1179394" y="3709628"/>
          <a:ext cx="4953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80" name="方程式" r:id="rId17" imgW="177480" imgH="228600" progId="Equation.3">
                  <p:embed/>
                </p:oleObj>
              </mc:Choice>
              <mc:Fallback>
                <p:oleObj name="方程式" r:id="rId17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394" y="3709628"/>
                        <a:ext cx="495300" cy="6302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425429"/>
              </p:ext>
            </p:extLst>
          </p:nvPr>
        </p:nvGraphicFramePr>
        <p:xfrm>
          <a:off x="1153325" y="4925746"/>
          <a:ext cx="5334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81" name="方程式" r:id="rId19" imgW="190440" imgH="228600" progId="Equation.3">
                  <p:embed/>
                </p:oleObj>
              </mc:Choice>
              <mc:Fallback>
                <p:oleObj name="方程式" r:id="rId19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3325" y="4925746"/>
                        <a:ext cx="533400" cy="6302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群組 20"/>
          <p:cNvGrpSpPr/>
          <p:nvPr/>
        </p:nvGrpSpPr>
        <p:grpSpPr>
          <a:xfrm>
            <a:off x="3832284" y="4191843"/>
            <a:ext cx="520319" cy="520319"/>
            <a:chOff x="3342651" y="3507082"/>
            <a:chExt cx="520319" cy="520319"/>
          </a:xfrm>
        </p:grpSpPr>
        <p:sp>
          <p:nvSpPr>
            <p:cNvPr id="22" name="矩形 21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23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182" name="方程式" r:id="rId21" imgW="139680" imgH="139680" progId="Equation.3">
                    <p:embed/>
                  </p:oleObj>
                </mc:Choice>
                <mc:Fallback>
                  <p:oleObj name="方程式" r:id="rId21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195241"/>
              </p:ext>
            </p:extLst>
          </p:nvPr>
        </p:nvGraphicFramePr>
        <p:xfrm>
          <a:off x="3889980" y="5545694"/>
          <a:ext cx="3540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83" name="方程式" r:id="rId23" imgW="126720" imgH="177480" progId="Equation.3">
                  <p:embed/>
                </p:oleObj>
              </mc:Choice>
              <mc:Fallback>
                <p:oleObj name="方程式" r:id="rId23" imgW="1267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980" y="5545694"/>
                        <a:ext cx="354012" cy="4889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線單箭頭接點 24"/>
          <p:cNvCxnSpPr/>
          <p:nvPr/>
        </p:nvCxnSpPr>
        <p:spPr>
          <a:xfrm flipV="1">
            <a:off x="4083491" y="4722606"/>
            <a:ext cx="0" cy="7547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254858"/>
              </p:ext>
            </p:extLst>
          </p:nvPr>
        </p:nvGraphicFramePr>
        <p:xfrm>
          <a:off x="5054247" y="4138661"/>
          <a:ext cx="78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84" name="方程式" r:id="rId25" imgW="317160" imgH="215640" progId="Equation.3">
                  <p:embed/>
                </p:oleObj>
              </mc:Choice>
              <mc:Fallback>
                <p:oleObj name="方程式" r:id="rId25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247" y="4138661"/>
                        <a:ext cx="787400" cy="533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3667975" y="6056796"/>
            <a:ext cx="798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bias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aphicFrame>
        <p:nvGraphicFramePr>
          <p:cNvPr id="3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982689"/>
              </p:ext>
            </p:extLst>
          </p:nvPr>
        </p:nvGraphicFramePr>
        <p:xfrm>
          <a:off x="6563805" y="4232275"/>
          <a:ext cx="3524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85" name="方程式" r:id="rId27" imgW="126720" imgH="139680" progId="Equation.3">
                  <p:embed/>
                </p:oleObj>
              </mc:Choice>
              <mc:Fallback>
                <p:oleObj name="方程式" r:id="rId27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3805" y="4232275"/>
                        <a:ext cx="352425" cy="3857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字方塊 39"/>
          <p:cNvSpPr txBox="1"/>
          <p:nvPr/>
        </p:nvSpPr>
        <p:spPr>
          <a:xfrm>
            <a:off x="4576141" y="4945347"/>
            <a:ext cx="1894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Activation function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833704" y="5240865"/>
            <a:ext cx="1186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weights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56611" y="1825094"/>
            <a:ext cx="14636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/>
              <a:t>Neuron</a:t>
            </a:r>
            <a:endParaRPr lang="zh-TW" altLang="en-US" sz="3200" b="1" i="1" u="sng" dirty="0"/>
          </a:p>
        </p:txBody>
      </p:sp>
    </p:spTree>
    <p:extLst>
      <p:ext uri="{BB962C8B-B14F-4D97-AF65-F5344CB8AC3E}">
        <p14:creationId xmlns:p14="http://schemas.microsoft.com/office/powerpoint/2010/main" val="360464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" grpId="0" animBg="1"/>
      <p:bldP spid="7" grpId="0" animBg="1"/>
      <p:bldP spid="34" grpId="0"/>
      <p:bldP spid="40" grpId="0"/>
      <p:bldP spid="3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字方塊 63"/>
          <p:cNvSpPr txBox="1"/>
          <p:nvPr/>
        </p:nvSpPr>
        <p:spPr>
          <a:xfrm>
            <a:off x="5837170" y="4824499"/>
            <a:ext cx="1165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Output Layer</a:t>
            </a:r>
            <a:endParaRPr lang="zh-TW" altLang="en-US" sz="2400" b="1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2883916" y="5172079"/>
            <a:ext cx="206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Hidden Layers</a:t>
            </a:r>
            <a:endParaRPr lang="zh-TW" altLang="en-US" sz="2400" b="1" dirty="0"/>
          </a:p>
        </p:txBody>
      </p:sp>
      <p:sp>
        <p:nvSpPr>
          <p:cNvPr id="66" name="右大括弧 65"/>
          <p:cNvSpPr/>
          <p:nvPr/>
        </p:nvSpPr>
        <p:spPr>
          <a:xfrm rot="5400000">
            <a:off x="3844836" y="3524807"/>
            <a:ext cx="181728" cy="2939290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1321462" y="2252513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1120750" y="4829478"/>
            <a:ext cx="928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Input Layer</a:t>
            </a:r>
            <a:endParaRPr lang="zh-TW" altLang="en-US" sz="2400" b="1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93976" y="1770729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7138018" y="1770729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Output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6433736" y="3273292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543052" y="4519182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409852" y="2494489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389850" y="297020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395668" y="2399877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737765"/>
              </p:ext>
            </p:extLst>
          </p:nvPr>
        </p:nvGraphicFramePr>
        <p:xfrm>
          <a:off x="1408367" y="2304627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80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367" y="2304627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193013"/>
              </p:ext>
            </p:extLst>
          </p:nvPr>
        </p:nvGraphicFramePr>
        <p:xfrm>
          <a:off x="1413663" y="2887356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81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663" y="2887356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群組 77"/>
          <p:cNvGrpSpPr/>
          <p:nvPr/>
        </p:nvGrpSpPr>
        <p:grpSpPr>
          <a:xfrm>
            <a:off x="2332137" y="1770729"/>
            <a:ext cx="1134648" cy="3130011"/>
            <a:chOff x="2332137" y="1770729"/>
            <a:chExt cx="1134648" cy="3130011"/>
          </a:xfrm>
        </p:grpSpPr>
        <p:sp>
          <p:nvSpPr>
            <p:cNvPr id="61" name="矩形 60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2332137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Layer 1</a:t>
              </a:r>
              <a:endParaRPr lang="zh-TW" altLang="en-US" sz="2400" dirty="0"/>
            </a:p>
          </p:txBody>
        </p:sp>
        <p:sp>
          <p:nvSpPr>
            <p:cNvPr id="18" name="橢圓 17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1399375" y="43679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264759"/>
              </p:ext>
            </p:extLst>
          </p:nvPr>
        </p:nvGraphicFramePr>
        <p:xfrm>
          <a:off x="1396259" y="4271709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82" name="方程式" r:id="rId8" imgW="190440" imgH="228600" progId="Equation.3">
                  <p:embed/>
                </p:oleObj>
              </mc:Choice>
              <mc:Fallback>
                <p:oleObj name="方程式" r:id="rId8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259" y="4271709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字方塊 23"/>
          <p:cNvSpPr txBox="1"/>
          <p:nvPr/>
        </p:nvSpPr>
        <p:spPr>
          <a:xfrm rot="5400000">
            <a:off x="1275307" y="365290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grpSp>
        <p:nvGrpSpPr>
          <p:cNvPr id="79" name="群組 78"/>
          <p:cNvGrpSpPr/>
          <p:nvPr/>
        </p:nvGrpSpPr>
        <p:grpSpPr>
          <a:xfrm>
            <a:off x="3657035" y="1770729"/>
            <a:ext cx="1134648" cy="3113664"/>
            <a:chOff x="3657035" y="1770729"/>
            <a:chExt cx="1134648" cy="3113664"/>
          </a:xfrm>
        </p:grpSpPr>
        <p:sp>
          <p:nvSpPr>
            <p:cNvPr id="62" name="矩形 61"/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3657035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Layer 2</a:t>
              </a:r>
              <a:endParaRPr lang="zh-TW" altLang="en-US" sz="2400" dirty="0"/>
            </a:p>
          </p:txBody>
        </p:sp>
        <p:sp>
          <p:nvSpPr>
            <p:cNvPr id="25" name="橢圓 24"/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 rot="5400000">
              <a:off x="3905199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5868381" y="1770729"/>
            <a:ext cx="1134648" cy="3130011"/>
            <a:chOff x="5868381" y="1770729"/>
            <a:chExt cx="1134648" cy="3130011"/>
          </a:xfrm>
        </p:grpSpPr>
        <p:sp>
          <p:nvSpPr>
            <p:cNvPr id="63" name="矩形 62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868381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Layer L</a:t>
              </a:r>
              <a:endParaRPr lang="zh-TW" altLang="en-US" sz="2400" dirty="0"/>
            </a:p>
          </p:txBody>
        </p:sp>
        <p:sp>
          <p:nvSpPr>
            <p:cNvPr id="29" name="橢圓 28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文字方塊 31"/>
            <p:cNvSpPr txBox="1"/>
            <p:nvPr/>
          </p:nvSpPr>
          <p:spPr>
            <a:xfrm rot="5400000">
              <a:off x="6129396" y="364247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sp>
        <p:nvSpPr>
          <p:cNvPr id="33" name="文字方塊 32"/>
          <p:cNvSpPr txBox="1"/>
          <p:nvPr/>
        </p:nvSpPr>
        <p:spPr>
          <a:xfrm>
            <a:off x="4600123" y="219186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4607072" y="295284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4636088" y="416818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grpSp>
        <p:nvGrpSpPr>
          <p:cNvPr id="81" name="群組 80"/>
          <p:cNvGrpSpPr/>
          <p:nvPr/>
        </p:nvGrpSpPr>
        <p:grpSpPr>
          <a:xfrm>
            <a:off x="3166542" y="2522953"/>
            <a:ext cx="753037" cy="2013721"/>
            <a:chOff x="3166542" y="2522953"/>
            <a:chExt cx="753037" cy="2013721"/>
          </a:xfrm>
        </p:grpSpPr>
        <p:cxnSp>
          <p:nvCxnSpPr>
            <p:cNvPr id="36" name="直線單箭頭接點 35"/>
            <p:cNvCxnSpPr>
              <a:stCxn id="18" idx="6"/>
              <a:endCxn id="25" idx="2"/>
            </p:cNvCxnSpPr>
            <p:nvPr/>
          </p:nvCxnSpPr>
          <p:spPr>
            <a:xfrm>
              <a:off x="3175833" y="2522953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>
              <a:off x="3175833" y="331470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/>
            <p:nvPr/>
          </p:nvCxnSpPr>
          <p:spPr>
            <a:xfrm>
              <a:off x="3166542" y="453667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9" idx="6"/>
              <a:endCxn id="25" idx="2"/>
            </p:cNvCxnSpPr>
            <p:nvPr/>
          </p:nvCxnSpPr>
          <p:spPr>
            <a:xfrm flipV="1">
              <a:off x="3178175" y="2522953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18" idx="6"/>
              <a:endCxn id="26" idx="2"/>
            </p:cNvCxnSpPr>
            <p:nvPr/>
          </p:nvCxnSpPr>
          <p:spPr>
            <a:xfrm>
              <a:off x="3175833" y="2522953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8" idx="6"/>
              <a:endCxn id="27" idx="2"/>
            </p:cNvCxnSpPr>
            <p:nvPr/>
          </p:nvCxnSpPr>
          <p:spPr>
            <a:xfrm>
              <a:off x="3175833" y="2522953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>
              <a:stCxn id="19" idx="6"/>
              <a:endCxn id="27" idx="2"/>
            </p:cNvCxnSpPr>
            <p:nvPr/>
          </p:nvCxnSpPr>
          <p:spPr>
            <a:xfrm>
              <a:off x="3178175" y="3301523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20" idx="6"/>
              <a:endCxn id="25" idx="2"/>
            </p:cNvCxnSpPr>
            <p:nvPr/>
          </p:nvCxnSpPr>
          <p:spPr>
            <a:xfrm flipV="1">
              <a:off x="3166542" y="2522953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>
              <a:stCxn id="20" idx="6"/>
              <a:endCxn id="26" idx="2"/>
            </p:cNvCxnSpPr>
            <p:nvPr/>
          </p:nvCxnSpPr>
          <p:spPr>
            <a:xfrm flipV="1">
              <a:off x="3166542" y="3301523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線單箭頭接點 44"/>
          <p:cNvCxnSpPr>
            <a:endCxn id="18" idx="2"/>
          </p:cNvCxnSpPr>
          <p:nvPr/>
        </p:nvCxnSpPr>
        <p:spPr>
          <a:xfrm flipV="1">
            <a:off x="1742275" y="2522953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5" idx="3"/>
            <a:endCxn id="19" idx="2"/>
          </p:cNvCxnSpPr>
          <p:nvPr/>
        </p:nvCxnSpPr>
        <p:spPr>
          <a:xfrm>
            <a:off x="1738568" y="2571327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5" idx="3"/>
            <a:endCxn id="20" idx="2"/>
          </p:cNvCxnSpPr>
          <p:nvPr/>
        </p:nvCxnSpPr>
        <p:spPr>
          <a:xfrm>
            <a:off x="1738568" y="2571327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7" idx="3"/>
            <a:endCxn id="18" idx="2"/>
          </p:cNvCxnSpPr>
          <p:nvPr/>
        </p:nvCxnSpPr>
        <p:spPr>
          <a:xfrm flipV="1">
            <a:off x="1766088" y="2522953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4" idx="3"/>
            <a:endCxn id="19" idx="2"/>
          </p:cNvCxnSpPr>
          <p:nvPr/>
        </p:nvCxnSpPr>
        <p:spPr>
          <a:xfrm>
            <a:off x="1732750" y="3141656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4" idx="3"/>
            <a:endCxn id="20" idx="2"/>
          </p:cNvCxnSpPr>
          <p:nvPr/>
        </p:nvCxnSpPr>
        <p:spPr>
          <a:xfrm>
            <a:off x="1732750" y="3141656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3" idx="3"/>
            <a:endCxn id="18" idx="2"/>
          </p:cNvCxnSpPr>
          <p:nvPr/>
        </p:nvCxnSpPr>
        <p:spPr>
          <a:xfrm flipV="1">
            <a:off x="1804247" y="2522953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3" idx="3"/>
            <a:endCxn id="19" idx="2"/>
          </p:cNvCxnSpPr>
          <p:nvPr/>
        </p:nvCxnSpPr>
        <p:spPr>
          <a:xfrm flipV="1">
            <a:off x="1777878" y="3301523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23" idx="3"/>
            <a:endCxn id="20" idx="2"/>
          </p:cNvCxnSpPr>
          <p:nvPr/>
        </p:nvCxnSpPr>
        <p:spPr>
          <a:xfrm>
            <a:off x="1777878" y="4516129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 rot="5400000">
            <a:off x="7402414" y="367345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7471507" y="2154629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7460224" y="2952849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460224" y="421908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zh-TW" altLang="en-US" sz="2800" baseline="-25000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2136850" y="5937293"/>
            <a:ext cx="5239013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Deep means many hidden layers</a:t>
            </a:r>
            <a:endParaRPr lang="zh-TW" altLang="en-US" sz="2800" dirty="0"/>
          </a:p>
        </p:txBody>
      </p:sp>
      <p:grpSp>
        <p:nvGrpSpPr>
          <p:cNvPr id="82" name="群組 81"/>
          <p:cNvGrpSpPr/>
          <p:nvPr/>
        </p:nvGrpSpPr>
        <p:grpSpPr>
          <a:xfrm>
            <a:off x="5357094" y="2515814"/>
            <a:ext cx="753037" cy="2013721"/>
            <a:chOff x="5357094" y="2515814"/>
            <a:chExt cx="753037" cy="2013721"/>
          </a:xfrm>
        </p:grpSpPr>
        <p:cxnSp>
          <p:nvCxnSpPr>
            <p:cNvPr id="67" name="直線單箭頭接點 6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/>
          <p:cNvSpPr txBox="1"/>
          <p:nvPr/>
        </p:nvSpPr>
        <p:spPr>
          <a:xfrm>
            <a:off x="4984751" y="1165844"/>
            <a:ext cx="1181585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neuron</a:t>
            </a:r>
            <a:endParaRPr lang="zh-TW" altLang="en-US" sz="2400" dirty="0"/>
          </a:p>
        </p:txBody>
      </p:sp>
      <p:cxnSp>
        <p:nvCxnSpPr>
          <p:cNvPr id="10" name="直線單箭頭接點 9"/>
          <p:cNvCxnSpPr>
            <a:endCxn id="3" idx="2"/>
          </p:cNvCxnSpPr>
          <p:nvPr/>
        </p:nvCxnSpPr>
        <p:spPr>
          <a:xfrm flipV="1">
            <a:off x="4159624" y="1627509"/>
            <a:ext cx="1415920" cy="94381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19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 animBg="1"/>
      <p:bldP spid="59" grpId="0" animBg="1"/>
      <p:bldP spid="60" grpId="0"/>
      <p:bldP spid="7" grpId="0"/>
      <p:bldP spid="8" grpId="0"/>
      <p:bldP spid="14" grpId="0" animBg="1"/>
      <p:bldP spid="15" grpId="0" animBg="1"/>
      <p:bldP spid="22" grpId="0" animBg="1"/>
      <p:bldP spid="24" grpId="0"/>
      <p:bldP spid="33" grpId="0"/>
      <p:bldP spid="34" grpId="0"/>
      <p:bldP spid="35" grpId="0"/>
      <p:bldP spid="54" grpId="0"/>
      <p:bldP spid="55" grpId="0"/>
      <p:bldP spid="56" grpId="0"/>
      <p:bldP spid="57" grpId="0"/>
      <p:bldP spid="68" grpId="0" animBg="1"/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群組 128"/>
          <p:cNvGrpSpPr/>
          <p:nvPr/>
        </p:nvGrpSpPr>
        <p:grpSpPr>
          <a:xfrm>
            <a:off x="6906115" y="3813978"/>
            <a:ext cx="458287" cy="831947"/>
            <a:chOff x="10102194" y="1939763"/>
            <a:chExt cx="458287" cy="831947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群組 104"/>
          <p:cNvGrpSpPr/>
          <p:nvPr/>
        </p:nvGrpSpPr>
        <p:grpSpPr>
          <a:xfrm>
            <a:off x="4676173" y="3786657"/>
            <a:ext cx="458287" cy="831947"/>
            <a:chOff x="10102194" y="1939763"/>
            <a:chExt cx="458287" cy="831947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Neural Network 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群組 2"/>
          <p:cNvGrpSpPr/>
          <p:nvPr/>
        </p:nvGrpSpPr>
        <p:grpSpPr>
          <a:xfrm>
            <a:off x="3615463" y="4585976"/>
            <a:ext cx="5297714" cy="2078894"/>
            <a:chOff x="3615463" y="4585976"/>
            <a:chExt cx="5297714" cy="2078894"/>
          </a:xfrm>
        </p:grpSpPr>
        <p:sp>
          <p:nvSpPr>
            <p:cNvPr id="137" name="圓角矩形圖說文字 136"/>
            <p:cNvSpPr/>
            <p:nvPr/>
          </p:nvSpPr>
          <p:spPr>
            <a:xfrm>
              <a:off x="3615463" y="4585976"/>
              <a:ext cx="5297714" cy="2078894"/>
            </a:xfrm>
            <a:prstGeom prst="wedgeRoundRectCallout">
              <a:avLst>
                <a:gd name="adj1" fmla="val -59656"/>
                <a:gd name="adj2" fmla="val -163051"/>
                <a:gd name="adj3" fmla="val 16667"/>
              </a:avLst>
            </a:prstGeom>
            <a:solidFill>
              <a:schemeClr val="bg1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5943645" y="4731685"/>
              <a:ext cx="2743688" cy="1838325"/>
              <a:chOff x="4096343" y="4657321"/>
              <a:chExt cx="2743688" cy="1838325"/>
            </a:xfrm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6343" y="4657321"/>
                <a:ext cx="2571750" cy="1838325"/>
              </a:xfrm>
              <a:prstGeom prst="rect">
                <a:avLst/>
              </a:prstGeom>
            </p:spPr>
          </p:pic>
          <p:graphicFrame>
            <p:nvGraphicFramePr>
              <p:cNvPr id="6" name="Object 1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74734" y="4768231"/>
              <a:ext cx="717072" cy="4897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48" name="方程式" r:id="rId5" imgW="317160" imgH="215640" progId="Equation.3">
                      <p:embed/>
                    </p:oleObj>
                  </mc:Choice>
                  <mc:Fallback>
                    <p:oleObj name="方程式" r:id="rId5" imgW="31716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4734" y="4768231"/>
                            <a:ext cx="717072" cy="48974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1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512897" y="6101982"/>
              <a:ext cx="327134" cy="325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49" name="方程式" r:id="rId7" imgW="126720" imgH="126720" progId="Equation.3">
                      <p:embed/>
                    </p:oleObj>
                  </mc:Choice>
                  <mc:Fallback>
                    <p:oleObj name="方程式" r:id="rId7" imgW="126720" imgH="1267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12897" y="6101982"/>
                            <a:ext cx="327134" cy="325661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3819652"/>
                </p:ext>
              </p:extLst>
            </p:nvPr>
          </p:nvGraphicFramePr>
          <p:xfrm>
            <a:off x="3800520" y="5368768"/>
            <a:ext cx="2143125" cy="973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50" name="方程式" r:id="rId9" imgW="863280" imgH="393480" progId="Equation.3">
                    <p:embed/>
                  </p:oleObj>
                </mc:Choice>
                <mc:Fallback>
                  <p:oleObj name="方程式" r:id="rId9" imgW="86328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520" y="5368768"/>
                          <a:ext cx="2143125" cy="97313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文字方塊 102"/>
            <p:cNvSpPr txBox="1"/>
            <p:nvPr/>
          </p:nvSpPr>
          <p:spPr>
            <a:xfrm>
              <a:off x="3800520" y="4795570"/>
              <a:ext cx="246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Sigmoid Function</a:t>
              </a:r>
              <a:endParaRPr lang="zh-TW" altLang="en-US" sz="2400" dirty="0"/>
            </a:p>
          </p:txBody>
        </p:sp>
      </p:grpSp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655177" y="3577639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7" name="矩形 116"/>
          <p:cNvSpPr/>
          <p:nvPr/>
        </p:nvSpPr>
        <p:spPr>
          <a:xfrm>
            <a:off x="2471151" y="2657649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2698053" y="227444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2493998" y="2644731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32" name="矩形 131"/>
          <p:cNvSpPr/>
          <p:nvPr/>
        </p:nvSpPr>
        <p:spPr>
          <a:xfrm>
            <a:off x="2480676" y="4206988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2707578" y="382378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2497284" y="420052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2410434" y="1640959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2296396" y="3244826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131369" y="320755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4673795" y="2262334"/>
            <a:ext cx="458287" cy="831947"/>
            <a:chOff x="10102194" y="1939763"/>
            <a:chExt cx="458287" cy="831947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群組 124"/>
          <p:cNvGrpSpPr/>
          <p:nvPr/>
        </p:nvGrpSpPr>
        <p:grpSpPr>
          <a:xfrm>
            <a:off x="6852035" y="2257142"/>
            <a:ext cx="458287" cy="831947"/>
            <a:chOff x="10102194" y="1939763"/>
            <a:chExt cx="458287" cy="831947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730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 animBg="1"/>
      <p:bldP spid="13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Neural Network 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pSp>
        <p:nvGrpSpPr>
          <p:cNvPr id="123" name="群組 122"/>
          <p:cNvGrpSpPr/>
          <p:nvPr/>
        </p:nvGrpSpPr>
        <p:grpSpPr>
          <a:xfrm>
            <a:off x="2471151" y="2274449"/>
            <a:ext cx="458287" cy="838405"/>
            <a:chOff x="10102194" y="1939763"/>
            <a:chExt cx="458287" cy="838405"/>
          </a:xfrm>
        </p:grpSpPr>
        <p:sp>
          <p:nvSpPr>
            <p:cNvPr id="117" name="矩形 116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9" name="直線單箭頭接點 11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2480676" y="3823788"/>
            <a:ext cx="458287" cy="838405"/>
            <a:chOff x="10102194" y="1939763"/>
            <a:chExt cx="458287" cy="838405"/>
          </a:xfrm>
        </p:grpSpPr>
        <p:sp>
          <p:nvSpPr>
            <p:cNvPr id="132" name="矩形 13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3" name="直線單箭頭接點 13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字方塊 13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sp>
        <p:nvSpPr>
          <p:cNvPr id="135" name="文字方塊 134"/>
          <p:cNvSpPr txBox="1"/>
          <p:nvPr/>
        </p:nvSpPr>
        <p:spPr>
          <a:xfrm>
            <a:off x="2410434" y="1640959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2296396" y="3244826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131369" y="320755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3953237" y="1672423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4120328" y="2260740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3818032" y="3777870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3970311" y="3207558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6126016" y="1673340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6293107" y="226165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5990811" y="3778787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147" name="文字方塊 146"/>
          <p:cNvSpPr txBox="1"/>
          <p:nvPr/>
        </p:nvSpPr>
        <p:spPr>
          <a:xfrm>
            <a:off x="6143090" y="3208475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5252837" y="166543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0.86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5275156" y="327096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7505772" y="162619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0.62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7528091" y="3231730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0.83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4673795" y="2262334"/>
            <a:ext cx="458287" cy="838405"/>
            <a:chOff x="10102194" y="1939763"/>
            <a:chExt cx="458287" cy="838405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4676173" y="3786657"/>
            <a:ext cx="458287" cy="838405"/>
            <a:chOff x="10102194" y="1939763"/>
            <a:chExt cx="458287" cy="838405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6852035" y="2257142"/>
            <a:ext cx="458287" cy="838405"/>
            <a:chOff x="10102194" y="1939763"/>
            <a:chExt cx="458287" cy="838405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字方塊 127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-2</a:t>
              </a:r>
              <a:endParaRPr lang="zh-TW" altLang="en-US" sz="2400" dirty="0"/>
            </a:p>
          </p:txBody>
        </p:sp>
      </p:grpSp>
      <p:grpSp>
        <p:nvGrpSpPr>
          <p:cNvPr id="129" name="群組 128"/>
          <p:cNvGrpSpPr/>
          <p:nvPr/>
        </p:nvGrpSpPr>
        <p:grpSpPr>
          <a:xfrm>
            <a:off x="6906115" y="3813978"/>
            <a:ext cx="458287" cy="838405"/>
            <a:chOff x="10102194" y="1939763"/>
            <a:chExt cx="458287" cy="838405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字方塊 148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2</a:t>
              </a:r>
              <a:endParaRPr lang="zh-TW" altLang="en-US" sz="2400" dirty="0"/>
            </a:p>
          </p:txBody>
        </p:sp>
      </p:grpSp>
      <p:sp>
        <p:nvSpPr>
          <p:cNvPr id="121" name="矩形 120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矩形 136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2" name="文字方塊 151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655177" y="3577639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9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151" grpId="0" animBg="1"/>
      <p:bldP spid="154" grpId="0" animBg="1"/>
      <p:bldP spid="15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Neural Network 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pSp>
        <p:nvGrpSpPr>
          <p:cNvPr id="123" name="群組 122"/>
          <p:cNvGrpSpPr/>
          <p:nvPr/>
        </p:nvGrpSpPr>
        <p:grpSpPr>
          <a:xfrm>
            <a:off x="2471151" y="2274449"/>
            <a:ext cx="458287" cy="838405"/>
            <a:chOff x="10102194" y="1939763"/>
            <a:chExt cx="458287" cy="838405"/>
          </a:xfrm>
        </p:grpSpPr>
        <p:sp>
          <p:nvSpPr>
            <p:cNvPr id="117" name="矩形 116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9" name="直線單箭頭接點 11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2480676" y="3823788"/>
            <a:ext cx="458287" cy="838405"/>
            <a:chOff x="10102194" y="1939763"/>
            <a:chExt cx="458287" cy="838405"/>
          </a:xfrm>
        </p:grpSpPr>
        <p:sp>
          <p:nvSpPr>
            <p:cNvPr id="132" name="矩形 13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3" name="直線單箭頭接點 13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字方塊 13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0.73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075361" y="320755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3953237" y="1672423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4120328" y="2260740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3818032" y="3777870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3970311" y="3207558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6126016" y="1673340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6293107" y="226165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5990811" y="3778787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147" name="文字方塊 146"/>
          <p:cNvSpPr txBox="1"/>
          <p:nvPr/>
        </p:nvSpPr>
        <p:spPr>
          <a:xfrm>
            <a:off x="6143090" y="3208475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5215605" y="1556516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0.72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5275156" y="327096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7540144" y="1574623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0.51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7621461" y="3228414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4673795" y="2262334"/>
            <a:ext cx="458287" cy="838405"/>
            <a:chOff x="10102194" y="1939763"/>
            <a:chExt cx="458287" cy="838405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4676173" y="3786657"/>
            <a:ext cx="458287" cy="838405"/>
            <a:chOff x="10102194" y="1939763"/>
            <a:chExt cx="458287" cy="838405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6852035" y="2257142"/>
            <a:ext cx="458287" cy="838405"/>
            <a:chOff x="10102194" y="1939763"/>
            <a:chExt cx="458287" cy="838405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字方塊 127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-2</a:t>
              </a:r>
              <a:endParaRPr lang="zh-TW" altLang="en-US" sz="2400" dirty="0"/>
            </a:p>
          </p:txBody>
        </p:sp>
      </p:grpSp>
      <p:grpSp>
        <p:nvGrpSpPr>
          <p:cNvPr id="129" name="群組 128"/>
          <p:cNvGrpSpPr/>
          <p:nvPr/>
        </p:nvGrpSpPr>
        <p:grpSpPr>
          <a:xfrm>
            <a:off x="6906115" y="3813978"/>
            <a:ext cx="458287" cy="838405"/>
            <a:chOff x="10102194" y="1939763"/>
            <a:chExt cx="458287" cy="838405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字方塊 148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2</a:t>
              </a:r>
              <a:endParaRPr lang="zh-TW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/>
              <p:cNvSpPr txBox="1"/>
              <p:nvPr/>
            </p:nvSpPr>
            <p:spPr>
              <a:xfrm>
                <a:off x="5821153" y="4944894"/>
                <a:ext cx="2561855" cy="727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51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3" name="文字方塊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153" y="4944894"/>
                <a:ext cx="2561855" cy="72725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975595" y="5969249"/>
            <a:ext cx="7376191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Different parameters define different function 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/>
              <p:cNvSpPr txBox="1"/>
              <p:nvPr/>
            </p:nvSpPr>
            <p:spPr>
              <a:xfrm>
                <a:off x="2727524" y="4962387"/>
                <a:ext cx="2829557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83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1" name="文字方塊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524" y="4962387"/>
                <a:ext cx="2829557" cy="718466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/>
              <p:cNvSpPr txBox="1"/>
              <p:nvPr/>
            </p:nvSpPr>
            <p:spPr>
              <a:xfrm>
                <a:off x="446183" y="4859312"/>
                <a:ext cx="17585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7" name="文字方塊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83" y="4859312"/>
                <a:ext cx="1758558" cy="43088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 134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矩形 135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2" name="文字方塊 151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655177" y="3577639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72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 animBg="1"/>
      <p:bldP spid="150" grpId="0" animBg="1"/>
      <p:bldP spid="151" grpId="0" animBg="1"/>
      <p:bldP spid="154" grpId="0" animBg="1"/>
      <p:bldP spid="155" grpId="0" animBg="1"/>
      <p:bldP spid="103" grpId="0"/>
      <p:bldP spid="4" grpId="0" animBg="1"/>
      <p:bldP spid="121" grpId="0"/>
      <p:bldP spid="137" grpId="0"/>
      <p:bldP spid="152" grpId="0"/>
      <p:bldP spid="15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218012" y="5073419"/>
                <a:ext cx="49186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12" y="5073419"/>
                <a:ext cx="4918654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Matrix Operation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0" name="Object 12"/>
          <p:cNvGraphicFramePr>
            <a:graphicFrameLocks noChangeAspect="1"/>
          </p:cNvGraphicFramePr>
          <p:nvPr>
            <p:extLst/>
          </p:nvPr>
        </p:nvGraphicFramePr>
        <p:xfrm>
          <a:off x="8307921" y="349448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88" name="方程式" r:id="rId5" imgW="177480" imgH="215640" progId="Equation.3">
                  <p:embed/>
                </p:oleObj>
              </mc:Choice>
              <mc:Fallback>
                <p:oleObj name="方程式" r:id="rId5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7921" y="349448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2"/>
          <p:cNvGraphicFramePr>
            <a:graphicFrameLocks noChangeAspect="1"/>
          </p:cNvGraphicFramePr>
          <p:nvPr>
            <p:extLst/>
          </p:nvPr>
        </p:nvGraphicFramePr>
        <p:xfrm>
          <a:off x="8320088" y="1838346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89" name="方程式" r:id="rId7" imgW="164880" imgH="215640" progId="Equation.3">
                  <p:embed/>
                </p:oleObj>
              </mc:Choice>
              <mc:Fallback>
                <p:oleObj name="方程式" r:id="rId7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088" y="1838346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-2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-1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2471151" y="2657649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2698053" y="227444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2487759" y="2651189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1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2480676" y="4206988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2707578" y="382378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2497284" y="420052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0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2410434" y="1640959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2296396" y="3244826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131369" y="3207558"/>
            <a:ext cx="81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635333" y="4932535"/>
                <a:ext cx="810478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33" y="4932535"/>
                <a:ext cx="810478" cy="71564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1871121" y="4931041"/>
                <a:ext cx="1636025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121" y="4931041"/>
                <a:ext cx="1636025" cy="71564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640994" y="5085249"/>
                <a:ext cx="3494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994" y="5085249"/>
                <a:ext cx="349455" cy="43088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5141874" y="4921977"/>
                <a:ext cx="542776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874" y="4921977"/>
                <a:ext cx="542776" cy="71846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6758905" y="4919562"/>
                <a:ext cx="1014059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905" y="4919562"/>
                <a:ext cx="1014059" cy="71846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90636" y="5017185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636" y="5017185"/>
                <a:ext cx="534121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文字方塊 80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64366" y="3567893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3478118" y="5992672"/>
                <a:ext cx="810478" cy="714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118" y="5992672"/>
                <a:ext cx="810478" cy="714106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右大括弧 8"/>
          <p:cNvSpPr/>
          <p:nvPr/>
        </p:nvSpPr>
        <p:spPr>
          <a:xfrm rot="5400000">
            <a:off x="3799148" y="3670894"/>
            <a:ext cx="151251" cy="4152171"/>
          </a:xfrm>
          <a:prstGeom prst="rightBrace">
            <a:avLst>
              <a:gd name="adj1" fmla="val 1153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79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/>
      <p:bldP spid="139" grpId="0"/>
      <p:bldP spid="3" grpId="0"/>
      <p:bldP spid="70" grpId="0"/>
      <p:bldP spid="71" grpId="0"/>
      <p:bldP spid="67" grpId="0"/>
      <p:bldP spid="68" grpId="0"/>
      <p:bldP spid="5" grpId="0"/>
      <p:bldP spid="81" grpId="0"/>
      <p:bldP spid="82" grpId="0"/>
      <p:bldP spid="97" grpId="0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7180166" y="155409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3029726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/>
        </p:nvSpPr>
        <p:spPr>
          <a:xfrm>
            <a:off x="4355312" y="159016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/>
        </p:nvSpPr>
        <p:spPr>
          <a:xfrm>
            <a:off x="5766871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1846623" y="163415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6153678" y="2654934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6262994" y="3900824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6129794" y="1876131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915011" y="235184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/>
        </p:nvSpPr>
        <p:spPr>
          <a:xfrm>
            <a:off x="1920829" y="17815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075025"/>
              </p:ext>
            </p:extLst>
          </p:nvPr>
        </p:nvGraphicFramePr>
        <p:xfrm>
          <a:off x="1933528" y="168626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51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28" y="168626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463302"/>
              </p:ext>
            </p:extLst>
          </p:nvPr>
        </p:nvGraphicFramePr>
        <p:xfrm>
          <a:off x="1938824" y="2268998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52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824" y="2268998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3126836" y="16175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3129178" y="239608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橢圓 101"/>
          <p:cNvSpPr/>
          <p:nvPr/>
        </p:nvSpPr>
        <p:spPr>
          <a:xfrm>
            <a:off x="3117545" y="362409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3114798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04" name="矩形 103"/>
          <p:cNvSpPr/>
          <p:nvPr/>
        </p:nvSpPr>
        <p:spPr>
          <a:xfrm>
            <a:off x="1924536" y="3749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349987"/>
              </p:ext>
            </p:extLst>
          </p:nvPr>
        </p:nvGraphicFramePr>
        <p:xfrm>
          <a:off x="1921420" y="365335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53" name="方程式" r:id="rId8" imgW="190440" imgH="228600" progId="Equation.3">
                  <p:embed/>
                </p:oleObj>
              </mc:Choice>
              <mc:Fallback>
                <p:oleObj name="方程式" r:id="rId8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420" y="365335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1800468" y="303454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07" name="橢圓 106"/>
          <p:cNvSpPr/>
          <p:nvPr/>
        </p:nvSpPr>
        <p:spPr>
          <a:xfrm>
            <a:off x="4442398" y="161751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橢圓 107"/>
          <p:cNvSpPr/>
          <p:nvPr/>
        </p:nvSpPr>
        <p:spPr>
          <a:xfrm>
            <a:off x="4444740" y="239608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橢圓 108"/>
          <p:cNvSpPr/>
          <p:nvPr/>
        </p:nvSpPr>
        <p:spPr>
          <a:xfrm>
            <a:off x="4433107" y="362409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4430360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1" name="橢圓 110"/>
          <p:cNvSpPr/>
          <p:nvPr/>
        </p:nvSpPr>
        <p:spPr>
          <a:xfrm>
            <a:off x="5842715" y="159840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/>
          <p:cNvSpPr/>
          <p:nvPr/>
        </p:nvSpPr>
        <p:spPr>
          <a:xfrm>
            <a:off x="5845057" y="235831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/>
          <p:cNvSpPr/>
          <p:nvPr/>
        </p:nvSpPr>
        <p:spPr>
          <a:xfrm>
            <a:off x="5852085" y="360499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5849338" y="302412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5014443" y="155893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5032066" y="234443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5044246" y="360072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3700994" y="190459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3700994" y="269634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3691703" y="391831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3703336" y="1904595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3700994" y="1904595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3700994" y="1904595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3703336" y="2683165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3691703" y="1904595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3691703" y="2683165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2267436" y="1904595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2263729" y="195296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2263729" y="195296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2291249" y="190459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2257911" y="2523298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2257911" y="2523298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2329408" y="1904595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2303039" y="268316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2303039" y="389777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7122356" y="305509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7191449" y="153627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7180166" y="233449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7180166" y="3600723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zh-TW" altLang="en-US" sz="2800" baseline="-25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2318544" y="2185783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79" name="矩形 78"/>
          <p:cNvSpPr/>
          <p:nvPr/>
        </p:nvSpPr>
        <p:spPr>
          <a:xfrm>
            <a:off x="3706747" y="2193987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0" name="矩形 79"/>
          <p:cNvSpPr/>
          <p:nvPr/>
        </p:nvSpPr>
        <p:spPr>
          <a:xfrm>
            <a:off x="5172752" y="2187088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L</a:t>
            </a:r>
            <a:endParaRPr lang="zh-TW" altLang="en-US" sz="2400" baseline="30000" dirty="0"/>
          </a:p>
        </p:txBody>
      </p:sp>
      <p:sp>
        <p:nvSpPr>
          <p:cNvPr id="82" name="矩形 81"/>
          <p:cNvSpPr/>
          <p:nvPr/>
        </p:nvSpPr>
        <p:spPr>
          <a:xfrm>
            <a:off x="4322227" y="2527382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3" name="矩形 82"/>
          <p:cNvSpPr/>
          <p:nvPr/>
        </p:nvSpPr>
        <p:spPr>
          <a:xfrm>
            <a:off x="5812126" y="2503875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b</a:t>
            </a:r>
            <a:r>
              <a:rPr lang="en-US" altLang="zh-TW" sz="2400" baseline="30000" dirty="0" err="1"/>
              <a:t>L</a:t>
            </a:r>
            <a:endParaRPr lang="zh-TW" altLang="en-US" sz="2400" baseline="30000" dirty="0"/>
          </a:p>
        </p:txBody>
      </p:sp>
      <p:sp>
        <p:nvSpPr>
          <p:cNvPr id="88" name="矩形 87"/>
          <p:cNvSpPr/>
          <p:nvPr/>
        </p:nvSpPr>
        <p:spPr>
          <a:xfrm>
            <a:off x="2230673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89" name="矩形 88"/>
          <p:cNvSpPr/>
          <p:nvPr/>
        </p:nvSpPr>
        <p:spPr>
          <a:xfrm>
            <a:off x="3540087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90" name="矩形 89"/>
          <p:cNvSpPr/>
          <p:nvPr/>
        </p:nvSpPr>
        <p:spPr>
          <a:xfrm>
            <a:off x="4875211" y="359476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92" name="矩形 91"/>
          <p:cNvSpPr/>
          <p:nvPr/>
        </p:nvSpPr>
        <p:spPr>
          <a:xfrm>
            <a:off x="6464825" y="35897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y</a:t>
            </a:r>
            <a:endParaRPr lang="zh-TW" altLang="en-US" sz="2400" baseline="30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162373" y="4820851"/>
            <a:ext cx="3002489" cy="877076"/>
            <a:chOff x="522337" y="4911258"/>
            <a:chExt cx="3002489" cy="877076"/>
          </a:xfrm>
        </p:grpSpPr>
        <p:sp>
          <p:nvSpPr>
            <p:cNvPr id="71" name="矩形 70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b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sp>
          <p:nvSpPr>
            <p:cNvPr id="143" name="矩形 142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sp>
          <p:nvSpPr>
            <p:cNvPr id="144" name="矩形 143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x</a:t>
              </a:r>
              <a:endParaRPr lang="zh-TW" altLang="en-US" sz="2400" dirty="0"/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/>
                <p:cNvSpPr txBox="1"/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45" name="文字方塊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9" name="群組 158"/>
          <p:cNvGrpSpPr/>
          <p:nvPr/>
        </p:nvGrpSpPr>
        <p:grpSpPr>
          <a:xfrm>
            <a:off x="3164862" y="5192193"/>
            <a:ext cx="3002489" cy="877076"/>
            <a:chOff x="522337" y="4911258"/>
            <a:chExt cx="3002489" cy="877076"/>
          </a:xfrm>
        </p:grpSpPr>
        <p:sp>
          <p:nvSpPr>
            <p:cNvPr id="160" name="矩形 159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b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  <p:sp>
          <p:nvSpPr>
            <p:cNvPr id="161" name="矩形 160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a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sp>
          <p:nvSpPr>
            <p:cNvPr id="163" name="文字方塊 162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字方塊 163"/>
                <p:cNvSpPr txBox="1"/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64" name="文字方塊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群組 164"/>
          <p:cNvGrpSpPr/>
          <p:nvPr/>
        </p:nvGrpSpPr>
        <p:grpSpPr>
          <a:xfrm>
            <a:off x="6003379" y="5784539"/>
            <a:ext cx="2867836" cy="877076"/>
            <a:chOff x="522337" y="4911258"/>
            <a:chExt cx="2867836" cy="877076"/>
          </a:xfrm>
        </p:grpSpPr>
        <p:sp>
          <p:nvSpPr>
            <p:cNvPr id="166" name="矩形 165"/>
            <p:cNvSpPr/>
            <p:nvPr/>
          </p:nvSpPr>
          <p:spPr>
            <a:xfrm>
              <a:off x="274351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err="1"/>
                <a:t>b</a:t>
              </a:r>
              <a:r>
                <a:rPr lang="en-US" altLang="zh-TW" sz="2400" baseline="30000" dirty="0" err="1"/>
                <a:t>L</a:t>
              </a:r>
              <a:endParaRPr lang="zh-TW" altLang="en-US" sz="2400" baseline="30000" dirty="0"/>
            </a:p>
          </p:txBody>
        </p:sp>
        <p:sp>
          <p:nvSpPr>
            <p:cNvPr id="167" name="矩形 166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L</a:t>
              </a:r>
              <a:endParaRPr lang="zh-TW" altLang="en-US" sz="2400" baseline="30000" dirty="0"/>
            </a:p>
          </p:txBody>
        </p:sp>
        <p:sp>
          <p:nvSpPr>
            <p:cNvPr id="168" name="矩形 167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字方塊 169"/>
                <p:cNvSpPr txBox="1"/>
                <p:nvPr/>
              </p:nvSpPr>
              <p:spPr>
                <a:xfrm>
                  <a:off x="522337" y="5165130"/>
                  <a:ext cx="28678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70" name="文字方塊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2867836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06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單箭頭接點 6"/>
          <p:cNvCxnSpPr>
            <a:stCxn id="145" idx="3"/>
            <a:endCxn id="89" idx="2"/>
          </p:cNvCxnSpPr>
          <p:nvPr/>
        </p:nvCxnSpPr>
        <p:spPr>
          <a:xfrm flipV="1">
            <a:off x="3164862" y="4458105"/>
            <a:ext cx="595905" cy="8012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306246" y="5985200"/>
            <a:ext cx="5854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L-1</a:t>
            </a:r>
            <a:endParaRPr lang="zh-TW" altLang="en-US" sz="2400" baseline="30000" dirty="0"/>
          </a:p>
        </p:txBody>
      </p:sp>
      <p:sp>
        <p:nvSpPr>
          <p:cNvPr id="173" name="矩形 172"/>
          <p:cNvSpPr/>
          <p:nvPr/>
        </p:nvSpPr>
        <p:spPr>
          <a:xfrm>
            <a:off x="2881004" y="2531687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24" name="手繪多邊形 23"/>
          <p:cNvSpPr/>
          <p:nvPr/>
        </p:nvSpPr>
        <p:spPr>
          <a:xfrm>
            <a:off x="5351489" y="4437089"/>
            <a:ext cx="882753" cy="1169232"/>
          </a:xfrm>
          <a:custGeom>
            <a:avLst/>
            <a:gdLst>
              <a:gd name="connsiteX0" fmla="*/ 749508 w 882753"/>
              <a:gd name="connsiteY0" fmla="*/ 1169232 h 1169232"/>
              <a:gd name="connsiteX1" fmla="*/ 824459 w 882753"/>
              <a:gd name="connsiteY1" fmla="*/ 779488 h 1169232"/>
              <a:gd name="connsiteX2" fmla="*/ 0 w 882753"/>
              <a:gd name="connsiteY2" fmla="*/ 0 h 116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753" h="1169232">
                <a:moveTo>
                  <a:pt x="749508" y="1169232"/>
                </a:moveTo>
                <a:cubicBezTo>
                  <a:pt x="849442" y="1071796"/>
                  <a:pt x="949377" y="974360"/>
                  <a:pt x="824459" y="779488"/>
                </a:cubicBezTo>
                <a:cubicBezTo>
                  <a:pt x="699541" y="584616"/>
                  <a:pt x="349770" y="292308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6925456" y="4407108"/>
            <a:ext cx="2027943" cy="1783830"/>
          </a:xfrm>
          <a:custGeom>
            <a:avLst/>
            <a:gdLst>
              <a:gd name="connsiteX0" fmla="*/ 1933731 w 2027943"/>
              <a:gd name="connsiteY0" fmla="*/ 1783830 h 1783830"/>
              <a:gd name="connsiteX1" fmla="*/ 1993692 w 2027943"/>
              <a:gd name="connsiteY1" fmla="*/ 1319135 h 1783830"/>
              <a:gd name="connsiteX2" fmla="*/ 1469036 w 2027943"/>
              <a:gd name="connsiteY2" fmla="*/ 449705 h 1783830"/>
              <a:gd name="connsiteX3" fmla="*/ 0 w 2027943"/>
              <a:gd name="connsiteY3" fmla="*/ 0 h 178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943" h="1783830">
                <a:moveTo>
                  <a:pt x="1933731" y="1783830"/>
                </a:moveTo>
                <a:cubicBezTo>
                  <a:pt x="2002436" y="1662659"/>
                  <a:pt x="2071141" y="1541489"/>
                  <a:pt x="1993692" y="1319135"/>
                </a:cubicBezTo>
                <a:cubicBezTo>
                  <a:pt x="1916243" y="1096781"/>
                  <a:pt x="1801318" y="669561"/>
                  <a:pt x="1469036" y="449705"/>
                </a:cubicBezTo>
                <a:cubicBezTo>
                  <a:pt x="1136754" y="229849"/>
                  <a:pt x="568377" y="11492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06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9" grpId="0" animBg="1"/>
      <p:bldP spid="80" grpId="0" animBg="1"/>
      <p:bldP spid="82" grpId="0" animBg="1"/>
      <p:bldP spid="83" grpId="0" animBg="1"/>
      <p:bldP spid="88" grpId="0" animBg="1"/>
      <p:bldP spid="89" grpId="0" animBg="1"/>
      <p:bldP spid="90" grpId="0" animBg="1"/>
      <p:bldP spid="92" grpId="0" animBg="1"/>
      <p:bldP spid="14" grpId="0"/>
      <p:bldP spid="17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/>
              <p:cNvSpPr txBox="1"/>
              <p:nvPr/>
            </p:nvSpPr>
            <p:spPr>
              <a:xfrm>
                <a:off x="321349" y="5960609"/>
                <a:ext cx="85013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3" name="文字方塊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49" y="5960609"/>
                <a:ext cx="850130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/>
              <p:cNvSpPr txBox="1"/>
              <p:nvPr/>
            </p:nvSpPr>
            <p:spPr>
              <a:xfrm>
                <a:off x="2399137" y="5965343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3" name="文字方塊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137" y="5965343"/>
                <a:ext cx="515692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7180166" y="155409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3029726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/>
        </p:nvSpPr>
        <p:spPr>
          <a:xfrm>
            <a:off x="4355312" y="159016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/>
        </p:nvSpPr>
        <p:spPr>
          <a:xfrm>
            <a:off x="5766871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1846623" y="163415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6153678" y="2654934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6262994" y="3900824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6129794" y="1876131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915011" y="235184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/>
        </p:nvSpPr>
        <p:spPr>
          <a:xfrm>
            <a:off x="1920829" y="17815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>
            <p:extLst/>
          </p:nvPr>
        </p:nvGraphicFramePr>
        <p:xfrm>
          <a:off x="1933528" y="168626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1" name="方程式" r:id="rId6" imgW="152280" imgH="215640" progId="Equation.3">
                  <p:embed/>
                </p:oleObj>
              </mc:Choice>
              <mc:Fallback>
                <p:oleObj name="方程式" r:id="rId6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28" y="168626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>
            <p:extLst/>
          </p:nvPr>
        </p:nvGraphicFramePr>
        <p:xfrm>
          <a:off x="1938824" y="2268998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2" name="方程式" r:id="rId8" imgW="164880" imgH="215640" progId="Equation.3">
                  <p:embed/>
                </p:oleObj>
              </mc:Choice>
              <mc:Fallback>
                <p:oleObj name="方程式" r:id="rId8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824" y="2268998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3126836" y="16175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3129178" y="239608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橢圓 101"/>
          <p:cNvSpPr/>
          <p:nvPr/>
        </p:nvSpPr>
        <p:spPr>
          <a:xfrm>
            <a:off x="3117545" y="362409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3114798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04" name="矩形 103"/>
          <p:cNvSpPr/>
          <p:nvPr/>
        </p:nvSpPr>
        <p:spPr>
          <a:xfrm>
            <a:off x="1924536" y="3749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>
            <p:extLst/>
          </p:nvPr>
        </p:nvGraphicFramePr>
        <p:xfrm>
          <a:off x="1921420" y="365335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3" name="方程式" r:id="rId10" imgW="190440" imgH="228600" progId="Equation.3">
                  <p:embed/>
                </p:oleObj>
              </mc:Choice>
              <mc:Fallback>
                <p:oleObj name="方程式" r:id="rId10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420" y="365335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1800468" y="303454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07" name="橢圓 106"/>
          <p:cNvSpPr/>
          <p:nvPr/>
        </p:nvSpPr>
        <p:spPr>
          <a:xfrm>
            <a:off x="4442398" y="161751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橢圓 107"/>
          <p:cNvSpPr/>
          <p:nvPr/>
        </p:nvSpPr>
        <p:spPr>
          <a:xfrm>
            <a:off x="4444740" y="239608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橢圓 108"/>
          <p:cNvSpPr/>
          <p:nvPr/>
        </p:nvSpPr>
        <p:spPr>
          <a:xfrm>
            <a:off x="4433107" y="362409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4430360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1" name="橢圓 110"/>
          <p:cNvSpPr/>
          <p:nvPr/>
        </p:nvSpPr>
        <p:spPr>
          <a:xfrm>
            <a:off x="5842715" y="159840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/>
          <p:cNvSpPr/>
          <p:nvPr/>
        </p:nvSpPr>
        <p:spPr>
          <a:xfrm>
            <a:off x="5845057" y="235831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/>
          <p:cNvSpPr/>
          <p:nvPr/>
        </p:nvSpPr>
        <p:spPr>
          <a:xfrm>
            <a:off x="5852085" y="360499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5849338" y="302412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5014443" y="155893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5032066" y="234443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5044246" y="360072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3700994" y="190459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3700994" y="269634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3691703" y="391831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3703336" y="1904595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3700994" y="1904595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3700994" y="1904595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3703336" y="2683165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3691703" y="1904595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3691703" y="2683165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2267436" y="1904595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2263729" y="195296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2263729" y="195296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2291249" y="190459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2257911" y="2523298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2257911" y="2523298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2329408" y="1904595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2303039" y="268316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2303039" y="389777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7122356" y="305509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7191449" y="153627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7180166" y="233449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7180166" y="3600723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zh-TW" altLang="en-US" sz="2800" baseline="-25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2318544" y="2185783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79" name="矩形 78"/>
          <p:cNvSpPr/>
          <p:nvPr/>
        </p:nvSpPr>
        <p:spPr>
          <a:xfrm>
            <a:off x="3706747" y="2193987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0" name="矩形 79"/>
          <p:cNvSpPr/>
          <p:nvPr/>
        </p:nvSpPr>
        <p:spPr>
          <a:xfrm>
            <a:off x="5172752" y="2187088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L</a:t>
            </a:r>
            <a:endParaRPr lang="zh-TW" altLang="en-US" sz="2400" baseline="30000" dirty="0"/>
          </a:p>
        </p:txBody>
      </p:sp>
      <p:sp>
        <p:nvSpPr>
          <p:cNvPr id="82" name="矩形 81"/>
          <p:cNvSpPr/>
          <p:nvPr/>
        </p:nvSpPr>
        <p:spPr>
          <a:xfrm>
            <a:off x="4322227" y="2527382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3" name="矩形 82"/>
          <p:cNvSpPr/>
          <p:nvPr/>
        </p:nvSpPr>
        <p:spPr>
          <a:xfrm>
            <a:off x="5812126" y="2503875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b</a:t>
            </a:r>
            <a:r>
              <a:rPr lang="en-US" altLang="zh-TW" sz="2400" baseline="30000" dirty="0" err="1"/>
              <a:t>L</a:t>
            </a:r>
            <a:endParaRPr lang="zh-TW" altLang="en-US" sz="2400" baseline="30000" dirty="0"/>
          </a:p>
        </p:txBody>
      </p:sp>
      <p:sp>
        <p:nvSpPr>
          <p:cNvPr id="88" name="矩形 87"/>
          <p:cNvSpPr/>
          <p:nvPr/>
        </p:nvSpPr>
        <p:spPr>
          <a:xfrm>
            <a:off x="2230673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89" name="矩形 88"/>
          <p:cNvSpPr/>
          <p:nvPr/>
        </p:nvSpPr>
        <p:spPr>
          <a:xfrm>
            <a:off x="3540087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90" name="矩形 89"/>
          <p:cNvSpPr/>
          <p:nvPr/>
        </p:nvSpPr>
        <p:spPr>
          <a:xfrm>
            <a:off x="4875211" y="359476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92" name="矩形 91"/>
          <p:cNvSpPr/>
          <p:nvPr/>
        </p:nvSpPr>
        <p:spPr>
          <a:xfrm>
            <a:off x="6464825" y="35897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y</a:t>
            </a:r>
            <a:endParaRPr lang="zh-TW" altLang="en-US" sz="2400" baseline="30000" dirty="0"/>
          </a:p>
        </p:txBody>
      </p:sp>
      <p:sp>
        <p:nvSpPr>
          <p:cNvPr id="85" name="矩形 84"/>
          <p:cNvSpPr/>
          <p:nvPr/>
        </p:nvSpPr>
        <p:spPr>
          <a:xfrm>
            <a:off x="521225" y="45930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y</a:t>
            </a:r>
            <a:endParaRPr lang="zh-TW" altLang="en-US" sz="2400" baseline="30000" dirty="0"/>
          </a:p>
        </p:txBody>
      </p:sp>
      <p:grpSp>
        <p:nvGrpSpPr>
          <p:cNvPr id="6" name="群組 5"/>
          <p:cNvGrpSpPr/>
          <p:nvPr/>
        </p:nvGrpSpPr>
        <p:grpSpPr>
          <a:xfrm>
            <a:off x="1022727" y="4582414"/>
            <a:ext cx="1423980" cy="877076"/>
            <a:chOff x="3047770" y="5664328"/>
            <a:chExt cx="1423980" cy="877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/>
                <p:cNvSpPr txBox="1"/>
                <p:nvPr/>
              </p:nvSpPr>
              <p:spPr>
                <a:xfrm>
                  <a:off x="3047770" y="5918200"/>
                  <a:ext cx="14239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5" name="文字方塊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7770" y="5918200"/>
                  <a:ext cx="1423980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717" b="-344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矩形 86"/>
            <p:cNvSpPr/>
            <p:nvPr/>
          </p:nvSpPr>
          <p:spPr>
            <a:xfrm>
              <a:off x="3778163" y="566432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x</a:t>
              </a:r>
              <a:endParaRPr lang="zh-TW" altLang="en-US" sz="2400" dirty="0"/>
            </a:p>
          </p:txBody>
        </p:sp>
      </p:grpSp>
      <p:sp>
        <p:nvSpPr>
          <p:cNvPr id="140" name="矩形 139"/>
          <p:cNvSpPr/>
          <p:nvPr/>
        </p:nvSpPr>
        <p:spPr>
          <a:xfrm>
            <a:off x="5934446" y="5686811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141" name="矩形 140"/>
          <p:cNvSpPr/>
          <p:nvPr/>
        </p:nvSpPr>
        <p:spPr>
          <a:xfrm>
            <a:off x="4112961" y="5708963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142" name="矩形 141"/>
          <p:cNvSpPr/>
          <p:nvPr/>
        </p:nvSpPr>
        <p:spPr>
          <a:xfrm>
            <a:off x="5013903" y="5685008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5514543" y="5880611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/>
              <p:cNvSpPr txBox="1"/>
              <p:nvPr/>
            </p:nvSpPr>
            <p:spPr>
              <a:xfrm>
                <a:off x="3652491" y="5938880"/>
                <a:ext cx="30024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7" name="文字方塊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491" y="5938880"/>
                <a:ext cx="3002489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 148"/>
          <p:cNvSpPr/>
          <p:nvPr/>
        </p:nvSpPr>
        <p:spPr>
          <a:xfrm>
            <a:off x="6876409" y="5703455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150" name="矩形 149"/>
          <p:cNvSpPr/>
          <p:nvPr/>
        </p:nvSpPr>
        <p:spPr>
          <a:xfrm>
            <a:off x="2825706" y="5725607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152" name="文字方塊 151"/>
          <p:cNvSpPr txBox="1"/>
          <p:nvPr/>
        </p:nvSpPr>
        <p:spPr>
          <a:xfrm>
            <a:off x="6521219" y="5892199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155" name="矩形 154"/>
          <p:cNvSpPr/>
          <p:nvPr/>
        </p:nvSpPr>
        <p:spPr>
          <a:xfrm>
            <a:off x="8091450" y="5685008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b</a:t>
            </a:r>
            <a:r>
              <a:rPr lang="en-US" altLang="zh-TW" sz="2400" baseline="30000" dirty="0" err="1"/>
              <a:t>L</a:t>
            </a:r>
            <a:endParaRPr lang="zh-TW" altLang="en-US" sz="2400" baseline="30000" dirty="0"/>
          </a:p>
        </p:txBody>
      </p:sp>
      <p:sp>
        <p:nvSpPr>
          <p:cNvPr id="156" name="矩形 155"/>
          <p:cNvSpPr/>
          <p:nvPr/>
        </p:nvSpPr>
        <p:spPr>
          <a:xfrm>
            <a:off x="1129407" y="5718373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L</a:t>
            </a:r>
            <a:endParaRPr lang="zh-TW" altLang="en-US" sz="2400" baseline="30000" dirty="0"/>
          </a:p>
        </p:txBody>
      </p:sp>
      <p:sp>
        <p:nvSpPr>
          <p:cNvPr id="157" name="矩形 156"/>
          <p:cNvSpPr/>
          <p:nvPr/>
        </p:nvSpPr>
        <p:spPr>
          <a:xfrm>
            <a:off x="11333819" y="6349207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158" name="文字方塊 157"/>
          <p:cNvSpPr txBox="1"/>
          <p:nvPr/>
        </p:nvSpPr>
        <p:spPr>
          <a:xfrm>
            <a:off x="7780895" y="5884466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860078" y="5819056"/>
            <a:ext cx="7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174" name="矩形 173"/>
          <p:cNvSpPr/>
          <p:nvPr/>
        </p:nvSpPr>
        <p:spPr>
          <a:xfrm>
            <a:off x="2881004" y="2531687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175" name="文字方塊 174"/>
          <p:cNvSpPr txBox="1"/>
          <p:nvPr/>
        </p:nvSpPr>
        <p:spPr>
          <a:xfrm>
            <a:off x="7372935" y="5774436"/>
            <a:ext cx="7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176" name="文字方塊 175"/>
          <p:cNvSpPr txBox="1"/>
          <p:nvPr/>
        </p:nvSpPr>
        <p:spPr>
          <a:xfrm>
            <a:off x="2777295" y="4572908"/>
            <a:ext cx="55395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Using parallel computing techniques to speed up matrix operation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473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53" grpId="0"/>
      <p:bldP spid="85" grpId="0" animBg="1"/>
      <p:bldP spid="140" grpId="0" animBg="1"/>
      <p:bldP spid="141" grpId="0" animBg="1"/>
      <p:bldP spid="142" grpId="0" animBg="1"/>
      <p:bldP spid="146" grpId="0"/>
      <p:bldP spid="147" grpId="0"/>
      <p:bldP spid="149" grpId="0" animBg="1"/>
      <p:bldP spid="150" grpId="0" animBg="1"/>
      <p:bldP spid="152" grpId="0"/>
      <p:bldP spid="155" grpId="0" animBg="1"/>
      <p:bldP spid="156" grpId="0" animBg="1"/>
      <p:bldP spid="158" grpId="0"/>
      <p:bldP spid="8" grpId="0"/>
      <p:bldP spid="175" grpId="0"/>
      <p:bldP spid="17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r>
              <a:rPr lang="en-US" altLang="zh-TW" dirty="0"/>
              <a:t> layer as the output layer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87848" y="2591477"/>
            <a:ext cx="285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i="1" u="sng" dirty="0"/>
              <a:t>Ordinary Layer</a:t>
            </a:r>
            <a:endParaRPr lang="zh-TW" altLang="en-US" sz="2400" b="1" i="1" u="sng" dirty="0"/>
          </a:p>
        </p:txBody>
      </p:sp>
      <p:cxnSp>
        <p:nvCxnSpPr>
          <p:cNvPr id="44" name="直線單箭頭接點 43"/>
          <p:cNvCxnSpPr/>
          <p:nvPr/>
        </p:nvCxnSpPr>
        <p:spPr>
          <a:xfrm flipV="1">
            <a:off x="1913277" y="4407407"/>
            <a:ext cx="1219201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1913277" y="5293333"/>
            <a:ext cx="12192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1913277" y="3519428"/>
            <a:ext cx="12192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Object 12"/>
          <p:cNvGraphicFramePr>
            <a:graphicFrameLocks noChangeAspect="1"/>
          </p:cNvGraphicFramePr>
          <p:nvPr>
            <p:extLst/>
          </p:nvPr>
        </p:nvGraphicFramePr>
        <p:xfrm>
          <a:off x="3232150" y="3219450"/>
          <a:ext cx="13827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9" name="方程式" r:id="rId4" imgW="647640" imgH="228600" progId="Equation.3">
                  <p:embed/>
                </p:oleObj>
              </mc:Choice>
              <mc:Fallback>
                <p:oleObj name="方程式" r:id="rId4" imgW="647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0" y="3219450"/>
                        <a:ext cx="13827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2"/>
          <p:cNvGraphicFramePr>
            <a:graphicFrameLocks noChangeAspect="1"/>
          </p:cNvGraphicFramePr>
          <p:nvPr>
            <p:extLst/>
          </p:nvPr>
        </p:nvGraphicFramePr>
        <p:xfrm>
          <a:off x="3216275" y="4156075"/>
          <a:ext cx="143668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10" name="方程式" r:id="rId6" imgW="672840" imgH="228600" progId="Equation.3">
                  <p:embed/>
                </p:oleObj>
              </mc:Choice>
              <mc:Fallback>
                <p:oleObj name="方程式" r:id="rId6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156075"/>
                        <a:ext cx="1436688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2"/>
          <p:cNvGraphicFramePr>
            <a:graphicFrameLocks noChangeAspect="1"/>
          </p:cNvGraphicFramePr>
          <p:nvPr>
            <p:extLst/>
          </p:nvPr>
        </p:nvGraphicFramePr>
        <p:xfrm>
          <a:off x="3230563" y="5022850"/>
          <a:ext cx="1409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11" name="方程式" r:id="rId8" imgW="660240" imgH="241200" progId="Equation.3">
                  <p:embed/>
                </p:oleObj>
              </mc:Choice>
              <mc:Fallback>
                <p:oleObj name="方程式" r:id="rId8" imgW="6602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5022850"/>
                        <a:ext cx="14097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線單箭頭接點 49"/>
          <p:cNvCxnSpPr/>
          <p:nvPr/>
        </p:nvCxnSpPr>
        <p:spPr>
          <a:xfrm>
            <a:off x="688760" y="4414080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688760" y="5300006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688760" y="3526101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 52"/>
          <p:cNvSpPr/>
          <p:nvPr/>
        </p:nvSpPr>
        <p:spPr>
          <a:xfrm>
            <a:off x="1322853" y="3228558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/>
          <p:cNvSpPr/>
          <p:nvPr/>
        </p:nvSpPr>
        <p:spPr>
          <a:xfrm>
            <a:off x="1322853" y="4116537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>
            <a:off x="1322853" y="5002463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>
            <p:extLst/>
          </p:nvPr>
        </p:nvGraphicFramePr>
        <p:xfrm>
          <a:off x="363538" y="3267075"/>
          <a:ext cx="3524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12" name="方程式" r:id="rId10" imgW="164880" imgH="228600" progId="Equation.3">
                  <p:embed/>
                </p:oleObj>
              </mc:Choice>
              <mc:Fallback>
                <p:oleObj name="方程式" r:id="rId10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3267075"/>
                        <a:ext cx="352425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2"/>
          <p:cNvGraphicFramePr>
            <a:graphicFrameLocks noChangeAspect="1"/>
          </p:cNvGraphicFramePr>
          <p:nvPr>
            <p:extLst/>
          </p:nvPr>
        </p:nvGraphicFramePr>
        <p:xfrm>
          <a:off x="328613" y="4154488"/>
          <a:ext cx="3524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13" name="方程式" r:id="rId12" imgW="164880" imgH="228600" progId="Equation.3">
                  <p:embed/>
                </p:oleObj>
              </mc:Choice>
              <mc:Fallback>
                <p:oleObj name="方程式" r:id="rId12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4154488"/>
                        <a:ext cx="352425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2"/>
          <p:cNvGraphicFramePr>
            <a:graphicFrameLocks noChangeAspect="1"/>
          </p:cNvGraphicFramePr>
          <p:nvPr>
            <p:extLst/>
          </p:nvPr>
        </p:nvGraphicFramePr>
        <p:xfrm>
          <a:off x="361950" y="5002213"/>
          <a:ext cx="352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14" name="方程式" r:id="rId14" imgW="164880" imgH="241200" progId="Equation.3">
                  <p:embed/>
                </p:oleObj>
              </mc:Choice>
              <mc:Fallback>
                <p:oleObj name="方程式" r:id="rId14" imgW="1648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5002213"/>
                        <a:ext cx="352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2"/>
          <p:cNvGraphicFramePr>
            <a:graphicFrameLocks noChangeAspect="1"/>
          </p:cNvGraphicFramePr>
          <p:nvPr>
            <p:extLst/>
          </p:nvPr>
        </p:nvGraphicFramePr>
        <p:xfrm>
          <a:off x="1468438" y="3395663"/>
          <a:ext cx="3238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15" name="方程式" r:id="rId16" imgW="152280" imgH="139680" progId="Equation.3">
                  <p:embed/>
                </p:oleObj>
              </mc:Choice>
              <mc:Fallback>
                <p:oleObj name="方程式" r:id="rId16" imgW="1522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3395663"/>
                        <a:ext cx="323850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2"/>
          <p:cNvGraphicFramePr>
            <a:graphicFrameLocks noChangeAspect="1"/>
          </p:cNvGraphicFramePr>
          <p:nvPr>
            <p:extLst/>
          </p:nvPr>
        </p:nvGraphicFramePr>
        <p:xfrm>
          <a:off x="1457325" y="4286250"/>
          <a:ext cx="32543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16" name="方程式" r:id="rId18" imgW="152280" imgH="139680" progId="Equation.3">
                  <p:embed/>
                </p:oleObj>
              </mc:Choice>
              <mc:Fallback>
                <p:oleObj name="方程式" r:id="rId18" imgW="1522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4286250"/>
                        <a:ext cx="325438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2"/>
          <p:cNvGraphicFramePr>
            <a:graphicFrameLocks noChangeAspect="1"/>
          </p:cNvGraphicFramePr>
          <p:nvPr>
            <p:extLst/>
          </p:nvPr>
        </p:nvGraphicFramePr>
        <p:xfrm>
          <a:off x="1489075" y="5159375"/>
          <a:ext cx="3270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17" name="方程式" r:id="rId20" imgW="152280" imgH="139680" progId="Equation.3">
                  <p:embed/>
                </p:oleObj>
              </mc:Choice>
              <mc:Fallback>
                <p:oleObj name="方程式" r:id="rId20" imgW="1522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5159375"/>
                        <a:ext cx="3270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5133419" y="3601399"/>
            <a:ext cx="3381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 general, the output of network can be any value.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133419" y="4711623"/>
            <a:ext cx="372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May not be easy to interpret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249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996848" y="3041686"/>
            <a:ext cx="5556352" cy="3524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688760" y="4414080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88760" y="5300006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688760" y="3526101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r>
              <a:rPr lang="en-US" altLang="zh-TW" dirty="0"/>
              <a:t> layer as the output layer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1322853" y="3228558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322853" y="4116537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1322853" y="5002463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Object 12"/>
          <p:cNvGraphicFramePr>
            <a:graphicFrameLocks noChangeAspect="1"/>
          </p:cNvGraphicFramePr>
          <p:nvPr>
            <p:extLst/>
          </p:nvPr>
        </p:nvGraphicFramePr>
        <p:xfrm>
          <a:off x="363538" y="3267075"/>
          <a:ext cx="3524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96" name="方程式" r:id="rId4" imgW="164880" imgH="228600" progId="Equation.3">
                  <p:embed/>
                </p:oleObj>
              </mc:Choice>
              <mc:Fallback>
                <p:oleObj name="方程式" r:id="rId4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3267075"/>
                        <a:ext cx="352425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>
            <p:extLst/>
          </p:nvPr>
        </p:nvGraphicFramePr>
        <p:xfrm>
          <a:off x="328613" y="4154488"/>
          <a:ext cx="3524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97" name="方程式" r:id="rId6" imgW="164880" imgH="228600" progId="Equation.3">
                  <p:embed/>
                </p:oleObj>
              </mc:Choice>
              <mc:Fallback>
                <p:oleObj name="方程式" r:id="rId6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4154488"/>
                        <a:ext cx="352425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/>
          </p:nvPr>
        </p:nvGraphicFramePr>
        <p:xfrm>
          <a:off x="361950" y="5002213"/>
          <a:ext cx="352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98" name="方程式" r:id="rId8" imgW="164880" imgH="241200" progId="Equation.3">
                  <p:embed/>
                </p:oleObj>
              </mc:Choice>
              <mc:Fallback>
                <p:oleObj name="方程式" r:id="rId8" imgW="1648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5002213"/>
                        <a:ext cx="352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084351" y="2455419"/>
            <a:ext cx="3614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i="1" u="sng" dirty="0" err="1"/>
              <a:t>Softmax</a:t>
            </a:r>
            <a:r>
              <a:rPr lang="en-US" altLang="zh-TW" sz="2400" b="1" i="1" u="sng" dirty="0"/>
              <a:t> Layer</a:t>
            </a:r>
            <a:endParaRPr lang="zh-TW" altLang="en-US" sz="2400" b="1" i="1" u="sng" dirty="0"/>
          </a:p>
        </p:txBody>
      </p:sp>
      <p:graphicFrame>
        <p:nvGraphicFramePr>
          <p:cNvPr id="41" name="Object 12"/>
          <p:cNvGraphicFramePr>
            <a:graphicFrameLocks noChangeAspect="1"/>
          </p:cNvGraphicFramePr>
          <p:nvPr>
            <p:extLst/>
          </p:nvPr>
        </p:nvGraphicFramePr>
        <p:xfrm>
          <a:off x="1507910" y="3395699"/>
          <a:ext cx="24288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99" name="方程式" r:id="rId10" imgW="114120" imgH="139680" progId="Equation.3">
                  <p:embed/>
                </p:oleObj>
              </mc:Choice>
              <mc:Fallback>
                <p:oleObj name="方程式" r:id="rId10" imgW="1141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910" y="3395699"/>
                        <a:ext cx="242888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2"/>
          <p:cNvGraphicFramePr>
            <a:graphicFrameLocks noChangeAspect="1"/>
          </p:cNvGraphicFramePr>
          <p:nvPr>
            <p:extLst/>
          </p:nvPr>
        </p:nvGraphicFramePr>
        <p:xfrm>
          <a:off x="1498385" y="4286286"/>
          <a:ext cx="2444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0" name="方程式" r:id="rId12" imgW="114120" imgH="139680" progId="Equation.3">
                  <p:embed/>
                </p:oleObj>
              </mc:Choice>
              <mc:Fallback>
                <p:oleObj name="方程式" r:id="rId12" imgW="1141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385" y="4286286"/>
                        <a:ext cx="24447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2"/>
          <p:cNvGraphicFramePr>
            <a:graphicFrameLocks noChangeAspect="1"/>
          </p:cNvGraphicFramePr>
          <p:nvPr>
            <p:extLst/>
          </p:nvPr>
        </p:nvGraphicFramePr>
        <p:xfrm>
          <a:off x="1530135" y="5159411"/>
          <a:ext cx="2444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1" name="方程式" r:id="rId14" imgW="114120" imgH="139680" progId="Equation.3">
                  <p:embed/>
                </p:oleObj>
              </mc:Choice>
              <mc:Fallback>
                <p:oleObj name="方程式" r:id="rId14" imgW="1141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135" y="5159411"/>
                        <a:ext cx="24447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線單箭頭接點 43"/>
          <p:cNvCxnSpPr/>
          <p:nvPr/>
        </p:nvCxnSpPr>
        <p:spPr>
          <a:xfrm flipV="1">
            <a:off x="1917939" y="4414082"/>
            <a:ext cx="1182913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1917939" y="5300006"/>
            <a:ext cx="173536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1917939" y="3526101"/>
            <a:ext cx="50437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Object 12"/>
          <p:cNvGraphicFramePr>
            <a:graphicFrameLocks noChangeAspect="1"/>
          </p:cNvGraphicFramePr>
          <p:nvPr>
            <p:extLst/>
          </p:nvPr>
        </p:nvGraphicFramePr>
        <p:xfrm>
          <a:off x="2487613" y="3186113"/>
          <a:ext cx="4333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2" name="方程式" r:id="rId16" imgW="203040" imgH="228600" progId="Equation.3">
                  <p:embed/>
                </p:oleObj>
              </mc:Choice>
              <mc:Fallback>
                <p:oleObj name="方程式" r:id="rId16" imgW="203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3186113"/>
                        <a:ext cx="433387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>
            <p:extLst/>
          </p:nvPr>
        </p:nvGraphicFramePr>
        <p:xfrm>
          <a:off x="3205163" y="4127500"/>
          <a:ext cx="4333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3" name="方程式" r:id="rId18" imgW="203040" imgH="228600" progId="Equation.3">
                  <p:embed/>
                </p:oleObj>
              </mc:Choice>
              <mc:Fallback>
                <p:oleObj name="方程式" r:id="rId18" imgW="203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4127500"/>
                        <a:ext cx="43338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>
            <p:extLst/>
          </p:nvPr>
        </p:nvGraphicFramePr>
        <p:xfrm>
          <a:off x="3748088" y="5011738"/>
          <a:ext cx="4333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4" name="方程式" r:id="rId20" imgW="203040" imgH="228600" progId="Equation.3">
                  <p:embed/>
                </p:oleObj>
              </mc:Choice>
              <mc:Fallback>
                <p:oleObj name="方程式" r:id="rId20" imgW="203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088" y="5011738"/>
                        <a:ext cx="433387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群組 26"/>
          <p:cNvGrpSpPr/>
          <p:nvPr/>
        </p:nvGrpSpPr>
        <p:grpSpPr>
          <a:xfrm>
            <a:off x="3055803" y="5833131"/>
            <a:ext cx="520319" cy="520319"/>
            <a:chOff x="3342651" y="3507082"/>
            <a:chExt cx="520319" cy="520319"/>
          </a:xfrm>
        </p:grpSpPr>
        <p:sp>
          <p:nvSpPr>
            <p:cNvPr id="28" name="矩形 27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29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05" name="方程式" r:id="rId22" imgW="139680" imgH="139680" progId="Equation.3">
                    <p:embed/>
                  </p:oleObj>
                </mc:Choice>
                <mc:Fallback>
                  <p:oleObj name="方程式" r:id="rId22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Object 12"/>
          <p:cNvGraphicFramePr>
            <a:graphicFrameLocks noChangeAspect="1"/>
          </p:cNvGraphicFramePr>
          <p:nvPr>
            <p:extLst/>
          </p:nvPr>
        </p:nvGraphicFramePr>
        <p:xfrm>
          <a:off x="6986588" y="3065463"/>
          <a:ext cx="20320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6" name="方程式" r:id="rId24" imgW="952200" imgH="444240" progId="Equation.3">
                  <p:embed/>
                </p:oleObj>
              </mc:Choice>
              <mc:Fallback>
                <p:oleObj name="方程式" r:id="rId24" imgW="952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6588" y="3065463"/>
                        <a:ext cx="2032000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2"/>
          <p:cNvGraphicFramePr>
            <a:graphicFrameLocks noChangeAspect="1"/>
          </p:cNvGraphicFramePr>
          <p:nvPr>
            <p:extLst/>
          </p:nvPr>
        </p:nvGraphicFramePr>
        <p:xfrm>
          <a:off x="3636963" y="5624513"/>
          <a:ext cx="86836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7" name="方程式" r:id="rId26" imgW="406080" imgH="444240" progId="Equation.3">
                  <p:embed/>
                </p:oleObj>
              </mc:Choice>
              <mc:Fallback>
                <p:oleObj name="方程式" r:id="rId26" imgW="4060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5624513"/>
                        <a:ext cx="868362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群組 39"/>
          <p:cNvGrpSpPr/>
          <p:nvPr/>
        </p:nvGrpSpPr>
        <p:grpSpPr>
          <a:xfrm>
            <a:off x="4604781" y="3290494"/>
            <a:ext cx="520319" cy="520319"/>
            <a:chOff x="3342651" y="3507082"/>
            <a:chExt cx="520319" cy="520319"/>
          </a:xfrm>
        </p:grpSpPr>
        <p:sp>
          <p:nvSpPr>
            <p:cNvPr id="50" name="矩形 49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3452214" y="3562455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08" name="方程式" r:id="rId28" imgW="126720" imgH="126720" progId="Equation.3">
                    <p:embed/>
                  </p:oleObj>
                </mc:Choice>
                <mc:Fallback>
                  <p:oleObj name="方程式" r:id="rId28" imgW="1267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214" y="3562455"/>
                          <a:ext cx="350837" cy="3524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群組 51"/>
          <p:cNvGrpSpPr/>
          <p:nvPr/>
        </p:nvGrpSpPr>
        <p:grpSpPr>
          <a:xfrm>
            <a:off x="5253394" y="4193274"/>
            <a:ext cx="520319" cy="520319"/>
            <a:chOff x="3342651" y="3507082"/>
            <a:chExt cx="520319" cy="520319"/>
          </a:xfrm>
        </p:grpSpPr>
        <p:sp>
          <p:nvSpPr>
            <p:cNvPr id="53" name="矩形 52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4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3452978" y="3563248"/>
            <a:ext cx="3492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09" name="方程式" r:id="rId30" imgW="126720" imgH="126720" progId="Equation.3">
                    <p:embed/>
                  </p:oleObj>
                </mc:Choice>
                <mc:Fallback>
                  <p:oleObj name="方程式" r:id="rId30" imgW="1267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978" y="3563248"/>
                          <a:ext cx="349250" cy="3524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群組 54"/>
          <p:cNvGrpSpPr/>
          <p:nvPr/>
        </p:nvGrpSpPr>
        <p:grpSpPr>
          <a:xfrm>
            <a:off x="5909505" y="5095715"/>
            <a:ext cx="520319" cy="520319"/>
            <a:chOff x="3342651" y="3507082"/>
            <a:chExt cx="520319" cy="520319"/>
          </a:xfrm>
        </p:grpSpPr>
        <p:sp>
          <p:nvSpPr>
            <p:cNvPr id="56" name="矩形 55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3452002" y="3562263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10" name="方程式" r:id="rId32" imgW="126720" imgH="126720" progId="Equation.3">
                    <p:embed/>
                  </p:oleObj>
                </mc:Choice>
                <mc:Fallback>
                  <p:oleObj name="方程式" r:id="rId32" imgW="1267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002" y="3562263"/>
                          <a:ext cx="350837" cy="3524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8" name="直線單箭頭接點 57"/>
          <p:cNvCxnSpPr/>
          <p:nvPr/>
        </p:nvCxnSpPr>
        <p:spPr>
          <a:xfrm>
            <a:off x="2103903" y="3545151"/>
            <a:ext cx="0" cy="2548140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2103903" y="6074241"/>
            <a:ext cx="91167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2422310" y="4435511"/>
            <a:ext cx="0" cy="1666105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2705558" y="5300006"/>
            <a:ext cx="0" cy="777875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2999138" y="3519094"/>
            <a:ext cx="160564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3653302" y="4435511"/>
            <a:ext cx="160009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5135520" y="3525874"/>
            <a:ext cx="175588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5815740" y="4435511"/>
            <a:ext cx="10756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6410690" y="5288177"/>
            <a:ext cx="48071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4889762" y="3825244"/>
            <a:ext cx="0" cy="2239489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5513553" y="4687345"/>
            <a:ext cx="0" cy="1414271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6156090" y="5575575"/>
            <a:ext cx="0" cy="526041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4464197" y="6074241"/>
            <a:ext cx="1710943" cy="0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endCxn id="56" idx="1"/>
          </p:cNvCxnSpPr>
          <p:nvPr/>
        </p:nvCxnSpPr>
        <p:spPr>
          <a:xfrm>
            <a:off x="4158584" y="5336674"/>
            <a:ext cx="1750921" cy="192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683976" y="3083152"/>
            <a:ext cx="493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3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683703" y="4873349"/>
            <a:ext cx="4611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-3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667417" y="3999478"/>
            <a:ext cx="528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1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3561227" y="4030727"/>
            <a:ext cx="665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+mj-lt"/>
              </a:rPr>
              <a:t>2.7</a:t>
            </a:r>
            <a:endParaRPr lang="zh-TW" alt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964737" y="309137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+mj-lt"/>
              </a:rPr>
              <a:t>20</a:t>
            </a:r>
            <a:endParaRPr lang="zh-TW" alt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104192" y="4844655"/>
            <a:ext cx="1036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+mj-lt"/>
              </a:rPr>
              <a:t>0.05</a:t>
            </a:r>
            <a:endParaRPr lang="zh-TW" alt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6550146" y="3036238"/>
            <a:ext cx="723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0.88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573941" y="3922105"/>
            <a:ext cx="723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0.12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638581" y="475904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≈</a:t>
            </a:r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6805802" y="1431015"/>
                <a:ext cx="2221716" cy="12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i="1" u="sng" dirty="0"/>
                  <a:t>Probability</a:t>
                </a:r>
                <a:r>
                  <a:rPr lang="en-US" altLang="zh-TW" sz="2400" dirty="0"/>
                  <a:t>:</a:t>
                </a:r>
              </a:p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TW" sz="2400" dirty="0"/>
              </a:p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802" y="1431015"/>
                <a:ext cx="2221716" cy="1200650"/>
              </a:xfrm>
              <a:prstGeom prst="rect">
                <a:avLst/>
              </a:prstGeom>
              <a:blipFill rotWithShape="0">
                <a:blip r:embed="rId34"/>
                <a:stretch>
                  <a:fillRect l="-5753" t="-4061" b="-746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Object 12"/>
          <p:cNvGraphicFramePr>
            <a:graphicFrameLocks noChangeAspect="1"/>
          </p:cNvGraphicFramePr>
          <p:nvPr>
            <p:extLst/>
          </p:nvPr>
        </p:nvGraphicFramePr>
        <p:xfrm>
          <a:off x="6953250" y="3997325"/>
          <a:ext cx="20859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11" name="方程式" r:id="rId35" imgW="977760" imgH="444240" progId="Equation.3">
                  <p:embed/>
                </p:oleObj>
              </mc:Choice>
              <mc:Fallback>
                <p:oleObj name="方程式" r:id="rId35" imgW="977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997325"/>
                        <a:ext cx="2085975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12"/>
          <p:cNvGraphicFramePr>
            <a:graphicFrameLocks noChangeAspect="1"/>
          </p:cNvGraphicFramePr>
          <p:nvPr>
            <p:extLst/>
          </p:nvPr>
        </p:nvGraphicFramePr>
        <p:xfrm>
          <a:off x="6943725" y="4926013"/>
          <a:ext cx="20605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12" name="方程式" r:id="rId37" imgW="965160" imgH="444240" progId="Equation.3">
                  <p:embed/>
                </p:oleObj>
              </mc:Choice>
              <mc:Fallback>
                <p:oleObj name="方程式" r:id="rId37" imgW="9651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3725" y="4926013"/>
                        <a:ext cx="2060575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401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set network parameters</a:t>
            </a:r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18" y="2227843"/>
            <a:ext cx="2130022" cy="211645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407377" y="433132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16 x 16 = 256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3702826" y="1897122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2519723" y="1924763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/>
          <p:cNvSpPr/>
          <p:nvPr/>
        </p:nvSpPr>
        <p:spPr>
          <a:xfrm>
            <a:off x="2588111" y="264245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2593929" y="2072127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9" name="Object 12"/>
          <p:cNvGraphicFramePr>
            <a:graphicFrameLocks noChangeAspect="1"/>
          </p:cNvGraphicFramePr>
          <p:nvPr>
            <p:extLst/>
          </p:nvPr>
        </p:nvGraphicFramePr>
        <p:xfrm>
          <a:off x="2606628" y="1976877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6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28" y="1976877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2"/>
          <p:cNvGraphicFramePr>
            <a:graphicFrameLocks noChangeAspect="1"/>
          </p:cNvGraphicFramePr>
          <p:nvPr>
            <p:extLst/>
          </p:nvPr>
        </p:nvGraphicFramePr>
        <p:xfrm>
          <a:off x="2611924" y="2559606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7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924" y="2559606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橢圓 52"/>
          <p:cNvSpPr/>
          <p:nvPr/>
        </p:nvSpPr>
        <p:spPr>
          <a:xfrm>
            <a:off x="3799936" y="1908124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/>
          <p:cNvSpPr/>
          <p:nvPr/>
        </p:nvSpPr>
        <p:spPr>
          <a:xfrm>
            <a:off x="3802278" y="2686694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>
            <a:off x="3790645" y="391470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 rot="5400000">
            <a:off x="3787898" y="333699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9" name="矩形 58"/>
          <p:cNvSpPr/>
          <p:nvPr/>
        </p:nvSpPr>
        <p:spPr>
          <a:xfrm>
            <a:off x="2597636" y="404021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2" name="Object 12"/>
          <p:cNvGraphicFramePr>
            <a:graphicFrameLocks noChangeAspect="1"/>
          </p:cNvGraphicFramePr>
          <p:nvPr>
            <p:extLst/>
          </p:nvPr>
        </p:nvGraphicFramePr>
        <p:xfrm>
          <a:off x="2525713" y="3943446"/>
          <a:ext cx="544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78" name="方程式" r:id="rId8" imgW="253800" imgH="228600" progId="Equation.3">
                  <p:embed/>
                </p:oleObj>
              </mc:Choice>
              <mc:Fallback>
                <p:oleObj name="方程式" r:id="rId8" imgW="253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3" y="3943446"/>
                        <a:ext cx="5445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字方塊 62"/>
          <p:cNvSpPr txBox="1"/>
          <p:nvPr/>
        </p:nvSpPr>
        <p:spPr>
          <a:xfrm rot="5400000">
            <a:off x="2473568" y="332515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5027143" y="184954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5044766" y="263503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5056946" y="389133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75" name="直線單箭頭接點 74"/>
          <p:cNvCxnSpPr>
            <a:stCxn id="53" idx="6"/>
          </p:cNvCxnSpPr>
          <p:nvPr/>
        </p:nvCxnSpPr>
        <p:spPr>
          <a:xfrm>
            <a:off x="4374094" y="2195203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4374094" y="298695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364803" y="4208924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54" idx="6"/>
          </p:cNvCxnSpPr>
          <p:nvPr/>
        </p:nvCxnSpPr>
        <p:spPr>
          <a:xfrm flipV="1">
            <a:off x="4376436" y="2195203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53" idx="6"/>
          </p:cNvCxnSpPr>
          <p:nvPr/>
        </p:nvCxnSpPr>
        <p:spPr>
          <a:xfrm>
            <a:off x="4374094" y="2195203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53" idx="6"/>
          </p:cNvCxnSpPr>
          <p:nvPr/>
        </p:nvCxnSpPr>
        <p:spPr>
          <a:xfrm>
            <a:off x="4374094" y="2195203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54" idx="6"/>
          </p:cNvCxnSpPr>
          <p:nvPr/>
        </p:nvCxnSpPr>
        <p:spPr>
          <a:xfrm>
            <a:off x="4376436" y="2973773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55" idx="6"/>
          </p:cNvCxnSpPr>
          <p:nvPr/>
        </p:nvCxnSpPr>
        <p:spPr>
          <a:xfrm flipV="1">
            <a:off x="4364803" y="2195203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55" idx="6"/>
          </p:cNvCxnSpPr>
          <p:nvPr/>
        </p:nvCxnSpPr>
        <p:spPr>
          <a:xfrm flipV="1">
            <a:off x="4364803" y="2973773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53" idx="2"/>
          </p:cNvCxnSpPr>
          <p:nvPr/>
        </p:nvCxnSpPr>
        <p:spPr>
          <a:xfrm flipV="1">
            <a:off x="2940536" y="2195203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47" idx="3"/>
            <a:endCxn id="54" idx="2"/>
          </p:cNvCxnSpPr>
          <p:nvPr/>
        </p:nvCxnSpPr>
        <p:spPr>
          <a:xfrm>
            <a:off x="2936829" y="2243577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47" idx="3"/>
            <a:endCxn id="55" idx="2"/>
          </p:cNvCxnSpPr>
          <p:nvPr/>
        </p:nvCxnSpPr>
        <p:spPr>
          <a:xfrm>
            <a:off x="2936829" y="2243577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stCxn id="52" idx="3"/>
            <a:endCxn id="53" idx="2"/>
          </p:cNvCxnSpPr>
          <p:nvPr/>
        </p:nvCxnSpPr>
        <p:spPr>
          <a:xfrm flipV="1">
            <a:off x="2964349" y="2195203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stCxn id="46" idx="3"/>
            <a:endCxn id="54" idx="2"/>
          </p:cNvCxnSpPr>
          <p:nvPr/>
        </p:nvCxnSpPr>
        <p:spPr>
          <a:xfrm>
            <a:off x="2931011" y="2813906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stCxn id="46" idx="3"/>
            <a:endCxn id="55" idx="2"/>
          </p:cNvCxnSpPr>
          <p:nvPr/>
        </p:nvCxnSpPr>
        <p:spPr>
          <a:xfrm>
            <a:off x="2931011" y="2813906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62" idx="3"/>
            <a:endCxn id="53" idx="2"/>
          </p:cNvCxnSpPr>
          <p:nvPr/>
        </p:nvCxnSpPr>
        <p:spPr>
          <a:xfrm flipV="1">
            <a:off x="3002508" y="2195203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stCxn id="62" idx="3"/>
            <a:endCxn id="54" idx="2"/>
          </p:cNvCxnSpPr>
          <p:nvPr/>
        </p:nvCxnSpPr>
        <p:spPr>
          <a:xfrm flipV="1">
            <a:off x="2976139" y="2973773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62" idx="3"/>
            <a:endCxn id="55" idx="2"/>
          </p:cNvCxnSpPr>
          <p:nvPr/>
        </p:nvCxnSpPr>
        <p:spPr>
          <a:xfrm>
            <a:off x="2976139" y="4188379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手繪多邊形 11"/>
          <p:cNvSpPr/>
          <p:nvPr/>
        </p:nvSpPr>
        <p:spPr>
          <a:xfrm>
            <a:off x="285750" y="1986158"/>
            <a:ext cx="2305050" cy="363941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>
            <a:off x="419100" y="2159099"/>
            <a:ext cx="2171700" cy="646109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>
            <a:off x="2152650" y="4202208"/>
            <a:ext cx="463550" cy="243308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442303" y="4683917"/>
            <a:ext cx="1661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Ink → 1</a:t>
            </a:r>
          </a:p>
          <a:p>
            <a:r>
              <a:rPr lang="en-US" altLang="zh-TW" sz="2400" dirty="0"/>
              <a:t>No ink → 0</a:t>
            </a:r>
            <a:endParaRPr lang="zh-TW" altLang="en-US" sz="2400" dirty="0"/>
          </a:p>
        </p:txBody>
      </p:sp>
      <p:sp>
        <p:nvSpPr>
          <p:cNvPr id="121" name="矩形 120"/>
          <p:cNvSpPr/>
          <p:nvPr/>
        </p:nvSpPr>
        <p:spPr>
          <a:xfrm>
            <a:off x="6860098" y="1909383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3" name="直線單箭頭接點 122"/>
          <p:cNvCxnSpPr/>
          <p:nvPr/>
        </p:nvCxnSpPr>
        <p:spPr>
          <a:xfrm>
            <a:off x="6166378" y="2945542"/>
            <a:ext cx="6344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>
            <a:off x="6275694" y="4191432"/>
            <a:ext cx="5251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>
            <a:off x="6142494" y="2166739"/>
            <a:ext cx="6583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字方塊 129"/>
          <p:cNvSpPr txBox="1"/>
          <p:nvPr/>
        </p:nvSpPr>
        <p:spPr>
          <a:xfrm rot="5400000">
            <a:off x="6802288" y="341037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31" name="文字方塊 130"/>
          <p:cNvSpPr txBox="1"/>
          <p:nvPr/>
        </p:nvSpPr>
        <p:spPr>
          <a:xfrm>
            <a:off x="6871381" y="1891558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132" name="文字方塊 131"/>
          <p:cNvSpPr txBox="1"/>
          <p:nvPr/>
        </p:nvSpPr>
        <p:spPr>
          <a:xfrm>
            <a:off x="6892479" y="269986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133" name="文字方塊 132"/>
          <p:cNvSpPr txBox="1"/>
          <p:nvPr/>
        </p:nvSpPr>
        <p:spPr>
          <a:xfrm>
            <a:off x="6860098" y="3956010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10</a:t>
            </a:r>
            <a:endParaRPr lang="zh-TW" altLang="en-US" sz="2800" baseline="-25000" dirty="0"/>
          </a:p>
        </p:txBody>
      </p:sp>
      <p:sp>
        <p:nvSpPr>
          <p:cNvPr id="137" name="矩形 136"/>
          <p:cNvSpPr/>
          <p:nvPr/>
        </p:nvSpPr>
        <p:spPr>
          <a:xfrm>
            <a:off x="6819698" y="1999228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0.1</a:t>
            </a:r>
            <a:endParaRPr lang="zh-TW" altLang="en-US" sz="2400" dirty="0"/>
          </a:p>
        </p:txBody>
      </p:sp>
      <p:sp>
        <p:nvSpPr>
          <p:cNvPr id="138" name="矩形 137"/>
          <p:cNvSpPr/>
          <p:nvPr/>
        </p:nvSpPr>
        <p:spPr>
          <a:xfrm>
            <a:off x="6819698" y="2723633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0.7</a:t>
            </a:r>
            <a:endParaRPr lang="zh-TW" altLang="en-US" sz="2400" dirty="0"/>
          </a:p>
        </p:txBody>
      </p:sp>
      <p:sp>
        <p:nvSpPr>
          <p:cNvPr id="139" name="矩形 138"/>
          <p:cNvSpPr/>
          <p:nvPr/>
        </p:nvSpPr>
        <p:spPr>
          <a:xfrm>
            <a:off x="6800851" y="3992895"/>
            <a:ext cx="656740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0.2</a:t>
            </a:r>
            <a:endParaRPr lang="zh-TW" altLang="en-US" sz="2400" dirty="0"/>
          </a:p>
        </p:txBody>
      </p:sp>
      <p:sp>
        <p:nvSpPr>
          <p:cNvPr id="140" name="文字方塊 139"/>
          <p:cNvSpPr txBox="1"/>
          <p:nvPr/>
        </p:nvSpPr>
        <p:spPr>
          <a:xfrm>
            <a:off x="5106207" y="5263647"/>
            <a:ext cx="3466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y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has the maximum value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/>
              <p:cNvSpPr txBox="1"/>
              <p:nvPr/>
            </p:nvSpPr>
            <p:spPr>
              <a:xfrm>
                <a:off x="2251228" y="4640618"/>
                <a:ext cx="56487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/>
                  <a:t>Set the network parameters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400" dirty="0"/>
                  <a:t> such that ……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41" name="文字方塊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228" y="4640618"/>
                <a:ext cx="5648726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618" t="-10526" r="-86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2" name="圖片 1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1677" y="5215631"/>
            <a:ext cx="574872" cy="58114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3" name="文字方塊 142"/>
          <p:cNvSpPr txBox="1"/>
          <p:nvPr/>
        </p:nvSpPr>
        <p:spPr>
          <a:xfrm>
            <a:off x="2867621" y="5240015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Input:</a:t>
            </a:r>
            <a:endParaRPr lang="zh-TW" altLang="en-US" sz="2400" dirty="0"/>
          </a:p>
        </p:txBody>
      </p:sp>
      <p:sp>
        <p:nvSpPr>
          <p:cNvPr id="144" name="向右箭號 143"/>
          <p:cNvSpPr/>
          <p:nvPr/>
        </p:nvSpPr>
        <p:spPr>
          <a:xfrm>
            <a:off x="4570509" y="5360426"/>
            <a:ext cx="491685" cy="34125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5" name="文字方塊 144"/>
          <p:cNvSpPr txBox="1"/>
          <p:nvPr/>
        </p:nvSpPr>
        <p:spPr>
          <a:xfrm>
            <a:off x="5106207" y="5996123"/>
            <a:ext cx="3466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y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has the maximum value</a:t>
            </a:r>
            <a:endParaRPr lang="zh-TW" altLang="en-US" sz="2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2867621" y="5972491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Input:</a:t>
            </a:r>
            <a:endParaRPr lang="zh-TW" altLang="en-US" sz="2400" dirty="0"/>
          </a:p>
        </p:txBody>
      </p:sp>
      <p:sp>
        <p:nvSpPr>
          <p:cNvPr id="147" name="向右箭號 146"/>
          <p:cNvSpPr/>
          <p:nvPr/>
        </p:nvSpPr>
        <p:spPr>
          <a:xfrm>
            <a:off x="4570509" y="6092902"/>
            <a:ext cx="491685" cy="34125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8" name="圖片 14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8206" y="5948719"/>
            <a:ext cx="605932" cy="6015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9" name="文字方塊 148"/>
          <p:cNvSpPr txBox="1"/>
          <p:nvPr/>
        </p:nvSpPr>
        <p:spPr>
          <a:xfrm>
            <a:off x="7653717" y="1919554"/>
            <a:ext cx="86163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1</a:t>
            </a:r>
            <a:endParaRPr lang="zh-TW" altLang="en-US" sz="24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7668337" y="2739277"/>
            <a:ext cx="84701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2</a:t>
            </a:r>
            <a:endParaRPr lang="zh-TW" altLang="en-US" sz="2400" dirty="0"/>
          </a:p>
        </p:txBody>
      </p:sp>
      <p:sp>
        <p:nvSpPr>
          <p:cNvPr id="151" name="文字方塊 150"/>
          <p:cNvSpPr txBox="1"/>
          <p:nvPr/>
        </p:nvSpPr>
        <p:spPr>
          <a:xfrm>
            <a:off x="7680584" y="3966147"/>
            <a:ext cx="834766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0</a:t>
            </a:r>
            <a:endParaRPr lang="zh-TW" altLang="en-US" sz="2400" dirty="0"/>
          </a:p>
        </p:txBody>
      </p:sp>
      <p:sp>
        <p:nvSpPr>
          <p:cNvPr id="152" name="矩形 151"/>
          <p:cNvSpPr/>
          <p:nvPr/>
        </p:nvSpPr>
        <p:spPr>
          <a:xfrm>
            <a:off x="3561371" y="5104192"/>
            <a:ext cx="3962706" cy="10707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How to let the neural network achieve this</a:t>
            </a:r>
            <a:endParaRPr lang="zh-TW" altLang="en-US" sz="2800" dirty="0"/>
          </a:p>
        </p:txBody>
      </p:sp>
      <p:sp>
        <p:nvSpPr>
          <p:cNvPr id="153" name="矩形 152"/>
          <p:cNvSpPr/>
          <p:nvPr/>
        </p:nvSpPr>
        <p:spPr>
          <a:xfrm>
            <a:off x="2251228" y="4635910"/>
            <a:ext cx="6424752" cy="204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4" name="矩形 153"/>
          <p:cNvSpPr/>
          <p:nvPr/>
        </p:nvSpPr>
        <p:spPr>
          <a:xfrm rot="5400000">
            <a:off x="4731530" y="2959620"/>
            <a:ext cx="2582833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/>
              <a:t>Softmax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081028" y="1425674"/>
                <a:ext cx="47651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28" y="1425674"/>
                <a:ext cx="4765151" cy="43088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72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41" grpId="0"/>
      <p:bldP spid="143" grpId="0"/>
      <p:bldP spid="144" grpId="0" animBg="1"/>
      <p:bldP spid="145" grpId="0"/>
      <p:bldP spid="146" grpId="0"/>
      <p:bldP spid="147" grpId="0" animBg="1"/>
      <p:bldP spid="152" grpId="0" animBg="1"/>
      <p:bldP spid="153" grpId="0" animBg="1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Data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Preparing training data: images and their labels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47089" y="5414706"/>
            <a:ext cx="5049822" cy="9054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Using the training data to find the network parameters.</a:t>
            </a:r>
            <a:endParaRPr lang="zh-TW" altLang="en-US" sz="2800" dirty="0"/>
          </a:p>
        </p:txBody>
      </p:sp>
      <p:pic>
        <p:nvPicPr>
          <p:cNvPr id="5" name="圖片 4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94" y="281520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圖片 5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40987" y="281520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圖片 6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80" y="281520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圖片 7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390772" y="281520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圖片 8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515051" y="416906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圖片 9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140987" y="416906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圖片 10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766923" y="416906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圖片 1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392858" y="416906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文字方塊 12"/>
          <p:cNvSpPr txBox="1"/>
          <p:nvPr/>
        </p:nvSpPr>
        <p:spPr>
          <a:xfrm>
            <a:off x="2232965" y="2974693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“5”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858901" y="2963143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“0”</a:t>
            </a:r>
            <a:endParaRPr lang="zh-TW" altLang="en-US" sz="28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509359" y="2963143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“4”</a:t>
            </a:r>
            <a:endParaRPr lang="zh-TW" altLang="en-US" sz="28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7126536" y="2960615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“1”</a:t>
            </a:r>
            <a:endParaRPr lang="zh-TW" altLang="en-US" sz="28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7128622" y="4324036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“3”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5511445" y="4350478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“1”</a:t>
            </a:r>
            <a:endParaRPr lang="zh-TW" altLang="en-US" sz="28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860987" y="4329092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“2”</a:t>
            </a:r>
            <a:endParaRPr lang="zh-TW" altLang="en-US" sz="28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235051" y="4350478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“9”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7307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Cost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5960212" y="2617861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2802940" y="2605600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1619837" y="2633241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單箭頭接點 42"/>
          <p:cNvCxnSpPr/>
          <p:nvPr/>
        </p:nvCxnSpPr>
        <p:spPr>
          <a:xfrm>
            <a:off x="5266492" y="3654020"/>
            <a:ext cx="6344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5375808" y="4899910"/>
            <a:ext cx="5251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5242608" y="2875217"/>
            <a:ext cx="6583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1688225" y="335093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1694043" y="2780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115568"/>
              </p:ext>
            </p:extLst>
          </p:nvPr>
        </p:nvGraphicFramePr>
        <p:xfrm>
          <a:off x="1706742" y="2685355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77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742" y="2685355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049212"/>
              </p:ext>
            </p:extLst>
          </p:nvPr>
        </p:nvGraphicFramePr>
        <p:xfrm>
          <a:off x="1712038" y="326808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78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038" y="326808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橢圓 52"/>
          <p:cNvSpPr/>
          <p:nvPr/>
        </p:nvSpPr>
        <p:spPr>
          <a:xfrm>
            <a:off x="2900050" y="2616602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/>
          <p:cNvSpPr/>
          <p:nvPr/>
        </p:nvSpPr>
        <p:spPr>
          <a:xfrm>
            <a:off x="2902392" y="3395172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>
            <a:off x="2890759" y="4623184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 rot="5400000">
            <a:off x="2888012" y="404547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9" name="矩形 58"/>
          <p:cNvSpPr/>
          <p:nvPr/>
        </p:nvSpPr>
        <p:spPr>
          <a:xfrm>
            <a:off x="1697750" y="4748691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560008"/>
              </p:ext>
            </p:extLst>
          </p:nvPr>
        </p:nvGraphicFramePr>
        <p:xfrm>
          <a:off x="1625827" y="4651924"/>
          <a:ext cx="544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79" name="方程式" r:id="rId8" imgW="253800" imgH="228600" progId="Equation.3">
                  <p:embed/>
                </p:oleObj>
              </mc:Choice>
              <mc:Fallback>
                <p:oleObj name="方程式" r:id="rId8" imgW="253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827" y="4651924"/>
                        <a:ext cx="5445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字方塊 62"/>
          <p:cNvSpPr txBox="1"/>
          <p:nvPr/>
        </p:nvSpPr>
        <p:spPr>
          <a:xfrm rot="5400000">
            <a:off x="1573682" y="403363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4127257" y="255801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4144880" y="334351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4157060" y="459980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75" name="直線單箭頭接點 74"/>
          <p:cNvCxnSpPr>
            <a:stCxn id="53" idx="6"/>
          </p:cNvCxnSpPr>
          <p:nvPr/>
        </p:nvCxnSpPr>
        <p:spPr>
          <a:xfrm>
            <a:off x="3474208" y="2903681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3474208" y="3695433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3464917" y="4917402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54" idx="6"/>
          </p:cNvCxnSpPr>
          <p:nvPr/>
        </p:nvCxnSpPr>
        <p:spPr>
          <a:xfrm flipV="1">
            <a:off x="3476550" y="2903681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53" idx="6"/>
          </p:cNvCxnSpPr>
          <p:nvPr/>
        </p:nvCxnSpPr>
        <p:spPr>
          <a:xfrm>
            <a:off x="3474208" y="2903681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53" idx="6"/>
          </p:cNvCxnSpPr>
          <p:nvPr/>
        </p:nvCxnSpPr>
        <p:spPr>
          <a:xfrm>
            <a:off x="3474208" y="2903681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54" idx="6"/>
          </p:cNvCxnSpPr>
          <p:nvPr/>
        </p:nvCxnSpPr>
        <p:spPr>
          <a:xfrm>
            <a:off x="3476550" y="3682251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55" idx="6"/>
          </p:cNvCxnSpPr>
          <p:nvPr/>
        </p:nvCxnSpPr>
        <p:spPr>
          <a:xfrm flipV="1">
            <a:off x="3464917" y="2903681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55" idx="6"/>
          </p:cNvCxnSpPr>
          <p:nvPr/>
        </p:nvCxnSpPr>
        <p:spPr>
          <a:xfrm flipV="1">
            <a:off x="3464917" y="3682251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53" idx="2"/>
          </p:cNvCxnSpPr>
          <p:nvPr/>
        </p:nvCxnSpPr>
        <p:spPr>
          <a:xfrm flipV="1">
            <a:off x="2040650" y="2903681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47" idx="3"/>
            <a:endCxn id="54" idx="2"/>
          </p:cNvCxnSpPr>
          <p:nvPr/>
        </p:nvCxnSpPr>
        <p:spPr>
          <a:xfrm>
            <a:off x="2036943" y="2952055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47" idx="3"/>
            <a:endCxn id="55" idx="2"/>
          </p:cNvCxnSpPr>
          <p:nvPr/>
        </p:nvCxnSpPr>
        <p:spPr>
          <a:xfrm>
            <a:off x="2036943" y="2952055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stCxn id="52" idx="3"/>
            <a:endCxn id="53" idx="2"/>
          </p:cNvCxnSpPr>
          <p:nvPr/>
        </p:nvCxnSpPr>
        <p:spPr>
          <a:xfrm flipV="1">
            <a:off x="2064463" y="2903681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stCxn id="46" idx="3"/>
            <a:endCxn id="54" idx="2"/>
          </p:cNvCxnSpPr>
          <p:nvPr/>
        </p:nvCxnSpPr>
        <p:spPr>
          <a:xfrm>
            <a:off x="2031125" y="3522384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stCxn id="46" idx="3"/>
            <a:endCxn id="55" idx="2"/>
          </p:cNvCxnSpPr>
          <p:nvPr/>
        </p:nvCxnSpPr>
        <p:spPr>
          <a:xfrm>
            <a:off x="2031125" y="3522384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62" idx="3"/>
            <a:endCxn id="53" idx="2"/>
          </p:cNvCxnSpPr>
          <p:nvPr/>
        </p:nvCxnSpPr>
        <p:spPr>
          <a:xfrm flipV="1">
            <a:off x="2102622" y="2903681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stCxn id="62" idx="3"/>
            <a:endCxn id="54" idx="2"/>
          </p:cNvCxnSpPr>
          <p:nvPr/>
        </p:nvCxnSpPr>
        <p:spPr>
          <a:xfrm flipV="1">
            <a:off x="2076253" y="3682251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62" idx="3"/>
            <a:endCxn id="55" idx="2"/>
          </p:cNvCxnSpPr>
          <p:nvPr/>
        </p:nvCxnSpPr>
        <p:spPr>
          <a:xfrm>
            <a:off x="2076253" y="4896857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/>
          <p:cNvSpPr txBox="1"/>
          <p:nvPr/>
        </p:nvSpPr>
        <p:spPr>
          <a:xfrm rot="5400000">
            <a:off x="5902402" y="411885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5971495" y="2600036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95" name="文字方塊 94"/>
          <p:cNvSpPr txBox="1"/>
          <p:nvPr/>
        </p:nvSpPr>
        <p:spPr>
          <a:xfrm>
            <a:off x="5992593" y="3408345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96" name="文字方塊 95"/>
          <p:cNvSpPr txBox="1"/>
          <p:nvPr/>
        </p:nvSpPr>
        <p:spPr>
          <a:xfrm>
            <a:off x="5960212" y="4664488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10</a:t>
            </a:r>
            <a:endParaRPr lang="zh-TW" altLang="en-US" sz="28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222534" y="368027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6841544" y="3934728"/>
            <a:ext cx="1014273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Cost </a:t>
            </a:r>
          </a:p>
        </p:txBody>
      </p:sp>
      <p:sp>
        <p:nvSpPr>
          <p:cNvPr id="97" name="矩形 96"/>
          <p:cNvSpPr/>
          <p:nvPr/>
        </p:nvSpPr>
        <p:spPr>
          <a:xfrm>
            <a:off x="5964640" y="2675422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0.2</a:t>
            </a:r>
            <a:endParaRPr lang="zh-TW" altLang="en-US" sz="2400" dirty="0"/>
          </a:p>
        </p:txBody>
      </p:sp>
      <p:sp>
        <p:nvSpPr>
          <p:cNvPr id="100" name="矩形 99"/>
          <p:cNvSpPr/>
          <p:nvPr/>
        </p:nvSpPr>
        <p:spPr>
          <a:xfrm>
            <a:off x="5964641" y="3461006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0.3</a:t>
            </a:r>
            <a:endParaRPr lang="zh-TW" altLang="en-US" sz="2400" dirty="0"/>
          </a:p>
        </p:txBody>
      </p:sp>
      <p:sp>
        <p:nvSpPr>
          <p:cNvPr id="101" name="矩形 100"/>
          <p:cNvSpPr/>
          <p:nvPr/>
        </p:nvSpPr>
        <p:spPr>
          <a:xfrm>
            <a:off x="5960212" y="4701373"/>
            <a:ext cx="69031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0.5</a:t>
            </a:r>
            <a:endParaRPr lang="zh-TW" altLang="en-US" sz="2400" dirty="0"/>
          </a:p>
        </p:txBody>
      </p:sp>
      <p:pic>
        <p:nvPicPr>
          <p:cNvPr id="102" name="圖片 101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875875" y="165833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3" name="文字方塊 102"/>
          <p:cNvSpPr txBox="1"/>
          <p:nvPr/>
        </p:nvSpPr>
        <p:spPr>
          <a:xfrm>
            <a:off x="4678601" y="1747396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“1”</a:t>
            </a:r>
            <a:endParaRPr lang="zh-TW" altLang="en-US" sz="2800" dirty="0"/>
          </a:p>
        </p:txBody>
      </p:sp>
      <p:pic>
        <p:nvPicPr>
          <p:cNvPr id="108" name="圖片 107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02038" y="3609330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11" name="群組 10"/>
          <p:cNvGrpSpPr/>
          <p:nvPr/>
        </p:nvGrpSpPr>
        <p:grpSpPr>
          <a:xfrm>
            <a:off x="7996358" y="2633241"/>
            <a:ext cx="654489" cy="2625052"/>
            <a:chOff x="7996358" y="2461791"/>
            <a:chExt cx="654489" cy="2625052"/>
          </a:xfrm>
        </p:grpSpPr>
        <p:sp>
          <p:nvSpPr>
            <p:cNvPr id="110" name="矩形 109"/>
            <p:cNvSpPr/>
            <p:nvPr/>
          </p:nvSpPr>
          <p:spPr>
            <a:xfrm>
              <a:off x="8062418" y="2461791"/>
              <a:ext cx="498951" cy="2625052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文字方塊 110"/>
            <p:cNvSpPr txBox="1"/>
            <p:nvPr/>
          </p:nvSpPr>
          <p:spPr>
            <a:xfrm rot="5400000">
              <a:off x="8004608" y="394803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112" name="文字方塊 111"/>
            <p:cNvSpPr txBox="1"/>
            <p:nvPr/>
          </p:nvSpPr>
          <p:spPr>
            <a:xfrm>
              <a:off x="7996358" y="250893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1</a:t>
              </a:r>
              <a:endParaRPr lang="zh-TW" altLang="en-US" sz="2800" baseline="-25000" dirty="0"/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8005216" y="3269035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0</a:t>
              </a:r>
              <a:endParaRPr lang="zh-TW" altLang="en-US" sz="2800" baseline="-25000" dirty="0"/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7996358" y="448933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0</a:t>
              </a:r>
              <a:endParaRPr lang="zh-TW" altLang="en-US" sz="2800" baseline="-25000" dirty="0"/>
            </a:p>
          </p:txBody>
        </p:sp>
      </p:grpSp>
      <p:sp>
        <p:nvSpPr>
          <p:cNvPr id="115" name="左-右雙向箭號 114"/>
          <p:cNvSpPr/>
          <p:nvPr/>
        </p:nvSpPr>
        <p:spPr>
          <a:xfrm>
            <a:off x="6737204" y="3516864"/>
            <a:ext cx="1187596" cy="33487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/>
          <p:nvPr/>
        </p:nvCxnSpPr>
        <p:spPr>
          <a:xfrm flipH="1">
            <a:off x="972457" y="1985736"/>
            <a:ext cx="27286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 flipH="1">
            <a:off x="5333454" y="2009006"/>
            <a:ext cx="29872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962038" y="2018335"/>
            <a:ext cx="0" cy="1480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>
            <a:off x="8320750" y="2018335"/>
            <a:ext cx="0" cy="5817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4801564" y="2616028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橢圓 98"/>
          <p:cNvSpPr/>
          <p:nvPr/>
        </p:nvSpPr>
        <p:spPr>
          <a:xfrm>
            <a:off x="4877408" y="260792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橢圓 103"/>
          <p:cNvSpPr/>
          <p:nvPr/>
        </p:nvSpPr>
        <p:spPr>
          <a:xfrm>
            <a:off x="4879750" y="336783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橢圓 104"/>
          <p:cNvSpPr/>
          <p:nvPr/>
        </p:nvSpPr>
        <p:spPr>
          <a:xfrm>
            <a:off x="4886778" y="461450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文字方塊 105"/>
          <p:cNvSpPr txBox="1"/>
          <p:nvPr/>
        </p:nvSpPr>
        <p:spPr>
          <a:xfrm rot="5400000">
            <a:off x="4884031" y="403363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614215" y="5626040"/>
            <a:ext cx="67540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Cost can be Euclidean distance or cross entropy of the network output and target 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/>
              <p:cNvSpPr txBox="1"/>
              <p:nvPr/>
            </p:nvSpPr>
            <p:spPr>
              <a:xfrm>
                <a:off x="2589854" y="521897"/>
                <a:ext cx="609706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/>
                  <a:t>Given a set of network parameters </a:t>
                </a:r>
                <a14:m>
                  <m:oMath xmlns:m="http://schemas.openxmlformats.org/officeDocument/2006/math">
                    <m:r>
                      <a:rPr lang="zh-TW" altLang="en-US" sz="2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800" dirty="0"/>
                  <a:t>, each example has a cost value.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119" name="文字方塊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854" y="521897"/>
                <a:ext cx="6097064" cy="954107"/>
              </a:xfrm>
              <a:prstGeom prst="rect">
                <a:avLst/>
              </a:prstGeom>
              <a:blipFill rotWithShape="0">
                <a:blip r:embed="rId11"/>
                <a:stretch>
                  <a:fillRect l="-2100" t="-6410" b="-179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7817449" y="5341282"/>
            <a:ext cx="93063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400" dirty="0"/>
              <a:t>target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6937189" y="4559415"/>
                <a:ext cx="790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189" y="4559415"/>
                <a:ext cx="790537" cy="43088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7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97" grpId="0" animBg="1"/>
      <p:bldP spid="100" grpId="0" animBg="1"/>
      <p:bldP spid="101" grpId="0" animBg="1"/>
      <p:bldP spid="103" grpId="0"/>
      <p:bldP spid="115" grpId="0" animBg="1"/>
      <p:bldP spid="117" grpId="0"/>
      <p:bldP spid="119" grpId="0"/>
      <p:bldP spid="3" grpId="0" animBg="1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Total Cost</a:t>
            </a:r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1727768" y="2298174"/>
            <a:ext cx="421911" cy="671513"/>
            <a:chOff x="510563" y="3417283"/>
            <a:chExt cx="421911" cy="671513"/>
          </a:xfrm>
        </p:grpSpPr>
        <p:sp>
          <p:nvSpPr>
            <p:cNvPr id="19" name="矩形 18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510563" y="3522206"/>
              <a:ext cx="42191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1727768" y="3245279"/>
            <a:ext cx="421910" cy="671513"/>
            <a:chOff x="510564" y="3417283"/>
            <a:chExt cx="421910" cy="671513"/>
          </a:xfrm>
        </p:grpSpPr>
        <p:sp>
          <p:nvSpPr>
            <p:cNvPr id="22" name="矩形 21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510564" y="3522206"/>
              <a:ext cx="4219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1723759" y="5606623"/>
            <a:ext cx="429926" cy="671513"/>
            <a:chOff x="506555" y="3417283"/>
            <a:chExt cx="429926" cy="671513"/>
          </a:xfrm>
        </p:grpSpPr>
        <p:sp>
          <p:nvSpPr>
            <p:cNvPr id="25" name="矩形 2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06555" y="3522206"/>
              <a:ext cx="4299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 err="1"/>
                <a:t>x</a:t>
              </a:r>
              <a:r>
                <a:rPr lang="en-US" altLang="zh-TW" sz="2400" baseline="30000" dirty="0" err="1"/>
                <a:t>R</a:t>
              </a:r>
              <a:endParaRPr lang="zh-TW" altLang="en-US" sz="2400" baseline="30000" dirty="0"/>
            </a:p>
          </p:txBody>
        </p:sp>
      </p:grpSp>
      <p:sp>
        <p:nvSpPr>
          <p:cNvPr id="27" name="矩形 26"/>
          <p:cNvSpPr/>
          <p:nvPr/>
        </p:nvSpPr>
        <p:spPr>
          <a:xfrm>
            <a:off x="2527693" y="2300745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2527693" y="3239455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2527693" y="5594978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1585319" y="4930674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2658584" y="4919031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32" name="直線單箭頭接點 31"/>
          <p:cNvCxnSpPr/>
          <p:nvPr/>
        </p:nvCxnSpPr>
        <p:spPr>
          <a:xfrm flipV="1">
            <a:off x="2096310" y="2633929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2093349" y="3581034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V="1">
            <a:off x="2093348" y="5936557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3496559" y="2628722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3493598" y="3575827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3493597" y="5931350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3895074" y="2298174"/>
            <a:ext cx="428323" cy="671513"/>
            <a:chOff x="507357" y="3417283"/>
            <a:chExt cx="428323" cy="671513"/>
          </a:xfrm>
        </p:grpSpPr>
        <p:sp>
          <p:nvSpPr>
            <p:cNvPr id="39" name="矩形 38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507357" y="3522206"/>
              <a:ext cx="428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3895074" y="3245279"/>
            <a:ext cx="428323" cy="671513"/>
            <a:chOff x="507358" y="3417283"/>
            <a:chExt cx="428323" cy="671513"/>
          </a:xfrm>
        </p:grpSpPr>
        <p:sp>
          <p:nvSpPr>
            <p:cNvPr id="42" name="矩形 41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507358" y="3522206"/>
              <a:ext cx="428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3891065" y="5606623"/>
            <a:ext cx="436338" cy="671513"/>
            <a:chOff x="503349" y="3417283"/>
            <a:chExt cx="436338" cy="671513"/>
          </a:xfrm>
        </p:grpSpPr>
        <p:sp>
          <p:nvSpPr>
            <p:cNvPr id="45" name="矩形 4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503349" y="3522206"/>
              <a:ext cx="43633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 err="1"/>
                <a:t>y</a:t>
              </a:r>
              <a:r>
                <a:rPr lang="en-US" altLang="zh-TW" sz="2400" baseline="30000" dirty="0" err="1"/>
                <a:t>R</a:t>
              </a:r>
              <a:endParaRPr lang="zh-TW" altLang="en-US" sz="2400" baseline="30000" dirty="0"/>
            </a:p>
          </p:txBody>
        </p:sp>
      </p:grpSp>
      <p:sp>
        <p:nvSpPr>
          <p:cNvPr id="47" name="矩形 46"/>
          <p:cNvSpPr/>
          <p:nvPr/>
        </p:nvSpPr>
        <p:spPr>
          <a:xfrm>
            <a:off x="4913118" y="2298174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p:sp>
        <p:nvSpPr>
          <p:cNvPr id="48" name="矩形 47"/>
          <p:cNvSpPr/>
          <p:nvPr/>
        </p:nvSpPr>
        <p:spPr>
          <a:xfrm>
            <a:off x="4913117" y="3245279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p:sp>
        <p:nvSpPr>
          <p:cNvPr id="49" name="矩形 48"/>
          <p:cNvSpPr/>
          <p:nvPr/>
        </p:nvSpPr>
        <p:spPr>
          <a:xfrm>
            <a:off x="4913117" y="5606623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4902677" y="2471777"/>
                <a:ext cx="3914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677" y="2471777"/>
                <a:ext cx="39145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8750" t="-16393" r="-5000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4913117" y="3407287"/>
                <a:ext cx="398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17" y="3407287"/>
                <a:ext cx="398058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8462" t="-18033" r="-47692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4888687" y="5803879"/>
                <a:ext cx="4224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687" y="5803879"/>
                <a:ext cx="4224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7391" t="-16393" r="-44928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左-右雙向箭號 52"/>
          <p:cNvSpPr/>
          <p:nvPr/>
        </p:nvSpPr>
        <p:spPr>
          <a:xfrm>
            <a:off x="4254704" y="2590148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左-右雙向箭號 53"/>
          <p:cNvSpPr/>
          <p:nvPr/>
        </p:nvSpPr>
        <p:spPr>
          <a:xfrm>
            <a:off x="4249342" y="3510848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左-右雙向箭號 54"/>
          <p:cNvSpPr/>
          <p:nvPr/>
        </p:nvSpPr>
        <p:spPr>
          <a:xfrm>
            <a:off x="4249276" y="5851855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4161190" y="2830046"/>
                <a:ext cx="7882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190" y="2830046"/>
                <a:ext cx="78829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9302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58"/>
          <p:cNvSpPr txBox="1"/>
          <p:nvPr/>
        </p:nvSpPr>
        <p:spPr>
          <a:xfrm rot="5400000">
            <a:off x="3746853" y="4967195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60" name="文字方塊 59"/>
          <p:cNvSpPr txBox="1"/>
          <p:nvPr/>
        </p:nvSpPr>
        <p:spPr>
          <a:xfrm rot="5400000">
            <a:off x="4749949" y="4954287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grpSp>
        <p:nvGrpSpPr>
          <p:cNvPr id="64" name="群組 63"/>
          <p:cNvGrpSpPr/>
          <p:nvPr/>
        </p:nvGrpSpPr>
        <p:grpSpPr>
          <a:xfrm>
            <a:off x="1724616" y="4152253"/>
            <a:ext cx="421910" cy="671513"/>
            <a:chOff x="510564" y="3417283"/>
            <a:chExt cx="421910" cy="671513"/>
          </a:xfrm>
        </p:grpSpPr>
        <p:sp>
          <p:nvSpPr>
            <p:cNvPr id="65" name="矩形 6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66" name="矩形 65"/>
            <p:cNvSpPr/>
            <p:nvPr/>
          </p:nvSpPr>
          <p:spPr>
            <a:xfrm>
              <a:off x="510564" y="3522206"/>
              <a:ext cx="4219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3</a:t>
              </a:r>
              <a:endParaRPr lang="zh-TW" altLang="en-US" sz="2400" baseline="30000" dirty="0"/>
            </a:p>
          </p:txBody>
        </p:sp>
      </p:grpSp>
      <p:sp>
        <p:nvSpPr>
          <p:cNvPr id="67" name="矩形 66"/>
          <p:cNvSpPr/>
          <p:nvPr/>
        </p:nvSpPr>
        <p:spPr>
          <a:xfrm>
            <a:off x="2524541" y="4146429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2090197" y="4488008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V="1">
            <a:off x="3490446" y="4482801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3891923" y="4152253"/>
            <a:ext cx="428322" cy="671513"/>
            <a:chOff x="507359" y="3417283"/>
            <a:chExt cx="428322" cy="671513"/>
          </a:xfrm>
        </p:grpSpPr>
        <p:sp>
          <p:nvSpPr>
            <p:cNvPr id="71" name="矩形 70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72" name="矩形 71"/>
            <p:cNvSpPr/>
            <p:nvPr/>
          </p:nvSpPr>
          <p:spPr>
            <a:xfrm>
              <a:off x="507359" y="3522206"/>
              <a:ext cx="4283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3</a:t>
              </a:r>
              <a:endParaRPr lang="zh-TW" altLang="en-US" sz="2400" baseline="30000" dirty="0"/>
            </a:p>
          </p:txBody>
        </p:sp>
      </p:grpSp>
      <p:sp>
        <p:nvSpPr>
          <p:cNvPr id="73" name="矩形 72"/>
          <p:cNvSpPr/>
          <p:nvPr/>
        </p:nvSpPr>
        <p:spPr>
          <a:xfrm>
            <a:off x="4909965" y="4152253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4909965" y="4314261"/>
                <a:ext cx="398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965" y="4314261"/>
                <a:ext cx="398058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8182" t="-18333" r="-4697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左-右雙向箭號 74"/>
          <p:cNvSpPr/>
          <p:nvPr/>
        </p:nvSpPr>
        <p:spPr>
          <a:xfrm>
            <a:off x="4246190" y="4417822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08787" y="1640875"/>
            <a:ext cx="3580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For all training data …</a:t>
            </a:r>
            <a:endParaRPr lang="zh-TW" altLang="en-US" sz="2800" dirty="0"/>
          </a:p>
        </p:txBody>
      </p:sp>
      <p:pic>
        <p:nvPicPr>
          <p:cNvPr id="90" name="圖片 89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915322" y="2314599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2" name="圖片 9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94572" y="3258994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3" name="圖片 92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94572" y="4139587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4" name="圖片 93"/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894572" y="5594978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6115440" y="2164095"/>
                <a:ext cx="2683940" cy="1209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8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440" y="2164095"/>
                <a:ext cx="2683940" cy="120924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5658933" y="4938976"/>
                <a:ext cx="3122536" cy="1408334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sz="2800" dirty="0"/>
                  <a:t>Find the network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800" dirty="0"/>
                  <a:t> that minimize this value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933" y="4938976"/>
                <a:ext cx="3122536" cy="1408334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/>
          <p:cNvSpPr txBox="1"/>
          <p:nvPr/>
        </p:nvSpPr>
        <p:spPr>
          <a:xfrm>
            <a:off x="5546325" y="1650744"/>
            <a:ext cx="1805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Total Cost: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/>
              <p:cNvSpPr txBox="1"/>
              <p:nvPr/>
            </p:nvSpPr>
            <p:spPr>
              <a:xfrm>
                <a:off x="5579001" y="3498631"/>
                <a:ext cx="34259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/>
                  <a:t>How bad the network parameters </a:t>
                </a:r>
                <a14:m>
                  <m:oMath xmlns:m="http://schemas.openxmlformats.org/officeDocument/2006/math">
                    <m:r>
                      <a:rPr lang="zh-TW" altLang="en-US" sz="2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800" dirty="0"/>
                  <a:t> is on this task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80" name="文字方塊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001" y="3498631"/>
                <a:ext cx="3425940" cy="1384995"/>
              </a:xfrm>
              <a:prstGeom prst="rect">
                <a:avLst/>
              </a:prstGeom>
              <a:blipFill rotWithShape="0">
                <a:blip r:embed="rId14"/>
                <a:stretch>
                  <a:fillRect l="-3559" t="-4405" r="-3025" b="-11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4163084" y="3717652"/>
                <a:ext cx="7948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084" y="3717652"/>
                <a:ext cx="794898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9231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/>
              <p:cNvSpPr txBox="1"/>
              <p:nvPr/>
            </p:nvSpPr>
            <p:spPr>
              <a:xfrm>
                <a:off x="4150147" y="4724821"/>
                <a:ext cx="7948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2" name="文字方塊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47" y="4724821"/>
                <a:ext cx="794898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9231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4150869" y="6228426"/>
                <a:ext cx="8193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869" y="6228426"/>
                <a:ext cx="819327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8955" t="-1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35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5" grpId="0" animBg="1"/>
      <p:bldP spid="77" grpId="0"/>
      <p:bldP spid="8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Descent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-20166" y="1345273"/>
            <a:ext cx="7092867" cy="5365372"/>
            <a:chOff x="706835" y="2011916"/>
            <a:chExt cx="6113826" cy="462477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835" y="2011916"/>
              <a:ext cx="6113826" cy="458536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3675390" y="6267363"/>
                  <a:ext cx="421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390" y="6267363"/>
                  <a:ext cx="421847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843326" y="4119935"/>
                  <a:ext cx="42896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42896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0000" r="-5714"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橢圓 8"/>
          <p:cNvSpPr/>
          <p:nvPr/>
        </p:nvSpPr>
        <p:spPr>
          <a:xfrm>
            <a:off x="1431899" y="5270073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/>
          <p:cNvCxnSpPr/>
          <p:nvPr/>
        </p:nvCxnSpPr>
        <p:spPr>
          <a:xfrm flipV="1">
            <a:off x="1553145" y="4580623"/>
            <a:ext cx="224999" cy="7268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5281272" y="150971"/>
            <a:ext cx="3582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Assume there are only two parameters w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and w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in a network.</a:t>
            </a:r>
            <a:endParaRPr lang="zh-TW" altLang="en-US" sz="24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329120" y="2064816"/>
            <a:ext cx="467868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The colors represent the value of C.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6562231" y="1948459"/>
                <a:ext cx="2463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Randomly pick a starting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31" y="1948459"/>
                <a:ext cx="2463590" cy="830997"/>
              </a:xfrm>
              <a:prstGeom prst="rect">
                <a:avLst/>
              </a:prstGeom>
              <a:blipFill rotWithShape="0">
                <a:blip r:embed="rId7"/>
                <a:stretch>
                  <a:fillRect l="-3704" t="-5882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6547173" y="2880131"/>
                <a:ext cx="246359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Compute the negative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173" y="2880131"/>
                <a:ext cx="2463590" cy="1200329"/>
              </a:xfrm>
              <a:prstGeom prst="rect">
                <a:avLst/>
              </a:prstGeom>
              <a:blipFill rotWithShape="0">
                <a:blip r:embed="rId8"/>
                <a:stretch>
                  <a:fillRect l="-3713" t="-4061" r="-1485" b="-10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7336989" y="4142216"/>
                <a:ext cx="14779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989" y="4142216"/>
                <a:ext cx="1477905" cy="4308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1692405" y="5269497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405" y="5269497"/>
                <a:ext cx="458899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1968061" y="4503750"/>
                <a:ext cx="1265026" cy="36933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061" y="4503750"/>
                <a:ext cx="1265026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6528918" y="4636603"/>
                <a:ext cx="2463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Times the learning rate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918" y="4636603"/>
                <a:ext cx="2463590" cy="830997"/>
              </a:xfrm>
              <a:prstGeom prst="rect">
                <a:avLst/>
              </a:prstGeom>
              <a:blipFill rotWithShape="0">
                <a:blip r:embed="rId12"/>
                <a:stretch>
                  <a:fillRect l="-3713" t="-5882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7319958" y="5619542"/>
                <a:ext cx="16759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958" y="5619542"/>
                <a:ext cx="1675972" cy="43088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向右箭號 31"/>
          <p:cNvSpPr/>
          <p:nvPr/>
        </p:nvSpPr>
        <p:spPr>
          <a:xfrm>
            <a:off x="6687063" y="4181135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向右箭號 32"/>
          <p:cNvSpPr/>
          <p:nvPr/>
        </p:nvSpPr>
        <p:spPr>
          <a:xfrm>
            <a:off x="6681378" y="5654219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2436385" y="5052101"/>
                <a:ext cx="3980705" cy="95885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zh-TW" altLang="en-US" sz="28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TW" altLang="en-US" sz="2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TW" altLang="en-US" sz="2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385" y="5052101"/>
                <a:ext cx="3980705" cy="95885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246276" y="4127807"/>
                <a:ext cx="1435971" cy="369332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76" y="4127807"/>
                <a:ext cx="1435971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 flipV="1">
            <a:off x="1574978" y="4358885"/>
            <a:ext cx="284326" cy="9184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6681378" y="1259802"/>
                <a:ext cx="20042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378" y="1259802"/>
                <a:ext cx="2004267" cy="43088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1859304" y="1372739"/>
            <a:ext cx="3313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Error Surface</a:t>
            </a:r>
            <a:endParaRPr lang="zh-TW" altLang="en-US" sz="2800" dirty="0"/>
          </a:p>
        </p:txBody>
      </p:sp>
      <p:sp>
        <p:nvSpPr>
          <p:cNvPr id="37" name="橢圓 36"/>
          <p:cNvSpPr/>
          <p:nvPr/>
        </p:nvSpPr>
        <p:spPr>
          <a:xfrm>
            <a:off x="3527815" y="3764991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3776908" y="3666142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908" y="3666142"/>
                <a:ext cx="458899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49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/>
      <p:bldP spid="21" grpId="0" animBg="1"/>
      <p:bldP spid="22" grpId="0"/>
      <p:bldP spid="23" grpId="0"/>
      <p:bldP spid="25" grpId="0"/>
      <p:bldP spid="26" grpId="0" animBg="1"/>
      <p:bldP spid="27" grpId="0" animBg="1"/>
      <p:bldP spid="27" grpId="1" animBg="1"/>
      <p:bldP spid="30" grpId="0"/>
      <p:bldP spid="31" grpId="0"/>
      <p:bldP spid="32" grpId="0" animBg="1"/>
      <p:bldP spid="33" grpId="0" animBg="1"/>
      <p:bldP spid="24" grpId="0" animBg="1"/>
      <p:bldP spid="29" grpId="0" animBg="1"/>
      <p:bldP spid="35" grpId="0"/>
      <p:bldP spid="37" grpId="0" animBg="1"/>
      <p:bldP spid="3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Descent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-20166" y="1345273"/>
            <a:ext cx="7092867" cy="5365372"/>
            <a:chOff x="706835" y="2011916"/>
            <a:chExt cx="6113826" cy="462477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835" y="2011916"/>
              <a:ext cx="6113826" cy="458536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3675390" y="6267363"/>
                  <a:ext cx="421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390" y="6267363"/>
                  <a:ext cx="421847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843326" y="4119935"/>
                  <a:ext cx="42896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42896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0000" r="-5714"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橢圓 8"/>
          <p:cNvSpPr/>
          <p:nvPr/>
        </p:nvSpPr>
        <p:spPr>
          <a:xfrm>
            <a:off x="1431899" y="5270073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6547173" y="2880131"/>
                <a:ext cx="246359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Compute the negative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173" y="2880131"/>
                <a:ext cx="2463590" cy="1200329"/>
              </a:xfrm>
              <a:prstGeom prst="rect">
                <a:avLst/>
              </a:prstGeom>
              <a:blipFill rotWithShape="0">
                <a:blip r:embed="rId8"/>
                <a:stretch>
                  <a:fillRect l="-3713" t="-4061" r="-1485" b="-10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7336989" y="4142216"/>
                <a:ext cx="14779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989" y="4142216"/>
                <a:ext cx="1477905" cy="4308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1692405" y="5269497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405" y="5269497"/>
                <a:ext cx="458899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6528918" y="4636603"/>
                <a:ext cx="2463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Times the learning rate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918" y="4636603"/>
                <a:ext cx="2463590" cy="830997"/>
              </a:xfrm>
              <a:prstGeom prst="rect">
                <a:avLst/>
              </a:prstGeom>
              <a:blipFill rotWithShape="0">
                <a:blip r:embed="rId12"/>
                <a:stretch>
                  <a:fillRect l="-3713" t="-5882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7319958" y="5619542"/>
                <a:ext cx="16759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958" y="5619542"/>
                <a:ext cx="1675972" cy="43088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向右箭號 31"/>
          <p:cNvSpPr/>
          <p:nvPr/>
        </p:nvSpPr>
        <p:spPr>
          <a:xfrm>
            <a:off x="6687063" y="4181135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向右箭號 32"/>
          <p:cNvSpPr/>
          <p:nvPr/>
        </p:nvSpPr>
        <p:spPr>
          <a:xfrm>
            <a:off x="6681378" y="5654219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/>
          <p:cNvCxnSpPr/>
          <p:nvPr/>
        </p:nvCxnSpPr>
        <p:spPr>
          <a:xfrm flipV="1">
            <a:off x="1574978" y="4358885"/>
            <a:ext cx="284326" cy="9184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1809148" y="4154270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2069654" y="4153694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654" y="4153694"/>
                <a:ext cx="458899" cy="46166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單箭頭接點 34"/>
          <p:cNvCxnSpPr/>
          <p:nvPr/>
        </p:nvCxnSpPr>
        <p:spPr>
          <a:xfrm flipV="1">
            <a:off x="1968061" y="3942136"/>
            <a:ext cx="267554" cy="2389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2349553" y="3895971"/>
                <a:ext cx="1258421" cy="36933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53" y="3895971"/>
                <a:ext cx="1258421" cy="36933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665867" y="3478955"/>
                <a:ext cx="1429366" cy="369332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67" y="3478955"/>
                <a:ext cx="1429366" cy="36933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單箭頭接點 37"/>
          <p:cNvCxnSpPr/>
          <p:nvPr/>
        </p:nvCxnSpPr>
        <p:spPr>
          <a:xfrm flipV="1">
            <a:off x="1928821" y="3893346"/>
            <a:ext cx="389681" cy="3233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2304108" y="3710295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2721746" y="3818353"/>
                <a:ext cx="1265026" cy="36933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746" y="3818353"/>
                <a:ext cx="1265026" cy="369332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2151304" y="3243206"/>
                <a:ext cx="1435970" cy="369332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304" y="3243206"/>
                <a:ext cx="1435970" cy="36933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1802411" y="3377289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411" y="3377289"/>
                <a:ext cx="458899" cy="461665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單箭頭接點 42"/>
          <p:cNvCxnSpPr/>
          <p:nvPr/>
        </p:nvCxnSpPr>
        <p:spPr>
          <a:xfrm flipV="1">
            <a:off x="2508484" y="3710295"/>
            <a:ext cx="526048" cy="61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2504477" y="3735101"/>
            <a:ext cx="305685" cy="356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859304" y="1644462"/>
            <a:ext cx="3876724" cy="94533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Eventually, we would reach a minima …..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6562231" y="1948459"/>
                <a:ext cx="2463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Randomly pick a starting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31" y="1948459"/>
                <a:ext cx="2463590" cy="830997"/>
              </a:xfrm>
              <a:prstGeom prst="rect">
                <a:avLst/>
              </a:prstGeom>
              <a:blipFill rotWithShape="0">
                <a:blip r:embed="rId21"/>
                <a:stretch>
                  <a:fillRect l="-3704" t="-5882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57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4" grpId="0" animBg="1"/>
      <p:bldP spid="36" grpId="0" animBg="1"/>
      <p:bldP spid="36" grpId="1" animBg="1"/>
      <p:bldP spid="37" grpId="0" animBg="1"/>
      <p:bldP spid="37" grpId="1" animBg="1"/>
      <p:bldP spid="39" grpId="0" animBg="1"/>
      <p:bldP spid="40" grpId="0" animBg="1"/>
      <p:bldP spid="40" grpId="1" animBg="1"/>
      <p:bldP spid="41" grpId="0" animBg="1"/>
      <p:bldP spid="42" grpId="0" animBg="1"/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Local Minima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Gradient descent never guarantee global minima 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77519" y="2320604"/>
            <a:ext cx="5417088" cy="4338638"/>
            <a:chOff x="2141628" y="1985961"/>
            <a:chExt cx="5417088" cy="433863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7793" y="1985961"/>
              <a:ext cx="5260923" cy="433863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2141628" y="3738534"/>
                  <a:ext cx="31233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628" y="3738534"/>
                  <a:ext cx="312330" cy="43088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3427448" y="5437129"/>
                  <a:ext cx="49321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448" y="5437129"/>
                  <a:ext cx="493212" cy="4308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/>
                <p:cNvSpPr txBox="1"/>
                <p:nvPr/>
              </p:nvSpPr>
              <p:spPr>
                <a:xfrm>
                  <a:off x="6309167" y="5396258"/>
                  <a:ext cx="50148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167" y="5396258"/>
                  <a:ext cx="501484" cy="43088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347965" y="2331544"/>
                <a:ext cx="2510854" cy="954107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sz="2800" dirty="0"/>
                  <a:t>Different initial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2800" dirty="0"/>
                  <a:t> 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965" y="2331544"/>
                <a:ext cx="2510854" cy="95410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5347965" y="3934155"/>
            <a:ext cx="3562350" cy="95410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Reach different minima, so different results</a:t>
            </a:r>
            <a:endParaRPr lang="zh-TW" altLang="en-US" sz="2800" dirty="0"/>
          </a:p>
        </p:txBody>
      </p:sp>
      <p:sp>
        <p:nvSpPr>
          <p:cNvPr id="11" name="向下箭號 10"/>
          <p:cNvSpPr/>
          <p:nvPr/>
        </p:nvSpPr>
        <p:spPr>
          <a:xfrm>
            <a:off x="6159412" y="3354081"/>
            <a:ext cx="641261" cy="53799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4572000" y="5022271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2400" dirty="0"/>
              <a:t>Who is Afraid of Non-Convex Loss Functions?</a:t>
            </a:r>
          </a:p>
          <a:p>
            <a:pPr lvl="1"/>
            <a:r>
              <a:rPr lang="en-US" altLang="zh-TW" sz="2400" u="sng" dirty="0"/>
              <a:t>http://videolectures.net/eml07_lecun_wia/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2939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接點 42"/>
          <p:cNvCxnSpPr/>
          <p:nvPr/>
        </p:nvCxnSpPr>
        <p:spPr>
          <a:xfrm>
            <a:off x="6477914" y="5086227"/>
            <a:ext cx="0" cy="727092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6146877" y="4769704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/>
          <p:nvPr/>
        </p:nvCxnSpPr>
        <p:spPr>
          <a:xfrm>
            <a:off x="4542662" y="4062409"/>
            <a:ext cx="0" cy="176261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2807794" y="4050707"/>
            <a:ext cx="0" cy="176261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302268" y="2964487"/>
            <a:ext cx="0" cy="288006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1410327" y="5813320"/>
            <a:ext cx="676977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Besides local minima ……</a:t>
            </a:r>
            <a:endParaRPr lang="zh-TW" altLang="en-US" dirty="0"/>
          </a:p>
        </p:txBody>
      </p:sp>
      <p:sp>
        <p:nvSpPr>
          <p:cNvPr id="6" name="手繪多邊形 5"/>
          <p:cNvSpPr/>
          <p:nvPr/>
        </p:nvSpPr>
        <p:spPr>
          <a:xfrm>
            <a:off x="600809" y="1909536"/>
            <a:ext cx="7914542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226140" y="3972511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11176" y="5955032"/>
            <a:ext cx="842802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829408" y="1801390"/>
            <a:ext cx="0" cy="43628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921269" y="1755204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cost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319576" y="6050224"/>
            <a:ext cx="2545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parameter space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213390" y="1945244"/>
            <a:ext cx="2549506" cy="95410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Very slow at the </a:t>
            </a:r>
            <a:r>
              <a:rPr lang="en-US" altLang="zh-TW" sz="2800" b="1" dirty="0"/>
              <a:t>plateau</a:t>
            </a:r>
            <a:endParaRPr lang="zh-TW" altLang="en-US" sz="28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5719185" y="3608094"/>
            <a:ext cx="335024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Stuck at local minima</a:t>
            </a:r>
            <a:endParaRPr lang="zh-TW" altLang="en-US" sz="2800" dirty="0"/>
          </a:p>
        </p:txBody>
      </p:sp>
      <p:sp>
        <p:nvSpPr>
          <p:cNvPr id="21" name="橢圓 20"/>
          <p:cNvSpPr/>
          <p:nvPr/>
        </p:nvSpPr>
        <p:spPr>
          <a:xfrm>
            <a:off x="1009471" y="2647964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6707566" y="5250879"/>
                <a:ext cx="1053142" cy="81394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566" y="5250879"/>
                <a:ext cx="1053142" cy="8139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橢圓 29"/>
          <p:cNvSpPr/>
          <p:nvPr/>
        </p:nvSpPr>
        <p:spPr>
          <a:xfrm>
            <a:off x="2491271" y="3847314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4320922" y="2819014"/>
            <a:ext cx="3350240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Stuck at saddle point</a:t>
            </a:r>
            <a:endParaRPr lang="zh-TW" altLang="en-US" sz="2800" dirty="0"/>
          </a:p>
        </p:txBody>
      </p:sp>
      <p:cxnSp>
        <p:nvCxnSpPr>
          <p:cNvPr id="34" name="直線單箭頭接點 33"/>
          <p:cNvCxnSpPr>
            <a:stCxn id="24" idx="7"/>
          </p:cNvCxnSpPr>
          <p:nvPr/>
        </p:nvCxnSpPr>
        <p:spPr>
          <a:xfrm flipV="1">
            <a:off x="6687216" y="4131315"/>
            <a:ext cx="342234" cy="73109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4703879" y="3281010"/>
            <a:ext cx="344940" cy="76969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30" idx="7"/>
            <a:endCxn id="11" idx="2"/>
          </p:cNvCxnSpPr>
          <p:nvPr/>
        </p:nvCxnSpPr>
        <p:spPr>
          <a:xfrm flipV="1">
            <a:off x="3031610" y="2899351"/>
            <a:ext cx="456533" cy="104067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4738592" y="5212030"/>
                <a:ext cx="1053142" cy="81394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592" y="5212030"/>
                <a:ext cx="1053142" cy="8139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2988708" y="5227198"/>
                <a:ext cx="1053142" cy="81394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708" y="5227198"/>
                <a:ext cx="1053142" cy="8139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橢圓 34"/>
          <p:cNvSpPr/>
          <p:nvPr/>
        </p:nvSpPr>
        <p:spPr>
          <a:xfrm>
            <a:off x="1194210" y="5846973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2706138" y="5841274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4434604" y="5816826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6375849" y="5825022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68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9" grpId="0" animBg="1"/>
      <p:bldP spid="11" grpId="0" animBg="1"/>
      <p:bldP spid="22" grpId="0" animBg="1"/>
      <p:bldP spid="28" grpId="0" animBg="1"/>
      <p:bldP spid="30" grpId="0" animBg="1"/>
      <p:bldP spid="33" grpId="0" animBg="1"/>
      <p:bldP spid="26" grpId="0" animBg="1"/>
      <p:bldP spid="29" grpId="0" animBg="1"/>
      <p:bldP spid="38" grpId="0" animBg="1"/>
      <p:bldP spid="39" grpId="0" animBg="1"/>
      <p:bldP spid="4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 physical world</a:t>
            </a:r>
            <a:r>
              <a:rPr lang="zh-TW" altLang="en-US" dirty="0"/>
              <a:t> </a:t>
            </a:r>
            <a:r>
              <a:rPr lang="en-US" altLang="zh-TW" dirty="0"/>
              <a:t>……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p:sp>
        <p:nvSpPr>
          <p:cNvPr id="6" name="手繪多邊形 5"/>
          <p:cNvSpPr/>
          <p:nvPr/>
        </p:nvSpPr>
        <p:spPr>
          <a:xfrm>
            <a:off x="896815" y="2519136"/>
            <a:ext cx="7754816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436685" y="1896208"/>
                  <a:pt x="1019908" y="2356339"/>
                </a:cubicBezTo>
                <a:cubicBezTo>
                  <a:pt x="1603131" y="2816470"/>
                  <a:pt x="2872154" y="2631831"/>
                  <a:pt x="3499339" y="2760785"/>
                </a:cubicBezTo>
                <a:cubicBezTo>
                  <a:pt x="4126524" y="2889739"/>
                  <a:pt x="4396154" y="3156439"/>
                  <a:pt x="4783016" y="3130062"/>
                </a:cubicBezTo>
                <a:cubicBezTo>
                  <a:pt x="5169878" y="3103685"/>
                  <a:pt x="5506916" y="2725615"/>
                  <a:pt x="5820508" y="2602523"/>
                </a:cubicBezTo>
                <a:cubicBezTo>
                  <a:pt x="6134100" y="2479431"/>
                  <a:pt x="6374424" y="2159977"/>
                  <a:pt x="6664570" y="2391508"/>
                </a:cubicBezTo>
                <a:cubicBezTo>
                  <a:pt x="6954716" y="26230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1055076" y="2384200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596661" y="4470908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655650" y="4623269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529860" y="3152182"/>
            <a:ext cx="316523" cy="110783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3428996" y="4892428"/>
            <a:ext cx="800646" cy="6482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6381011" y="4693609"/>
            <a:ext cx="495842" cy="14606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3428996" y="2812454"/>
            <a:ext cx="50863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How about put this phenomenon in gradient descent?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3255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326459" y="2383674"/>
            <a:ext cx="1856075" cy="4269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接點 51"/>
          <p:cNvCxnSpPr/>
          <p:nvPr/>
        </p:nvCxnSpPr>
        <p:spPr>
          <a:xfrm>
            <a:off x="7245157" y="4307839"/>
            <a:ext cx="0" cy="132041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3347542" y="4307839"/>
            <a:ext cx="0" cy="133236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5445082" y="5035084"/>
            <a:ext cx="0" cy="60511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p:sp>
        <p:nvSpPr>
          <p:cNvPr id="4" name="手繪多邊形 3"/>
          <p:cNvSpPr/>
          <p:nvPr/>
        </p:nvSpPr>
        <p:spPr>
          <a:xfrm>
            <a:off x="1158073" y="2112736"/>
            <a:ext cx="7754816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245987 w 7754816"/>
              <a:gd name="connsiteY3" fmla="*/ 3072005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245987 w 7754816"/>
              <a:gd name="connsiteY3" fmla="*/ 3072005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296139 w 7754816"/>
              <a:gd name="connsiteY2" fmla="*/ 2804328 h 4208267"/>
              <a:gd name="connsiteX3" fmla="*/ 4245987 w 7754816"/>
              <a:gd name="connsiteY3" fmla="*/ 3072005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296139 w 7754816"/>
              <a:gd name="connsiteY2" fmla="*/ 2804328 h 4208267"/>
              <a:gd name="connsiteX3" fmla="*/ 4245987 w 7754816"/>
              <a:gd name="connsiteY3" fmla="*/ 3072005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296139 w 7754816"/>
              <a:gd name="connsiteY2" fmla="*/ 2804328 h 4208267"/>
              <a:gd name="connsiteX3" fmla="*/ 4304044 w 7754816"/>
              <a:gd name="connsiteY3" fmla="*/ 3202633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296139 w 7754816"/>
              <a:gd name="connsiteY2" fmla="*/ 2804328 h 4208267"/>
              <a:gd name="connsiteX3" fmla="*/ 4304044 w 7754816"/>
              <a:gd name="connsiteY3" fmla="*/ 3202633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470552" y="1888951"/>
                  <a:pt x="1019908" y="2356339"/>
                </a:cubicBezTo>
                <a:cubicBezTo>
                  <a:pt x="1569264" y="2823727"/>
                  <a:pt x="2748783" y="2663279"/>
                  <a:pt x="3296139" y="2804328"/>
                </a:cubicBezTo>
                <a:cubicBezTo>
                  <a:pt x="3843495" y="2945377"/>
                  <a:pt x="3781716" y="3192725"/>
                  <a:pt x="4304044" y="3202633"/>
                </a:cubicBezTo>
                <a:cubicBezTo>
                  <a:pt x="4826372" y="3212541"/>
                  <a:pt x="5427087" y="2737711"/>
                  <a:pt x="5820508" y="2602523"/>
                </a:cubicBezTo>
                <a:cubicBezTo>
                  <a:pt x="6213929" y="2467335"/>
                  <a:pt x="6374424" y="2159977"/>
                  <a:pt x="6664570" y="2391508"/>
                </a:cubicBezTo>
                <a:cubicBezTo>
                  <a:pt x="6954716" y="26230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862066" y="5655280"/>
            <a:ext cx="805082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862066" y="2144234"/>
            <a:ext cx="0" cy="35110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48603" y="1698324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cost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5133767" y="4718561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1263133" y="2144234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3640983" y="1994360"/>
            <a:ext cx="4568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Movement = </a:t>
            </a:r>
          </a:p>
          <a:p>
            <a:r>
              <a:rPr lang="en-US" altLang="zh-TW" sz="2400" dirty="0"/>
              <a:t>Negative of Gradient + Momentum </a:t>
            </a:r>
            <a:endParaRPr lang="zh-TW" altLang="en-US" sz="2400" dirty="0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1690739" y="5818792"/>
            <a:ext cx="591707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1690739" y="5498508"/>
            <a:ext cx="618998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橢圓 54"/>
          <p:cNvSpPr/>
          <p:nvPr/>
        </p:nvSpPr>
        <p:spPr>
          <a:xfrm>
            <a:off x="6919863" y="3909680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" name="直線單箭頭接點 57"/>
          <p:cNvCxnSpPr/>
          <p:nvPr/>
        </p:nvCxnSpPr>
        <p:spPr>
          <a:xfrm flipH="1">
            <a:off x="6749242" y="5479503"/>
            <a:ext cx="45912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7314392" y="5801394"/>
            <a:ext cx="342708" cy="4198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4580243" y="6127080"/>
            <a:ext cx="1915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Gradient = 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3016322" y="4149426"/>
            <a:ext cx="633046" cy="633046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3483523" y="5482222"/>
            <a:ext cx="339830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3823353" y="5479503"/>
            <a:ext cx="848453" cy="15695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5576002" y="5833701"/>
            <a:ext cx="777246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1560497" y="2731772"/>
            <a:ext cx="0" cy="3038791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1474622" y="5552443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3239484" y="5552109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5359885" y="5569401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橢圓 49"/>
          <p:cNvSpPr/>
          <p:nvPr/>
        </p:nvSpPr>
        <p:spPr>
          <a:xfrm>
            <a:off x="7146439" y="5533776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4063842" y="307139"/>
            <a:ext cx="4586408" cy="138499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Still not guarantee reaching global minima, but give some hope ……</a:t>
            </a:r>
            <a:endParaRPr lang="zh-TW" altLang="en-US" sz="2800" dirty="0"/>
          </a:p>
        </p:txBody>
      </p:sp>
      <p:grpSp>
        <p:nvGrpSpPr>
          <p:cNvPr id="78" name="群組 77"/>
          <p:cNvGrpSpPr/>
          <p:nvPr/>
        </p:nvGrpSpPr>
        <p:grpSpPr>
          <a:xfrm>
            <a:off x="3774185" y="2875253"/>
            <a:ext cx="3968486" cy="1363780"/>
            <a:chOff x="4244734" y="2308754"/>
            <a:chExt cx="3968486" cy="1363780"/>
          </a:xfrm>
        </p:grpSpPr>
        <p:cxnSp>
          <p:nvCxnSpPr>
            <p:cNvPr id="28" name="直線單箭頭接點 27"/>
            <p:cNvCxnSpPr/>
            <p:nvPr/>
          </p:nvCxnSpPr>
          <p:spPr>
            <a:xfrm>
              <a:off x="4257783" y="3482737"/>
              <a:ext cx="690196" cy="0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/>
            <p:nvPr/>
          </p:nvCxnSpPr>
          <p:spPr>
            <a:xfrm>
              <a:off x="4244734" y="2561247"/>
              <a:ext cx="690196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4947979" y="2308754"/>
              <a:ext cx="32652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Negative of Gradient</a:t>
              </a:r>
              <a:endParaRPr lang="zh-TW" altLang="en-US" sz="2400" dirty="0"/>
            </a:p>
          </p:txBody>
        </p:sp>
        <p:cxnSp>
          <p:nvCxnSpPr>
            <p:cNvPr id="32" name="直線單箭頭接點 31"/>
            <p:cNvCxnSpPr/>
            <p:nvPr/>
          </p:nvCxnSpPr>
          <p:spPr>
            <a:xfrm>
              <a:off x="4257783" y="3038871"/>
              <a:ext cx="690196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4955188" y="2754441"/>
              <a:ext cx="2561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Momentum</a:t>
              </a:r>
              <a:endParaRPr lang="zh-TW" altLang="en-US" sz="2400" dirty="0"/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4947979" y="3210869"/>
              <a:ext cx="2561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Real Movement</a:t>
              </a:r>
              <a:endParaRPr lang="zh-TW" altLang="en-US" sz="2400" dirty="0"/>
            </a:p>
          </p:txBody>
        </p:sp>
      </p:grpSp>
      <p:cxnSp>
        <p:nvCxnSpPr>
          <p:cNvPr id="62" name="直線單箭頭接點 61"/>
          <p:cNvCxnSpPr/>
          <p:nvPr/>
        </p:nvCxnSpPr>
        <p:spPr>
          <a:xfrm>
            <a:off x="5576002" y="5525983"/>
            <a:ext cx="777246" cy="0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7290322" y="5476592"/>
            <a:ext cx="652424" cy="11198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3514278" y="5823538"/>
            <a:ext cx="1157528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77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8" grpId="0" animBg="1"/>
      <p:bldP spid="55" grpId="0" animBg="1"/>
      <p:bldP spid="68" grpId="0"/>
      <p:bldP spid="37" grpId="0" animBg="1"/>
      <p:bldP spid="46" grpId="0" animBg="1"/>
      <p:bldP spid="47" grpId="0" animBg="1"/>
      <p:bldP spid="49" grpId="0" animBg="1"/>
      <p:bldP spid="50" grpId="0" animBg="1"/>
      <p:bldP spid="5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Mini-batch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258864" y="1778496"/>
            <a:ext cx="421911" cy="671513"/>
            <a:chOff x="510563" y="3417283"/>
            <a:chExt cx="421911" cy="671513"/>
          </a:xfrm>
        </p:grpSpPr>
        <p:sp>
          <p:nvSpPr>
            <p:cNvPr id="5" name="矩形 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510563" y="3522206"/>
              <a:ext cx="42191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</p:grpSp>
      <p:sp>
        <p:nvSpPr>
          <p:cNvPr id="13" name="矩形 12"/>
          <p:cNvSpPr/>
          <p:nvPr/>
        </p:nvSpPr>
        <p:spPr>
          <a:xfrm>
            <a:off x="2058789" y="1781067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 rot="5400000">
            <a:off x="2281307" y="3323803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1627406" y="2114251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3027655" y="2109044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3426170" y="1778496"/>
            <a:ext cx="428323" cy="671513"/>
            <a:chOff x="507357" y="3417283"/>
            <a:chExt cx="428323" cy="671513"/>
          </a:xfrm>
        </p:grpSpPr>
        <p:sp>
          <p:nvSpPr>
            <p:cNvPr id="25" name="矩形 2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07357" y="3522206"/>
              <a:ext cx="428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</p:grpSp>
      <p:sp>
        <p:nvSpPr>
          <p:cNvPr id="33" name="矩形 32"/>
          <p:cNvSpPr/>
          <p:nvPr/>
        </p:nvSpPr>
        <p:spPr>
          <a:xfrm>
            <a:off x="4444214" y="1778496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4433773" y="1952099"/>
                <a:ext cx="3914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773" y="1952099"/>
                <a:ext cx="39145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8462" t="-16393" r="-47692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左-右雙向箭號 38"/>
          <p:cNvSpPr/>
          <p:nvPr/>
        </p:nvSpPr>
        <p:spPr>
          <a:xfrm>
            <a:off x="3785800" y="2070470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3927373" y="2265204"/>
                <a:ext cx="3506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373" y="2265204"/>
                <a:ext cx="35067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8966" t="-1667" r="-689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/>
          <p:cNvGrpSpPr/>
          <p:nvPr/>
        </p:nvGrpSpPr>
        <p:grpSpPr>
          <a:xfrm>
            <a:off x="1209850" y="2586461"/>
            <a:ext cx="526106" cy="671513"/>
            <a:chOff x="458466" y="3417283"/>
            <a:chExt cx="526106" cy="671513"/>
          </a:xfrm>
        </p:grpSpPr>
        <p:sp>
          <p:nvSpPr>
            <p:cNvPr id="48" name="矩形 47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49" name="矩形 48"/>
            <p:cNvSpPr/>
            <p:nvPr/>
          </p:nvSpPr>
          <p:spPr>
            <a:xfrm>
              <a:off x="458466" y="3522206"/>
              <a:ext cx="52610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31</a:t>
              </a:r>
              <a:endParaRPr lang="zh-TW" altLang="en-US" sz="2400" baseline="30000" dirty="0"/>
            </a:p>
          </p:txBody>
        </p:sp>
      </p:grpSp>
      <p:sp>
        <p:nvSpPr>
          <p:cNvPr id="50" name="矩形 49"/>
          <p:cNvSpPr/>
          <p:nvPr/>
        </p:nvSpPr>
        <p:spPr>
          <a:xfrm>
            <a:off x="2061873" y="2580637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cxnSp>
        <p:nvCxnSpPr>
          <p:cNvPr id="51" name="直線單箭頭接點 50"/>
          <p:cNvCxnSpPr/>
          <p:nvPr/>
        </p:nvCxnSpPr>
        <p:spPr>
          <a:xfrm flipV="1">
            <a:off x="1627529" y="2922216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V="1">
            <a:off x="3027778" y="2917009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群組 52"/>
          <p:cNvGrpSpPr/>
          <p:nvPr/>
        </p:nvGrpSpPr>
        <p:grpSpPr>
          <a:xfrm>
            <a:off x="3377157" y="2586461"/>
            <a:ext cx="532518" cy="671513"/>
            <a:chOff x="455261" y="3417283"/>
            <a:chExt cx="532518" cy="671513"/>
          </a:xfrm>
        </p:grpSpPr>
        <p:sp>
          <p:nvSpPr>
            <p:cNvPr id="54" name="矩形 53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455261" y="3522206"/>
              <a:ext cx="5325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31</a:t>
              </a:r>
              <a:endParaRPr lang="zh-TW" altLang="en-US" sz="2400" baseline="30000" dirty="0"/>
            </a:p>
          </p:txBody>
        </p:sp>
      </p:grpSp>
      <p:sp>
        <p:nvSpPr>
          <p:cNvPr id="56" name="矩形 55"/>
          <p:cNvSpPr/>
          <p:nvPr/>
        </p:nvSpPr>
        <p:spPr>
          <a:xfrm>
            <a:off x="4447297" y="2586461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4447297" y="2748469"/>
                <a:ext cx="5279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297" y="2748469"/>
                <a:ext cx="527901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3953" t="-18333" r="-33721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左-右雙向箭號 57"/>
          <p:cNvSpPr/>
          <p:nvPr/>
        </p:nvSpPr>
        <p:spPr>
          <a:xfrm>
            <a:off x="3783522" y="2852030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3926811" y="3109079"/>
                <a:ext cx="4871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11" y="3109079"/>
                <a:ext cx="48712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3750" r="-5000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圖片 59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53541" y="1961431"/>
            <a:ext cx="360000" cy="3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1" name="圖片 60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11991" y="4331374"/>
            <a:ext cx="360000" cy="3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2" name="圖片 6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24563" y="2718563"/>
            <a:ext cx="360000" cy="3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3" name="圖片 62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778436" y="5322008"/>
            <a:ext cx="360000" cy="3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65" name="群組 64"/>
          <p:cNvGrpSpPr/>
          <p:nvPr/>
        </p:nvGrpSpPr>
        <p:grpSpPr>
          <a:xfrm>
            <a:off x="1244871" y="4218355"/>
            <a:ext cx="421910" cy="671513"/>
            <a:chOff x="510564" y="3417283"/>
            <a:chExt cx="421910" cy="671513"/>
          </a:xfrm>
        </p:grpSpPr>
        <p:sp>
          <p:nvSpPr>
            <p:cNvPr id="66" name="矩形 65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67" name="矩形 66"/>
            <p:cNvSpPr/>
            <p:nvPr/>
          </p:nvSpPr>
          <p:spPr>
            <a:xfrm>
              <a:off x="510564" y="3522206"/>
              <a:ext cx="4219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</p:grpSp>
      <p:sp>
        <p:nvSpPr>
          <p:cNvPr id="68" name="矩形 67"/>
          <p:cNvSpPr/>
          <p:nvPr/>
        </p:nvSpPr>
        <p:spPr>
          <a:xfrm>
            <a:off x="2044795" y="4220926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69" name="文字方塊 68"/>
          <p:cNvSpPr txBox="1"/>
          <p:nvPr/>
        </p:nvSpPr>
        <p:spPr>
          <a:xfrm rot="5400000">
            <a:off x="2266552" y="5908663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70" name="直線單箭頭接點 69"/>
          <p:cNvCxnSpPr/>
          <p:nvPr/>
        </p:nvCxnSpPr>
        <p:spPr>
          <a:xfrm flipV="1">
            <a:off x="1613412" y="4554110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3013661" y="4548903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群組 71"/>
          <p:cNvGrpSpPr/>
          <p:nvPr/>
        </p:nvGrpSpPr>
        <p:grpSpPr>
          <a:xfrm>
            <a:off x="3412177" y="4218355"/>
            <a:ext cx="428322" cy="671513"/>
            <a:chOff x="507358" y="3417283"/>
            <a:chExt cx="428322" cy="671513"/>
          </a:xfrm>
        </p:grpSpPr>
        <p:sp>
          <p:nvSpPr>
            <p:cNvPr id="73" name="矩形 72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74" name="矩形 73"/>
            <p:cNvSpPr/>
            <p:nvPr/>
          </p:nvSpPr>
          <p:spPr>
            <a:xfrm>
              <a:off x="507358" y="3522206"/>
              <a:ext cx="4283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</p:grpSp>
      <p:sp>
        <p:nvSpPr>
          <p:cNvPr id="75" name="矩形 74"/>
          <p:cNvSpPr/>
          <p:nvPr/>
        </p:nvSpPr>
        <p:spPr>
          <a:xfrm>
            <a:off x="4430220" y="4218355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4419779" y="4391958"/>
                <a:ext cx="398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779" y="4391958"/>
                <a:ext cx="398058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18462" t="-16393" r="-49231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左-右雙向箭號 76"/>
          <p:cNvSpPr/>
          <p:nvPr/>
        </p:nvSpPr>
        <p:spPr>
          <a:xfrm>
            <a:off x="3771806" y="4510329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3913379" y="4705063"/>
                <a:ext cx="3572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379" y="4705063"/>
                <a:ext cx="357277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20339" r="-678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/>
          <p:cNvGrpSpPr/>
          <p:nvPr/>
        </p:nvGrpSpPr>
        <p:grpSpPr>
          <a:xfrm>
            <a:off x="1210370" y="5171460"/>
            <a:ext cx="526106" cy="671513"/>
            <a:chOff x="458466" y="3417283"/>
            <a:chExt cx="526106" cy="671513"/>
          </a:xfrm>
        </p:grpSpPr>
        <p:sp>
          <p:nvSpPr>
            <p:cNvPr id="80" name="矩形 79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81" name="矩形 80"/>
            <p:cNvSpPr/>
            <p:nvPr/>
          </p:nvSpPr>
          <p:spPr>
            <a:xfrm>
              <a:off x="458466" y="3522206"/>
              <a:ext cx="52610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16</a:t>
              </a:r>
              <a:endParaRPr lang="zh-TW" altLang="en-US" sz="2400" baseline="30000" dirty="0"/>
            </a:p>
          </p:txBody>
        </p:sp>
      </p:grpSp>
      <p:sp>
        <p:nvSpPr>
          <p:cNvPr id="82" name="矩形 81"/>
          <p:cNvSpPr/>
          <p:nvPr/>
        </p:nvSpPr>
        <p:spPr>
          <a:xfrm>
            <a:off x="2062393" y="5165636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cxnSp>
        <p:nvCxnSpPr>
          <p:cNvPr id="83" name="直線單箭頭接點 82"/>
          <p:cNvCxnSpPr/>
          <p:nvPr/>
        </p:nvCxnSpPr>
        <p:spPr>
          <a:xfrm flipV="1">
            <a:off x="1628049" y="5507215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V="1">
            <a:off x="3028298" y="5502008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群組 84"/>
          <p:cNvGrpSpPr/>
          <p:nvPr/>
        </p:nvGrpSpPr>
        <p:grpSpPr>
          <a:xfrm>
            <a:off x="3377677" y="5171460"/>
            <a:ext cx="532518" cy="671513"/>
            <a:chOff x="455261" y="3417283"/>
            <a:chExt cx="532518" cy="671513"/>
          </a:xfrm>
        </p:grpSpPr>
        <p:sp>
          <p:nvSpPr>
            <p:cNvPr id="86" name="矩形 85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87" name="矩形 86"/>
            <p:cNvSpPr/>
            <p:nvPr/>
          </p:nvSpPr>
          <p:spPr>
            <a:xfrm>
              <a:off x="455261" y="3522206"/>
              <a:ext cx="5325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16</a:t>
              </a:r>
              <a:endParaRPr lang="zh-TW" altLang="en-US" sz="2400" baseline="30000" dirty="0"/>
            </a:p>
          </p:txBody>
        </p:sp>
      </p:grpSp>
      <p:sp>
        <p:nvSpPr>
          <p:cNvPr id="88" name="矩形 87"/>
          <p:cNvSpPr/>
          <p:nvPr/>
        </p:nvSpPr>
        <p:spPr>
          <a:xfrm>
            <a:off x="4447817" y="5171460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/>
              <p:cNvSpPr txBox="1"/>
              <p:nvPr/>
            </p:nvSpPr>
            <p:spPr>
              <a:xfrm>
                <a:off x="4447817" y="5333468"/>
                <a:ext cx="5212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9" name="文字方塊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17" y="5333468"/>
                <a:ext cx="521297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14118" t="-18333" r="-35294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左-右雙向箭號 89"/>
          <p:cNvSpPr/>
          <p:nvPr/>
        </p:nvSpPr>
        <p:spPr>
          <a:xfrm>
            <a:off x="3784042" y="5437029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/>
              <p:cNvSpPr txBox="1"/>
              <p:nvPr/>
            </p:nvSpPr>
            <p:spPr>
              <a:xfrm>
                <a:off x="3927331" y="5694078"/>
                <a:ext cx="4805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1" name="文字方塊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331" y="5694078"/>
                <a:ext cx="480516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13924" r="-5063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字方塊 93"/>
          <p:cNvSpPr txBox="1"/>
          <p:nvPr/>
        </p:nvSpPr>
        <p:spPr>
          <a:xfrm>
            <a:off x="5201054" y="1834082"/>
            <a:ext cx="306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altLang="zh-TW" sz="2400" dirty="0"/>
              <a:t>Pick the 1</a:t>
            </a:r>
            <a:r>
              <a:rPr lang="en-US" altLang="zh-TW" sz="2400" baseline="30000" dirty="0"/>
              <a:t>st</a:t>
            </a:r>
            <a:r>
              <a:rPr lang="en-US" altLang="zh-TW" sz="2400" dirty="0"/>
              <a:t> batch</a:t>
            </a:r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5166387" y="1371722"/>
                <a:ext cx="34389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Wingdings" panose="05000000000000000000" pitchFamily="2" charset="2"/>
                  <a:buChar char="Ø"/>
                </a:pPr>
                <a:r>
                  <a:rPr lang="en-US" altLang="zh-TW" sz="2400" dirty="0"/>
                  <a:t>Randomly 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baseline="30000" dirty="0"/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387" y="1371722"/>
                <a:ext cx="3438906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248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/>
              <p:cNvSpPr txBox="1"/>
              <p:nvPr/>
            </p:nvSpPr>
            <p:spPr>
              <a:xfrm>
                <a:off x="5802640" y="2782316"/>
                <a:ext cx="26541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6" name="文字方塊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640" y="2782316"/>
                <a:ext cx="2654188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2299" b="-32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字方塊 96"/>
          <p:cNvSpPr txBox="1"/>
          <p:nvPr/>
        </p:nvSpPr>
        <p:spPr>
          <a:xfrm>
            <a:off x="5214990" y="3136165"/>
            <a:ext cx="306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altLang="zh-TW" sz="2400" dirty="0"/>
              <a:t>Pick the 2</a:t>
            </a:r>
            <a:r>
              <a:rPr lang="en-US" altLang="zh-TW" sz="2400" baseline="30000" dirty="0"/>
              <a:t>nd</a:t>
            </a:r>
            <a:r>
              <a:rPr lang="en-US" altLang="zh-TW" sz="2400" dirty="0"/>
              <a:t> batch</a:t>
            </a:r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5795308" y="4100090"/>
                <a:ext cx="26475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08" y="4100090"/>
                <a:ext cx="2647584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2304" t="-1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文字方塊 101"/>
          <p:cNvSpPr txBox="1"/>
          <p:nvPr/>
        </p:nvSpPr>
        <p:spPr>
          <a:xfrm rot="5400000">
            <a:off x="6523363" y="4589259"/>
            <a:ext cx="751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…</a:t>
            </a:r>
            <a:endParaRPr lang="zh-TW" altLang="en-US" sz="2400" baseline="30000" dirty="0"/>
          </a:p>
        </p:txBody>
      </p:sp>
      <p:sp>
        <p:nvSpPr>
          <p:cNvPr id="107" name="文字方塊 106"/>
          <p:cNvSpPr txBox="1"/>
          <p:nvPr/>
        </p:nvSpPr>
        <p:spPr>
          <a:xfrm rot="16200000">
            <a:off x="-479666" y="2468681"/>
            <a:ext cx="1677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Mini-batch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08" name="文字方塊 107"/>
          <p:cNvSpPr txBox="1"/>
          <p:nvPr/>
        </p:nvSpPr>
        <p:spPr>
          <a:xfrm rot="16200000">
            <a:off x="-488377" y="4939476"/>
            <a:ext cx="1677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Mini-batch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648662" y="1634942"/>
            <a:ext cx="4279192" cy="2310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矩形 109"/>
          <p:cNvSpPr/>
          <p:nvPr/>
        </p:nvSpPr>
        <p:spPr>
          <a:xfrm>
            <a:off x="648662" y="4132044"/>
            <a:ext cx="4279192" cy="2310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矩形 110"/>
          <p:cNvSpPr/>
          <p:nvPr/>
        </p:nvSpPr>
        <p:spPr>
          <a:xfrm>
            <a:off x="5409668" y="4981322"/>
            <a:ext cx="3156953" cy="131458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/>
              <a:t>C is different each time when we update parameters!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5795308" y="2319763"/>
                <a:ext cx="2361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08" y="2319763"/>
                <a:ext cx="2361929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2842" t="-1667" r="-51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/>
              <p:cNvSpPr txBox="1"/>
              <p:nvPr/>
            </p:nvSpPr>
            <p:spPr>
              <a:xfrm>
                <a:off x="5809244" y="3664294"/>
                <a:ext cx="2361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3" name="文字方塊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244" y="3664294"/>
                <a:ext cx="2361929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2842" r="-51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19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96" grpId="0"/>
      <p:bldP spid="97" grpId="0"/>
      <p:bldP spid="98" grpId="0"/>
      <p:bldP spid="102" grpId="0"/>
      <p:bldP spid="111" grpId="0" animBg="1"/>
      <p:bldP spid="112" grpId="0"/>
      <p:bldP spid="1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Mini-batch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851" y="2448719"/>
            <a:ext cx="4076700" cy="3105150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581025" y="1866037"/>
            <a:ext cx="3943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Original Gradient Descent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876201" y="1866037"/>
            <a:ext cx="3943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With Mini-batch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839008" y="3349249"/>
            <a:ext cx="15082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unstable</a:t>
            </a:r>
            <a:endParaRPr lang="zh-TW" altLang="en-US" sz="2400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458244"/>
            <a:ext cx="4029075" cy="3095625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1278554" y="5963681"/>
            <a:ext cx="6586891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The colors represent the total C on all training data.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01318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Mini-batch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258864" y="1778496"/>
            <a:ext cx="421911" cy="671513"/>
            <a:chOff x="510563" y="3417283"/>
            <a:chExt cx="421911" cy="671513"/>
          </a:xfrm>
        </p:grpSpPr>
        <p:sp>
          <p:nvSpPr>
            <p:cNvPr id="5" name="矩形 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510563" y="3522206"/>
              <a:ext cx="42191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</p:grpSp>
      <p:sp>
        <p:nvSpPr>
          <p:cNvPr id="13" name="矩形 12"/>
          <p:cNvSpPr/>
          <p:nvPr/>
        </p:nvSpPr>
        <p:spPr>
          <a:xfrm>
            <a:off x="2058789" y="1781067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 rot="5400000">
            <a:off x="2281307" y="3323803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1627406" y="2114251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3027655" y="2109044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3426170" y="1778496"/>
            <a:ext cx="428323" cy="671513"/>
            <a:chOff x="507357" y="3417283"/>
            <a:chExt cx="428323" cy="671513"/>
          </a:xfrm>
        </p:grpSpPr>
        <p:sp>
          <p:nvSpPr>
            <p:cNvPr id="25" name="矩形 2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07357" y="3522206"/>
              <a:ext cx="428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</p:grpSp>
      <p:sp>
        <p:nvSpPr>
          <p:cNvPr id="33" name="矩形 32"/>
          <p:cNvSpPr/>
          <p:nvPr/>
        </p:nvSpPr>
        <p:spPr>
          <a:xfrm>
            <a:off x="4444214" y="1778496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4433773" y="1952099"/>
                <a:ext cx="3914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773" y="1952099"/>
                <a:ext cx="39145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8462" t="-16393" r="-47692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左-右雙向箭號 38"/>
          <p:cNvSpPr/>
          <p:nvPr/>
        </p:nvSpPr>
        <p:spPr>
          <a:xfrm>
            <a:off x="3785800" y="2070470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3927373" y="2265204"/>
                <a:ext cx="4072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373" y="2265204"/>
                <a:ext cx="407291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6418" t="-1667" r="-597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/>
          <p:cNvGrpSpPr/>
          <p:nvPr/>
        </p:nvGrpSpPr>
        <p:grpSpPr>
          <a:xfrm>
            <a:off x="1209850" y="2586461"/>
            <a:ext cx="526106" cy="671513"/>
            <a:chOff x="458466" y="3417283"/>
            <a:chExt cx="526106" cy="671513"/>
          </a:xfrm>
        </p:grpSpPr>
        <p:sp>
          <p:nvSpPr>
            <p:cNvPr id="48" name="矩形 47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49" name="矩形 48"/>
            <p:cNvSpPr/>
            <p:nvPr/>
          </p:nvSpPr>
          <p:spPr>
            <a:xfrm>
              <a:off x="458466" y="3522206"/>
              <a:ext cx="52610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31</a:t>
              </a:r>
              <a:endParaRPr lang="zh-TW" altLang="en-US" sz="2400" baseline="30000" dirty="0"/>
            </a:p>
          </p:txBody>
        </p:sp>
      </p:grpSp>
      <p:sp>
        <p:nvSpPr>
          <p:cNvPr id="50" name="矩形 49"/>
          <p:cNvSpPr/>
          <p:nvPr/>
        </p:nvSpPr>
        <p:spPr>
          <a:xfrm>
            <a:off x="2061873" y="2580637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cxnSp>
        <p:nvCxnSpPr>
          <p:cNvPr id="51" name="直線單箭頭接點 50"/>
          <p:cNvCxnSpPr/>
          <p:nvPr/>
        </p:nvCxnSpPr>
        <p:spPr>
          <a:xfrm flipV="1">
            <a:off x="1627529" y="2922216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V="1">
            <a:off x="3027778" y="2917009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群組 52"/>
          <p:cNvGrpSpPr/>
          <p:nvPr/>
        </p:nvGrpSpPr>
        <p:grpSpPr>
          <a:xfrm>
            <a:off x="3377157" y="2586461"/>
            <a:ext cx="532518" cy="671513"/>
            <a:chOff x="455261" y="3417283"/>
            <a:chExt cx="532518" cy="671513"/>
          </a:xfrm>
        </p:grpSpPr>
        <p:sp>
          <p:nvSpPr>
            <p:cNvPr id="54" name="矩形 53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455261" y="3522206"/>
              <a:ext cx="5325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31</a:t>
              </a:r>
              <a:endParaRPr lang="zh-TW" altLang="en-US" sz="2400" baseline="30000" dirty="0"/>
            </a:p>
          </p:txBody>
        </p:sp>
      </p:grpSp>
      <p:sp>
        <p:nvSpPr>
          <p:cNvPr id="56" name="矩形 55"/>
          <p:cNvSpPr/>
          <p:nvPr/>
        </p:nvSpPr>
        <p:spPr>
          <a:xfrm>
            <a:off x="4447297" y="2586461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4447297" y="2748469"/>
                <a:ext cx="5279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297" y="2748469"/>
                <a:ext cx="527901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3953" t="-18333" r="-33721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左-右雙向箭號 57"/>
          <p:cNvSpPr/>
          <p:nvPr/>
        </p:nvSpPr>
        <p:spPr>
          <a:xfrm>
            <a:off x="3783522" y="2852030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3926811" y="3109079"/>
                <a:ext cx="5437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11" y="3109079"/>
                <a:ext cx="543739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2360" r="-4494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圖片 59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53541" y="1961431"/>
            <a:ext cx="360000" cy="3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1" name="圖片 60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11991" y="4331374"/>
            <a:ext cx="360000" cy="3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2" name="圖片 6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24563" y="2718563"/>
            <a:ext cx="360000" cy="3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3" name="圖片 62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778436" y="5322008"/>
            <a:ext cx="360000" cy="36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65" name="群組 64"/>
          <p:cNvGrpSpPr/>
          <p:nvPr/>
        </p:nvGrpSpPr>
        <p:grpSpPr>
          <a:xfrm>
            <a:off x="1244871" y="4218355"/>
            <a:ext cx="421910" cy="671513"/>
            <a:chOff x="510564" y="3417283"/>
            <a:chExt cx="421910" cy="671513"/>
          </a:xfrm>
        </p:grpSpPr>
        <p:sp>
          <p:nvSpPr>
            <p:cNvPr id="66" name="矩形 65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67" name="矩形 66"/>
            <p:cNvSpPr/>
            <p:nvPr/>
          </p:nvSpPr>
          <p:spPr>
            <a:xfrm>
              <a:off x="510564" y="3522206"/>
              <a:ext cx="4219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</p:grpSp>
      <p:sp>
        <p:nvSpPr>
          <p:cNvPr id="68" name="矩形 67"/>
          <p:cNvSpPr/>
          <p:nvPr/>
        </p:nvSpPr>
        <p:spPr>
          <a:xfrm>
            <a:off x="2044795" y="4220926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69" name="文字方塊 68"/>
          <p:cNvSpPr txBox="1"/>
          <p:nvPr/>
        </p:nvSpPr>
        <p:spPr>
          <a:xfrm rot="5400000">
            <a:off x="2266552" y="5908663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70" name="直線單箭頭接點 69"/>
          <p:cNvCxnSpPr/>
          <p:nvPr/>
        </p:nvCxnSpPr>
        <p:spPr>
          <a:xfrm flipV="1">
            <a:off x="1613412" y="4554110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3013661" y="4548903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群組 71"/>
          <p:cNvGrpSpPr/>
          <p:nvPr/>
        </p:nvGrpSpPr>
        <p:grpSpPr>
          <a:xfrm>
            <a:off x="3412177" y="4218355"/>
            <a:ext cx="428322" cy="671513"/>
            <a:chOff x="507358" y="3417283"/>
            <a:chExt cx="428322" cy="671513"/>
          </a:xfrm>
        </p:grpSpPr>
        <p:sp>
          <p:nvSpPr>
            <p:cNvPr id="73" name="矩形 72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74" name="矩形 73"/>
            <p:cNvSpPr/>
            <p:nvPr/>
          </p:nvSpPr>
          <p:spPr>
            <a:xfrm>
              <a:off x="507358" y="3522206"/>
              <a:ext cx="4283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</p:grpSp>
      <p:sp>
        <p:nvSpPr>
          <p:cNvPr id="75" name="矩形 74"/>
          <p:cNvSpPr/>
          <p:nvPr/>
        </p:nvSpPr>
        <p:spPr>
          <a:xfrm>
            <a:off x="4430220" y="4218355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4419779" y="4391958"/>
                <a:ext cx="398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779" y="4391958"/>
                <a:ext cx="398058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18462" t="-16393" r="-49231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左-右雙向箭號 76"/>
          <p:cNvSpPr/>
          <p:nvPr/>
        </p:nvSpPr>
        <p:spPr>
          <a:xfrm>
            <a:off x="3771806" y="4510329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3913379" y="4705063"/>
                <a:ext cx="4138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379" y="4705063"/>
                <a:ext cx="413896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17647" r="-5882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/>
          <p:cNvGrpSpPr/>
          <p:nvPr/>
        </p:nvGrpSpPr>
        <p:grpSpPr>
          <a:xfrm>
            <a:off x="1210370" y="5171460"/>
            <a:ext cx="526106" cy="671513"/>
            <a:chOff x="458466" y="3417283"/>
            <a:chExt cx="526106" cy="671513"/>
          </a:xfrm>
        </p:grpSpPr>
        <p:sp>
          <p:nvSpPr>
            <p:cNvPr id="80" name="矩形 79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81" name="矩形 80"/>
            <p:cNvSpPr/>
            <p:nvPr/>
          </p:nvSpPr>
          <p:spPr>
            <a:xfrm>
              <a:off x="458466" y="3522206"/>
              <a:ext cx="52610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16</a:t>
              </a:r>
              <a:endParaRPr lang="zh-TW" altLang="en-US" sz="2400" baseline="30000" dirty="0"/>
            </a:p>
          </p:txBody>
        </p:sp>
      </p:grpSp>
      <p:sp>
        <p:nvSpPr>
          <p:cNvPr id="82" name="矩形 81"/>
          <p:cNvSpPr/>
          <p:nvPr/>
        </p:nvSpPr>
        <p:spPr>
          <a:xfrm>
            <a:off x="2062393" y="5165636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cxnSp>
        <p:nvCxnSpPr>
          <p:cNvPr id="83" name="直線單箭頭接點 82"/>
          <p:cNvCxnSpPr/>
          <p:nvPr/>
        </p:nvCxnSpPr>
        <p:spPr>
          <a:xfrm flipV="1">
            <a:off x="1628049" y="5507215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V="1">
            <a:off x="3028298" y="5502008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群組 84"/>
          <p:cNvGrpSpPr/>
          <p:nvPr/>
        </p:nvGrpSpPr>
        <p:grpSpPr>
          <a:xfrm>
            <a:off x="3377677" y="5171460"/>
            <a:ext cx="532518" cy="671513"/>
            <a:chOff x="455261" y="3417283"/>
            <a:chExt cx="532518" cy="671513"/>
          </a:xfrm>
        </p:grpSpPr>
        <p:sp>
          <p:nvSpPr>
            <p:cNvPr id="86" name="矩形 85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87" name="矩形 86"/>
            <p:cNvSpPr/>
            <p:nvPr/>
          </p:nvSpPr>
          <p:spPr>
            <a:xfrm>
              <a:off x="455261" y="3522206"/>
              <a:ext cx="5325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16</a:t>
              </a:r>
              <a:endParaRPr lang="zh-TW" altLang="en-US" sz="2400" baseline="30000" dirty="0"/>
            </a:p>
          </p:txBody>
        </p:sp>
      </p:grpSp>
      <p:sp>
        <p:nvSpPr>
          <p:cNvPr id="88" name="矩形 87"/>
          <p:cNvSpPr/>
          <p:nvPr/>
        </p:nvSpPr>
        <p:spPr>
          <a:xfrm>
            <a:off x="4447817" y="5171460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/>
              <p:cNvSpPr txBox="1"/>
              <p:nvPr/>
            </p:nvSpPr>
            <p:spPr>
              <a:xfrm>
                <a:off x="4447817" y="5333468"/>
                <a:ext cx="5212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9" name="文字方塊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17" y="5333468"/>
                <a:ext cx="521297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14118" t="-18333" r="-35294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左-右雙向箭號 89"/>
          <p:cNvSpPr/>
          <p:nvPr/>
        </p:nvSpPr>
        <p:spPr>
          <a:xfrm>
            <a:off x="3784042" y="5437029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/>
              <p:cNvSpPr txBox="1"/>
              <p:nvPr/>
            </p:nvSpPr>
            <p:spPr>
              <a:xfrm>
                <a:off x="3927331" y="5694078"/>
                <a:ext cx="5371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1" name="文字方塊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331" y="5694078"/>
                <a:ext cx="537135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12500" r="-4545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字方塊 93"/>
          <p:cNvSpPr txBox="1"/>
          <p:nvPr/>
        </p:nvSpPr>
        <p:spPr>
          <a:xfrm>
            <a:off x="5201054" y="1834082"/>
            <a:ext cx="306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altLang="zh-TW" sz="2400" dirty="0"/>
              <a:t>Pick the 1</a:t>
            </a:r>
            <a:r>
              <a:rPr lang="en-US" altLang="zh-TW" sz="2400" baseline="30000" dirty="0"/>
              <a:t>st</a:t>
            </a:r>
            <a:r>
              <a:rPr lang="en-US" altLang="zh-TW" sz="2400" dirty="0"/>
              <a:t> batch</a:t>
            </a:r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5166387" y="1371722"/>
                <a:ext cx="34389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Wingdings" panose="05000000000000000000" pitchFamily="2" charset="2"/>
                  <a:buChar char="Ø"/>
                </a:pPr>
                <a:r>
                  <a:rPr lang="en-US" altLang="zh-TW" sz="2400" dirty="0"/>
                  <a:t>Randomly 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baseline="30000" dirty="0"/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387" y="1371722"/>
                <a:ext cx="3438906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248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/>
              <p:cNvSpPr txBox="1"/>
              <p:nvPr/>
            </p:nvSpPr>
            <p:spPr>
              <a:xfrm>
                <a:off x="5802640" y="2782316"/>
                <a:ext cx="26541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6" name="文字方塊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640" y="2782316"/>
                <a:ext cx="2654188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2299" b="-32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字方塊 96"/>
          <p:cNvSpPr txBox="1"/>
          <p:nvPr/>
        </p:nvSpPr>
        <p:spPr>
          <a:xfrm>
            <a:off x="5214990" y="3136165"/>
            <a:ext cx="306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altLang="zh-TW" sz="2400" dirty="0"/>
              <a:t>Pick the 2</a:t>
            </a:r>
            <a:r>
              <a:rPr lang="en-US" altLang="zh-TW" sz="2400" baseline="30000" dirty="0"/>
              <a:t>nd</a:t>
            </a:r>
            <a:r>
              <a:rPr lang="en-US" altLang="zh-TW" sz="2400" dirty="0"/>
              <a:t> batch</a:t>
            </a:r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5795308" y="4100090"/>
                <a:ext cx="26475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08" y="4100090"/>
                <a:ext cx="2647584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2304" t="-1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字方塊 100"/>
          <p:cNvSpPr txBox="1"/>
          <p:nvPr/>
        </p:nvSpPr>
        <p:spPr>
          <a:xfrm>
            <a:off x="5228849" y="4734287"/>
            <a:ext cx="35372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altLang="zh-TW" sz="2400" dirty="0"/>
              <a:t>Until all mini-batches have been picked</a:t>
            </a:r>
            <a:endParaRPr lang="zh-TW" altLang="en-US" sz="2400" baseline="30000" dirty="0"/>
          </a:p>
        </p:txBody>
      </p:sp>
      <p:sp>
        <p:nvSpPr>
          <p:cNvPr id="102" name="文字方塊 101"/>
          <p:cNvSpPr txBox="1"/>
          <p:nvPr/>
        </p:nvSpPr>
        <p:spPr>
          <a:xfrm rot="5400000">
            <a:off x="6523363" y="4589259"/>
            <a:ext cx="751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…</a:t>
            </a:r>
            <a:endParaRPr lang="zh-TW" altLang="en-US" sz="2400" baseline="30000" dirty="0"/>
          </a:p>
        </p:txBody>
      </p:sp>
      <p:sp>
        <p:nvSpPr>
          <p:cNvPr id="103" name="矩形 102"/>
          <p:cNvSpPr/>
          <p:nvPr/>
        </p:nvSpPr>
        <p:spPr>
          <a:xfrm>
            <a:off x="5849733" y="5596570"/>
            <a:ext cx="2209169" cy="44716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one epoch</a:t>
            </a:r>
            <a:endParaRPr lang="zh-TW" altLang="en-US" sz="2400" dirty="0"/>
          </a:p>
        </p:txBody>
      </p:sp>
      <p:sp>
        <p:nvSpPr>
          <p:cNvPr id="104" name="矩形 103"/>
          <p:cNvSpPr/>
          <p:nvPr/>
        </p:nvSpPr>
        <p:spPr>
          <a:xfrm>
            <a:off x="5185680" y="1883419"/>
            <a:ext cx="3537276" cy="372802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4270486" y="655261"/>
            <a:ext cx="1420711" cy="56846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Faster</a:t>
            </a:r>
            <a:endParaRPr lang="zh-TW" altLang="en-US" sz="2800" dirty="0"/>
          </a:p>
        </p:txBody>
      </p:sp>
      <p:sp>
        <p:nvSpPr>
          <p:cNvPr id="106" name="矩形 105"/>
          <p:cNvSpPr/>
          <p:nvPr/>
        </p:nvSpPr>
        <p:spPr>
          <a:xfrm>
            <a:off x="5833871" y="655261"/>
            <a:ext cx="1420711" cy="56846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Better!</a:t>
            </a:r>
            <a:endParaRPr lang="zh-TW" altLang="en-US" sz="2800" dirty="0"/>
          </a:p>
        </p:txBody>
      </p:sp>
      <p:sp>
        <p:nvSpPr>
          <p:cNvPr id="107" name="文字方塊 106"/>
          <p:cNvSpPr txBox="1"/>
          <p:nvPr/>
        </p:nvSpPr>
        <p:spPr>
          <a:xfrm rot="16200000">
            <a:off x="-479666" y="2468681"/>
            <a:ext cx="1677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Mini-batch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08" name="文字方塊 107"/>
          <p:cNvSpPr txBox="1"/>
          <p:nvPr/>
        </p:nvSpPr>
        <p:spPr>
          <a:xfrm rot="16200000">
            <a:off x="-488377" y="4939476"/>
            <a:ext cx="1677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Mini-batch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648662" y="1634942"/>
            <a:ext cx="4279192" cy="2310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矩形 109"/>
          <p:cNvSpPr/>
          <p:nvPr/>
        </p:nvSpPr>
        <p:spPr>
          <a:xfrm>
            <a:off x="648662" y="4132044"/>
            <a:ext cx="4279192" cy="2310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矩形 110"/>
          <p:cNvSpPr/>
          <p:nvPr/>
        </p:nvSpPr>
        <p:spPr>
          <a:xfrm>
            <a:off x="5236213" y="6141503"/>
            <a:ext cx="3436207" cy="51835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Repeat the above process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5795308" y="2319763"/>
                <a:ext cx="24751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08" y="2319763"/>
                <a:ext cx="2475165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2463" t="-1667" r="-493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/>
              <p:cNvSpPr txBox="1"/>
              <p:nvPr/>
            </p:nvSpPr>
            <p:spPr>
              <a:xfrm>
                <a:off x="5809244" y="3664294"/>
                <a:ext cx="24751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3" name="文字方塊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244" y="3664294"/>
                <a:ext cx="2475165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2463" r="-493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05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3" grpId="0" animBg="1"/>
      <p:bldP spid="104" grpId="0" animBg="1"/>
      <p:bldP spid="105" grpId="0" animBg="1"/>
      <p:bldP spid="106" grpId="0" animBg="1"/>
      <p:bldP spid="1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4" name="Picture 6" descr="http://cdn.geekwire.com/wp-content/uploads/2015/11/google-Tensor-Flo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298" y="4464855"/>
            <a:ext cx="1715402" cy="139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A network can have millions of parameters.</a:t>
            </a:r>
          </a:p>
          <a:p>
            <a:pPr lvl="1"/>
            <a:r>
              <a:rPr lang="en-US" altLang="zh-TW" dirty="0"/>
              <a:t>Backpropagation is the way to compute the gradients efficiently (not today)</a:t>
            </a:r>
          </a:p>
          <a:p>
            <a:pPr lvl="1"/>
            <a:r>
              <a:rPr lang="en-US" altLang="zh-TW" dirty="0"/>
              <a:t>Ref: http://speech.ee.ntu.edu.tw/~tlkagk/courses/MLDS_2015_2/Lecture/DNN%20backprop.ecm.mp4/index.html</a:t>
            </a:r>
          </a:p>
          <a:p>
            <a:r>
              <a:rPr lang="en-US" altLang="zh-TW" sz="2400" dirty="0"/>
              <a:t>Many toolkits can compute the gradients automatically</a:t>
            </a:r>
          </a:p>
        </p:txBody>
      </p:sp>
      <p:pic>
        <p:nvPicPr>
          <p:cNvPr id="73730" name="Picture 2" descr="http://deeplearning.net/software/theano/_static/theano_logo_allblue_200x4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69" y="4746227"/>
            <a:ext cx="2547469" cy="58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732" name="Picture 4" descr="http://devblogs.nvidia.com/parallelforall/wp-content/uploads/sites/3/2015/03/torch_lstm_thumb-179x11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548" y="4578464"/>
            <a:ext cx="1999261" cy="128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628650" y="5576798"/>
            <a:ext cx="8271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Ref: http://speech.ee.ntu.edu.tw/~tlkagk/courses/MLDS_2015_2/Lecture/Theano%20DNN.ecm.mp4/index.html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2791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23789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dirty="0"/>
              <a:t>Part II:</a:t>
            </a:r>
            <a:br>
              <a:rPr lang="en-US" altLang="zh-TW" dirty="0"/>
            </a:br>
            <a:r>
              <a:rPr lang="en-US" altLang="zh-TW" dirty="0">
                <a:solidFill>
                  <a:srgbClr val="0000FF"/>
                </a:solidFill>
              </a:rPr>
              <a:t>Why Deep?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9458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699191"/>
              </p:ext>
            </p:extLst>
          </p:nvPr>
        </p:nvGraphicFramePr>
        <p:xfrm>
          <a:off x="927700" y="1901893"/>
          <a:ext cx="7288600" cy="402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2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Layer</a:t>
                      </a:r>
                      <a:r>
                        <a:rPr lang="en-US" altLang="zh-TW" sz="2400" baseline="0" dirty="0"/>
                        <a:t> X</a:t>
                      </a:r>
                      <a:r>
                        <a:rPr lang="en-US" altLang="zh-TW" sz="2400" dirty="0"/>
                        <a:t> Size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Word Error Rate (%)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Layer</a:t>
                      </a:r>
                      <a:r>
                        <a:rPr lang="en-US" altLang="zh-TW" sz="2400" baseline="0" dirty="0"/>
                        <a:t> X</a:t>
                      </a:r>
                      <a:r>
                        <a:rPr lang="en-US" altLang="zh-TW" sz="2400" dirty="0"/>
                        <a:t> Size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Word Error Rate (%)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24.2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2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18.4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17.8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5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 X 3772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22.5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7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 X 4634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22.6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 X</a:t>
                      </a:r>
                      <a:r>
                        <a:rPr lang="en-US" altLang="zh-TW" sz="2400" baseline="0" dirty="0"/>
                        <a:t> 16k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Deeper is Better?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29440" y="6051166"/>
            <a:ext cx="78351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>
                <a:latin typeface="Arial" panose="020B0604020202020204" pitchFamily="34" charset="0"/>
              </a:rPr>
              <a:t>Seide</a:t>
            </a:r>
            <a:r>
              <a:rPr lang="en-US" altLang="zh-TW" dirty="0">
                <a:latin typeface="Arial" panose="020B0604020202020204" pitchFamily="34" charset="0"/>
              </a:rPr>
              <a:t>, Frank, Gang Li, and Dong Yu. "Conversational Speech Transcription Using Context-Dependent Deep Neural Networks." </a:t>
            </a:r>
            <a:r>
              <a:rPr lang="en-US" altLang="zh-TW" i="1" dirty="0" err="1">
                <a:latin typeface="Arial" panose="020B0604020202020204" pitchFamily="34" charset="0"/>
              </a:rPr>
              <a:t>Interspeech</a:t>
            </a:r>
            <a:r>
              <a:rPr lang="en-US" altLang="zh-TW" dirty="0">
                <a:latin typeface="Arial" panose="020B0604020202020204" pitchFamily="34" charset="0"/>
              </a:rPr>
              <a:t>. 2011.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71999" y="1276350"/>
            <a:ext cx="3943350" cy="4711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4747016" y="3221075"/>
            <a:ext cx="37695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</a:rPr>
              <a:t>Not surprised, more parameters, better performance 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7699" y="1901893"/>
            <a:ext cx="3644299" cy="40233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0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507376" y="1631048"/>
            <a:ext cx="2689840" cy="280912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Universality Theorem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26190" y="4404313"/>
            <a:ext cx="29306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Reference</a:t>
            </a:r>
            <a:r>
              <a:rPr lang="zh-TW" altLang="en-US" dirty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for the reason: </a:t>
            </a:r>
            <a:r>
              <a:rPr lang="zh-TW" altLang="en-US" u="sng" dirty="0"/>
              <a:t>http://neuralnetworksanddeeplearning.com/chap4.html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935342" y="1893033"/>
            <a:ext cx="4390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Any continuous function f</a:t>
            </a:r>
            <a:endParaRPr lang="zh-TW" altLang="en-US" sz="2800" dirty="0"/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574577"/>
              </p:ext>
            </p:extLst>
          </p:nvPr>
        </p:nvGraphicFramePr>
        <p:xfrm>
          <a:off x="1805231" y="2579752"/>
          <a:ext cx="2342046" cy="63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9" name="方程式" r:id="rId5" imgW="850680" imgH="228600" progId="Equation.3">
                  <p:embed/>
                </p:oleObj>
              </mc:Choice>
              <mc:Fallback>
                <p:oleObj name="方程式" r:id="rId5" imgW="8506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231" y="2579752"/>
                        <a:ext cx="2342046" cy="63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874966" y="3364330"/>
            <a:ext cx="43908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Can be realized by a network with one hidden layer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65786" y="4430840"/>
            <a:ext cx="4220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(given </a:t>
            </a:r>
            <a:r>
              <a:rPr lang="en-US" altLang="zh-TW" sz="2800" b="1" dirty="0"/>
              <a:t>enough</a:t>
            </a:r>
            <a:r>
              <a:rPr lang="en-US" altLang="zh-TW" sz="2800" dirty="0"/>
              <a:t> hidden neurons)</a:t>
            </a:r>
            <a:endParaRPr lang="zh-TW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510547" y="5842685"/>
            <a:ext cx="81229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Why “Deep” neural network not “Fat” neural network?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11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0" grpId="0"/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Fat + Short </a:t>
            </a:r>
            <a:r>
              <a:rPr lang="en-US" altLang="zh-TW" dirty="0" err="1"/>
              <a:t>v.s</a:t>
            </a:r>
            <a:r>
              <a:rPr lang="en-US" altLang="zh-TW" dirty="0"/>
              <a:t>. Thin + Tall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 rot="5400000">
            <a:off x="6149823" y="4483524"/>
            <a:ext cx="714976" cy="2524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rot="5400000">
            <a:off x="6147437" y="3651090"/>
            <a:ext cx="714976" cy="19678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 rot="5400000">
            <a:off x="6155580" y="2541201"/>
            <a:ext cx="714976" cy="19841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6113134" y="1393429"/>
            <a:ext cx="714976" cy="17696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5" name="群組 44"/>
          <p:cNvGrpSpPr/>
          <p:nvPr/>
        </p:nvGrpSpPr>
        <p:grpSpPr>
          <a:xfrm>
            <a:off x="5414826" y="5343054"/>
            <a:ext cx="2283266" cy="556872"/>
            <a:chOff x="755858" y="5735182"/>
            <a:chExt cx="2283266" cy="556872"/>
          </a:xfrm>
        </p:grpSpPr>
        <p:grpSp>
          <p:nvGrpSpPr>
            <p:cNvPr id="77" name="群組 76"/>
            <p:cNvGrpSpPr/>
            <p:nvPr/>
          </p:nvGrpSpPr>
          <p:grpSpPr>
            <a:xfrm>
              <a:off x="755858" y="5895047"/>
              <a:ext cx="289125" cy="383103"/>
              <a:chOff x="2268775" y="3538012"/>
              <a:chExt cx="289125" cy="383103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2268775" y="3617002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6" name="Object 1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79483" y="3538012"/>
              <a:ext cx="274401" cy="383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588" name="方程式" r:id="rId4" imgW="152280" imgH="215640" progId="Equation.3">
                      <p:embed/>
                    </p:oleObj>
                  </mc:Choice>
                  <mc:Fallback>
                    <p:oleObj name="方程式" r:id="rId4" imgW="15228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79483" y="3538012"/>
                            <a:ext cx="274401" cy="383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8" name="群組 77"/>
            <p:cNvGrpSpPr/>
            <p:nvPr/>
          </p:nvGrpSpPr>
          <p:grpSpPr>
            <a:xfrm>
              <a:off x="1456763" y="5895047"/>
              <a:ext cx="317234" cy="383104"/>
              <a:chOff x="2263870" y="4021266"/>
              <a:chExt cx="317234" cy="383104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2263870" y="4089974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4" name="Object 1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83948" y="4021266"/>
              <a:ext cx="297156" cy="383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589" name="方程式" r:id="rId6" imgW="164880" imgH="215640" progId="Equation.3">
                      <p:embed/>
                    </p:oleObj>
                  </mc:Choice>
                  <mc:Fallback>
                    <p:oleObj name="方程式" r:id="rId6" imgW="16488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3948" y="4021266"/>
                            <a:ext cx="297156" cy="3831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9" name="文字方塊 78"/>
            <p:cNvSpPr txBox="1"/>
            <p:nvPr/>
          </p:nvSpPr>
          <p:spPr>
            <a:xfrm>
              <a:off x="1728860" y="5735182"/>
              <a:ext cx="10613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grpSp>
          <p:nvGrpSpPr>
            <p:cNvPr id="80" name="群組 79"/>
            <p:cNvGrpSpPr/>
            <p:nvPr/>
          </p:nvGrpSpPr>
          <p:grpSpPr>
            <a:xfrm>
              <a:off x="2687405" y="5886570"/>
              <a:ext cx="351719" cy="405484"/>
              <a:chOff x="2257778" y="5192060"/>
              <a:chExt cx="351719" cy="405484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2257778" y="5273306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2" name="Object 1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266830" y="5192060"/>
              <a:ext cx="342667" cy="4054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590" name="方程式" r:id="rId8" imgW="190440" imgH="228600" progId="Equation.3">
                      <p:embed/>
                    </p:oleObj>
                  </mc:Choice>
                  <mc:Fallback>
                    <p:oleObj name="方程式" r:id="rId8" imgW="19044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6830" y="5192060"/>
                            <a:ext cx="342667" cy="4054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6" name="橢圓 45"/>
          <p:cNvSpPr/>
          <p:nvPr/>
        </p:nvSpPr>
        <p:spPr>
          <a:xfrm>
            <a:off x="5713181" y="4418969"/>
            <a:ext cx="484116" cy="47614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6828491" y="4386146"/>
            <a:ext cx="484116" cy="47614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0" name="直線單箭頭接點 49"/>
          <p:cNvCxnSpPr/>
          <p:nvPr/>
        </p:nvCxnSpPr>
        <p:spPr>
          <a:xfrm flipH="1" flipV="1">
            <a:off x="5941237" y="4921949"/>
            <a:ext cx="341060" cy="6496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47" idx="4"/>
          </p:cNvCxnSpPr>
          <p:nvPr/>
        </p:nvCxnSpPr>
        <p:spPr>
          <a:xfrm flipH="1" flipV="1">
            <a:off x="7070549" y="4862293"/>
            <a:ext cx="437011" cy="7257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endCxn id="46" idx="4"/>
          </p:cNvCxnSpPr>
          <p:nvPr/>
        </p:nvCxnSpPr>
        <p:spPr>
          <a:xfrm flipH="1" flipV="1">
            <a:off x="5955239" y="4895116"/>
            <a:ext cx="1571012" cy="7452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86" idx="0"/>
            <a:endCxn id="46" idx="4"/>
          </p:cNvCxnSpPr>
          <p:nvPr/>
        </p:nvCxnSpPr>
        <p:spPr>
          <a:xfrm flipV="1">
            <a:off x="5562734" y="4895116"/>
            <a:ext cx="392505" cy="6078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84" idx="0"/>
            <a:endCxn id="47" idx="4"/>
          </p:cNvCxnSpPr>
          <p:nvPr/>
        </p:nvCxnSpPr>
        <p:spPr>
          <a:xfrm flipV="1">
            <a:off x="6284387" y="4862293"/>
            <a:ext cx="786162" cy="6406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5692478" y="3257555"/>
            <a:ext cx="484116" cy="4761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6817987" y="3275939"/>
            <a:ext cx="484116" cy="4761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5694883" y="2005207"/>
            <a:ext cx="484116" cy="4761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6808838" y="1990978"/>
            <a:ext cx="484116" cy="4761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/>
          <p:cNvCxnSpPr>
            <a:stCxn id="57" idx="0"/>
            <a:endCxn id="61" idx="4"/>
          </p:cNvCxnSpPr>
          <p:nvPr/>
        </p:nvCxnSpPr>
        <p:spPr>
          <a:xfrm flipV="1">
            <a:off x="5934536" y="2481354"/>
            <a:ext cx="2405" cy="776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58" idx="0"/>
            <a:endCxn id="61" idx="4"/>
          </p:cNvCxnSpPr>
          <p:nvPr/>
        </p:nvCxnSpPr>
        <p:spPr>
          <a:xfrm flipH="1" flipV="1">
            <a:off x="5936941" y="2481354"/>
            <a:ext cx="1123104" cy="7945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8" idx="0"/>
            <a:endCxn id="62" idx="4"/>
          </p:cNvCxnSpPr>
          <p:nvPr/>
        </p:nvCxnSpPr>
        <p:spPr>
          <a:xfrm flipH="1" flipV="1">
            <a:off x="7050896" y="2467125"/>
            <a:ext cx="9149" cy="808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57" idx="0"/>
            <a:endCxn id="62" idx="4"/>
          </p:cNvCxnSpPr>
          <p:nvPr/>
        </p:nvCxnSpPr>
        <p:spPr>
          <a:xfrm flipV="1">
            <a:off x="5934536" y="2467125"/>
            <a:ext cx="1116360" cy="790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5263063" y="6119354"/>
            <a:ext cx="2477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Deep</a:t>
            </a:r>
            <a:endParaRPr lang="zh-TW" altLang="en-US" sz="2800" dirty="0"/>
          </a:p>
        </p:txBody>
      </p:sp>
      <p:cxnSp>
        <p:nvCxnSpPr>
          <p:cNvPr id="91" name="直線單箭頭接點 90"/>
          <p:cNvCxnSpPr/>
          <p:nvPr/>
        </p:nvCxnSpPr>
        <p:spPr>
          <a:xfrm flipV="1">
            <a:off x="5936941" y="1606868"/>
            <a:ext cx="8602" cy="397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7060045" y="1592639"/>
            <a:ext cx="8602" cy="397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群組 127"/>
          <p:cNvGrpSpPr/>
          <p:nvPr/>
        </p:nvGrpSpPr>
        <p:grpSpPr>
          <a:xfrm>
            <a:off x="361950" y="2795203"/>
            <a:ext cx="4495802" cy="3854835"/>
            <a:chOff x="361950" y="2795203"/>
            <a:chExt cx="4495802" cy="3854835"/>
          </a:xfrm>
        </p:grpSpPr>
        <p:sp>
          <p:nvSpPr>
            <p:cNvPr id="4" name="矩形 3"/>
            <p:cNvSpPr/>
            <p:nvPr/>
          </p:nvSpPr>
          <p:spPr>
            <a:xfrm rot="5400000">
              <a:off x="2252363" y="2404343"/>
              <a:ext cx="714976" cy="4495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 rot="5400000">
              <a:off x="2195397" y="2432167"/>
              <a:ext cx="714976" cy="20171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 rot="5400000">
              <a:off x="2331114" y="4469637"/>
              <a:ext cx="491526" cy="25647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1" name="群組 10"/>
            <p:cNvGrpSpPr/>
            <p:nvPr/>
          </p:nvGrpSpPr>
          <p:grpSpPr>
            <a:xfrm>
              <a:off x="1351533" y="3162509"/>
              <a:ext cx="2474555" cy="2765327"/>
              <a:chOff x="1091509" y="3383234"/>
              <a:chExt cx="2474555" cy="2765327"/>
            </a:xfrm>
          </p:grpSpPr>
          <p:sp>
            <p:nvSpPr>
              <p:cNvPr id="12" name="橢圓 11"/>
              <p:cNvSpPr/>
              <p:nvPr/>
            </p:nvSpPr>
            <p:spPr>
              <a:xfrm>
                <a:off x="1091509" y="4646168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3" name="群組 12"/>
              <p:cNvGrpSpPr/>
              <p:nvPr/>
            </p:nvGrpSpPr>
            <p:grpSpPr>
              <a:xfrm>
                <a:off x="1211127" y="5591689"/>
                <a:ext cx="2283266" cy="556872"/>
                <a:chOff x="755858" y="5735182"/>
                <a:chExt cx="2283266" cy="556872"/>
              </a:xfrm>
            </p:grpSpPr>
            <p:grpSp>
              <p:nvGrpSpPr>
                <p:cNvPr id="33" name="群組 32"/>
                <p:cNvGrpSpPr/>
                <p:nvPr/>
              </p:nvGrpSpPr>
              <p:grpSpPr>
                <a:xfrm>
                  <a:off x="755858" y="5895047"/>
                  <a:ext cx="289125" cy="383103"/>
                  <a:chOff x="2268775" y="3538012"/>
                  <a:chExt cx="289125" cy="383103"/>
                </a:xfrm>
              </p:grpSpPr>
              <p:sp>
                <p:nvSpPr>
                  <p:cNvPr id="41" name="矩形 40"/>
                  <p:cNvSpPr/>
                  <p:nvPr/>
                </p:nvSpPr>
                <p:spPr>
                  <a:xfrm>
                    <a:off x="2268775" y="3617002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42" name="Object 12"/>
                  <p:cNvGraphicFramePr>
                    <a:graphicFrameLocks noChangeAspect="1"/>
                  </p:cNvGraphicFramePr>
                  <p:nvPr>
                    <p:extLst/>
                  </p:nvPr>
                </p:nvGraphicFramePr>
                <p:xfrm>
                  <a:off x="2279483" y="3538012"/>
                  <a:ext cx="274401" cy="38310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2591" name="方程式" r:id="rId10" imgW="152280" imgH="215640" progId="Equation.3">
                          <p:embed/>
                        </p:oleObj>
                      </mc:Choice>
                      <mc:Fallback>
                        <p:oleObj name="方程式" r:id="rId10" imgW="152280" imgH="21564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79483" y="3538012"/>
                                <a:ext cx="274401" cy="38310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4" name="群組 33"/>
                <p:cNvGrpSpPr/>
                <p:nvPr/>
              </p:nvGrpSpPr>
              <p:grpSpPr>
                <a:xfrm>
                  <a:off x="1456763" y="5895047"/>
                  <a:ext cx="317234" cy="383104"/>
                  <a:chOff x="2263870" y="4021266"/>
                  <a:chExt cx="317234" cy="383104"/>
                </a:xfrm>
              </p:grpSpPr>
              <p:sp>
                <p:nvSpPr>
                  <p:cNvPr id="39" name="矩形 38"/>
                  <p:cNvSpPr/>
                  <p:nvPr/>
                </p:nvSpPr>
                <p:spPr>
                  <a:xfrm>
                    <a:off x="2263870" y="4089974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40" name="Object 12"/>
                  <p:cNvGraphicFramePr>
                    <a:graphicFrameLocks noChangeAspect="1"/>
                  </p:cNvGraphicFramePr>
                  <p:nvPr>
                    <p:extLst/>
                  </p:nvPr>
                </p:nvGraphicFramePr>
                <p:xfrm>
                  <a:off x="2283948" y="4021266"/>
                  <a:ext cx="297156" cy="38310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2592" name="方程式" r:id="rId11" imgW="164880" imgH="215640" progId="Equation.3">
                          <p:embed/>
                        </p:oleObj>
                      </mc:Choice>
                      <mc:Fallback>
                        <p:oleObj name="方程式" r:id="rId11" imgW="164880" imgH="21564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83948" y="4021266"/>
                                <a:ext cx="297156" cy="38310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35" name="文字方塊 34"/>
                <p:cNvSpPr txBox="1"/>
                <p:nvPr/>
              </p:nvSpPr>
              <p:spPr>
                <a:xfrm>
                  <a:off x="1728860" y="5735182"/>
                  <a:ext cx="106139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800" dirty="0"/>
                    <a:t>……</a:t>
                  </a:r>
                  <a:endParaRPr lang="zh-TW" altLang="en-US" sz="2800" dirty="0"/>
                </a:p>
              </p:txBody>
            </p:sp>
            <p:grpSp>
              <p:nvGrpSpPr>
                <p:cNvPr id="36" name="群組 35"/>
                <p:cNvGrpSpPr/>
                <p:nvPr/>
              </p:nvGrpSpPr>
              <p:grpSpPr>
                <a:xfrm>
                  <a:off x="2687405" y="5886570"/>
                  <a:ext cx="351719" cy="405484"/>
                  <a:chOff x="2257778" y="5192060"/>
                  <a:chExt cx="351719" cy="405484"/>
                </a:xfrm>
              </p:grpSpPr>
              <p:sp>
                <p:nvSpPr>
                  <p:cNvPr id="37" name="矩形 36"/>
                  <p:cNvSpPr/>
                  <p:nvPr/>
                </p:nvSpPr>
                <p:spPr>
                  <a:xfrm>
                    <a:off x="2257778" y="5273306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38" name="Object 12"/>
                  <p:cNvGraphicFramePr>
                    <a:graphicFrameLocks noChangeAspect="1"/>
                  </p:cNvGraphicFramePr>
                  <p:nvPr>
                    <p:extLst/>
                  </p:nvPr>
                </p:nvGraphicFramePr>
                <p:xfrm>
                  <a:off x="2266830" y="5192060"/>
                  <a:ext cx="342667" cy="40548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2593" name="方程式" r:id="rId12" imgW="190440" imgH="228600" progId="Equation.3">
                          <p:embed/>
                        </p:oleObj>
                      </mc:Choice>
                      <mc:Fallback>
                        <p:oleObj name="方程式" r:id="rId12" imgW="190440" imgH="2286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66830" y="5192060"/>
                                <a:ext cx="342667" cy="40548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14" name="橢圓 13"/>
              <p:cNvSpPr/>
              <p:nvPr/>
            </p:nvSpPr>
            <p:spPr>
              <a:xfrm>
                <a:off x="1836539" y="466652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3081948" y="4653966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2186531" y="4544968"/>
                <a:ext cx="10613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……</a:t>
                </a:r>
                <a:endParaRPr lang="zh-TW" altLang="en-US" sz="2800" dirty="0"/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1513734" y="3397463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2627689" y="3383234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9" name="直線單箭頭接點 18"/>
              <p:cNvCxnSpPr>
                <a:endCxn id="12" idx="4"/>
              </p:cNvCxnSpPr>
              <p:nvPr/>
            </p:nvCxnSpPr>
            <p:spPr>
              <a:xfrm flipV="1">
                <a:off x="1333567" y="5122315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2078597" y="5112033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3303861" y="5128445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>
                <a:endCxn id="14" idx="4"/>
              </p:cNvCxnSpPr>
              <p:nvPr/>
            </p:nvCxnSpPr>
            <p:spPr>
              <a:xfrm flipH="1" flipV="1">
                <a:off x="2078597" y="5142674"/>
                <a:ext cx="1164518" cy="6878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H="1" flipV="1">
                <a:off x="1349851" y="5128445"/>
                <a:ext cx="1951605" cy="7327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單箭頭接點 23"/>
              <p:cNvCxnSpPr>
                <a:endCxn id="14" idx="4"/>
              </p:cNvCxnSpPr>
              <p:nvPr/>
            </p:nvCxnSpPr>
            <p:spPr>
              <a:xfrm flipV="1">
                <a:off x="1337430" y="5142674"/>
                <a:ext cx="741167" cy="73107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單箭頭接點 24"/>
              <p:cNvCxnSpPr>
                <a:endCxn id="15" idx="4"/>
              </p:cNvCxnSpPr>
              <p:nvPr/>
            </p:nvCxnSpPr>
            <p:spPr>
              <a:xfrm flipV="1">
                <a:off x="2071100" y="5130113"/>
                <a:ext cx="1252906" cy="7133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單箭頭接點 25"/>
              <p:cNvCxnSpPr>
                <a:endCxn id="12" idx="4"/>
              </p:cNvCxnSpPr>
              <p:nvPr/>
            </p:nvCxnSpPr>
            <p:spPr>
              <a:xfrm flipH="1" flipV="1">
                <a:off x="1333567" y="5122315"/>
                <a:ext cx="664283" cy="72117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單箭頭接點 26"/>
              <p:cNvCxnSpPr>
                <a:stCxn id="12" idx="0"/>
                <a:endCxn id="17" idx="4"/>
              </p:cNvCxnSpPr>
              <p:nvPr/>
            </p:nvCxnSpPr>
            <p:spPr>
              <a:xfrm flipV="1">
                <a:off x="1333567" y="3873610"/>
                <a:ext cx="422225" cy="77255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/>
              <p:cNvCxnSpPr>
                <a:stCxn id="14" idx="0"/>
                <a:endCxn id="17" idx="4"/>
              </p:cNvCxnSpPr>
              <p:nvPr/>
            </p:nvCxnSpPr>
            <p:spPr>
              <a:xfrm flipH="1" flipV="1">
                <a:off x="1755792" y="3873610"/>
                <a:ext cx="322805" cy="7929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/>
              <p:cNvCxnSpPr>
                <a:stCxn id="15" idx="0"/>
                <a:endCxn id="17" idx="4"/>
              </p:cNvCxnSpPr>
              <p:nvPr/>
            </p:nvCxnSpPr>
            <p:spPr>
              <a:xfrm flipH="1" flipV="1">
                <a:off x="1755792" y="3873610"/>
                <a:ext cx="1568214" cy="7803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單箭頭接點 29"/>
              <p:cNvCxnSpPr>
                <a:stCxn id="15" idx="0"/>
                <a:endCxn id="18" idx="4"/>
              </p:cNvCxnSpPr>
              <p:nvPr/>
            </p:nvCxnSpPr>
            <p:spPr>
              <a:xfrm flipH="1" flipV="1">
                <a:off x="2869747" y="3859381"/>
                <a:ext cx="454259" cy="7945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/>
              <p:cNvCxnSpPr>
                <a:stCxn id="14" idx="0"/>
                <a:endCxn id="18" idx="4"/>
              </p:cNvCxnSpPr>
              <p:nvPr/>
            </p:nvCxnSpPr>
            <p:spPr>
              <a:xfrm flipV="1">
                <a:off x="2078597" y="3859381"/>
                <a:ext cx="791150" cy="80714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單箭頭接點 31"/>
              <p:cNvCxnSpPr>
                <a:stCxn id="12" idx="0"/>
                <a:endCxn id="18" idx="4"/>
              </p:cNvCxnSpPr>
              <p:nvPr/>
            </p:nvCxnSpPr>
            <p:spPr>
              <a:xfrm flipV="1">
                <a:off x="1333567" y="3859381"/>
                <a:ext cx="1536180" cy="7867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文字方塊 86"/>
            <p:cNvSpPr txBox="1"/>
            <p:nvPr/>
          </p:nvSpPr>
          <p:spPr>
            <a:xfrm>
              <a:off x="1276935" y="6126818"/>
              <a:ext cx="24774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Shallow</a:t>
              </a:r>
              <a:endParaRPr lang="zh-TW" altLang="en-US" sz="2800" dirty="0"/>
            </a:p>
          </p:txBody>
        </p:sp>
        <p:cxnSp>
          <p:nvCxnSpPr>
            <p:cNvPr id="89" name="直線單箭頭接點 88"/>
            <p:cNvCxnSpPr/>
            <p:nvPr/>
          </p:nvCxnSpPr>
          <p:spPr>
            <a:xfrm flipV="1">
              <a:off x="2022770" y="2826808"/>
              <a:ext cx="8602" cy="3972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/>
            <p:nvPr/>
          </p:nvCxnSpPr>
          <p:spPr>
            <a:xfrm flipV="1">
              <a:off x="3151277" y="2795203"/>
              <a:ext cx="8602" cy="3972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橢圓 92"/>
            <p:cNvSpPr/>
            <p:nvPr/>
          </p:nvSpPr>
          <p:spPr>
            <a:xfrm>
              <a:off x="533220" y="4405331"/>
              <a:ext cx="484116" cy="47614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4195437" y="4450170"/>
              <a:ext cx="484116" cy="47614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5" name="直線單箭頭接點 94"/>
            <p:cNvCxnSpPr>
              <a:endCxn id="94" idx="3"/>
            </p:cNvCxnSpPr>
            <p:nvPr/>
          </p:nvCxnSpPr>
          <p:spPr>
            <a:xfrm flipV="1">
              <a:off x="3541139" y="4856587"/>
              <a:ext cx="725195" cy="8310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>
              <a:endCxn id="93" idx="4"/>
            </p:cNvCxnSpPr>
            <p:nvPr/>
          </p:nvCxnSpPr>
          <p:spPr>
            <a:xfrm flipH="1" flipV="1">
              <a:off x="775278" y="4881478"/>
              <a:ext cx="2819573" cy="80620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>
              <a:endCxn id="94" idx="3"/>
            </p:cNvCxnSpPr>
            <p:nvPr/>
          </p:nvCxnSpPr>
          <p:spPr>
            <a:xfrm flipV="1">
              <a:off x="2346118" y="4856587"/>
              <a:ext cx="1920216" cy="7950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單箭頭接點 106"/>
            <p:cNvCxnSpPr>
              <a:endCxn id="93" idx="4"/>
            </p:cNvCxnSpPr>
            <p:nvPr/>
          </p:nvCxnSpPr>
          <p:spPr>
            <a:xfrm flipH="1" flipV="1">
              <a:off x="775278" y="4881478"/>
              <a:ext cx="1565332" cy="79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>
              <a:endCxn id="94" idx="3"/>
            </p:cNvCxnSpPr>
            <p:nvPr/>
          </p:nvCxnSpPr>
          <p:spPr>
            <a:xfrm flipV="1">
              <a:off x="1577134" y="4856587"/>
              <a:ext cx="2689200" cy="7950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單箭頭接點 112"/>
            <p:cNvCxnSpPr>
              <a:endCxn id="93" idx="4"/>
            </p:cNvCxnSpPr>
            <p:nvPr/>
          </p:nvCxnSpPr>
          <p:spPr>
            <a:xfrm flipH="1" flipV="1">
              <a:off x="775278" y="4881478"/>
              <a:ext cx="803632" cy="7589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>
              <a:stCxn id="94" idx="0"/>
            </p:cNvCxnSpPr>
            <p:nvPr/>
          </p:nvCxnSpPr>
          <p:spPr>
            <a:xfrm flipH="1" flipV="1">
              <a:off x="3222223" y="3701326"/>
              <a:ext cx="1215272" cy="7488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>
              <a:stCxn id="94" idx="0"/>
            </p:cNvCxnSpPr>
            <p:nvPr/>
          </p:nvCxnSpPr>
          <p:spPr>
            <a:xfrm flipH="1" flipV="1">
              <a:off x="2117281" y="3675932"/>
              <a:ext cx="2320214" cy="7742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>
              <a:endCxn id="18" idx="4"/>
            </p:cNvCxnSpPr>
            <p:nvPr/>
          </p:nvCxnSpPr>
          <p:spPr>
            <a:xfrm flipV="1">
              <a:off x="856319" y="3638656"/>
              <a:ext cx="2273452" cy="8115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單箭頭接點 123"/>
            <p:cNvCxnSpPr>
              <a:stCxn id="93" idx="0"/>
            </p:cNvCxnSpPr>
            <p:nvPr/>
          </p:nvCxnSpPr>
          <p:spPr>
            <a:xfrm flipV="1">
              <a:off x="775278" y="3679127"/>
              <a:ext cx="1189281" cy="7262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直線單箭頭接點 136"/>
          <p:cNvCxnSpPr/>
          <p:nvPr/>
        </p:nvCxnSpPr>
        <p:spPr>
          <a:xfrm flipV="1">
            <a:off x="5934536" y="3661383"/>
            <a:ext cx="2405" cy="776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/>
          <p:nvPr/>
        </p:nvCxnSpPr>
        <p:spPr>
          <a:xfrm flipH="1" flipV="1">
            <a:off x="5936941" y="3661383"/>
            <a:ext cx="1123104" cy="7945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單箭頭接點 138"/>
          <p:cNvCxnSpPr/>
          <p:nvPr/>
        </p:nvCxnSpPr>
        <p:spPr>
          <a:xfrm flipH="1" flipV="1">
            <a:off x="7050896" y="3647154"/>
            <a:ext cx="9149" cy="808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 flipV="1">
            <a:off x="5934536" y="3647154"/>
            <a:ext cx="1116360" cy="790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字方塊 146"/>
          <p:cNvSpPr txBox="1"/>
          <p:nvPr/>
        </p:nvSpPr>
        <p:spPr>
          <a:xfrm>
            <a:off x="2126391" y="4096121"/>
            <a:ext cx="5209843" cy="64633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bg1"/>
                </a:solidFill>
              </a:rPr>
              <a:t>Which one is better?</a:t>
            </a:r>
            <a:endParaRPr lang="zh-TW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718059" y="1641206"/>
            <a:ext cx="2969919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The same number of parameters</a:t>
            </a:r>
            <a:endParaRPr lang="zh-TW" altLang="en-US" sz="2800" dirty="0"/>
          </a:p>
        </p:txBody>
      </p:sp>
      <p:sp>
        <p:nvSpPr>
          <p:cNvPr id="43" name="左-右雙向箭號 42"/>
          <p:cNvSpPr/>
          <p:nvPr/>
        </p:nvSpPr>
        <p:spPr>
          <a:xfrm rot="20486886">
            <a:off x="3826753" y="2839509"/>
            <a:ext cx="1533838" cy="672579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53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  <p:bldP spid="3" grpId="0" animBg="1"/>
      <p:bldP spid="4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Fat + Short </a:t>
            </a:r>
            <a:r>
              <a:rPr lang="en-US" altLang="zh-TW" dirty="0" err="1"/>
              <a:t>v.s</a:t>
            </a:r>
            <a:r>
              <a:rPr lang="en-US" altLang="zh-TW" dirty="0"/>
              <a:t>. Thin + Tall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29440" y="6051166"/>
            <a:ext cx="78351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>
                <a:latin typeface="Arial" panose="020B0604020202020204" pitchFamily="34" charset="0"/>
              </a:rPr>
              <a:t>Seide</a:t>
            </a:r>
            <a:r>
              <a:rPr lang="en-US" altLang="zh-TW" dirty="0">
                <a:latin typeface="Arial" panose="020B0604020202020204" pitchFamily="34" charset="0"/>
              </a:rPr>
              <a:t>, Frank, Gang Li, and Dong Yu. "Conversational Speech Transcription Using Context-Dependent Deep Neural Networks." </a:t>
            </a:r>
            <a:r>
              <a:rPr lang="en-US" altLang="zh-TW" i="1" dirty="0" err="1">
                <a:latin typeface="Arial" panose="020B0604020202020204" pitchFamily="34" charset="0"/>
              </a:rPr>
              <a:t>Interspeech</a:t>
            </a:r>
            <a:r>
              <a:rPr lang="en-US" altLang="zh-TW" dirty="0">
                <a:latin typeface="Arial" panose="020B0604020202020204" pitchFamily="34" charset="0"/>
              </a:rPr>
              <a:t>. 2011.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185326"/>
              </p:ext>
            </p:extLst>
          </p:nvPr>
        </p:nvGraphicFramePr>
        <p:xfrm>
          <a:off x="927700" y="1901893"/>
          <a:ext cx="7288600" cy="402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2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Layer</a:t>
                      </a:r>
                      <a:r>
                        <a:rPr lang="en-US" altLang="zh-TW" sz="2400" baseline="0" dirty="0"/>
                        <a:t> X</a:t>
                      </a:r>
                      <a:r>
                        <a:rPr lang="en-US" altLang="zh-TW" sz="2400" dirty="0"/>
                        <a:t> Size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Word Error Rate (%)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Layer</a:t>
                      </a:r>
                      <a:r>
                        <a:rPr lang="en-US" altLang="zh-TW" sz="2400" baseline="0" dirty="0"/>
                        <a:t> X</a:t>
                      </a:r>
                      <a:r>
                        <a:rPr lang="en-US" altLang="zh-TW" sz="2400" dirty="0"/>
                        <a:t> Size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Word Error Rate (%)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24.2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2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18.4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17.8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5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 X 3772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22.5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7 X 2k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 X 4634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22.6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 X</a:t>
                      </a:r>
                      <a:r>
                        <a:rPr lang="en-US" altLang="zh-TW" sz="2400" baseline="0" dirty="0"/>
                        <a:t> 16k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22.1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左-右雙向箭號 2"/>
          <p:cNvSpPr/>
          <p:nvPr/>
        </p:nvSpPr>
        <p:spPr>
          <a:xfrm>
            <a:off x="4194628" y="4630057"/>
            <a:ext cx="696686" cy="290286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左-右雙向箭號 6"/>
          <p:cNvSpPr/>
          <p:nvPr/>
        </p:nvSpPr>
        <p:spPr>
          <a:xfrm>
            <a:off x="4194628" y="5055279"/>
            <a:ext cx="696686" cy="290286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572000" y="5457371"/>
            <a:ext cx="3644300" cy="467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27700" y="2708568"/>
            <a:ext cx="3644300" cy="467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927700" y="3169105"/>
            <a:ext cx="3644300" cy="467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0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5" grpId="0" animBg="1"/>
      <p:bldP spid="9" grpId="0" animBg="1"/>
      <p:bldP spid="9" grpId="1" animBg="1"/>
      <p:bldP spid="1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88724"/>
            <a:ext cx="7886700" cy="1325563"/>
          </a:xfrm>
        </p:spPr>
        <p:txBody>
          <a:bodyPr/>
          <a:lstStyle/>
          <a:p>
            <a:r>
              <a:rPr lang="en-US" altLang="zh-TW" dirty="0"/>
              <a:t>Why Deep?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36992" y="3384615"/>
            <a:ext cx="1123950" cy="13888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Image</a:t>
            </a:r>
            <a:endParaRPr lang="zh-TW" altLang="en-US" sz="2400" dirty="0"/>
          </a:p>
        </p:txBody>
      </p:sp>
      <p:cxnSp>
        <p:nvCxnSpPr>
          <p:cNvPr id="11" name="直線單箭頭接點 10"/>
          <p:cNvCxnSpPr>
            <a:stCxn id="7" idx="3"/>
            <a:endCxn id="22" idx="1"/>
          </p:cNvCxnSpPr>
          <p:nvPr/>
        </p:nvCxnSpPr>
        <p:spPr>
          <a:xfrm flipV="1">
            <a:off x="1260942" y="3286042"/>
            <a:ext cx="559595" cy="7930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7" idx="3"/>
            <a:endCxn id="20" idx="1"/>
          </p:cNvCxnSpPr>
          <p:nvPr/>
        </p:nvCxnSpPr>
        <p:spPr>
          <a:xfrm>
            <a:off x="1260942" y="4079055"/>
            <a:ext cx="559595" cy="9522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820537" y="4615765"/>
            <a:ext cx="1581229" cy="8309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Long or short?</a:t>
            </a:r>
            <a:endParaRPr lang="zh-TW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1820537" y="2870543"/>
            <a:ext cx="1626471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Boy or Girl?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1319269" y="5594778"/>
            <a:ext cx="2629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Sharing by the following classifiers </a:t>
            </a:r>
            <a:r>
              <a:rPr lang="en-US" altLang="zh-TW" sz="2400" dirty="0">
                <a:solidFill>
                  <a:srgbClr val="FF0000"/>
                </a:solidFill>
              </a:rPr>
              <a:t>as module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248497" y="1020355"/>
            <a:ext cx="4241454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can be trained by little data</a:t>
            </a:r>
            <a:endParaRPr lang="zh-TW" altLang="en-US" sz="28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6891111" y="2086160"/>
            <a:ext cx="1602014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Girls with </a:t>
            </a:r>
          </a:p>
          <a:p>
            <a:pPr algn="ctr"/>
            <a:r>
              <a:rPr lang="en-US" altLang="zh-TW" sz="2400" dirty="0"/>
              <a:t>long hair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6894286" y="5279414"/>
            <a:ext cx="1621064" cy="83099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Boys with short hair </a:t>
            </a:r>
            <a:endParaRPr lang="zh-TW" altLang="en-US" sz="24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903811" y="3150031"/>
            <a:ext cx="1602014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Boys with </a:t>
            </a:r>
          </a:p>
          <a:p>
            <a:pPr algn="ctr"/>
            <a:r>
              <a:rPr lang="en-US" altLang="zh-TW" sz="2400" dirty="0"/>
              <a:t>long hair</a:t>
            </a:r>
            <a:endParaRPr lang="zh-TW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4736079" y="2094812"/>
            <a:ext cx="1447800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1</a:t>
            </a:r>
            <a:endParaRPr lang="zh-TW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4729105" y="3150031"/>
            <a:ext cx="1447800" cy="8309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2</a:t>
            </a:r>
            <a:endParaRPr lang="zh-TW" altLang="en-US" sz="2400" dirty="0"/>
          </a:p>
        </p:txBody>
      </p:sp>
      <p:sp>
        <p:nvSpPr>
          <p:cNvPr id="60" name="矩形 59"/>
          <p:cNvSpPr/>
          <p:nvPr/>
        </p:nvSpPr>
        <p:spPr>
          <a:xfrm>
            <a:off x="4726101" y="4226078"/>
            <a:ext cx="1447800" cy="8309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3</a:t>
            </a:r>
            <a:endParaRPr lang="zh-TW" altLang="en-US" sz="2400" dirty="0"/>
          </a:p>
        </p:txBody>
      </p:sp>
      <p:cxnSp>
        <p:nvCxnSpPr>
          <p:cNvPr id="61" name="直線單箭頭接點 60"/>
          <p:cNvCxnSpPr/>
          <p:nvPr/>
        </p:nvCxnSpPr>
        <p:spPr>
          <a:xfrm flipV="1">
            <a:off x="6231504" y="2510310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6221979" y="3558078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6221979" y="4660554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6887936" y="4213902"/>
            <a:ext cx="1602014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Girls with </a:t>
            </a:r>
          </a:p>
          <a:p>
            <a:pPr algn="ctr"/>
            <a:r>
              <a:rPr lang="en-US" altLang="zh-TW" sz="2400" dirty="0"/>
              <a:t>short hair</a:t>
            </a:r>
            <a:endParaRPr lang="zh-TW" altLang="en-US" sz="2400" dirty="0"/>
          </a:p>
        </p:txBody>
      </p:sp>
      <p:sp>
        <p:nvSpPr>
          <p:cNvPr id="65" name="矩形 64"/>
          <p:cNvSpPr/>
          <p:nvPr/>
        </p:nvSpPr>
        <p:spPr>
          <a:xfrm>
            <a:off x="4726101" y="5279414"/>
            <a:ext cx="1447800" cy="8309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4</a:t>
            </a:r>
            <a:endParaRPr lang="zh-TW" altLang="en-US" sz="2400" dirty="0"/>
          </a:p>
        </p:txBody>
      </p:sp>
      <p:cxnSp>
        <p:nvCxnSpPr>
          <p:cNvPr id="66" name="直線單箭頭接點 65"/>
          <p:cNvCxnSpPr/>
          <p:nvPr/>
        </p:nvCxnSpPr>
        <p:spPr>
          <a:xfrm flipV="1">
            <a:off x="6231504" y="5703092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endCxn id="43" idx="1"/>
          </p:cNvCxnSpPr>
          <p:nvPr/>
        </p:nvCxnSpPr>
        <p:spPr>
          <a:xfrm flipV="1">
            <a:off x="3442604" y="2510311"/>
            <a:ext cx="1293475" cy="7567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4" idx="1"/>
          </p:cNvCxnSpPr>
          <p:nvPr/>
        </p:nvCxnSpPr>
        <p:spPr>
          <a:xfrm>
            <a:off x="3449897" y="3277050"/>
            <a:ext cx="1279208" cy="2884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22" idx="3"/>
            <a:endCxn id="60" idx="1"/>
          </p:cNvCxnSpPr>
          <p:nvPr/>
        </p:nvCxnSpPr>
        <p:spPr>
          <a:xfrm>
            <a:off x="3447008" y="3286042"/>
            <a:ext cx="1279093" cy="13555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3389405" y="3267050"/>
            <a:ext cx="1346674" cy="24264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endCxn id="43" idx="1"/>
          </p:cNvCxnSpPr>
          <p:nvPr/>
        </p:nvCxnSpPr>
        <p:spPr>
          <a:xfrm flipV="1">
            <a:off x="3378348" y="2510311"/>
            <a:ext cx="1357731" cy="258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20" idx="3"/>
            <a:endCxn id="44" idx="1"/>
          </p:cNvCxnSpPr>
          <p:nvPr/>
        </p:nvCxnSpPr>
        <p:spPr>
          <a:xfrm flipV="1">
            <a:off x="3401766" y="3565530"/>
            <a:ext cx="1327339" cy="14657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20" idx="3"/>
            <a:endCxn id="60" idx="1"/>
          </p:cNvCxnSpPr>
          <p:nvPr/>
        </p:nvCxnSpPr>
        <p:spPr>
          <a:xfrm flipV="1">
            <a:off x="3401766" y="4641577"/>
            <a:ext cx="1324335" cy="3896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stCxn id="20" idx="3"/>
            <a:endCxn id="65" idx="1"/>
          </p:cNvCxnSpPr>
          <p:nvPr/>
        </p:nvCxnSpPr>
        <p:spPr>
          <a:xfrm>
            <a:off x="3401766" y="5031264"/>
            <a:ext cx="1324335" cy="6636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4612381" y="1946313"/>
            <a:ext cx="1692566" cy="42306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1689032" y="2696616"/>
            <a:ext cx="1867479" cy="284364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文字方塊 77"/>
          <p:cNvSpPr txBox="1"/>
          <p:nvPr/>
        </p:nvSpPr>
        <p:spPr>
          <a:xfrm>
            <a:off x="7609437" y="3614076"/>
            <a:ext cx="1504777" cy="46166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Little data</a:t>
            </a:r>
            <a:endParaRPr lang="zh-TW" altLang="en-US" sz="2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5686261" y="3640051"/>
            <a:ext cx="1109331" cy="46166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fine</a:t>
            </a:r>
            <a:endParaRPr lang="zh-TW" altLang="en-US" sz="24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974430" y="3740680"/>
            <a:ext cx="1292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Basic </a:t>
            </a:r>
          </a:p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Classifier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7" name="向上箭號 36"/>
          <p:cNvSpPr/>
          <p:nvPr/>
        </p:nvSpPr>
        <p:spPr>
          <a:xfrm>
            <a:off x="5130686" y="1569869"/>
            <a:ext cx="638629" cy="356419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60" grpId="0" animBg="1"/>
      <p:bldP spid="64" grpId="0" animBg="1"/>
      <p:bldP spid="65" grpId="0" animBg="1"/>
      <p:bldP spid="76" grpId="0" animBg="1"/>
      <p:bldP spid="78" grpId="0" animBg="1"/>
      <p:bldP spid="79" grpId="0" animBg="1"/>
      <p:bldP spid="3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88724"/>
            <a:ext cx="7886700" cy="1325563"/>
          </a:xfrm>
        </p:spPr>
        <p:txBody>
          <a:bodyPr/>
          <a:lstStyle/>
          <a:p>
            <a:r>
              <a:rPr lang="en-US" altLang="zh-TW" dirty="0"/>
              <a:t>Why Deep?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652026" y="2399574"/>
            <a:ext cx="5983918" cy="2720549"/>
            <a:chOff x="1260141" y="2780968"/>
            <a:chExt cx="5983918" cy="2720549"/>
          </a:xfrm>
        </p:grpSpPr>
        <p:sp>
          <p:nvSpPr>
            <p:cNvPr id="37" name="矩形 36"/>
            <p:cNvSpPr/>
            <p:nvPr/>
          </p:nvSpPr>
          <p:spPr>
            <a:xfrm>
              <a:off x="1260141" y="2853290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/>
            <p:cNvCxnSpPr/>
            <p:nvPr/>
          </p:nvCxnSpPr>
          <p:spPr>
            <a:xfrm>
              <a:off x="5531732" y="3891561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5641048" y="5137451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5507848" y="3112758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1328529" y="3570983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1334347" y="3000654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4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3967513"/>
                </p:ext>
              </p:extLst>
            </p:nvPr>
          </p:nvGraphicFramePr>
          <p:xfrm>
            <a:off x="1347046" y="2905404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24" name="方程式" r:id="rId4" imgW="152280" imgH="215640" progId="Equation.3">
                    <p:embed/>
                  </p:oleObj>
                </mc:Choice>
                <mc:Fallback>
                  <p:oleObj name="方程式" r:id="rId4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7046" y="2905404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2879185"/>
                </p:ext>
              </p:extLst>
            </p:nvPr>
          </p:nvGraphicFramePr>
          <p:xfrm>
            <a:off x="1352342" y="3488133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25" name="方程式" r:id="rId6" imgW="164880" imgH="215640" progId="Equation.3">
                    <p:embed/>
                  </p:oleObj>
                </mc:Choice>
                <mc:Fallback>
                  <p:oleObj name="方程式" r:id="rId6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2342" y="3488133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矩形 51"/>
            <p:cNvSpPr/>
            <p:nvPr/>
          </p:nvSpPr>
          <p:spPr>
            <a:xfrm>
              <a:off x="2443244" y="2825649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橢圓 53"/>
            <p:cNvSpPr/>
            <p:nvPr/>
          </p:nvSpPr>
          <p:spPr>
            <a:xfrm>
              <a:off x="2540354" y="2836651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橢圓 54"/>
            <p:cNvSpPr/>
            <p:nvPr/>
          </p:nvSpPr>
          <p:spPr>
            <a:xfrm>
              <a:off x="2542696" y="3615221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橢圓 55"/>
            <p:cNvSpPr/>
            <p:nvPr/>
          </p:nvSpPr>
          <p:spPr>
            <a:xfrm>
              <a:off x="2531063" y="4843233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 rot="5400000">
              <a:off x="2528316" y="4265526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1338054" y="496874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5801981"/>
                </p:ext>
              </p:extLst>
            </p:nvPr>
          </p:nvGraphicFramePr>
          <p:xfrm>
            <a:off x="1334938" y="4872486"/>
            <a:ext cx="407988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26" name="方程式" r:id="rId8" imgW="190440" imgH="228600" progId="Equation.3">
                    <p:embed/>
                  </p:oleObj>
                </mc:Choice>
                <mc:Fallback>
                  <p:oleObj name="方程式" r:id="rId8" imgW="1904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938" y="4872486"/>
                          <a:ext cx="407988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文字方塊 59"/>
            <p:cNvSpPr txBox="1"/>
            <p:nvPr/>
          </p:nvSpPr>
          <p:spPr>
            <a:xfrm rot="5400000">
              <a:off x="1213986" y="425368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768830" y="280930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3855916" y="2836651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3858258" y="3615221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3846625" y="4843233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文字方塊 66"/>
            <p:cNvSpPr txBox="1"/>
            <p:nvPr/>
          </p:nvSpPr>
          <p:spPr>
            <a:xfrm rot="5400000">
              <a:off x="3843878" y="4265526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69" name="矩形 68"/>
            <p:cNvSpPr/>
            <p:nvPr/>
          </p:nvSpPr>
          <p:spPr>
            <a:xfrm>
              <a:off x="5144925" y="278508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220769" y="283503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223111" y="3594944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230139" y="4841617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/>
            <p:cNvSpPr txBox="1"/>
            <p:nvPr/>
          </p:nvSpPr>
          <p:spPr>
            <a:xfrm rot="5400000">
              <a:off x="5227392" y="426074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6467853" y="278096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6474802" y="3570983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6474790" y="478631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cxnSp>
          <p:nvCxnSpPr>
            <p:cNvPr id="79" name="直線單箭頭接點 78"/>
            <p:cNvCxnSpPr>
              <a:stCxn id="54" idx="6"/>
              <a:endCxn id="64" idx="2"/>
            </p:cNvCxnSpPr>
            <p:nvPr/>
          </p:nvCxnSpPr>
          <p:spPr>
            <a:xfrm>
              <a:off x="3114512" y="3123730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/>
            <p:cNvCxnSpPr/>
            <p:nvPr/>
          </p:nvCxnSpPr>
          <p:spPr>
            <a:xfrm>
              <a:off x="3114512" y="3915482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>
              <a:off x="3105221" y="5137451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>
              <a:stCxn id="55" idx="6"/>
              <a:endCxn id="64" idx="2"/>
            </p:cNvCxnSpPr>
            <p:nvPr/>
          </p:nvCxnSpPr>
          <p:spPr>
            <a:xfrm flipV="1">
              <a:off x="3116854" y="3123730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>
              <a:stCxn id="54" idx="6"/>
              <a:endCxn id="65" idx="2"/>
            </p:cNvCxnSpPr>
            <p:nvPr/>
          </p:nvCxnSpPr>
          <p:spPr>
            <a:xfrm>
              <a:off x="3114512" y="3123730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>
              <a:stCxn id="54" idx="6"/>
              <a:endCxn id="66" idx="2"/>
            </p:cNvCxnSpPr>
            <p:nvPr/>
          </p:nvCxnSpPr>
          <p:spPr>
            <a:xfrm>
              <a:off x="3114512" y="3123730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55" idx="6"/>
              <a:endCxn id="66" idx="2"/>
            </p:cNvCxnSpPr>
            <p:nvPr/>
          </p:nvCxnSpPr>
          <p:spPr>
            <a:xfrm>
              <a:off x="3116854" y="3902300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>
              <a:stCxn id="56" idx="6"/>
              <a:endCxn id="64" idx="2"/>
            </p:cNvCxnSpPr>
            <p:nvPr/>
          </p:nvCxnSpPr>
          <p:spPr>
            <a:xfrm flipV="1">
              <a:off x="3105221" y="3123730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>
              <a:stCxn id="56" idx="6"/>
              <a:endCxn id="65" idx="2"/>
            </p:cNvCxnSpPr>
            <p:nvPr/>
          </p:nvCxnSpPr>
          <p:spPr>
            <a:xfrm flipV="1">
              <a:off x="3105221" y="3902300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endCxn id="54" idx="2"/>
            </p:cNvCxnSpPr>
            <p:nvPr/>
          </p:nvCxnSpPr>
          <p:spPr>
            <a:xfrm flipV="1">
              <a:off x="1680954" y="3123730"/>
              <a:ext cx="859400" cy="299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/>
            <p:cNvCxnSpPr>
              <a:stCxn id="48" idx="3"/>
              <a:endCxn id="55" idx="2"/>
            </p:cNvCxnSpPr>
            <p:nvPr/>
          </p:nvCxnSpPr>
          <p:spPr>
            <a:xfrm>
              <a:off x="1677247" y="3172104"/>
              <a:ext cx="865449" cy="7301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>
              <a:stCxn id="48" idx="3"/>
              <a:endCxn id="56" idx="2"/>
            </p:cNvCxnSpPr>
            <p:nvPr/>
          </p:nvCxnSpPr>
          <p:spPr>
            <a:xfrm>
              <a:off x="1677247" y="3172104"/>
              <a:ext cx="853816" cy="19582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50" idx="3"/>
              <a:endCxn id="54" idx="2"/>
            </p:cNvCxnSpPr>
            <p:nvPr/>
          </p:nvCxnSpPr>
          <p:spPr>
            <a:xfrm flipV="1">
              <a:off x="1704767" y="3123730"/>
              <a:ext cx="835587" cy="5953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單箭頭接點 91"/>
            <p:cNvCxnSpPr>
              <a:stCxn id="47" idx="3"/>
              <a:endCxn id="55" idx="2"/>
            </p:cNvCxnSpPr>
            <p:nvPr/>
          </p:nvCxnSpPr>
          <p:spPr>
            <a:xfrm>
              <a:off x="1671429" y="3742433"/>
              <a:ext cx="871267" cy="1598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92"/>
            <p:cNvCxnSpPr>
              <a:stCxn id="47" idx="3"/>
              <a:endCxn id="56" idx="2"/>
            </p:cNvCxnSpPr>
            <p:nvPr/>
          </p:nvCxnSpPr>
          <p:spPr>
            <a:xfrm>
              <a:off x="1671429" y="3742433"/>
              <a:ext cx="859634" cy="1387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單箭頭接點 93"/>
            <p:cNvCxnSpPr>
              <a:stCxn id="59" idx="3"/>
              <a:endCxn id="54" idx="2"/>
            </p:cNvCxnSpPr>
            <p:nvPr/>
          </p:nvCxnSpPr>
          <p:spPr>
            <a:xfrm flipV="1">
              <a:off x="1742926" y="3123730"/>
              <a:ext cx="797428" cy="19932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單箭頭接點 94"/>
            <p:cNvCxnSpPr>
              <a:stCxn id="59" idx="3"/>
              <a:endCxn id="55" idx="2"/>
            </p:cNvCxnSpPr>
            <p:nvPr/>
          </p:nvCxnSpPr>
          <p:spPr>
            <a:xfrm flipV="1">
              <a:off x="1716557" y="3902300"/>
              <a:ext cx="826139" cy="12146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/>
            <p:cNvCxnSpPr>
              <a:stCxn id="59" idx="3"/>
              <a:endCxn id="56" idx="2"/>
            </p:cNvCxnSpPr>
            <p:nvPr/>
          </p:nvCxnSpPr>
          <p:spPr>
            <a:xfrm>
              <a:off x="1716557" y="5116906"/>
              <a:ext cx="814506" cy="134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>
              <a:off x="4464381" y="3134083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>
              <a:off x="4464381" y="39258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單箭頭接點 103"/>
            <p:cNvCxnSpPr/>
            <p:nvPr/>
          </p:nvCxnSpPr>
          <p:spPr>
            <a:xfrm>
              <a:off x="4455090" y="514780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V="1">
              <a:off x="4466723" y="3134083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單箭頭接點 105"/>
            <p:cNvCxnSpPr/>
            <p:nvPr/>
          </p:nvCxnSpPr>
          <p:spPr>
            <a:xfrm>
              <a:off x="4464381" y="3134083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單箭頭接點 106"/>
            <p:cNvCxnSpPr/>
            <p:nvPr/>
          </p:nvCxnSpPr>
          <p:spPr>
            <a:xfrm>
              <a:off x="4464381" y="3134083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>
              <a:off x="4466723" y="3912653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單箭頭接點 108"/>
            <p:cNvCxnSpPr/>
            <p:nvPr/>
          </p:nvCxnSpPr>
          <p:spPr>
            <a:xfrm flipV="1">
              <a:off x="4455090" y="3134083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V="1">
              <a:off x="4455090" y="3912653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圖說文字 5"/>
          <p:cNvSpPr/>
          <p:nvPr/>
        </p:nvSpPr>
        <p:spPr>
          <a:xfrm>
            <a:off x="375384" y="5453983"/>
            <a:ext cx="2367361" cy="838175"/>
          </a:xfrm>
          <a:prstGeom prst="wedgeRectCallout">
            <a:avLst>
              <a:gd name="adj1" fmla="val 69906"/>
              <a:gd name="adj2" fmla="val -130639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The most basic classifiers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14" name="矩形圖說文字 113"/>
          <p:cNvSpPr/>
          <p:nvPr/>
        </p:nvSpPr>
        <p:spPr>
          <a:xfrm>
            <a:off x="2956956" y="5463160"/>
            <a:ext cx="3239225" cy="886505"/>
          </a:xfrm>
          <a:prstGeom prst="wedgeRectCallout">
            <a:avLst>
              <a:gd name="adj1" fmla="val 640"/>
              <a:gd name="adj2" fmla="val -1065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Use 1</a:t>
            </a:r>
            <a:r>
              <a:rPr lang="en-US" altLang="zh-TW" sz="2400" baseline="30000" dirty="0">
                <a:solidFill>
                  <a:schemeClr val="bg1"/>
                </a:solidFill>
              </a:rPr>
              <a:t>st</a:t>
            </a:r>
            <a:r>
              <a:rPr lang="en-US" altLang="zh-TW" sz="2400" dirty="0">
                <a:solidFill>
                  <a:schemeClr val="bg1"/>
                </a:solidFill>
              </a:rPr>
              <a:t> layer as module to build classifiers 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15" name="矩形圖說文字 114"/>
          <p:cNvSpPr/>
          <p:nvPr/>
        </p:nvSpPr>
        <p:spPr>
          <a:xfrm>
            <a:off x="6401255" y="5461871"/>
            <a:ext cx="2367361" cy="838175"/>
          </a:xfrm>
          <a:prstGeom prst="wedgeRectCallout">
            <a:avLst>
              <a:gd name="adj1" fmla="val -71106"/>
              <a:gd name="adj2" fmla="val -132371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Use 2</a:t>
            </a:r>
            <a:r>
              <a:rPr lang="en-US" altLang="zh-TW" sz="2400" baseline="30000" dirty="0">
                <a:solidFill>
                  <a:schemeClr val="bg1"/>
                </a:solidFill>
              </a:rPr>
              <a:t>nd</a:t>
            </a:r>
            <a:r>
              <a:rPr lang="en-US" altLang="zh-TW" sz="2400" dirty="0">
                <a:solidFill>
                  <a:schemeClr val="bg1"/>
                </a:solidFill>
              </a:rPr>
              <a:t> layer as module ……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344311" y="3191157"/>
            <a:ext cx="4865842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The modularization is automatically learned from data.</a:t>
            </a:r>
            <a:endParaRPr lang="zh-TW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4454591" y="1754510"/>
            <a:ext cx="3297056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800" dirty="0"/>
              <a:t>→ Less training data?</a:t>
            </a:r>
            <a:endParaRPr lang="zh-TW" altLang="en-US" sz="2800" dirty="0"/>
          </a:p>
        </p:txBody>
      </p:sp>
      <p:sp>
        <p:nvSpPr>
          <p:cNvPr id="118" name="文字方塊 117"/>
          <p:cNvSpPr txBox="1"/>
          <p:nvPr/>
        </p:nvSpPr>
        <p:spPr>
          <a:xfrm>
            <a:off x="4093639" y="516220"/>
            <a:ext cx="4205083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Deep Learning also works on small data set like TIMIT.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6986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4" grpId="0" animBg="1"/>
      <p:bldP spid="115" grpId="0" animBg="1"/>
      <p:bldP spid="38" grpId="0" animBg="1"/>
      <p:bldP spid="8" grpId="0" animBg="1"/>
      <p:bldP spid="11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6343124" y="4323738"/>
            <a:ext cx="746342" cy="23397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2948" name="Picture 4" descr="http://i.imgur.com/Wuxy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979" y="261184"/>
            <a:ext cx="4606925" cy="257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1465885" y="163249"/>
            <a:ext cx="218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Hand-crafted </a:t>
            </a:r>
          </a:p>
          <a:p>
            <a:pPr algn="ctr"/>
            <a:r>
              <a:rPr lang="en-US" altLang="zh-TW" sz="2400" dirty="0"/>
              <a:t>kernel function</a:t>
            </a:r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67732" y="1221339"/>
            <a:ext cx="1298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i="1" u="sng" dirty="0">
                <a:solidFill>
                  <a:srgbClr val="0000FF"/>
                </a:solidFill>
              </a:rPr>
              <a:t>SVM</a:t>
            </a:r>
            <a:endParaRPr lang="zh-TW" altLang="en-US" sz="2800" b="1" i="1" u="sng" dirty="0">
              <a:solidFill>
                <a:srgbClr val="0000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65715" y="2695371"/>
            <a:ext cx="53557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Source of image: </a:t>
            </a:r>
            <a:r>
              <a:rPr lang="zh-TW" altLang="en-US" dirty="0"/>
              <a:t>http://www.gipsa-lab.grenoble-inp.fr/transfert/seminaire/455_Kadri2013Gipsa-lab.pdf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335534" y="1702653"/>
            <a:ext cx="2043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Apply simple classifier</a:t>
            </a:r>
            <a:endParaRPr lang="zh-TW" altLang="en-US" sz="2400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3433666" y="594377"/>
            <a:ext cx="709126" cy="139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 flipV="1">
            <a:off x="5747657" y="1376417"/>
            <a:ext cx="758696" cy="6019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289231" y="3045217"/>
            <a:ext cx="3265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>
                <a:solidFill>
                  <a:srgbClr val="0000FF"/>
                </a:solidFill>
              </a:rPr>
              <a:t>Deep Learning</a:t>
            </a:r>
            <a:endParaRPr lang="zh-TW" altLang="en-US" sz="2800" b="1" i="1" u="sng" dirty="0">
              <a:solidFill>
                <a:srgbClr val="0000FF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97627" y="4326945"/>
            <a:ext cx="498951" cy="23638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2606350" y="4379363"/>
            <a:ext cx="746342" cy="22841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4834848" y="4407004"/>
            <a:ext cx="746342" cy="228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1423247" y="4407004"/>
            <a:ext cx="498951" cy="22402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/>
          <p:cNvCxnSpPr/>
          <p:nvPr/>
        </p:nvCxnSpPr>
        <p:spPr>
          <a:xfrm>
            <a:off x="6671139" y="5427783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6780455" y="6349823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6647255" y="4648980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491635" y="5124697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1497453" y="455436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608517"/>
              </p:ext>
            </p:extLst>
          </p:nvPr>
        </p:nvGraphicFramePr>
        <p:xfrm>
          <a:off x="1510152" y="4459118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98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152" y="4459118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969547"/>
              </p:ext>
            </p:extLst>
          </p:nvPr>
        </p:nvGraphicFramePr>
        <p:xfrm>
          <a:off x="1515448" y="5041847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99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5448" y="5041847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橢圓 28"/>
          <p:cNvSpPr/>
          <p:nvPr/>
        </p:nvSpPr>
        <p:spPr>
          <a:xfrm>
            <a:off x="2703460" y="4390365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2705802" y="5168935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2694169" y="6073097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 rot="5400000">
            <a:off x="2690010" y="562683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33" name="矩形 32"/>
          <p:cNvSpPr/>
          <p:nvPr/>
        </p:nvSpPr>
        <p:spPr>
          <a:xfrm>
            <a:off x="1501160" y="619860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32054"/>
              </p:ext>
            </p:extLst>
          </p:nvPr>
        </p:nvGraphicFramePr>
        <p:xfrm>
          <a:off x="1498044" y="6102350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00" name="方程式" r:id="rId8" imgW="190440" imgH="228600" progId="Equation.3">
                  <p:embed/>
                </p:oleObj>
              </mc:Choice>
              <mc:Fallback>
                <p:oleObj name="方程式" r:id="rId8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044" y="6102350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字方塊 34"/>
          <p:cNvSpPr txBox="1"/>
          <p:nvPr/>
        </p:nvSpPr>
        <p:spPr>
          <a:xfrm rot="5400000">
            <a:off x="1357695" y="563643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40" name="橢圓 39"/>
          <p:cNvSpPr/>
          <p:nvPr/>
        </p:nvSpPr>
        <p:spPr>
          <a:xfrm>
            <a:off x="6360176" y="437125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6362518" y="5131166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6369546" y="6053989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 rot="5400000">
            <a:off x="6340950" y="562682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cxnSp>
        <p:nvCxnSpPr>
          <p:cNvPr id="47" name="直線單箭頭接點 46"/>
          <p:cNvCxnSpPr>
            <a:stCxn id="29" idx="6"/>
          </p:cNvCxnSpPr>
          <p:nvPr/>
        </p:nvCxnSpPr>
        <p:spPr>
          <a:xfrm>
            <a:off x="3277618" y="4677444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3277618" y="546919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3268327" y="636731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30" idx="6"/>
          </p:cNvCxnSpPr>
          <p:nvPr/>
        </p:nvCxnSpPr>
        <p:spPr>
          <a:xfrm flipV="1">
            <a:off x="3279960" y="4677444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9" idx="6"/>
          </p:cNvCxnSpPr>
          <p:nvPr/>
        </p:nvCxnSpPr>
        <p:spPr>
          <a:xfrm>
            <a:off x="3277618" y="4677444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9" idx="6"/>
          </p:cNvCxnSpPr>
          <p:nvPr/>
        </p:nvCxnSpPr>
        <p:spPr>
          <a:xfrm>
            <a:off x="3277618" y="4677444"/>
            <a:ext cx="732113" cy="16827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30" idx="6"/>
          </p:cNvCxnSpPr>
          <p:nvPr/>
        </p:nvCxnSpPr>
        <p:spPr>
          <a:xfrm>
            <a:off x="3279960" y="5456014"/>
            <a:ext cx="729771" cy="9041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1" idx="6"/>
          </p:cNvCxnSpPr>
          <p:nvPr/>
        </p:nvCxnSpPr>
        <p:spPr>
          <a:xfrm flipV="1">
            <a:off x="3268327" y="4677444"/>
            <a:ext cx="750695" cy="16827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31" idx="6"/>
          </p:cNvCxnSpPr>
          <p:nvPr/>
        </p:nvCxnSpPr>
        <p:spPr>
          <a:xfrm flipV="1">
            <a:off x="3268327" y="5456014"/>
            <a:ext cx="753037" cy="9041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endCxn id="29" idx="2"/>
          </p:cNvCxnSpPr>
          <p:nvPr/>
        </p:nvCxnSpPr>
        <p:spPr>
          <a:xfrm flipV="1">
            <a:off x="1844060" y="4677444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26" idx="3"/>
            <a:endCxn id="30" idx="2"/>
          </p:cNvCxnSpPr>
          <p:nvPr/>
        </p:nvCxnSpPr>
        <p:spPr>
          <a:xfrm>
            <a:off x="1840353" y="4725818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26" idx="3"/>
            <a:endCxn id="31" idx="2"/>
          </p:cNvCxnSpPr>
          <p:nvPr/>
        </p:nvCxnSpPr>
        <p:spPr>
          <a:xfrm>
            <a:off x="1840353" y="4725818"/>
            <a:ext cx="853816" cy="16343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28" idx="3"/>
            <a:endCxn id="29" idx="2"/>
          </p:cNvCxnSpPr>
          <p:nvPr/>
        </p:nvCxnSpPr>
        <p:spPr>
          <a:xfrm flipV="1">
            <a:off x="1867873" y="4677444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25" idx="3"/>
            <a:endCxn id="30" idx="2"/>
          </p:cNvCxnSpPr>
          <p:nvPr/>
        </p:nvCxnSpPr>
        <p:spPr>
          <a:xfrm>
            <a:off x="1834535" y="5296147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25" idx="3"/>
            <a:endCxn id="31" idx="2"/>
          </p:cNvCxnSpPr>
          <p:nvPr/>
        </p:nvCxnSpPr>
        <p:spPr>
          <a:xfrm>
            <a:off x="1834535" y="5296147"/>
            <a:ext cx="859634" cy="10640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34" idx="3"/>
            <a:endCxn id="29" idx="2"/>
          </p:cNvCxnSpPr>
          <p:nvPr/>
        </p:nvCxnSpPr>
        <p:spPr>
          <a:xfrm flipV="1">
            <a:off x="1906032" y="4677444"/>
            <a:ext cx="797428" cy="16693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34" idx="3"/>
            <a:endCxn id="30" idx="2"/>
          </p:cNvCxnSpPr>
          <p:nvPr/>
        </p:nvCxnSpPr>
        <p:spPr>
          <a:xfrm flipV="1">
            <a:off x="1906032" y="5456014"/>
            <a:ext cx="799770" cy="8908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34" idx="3"/>
            <a:endCxn id="31" idx="2"/>
          </p:cNvCxnSpPr>
          <p:nvPr/>
        </p:nvCxnSpPr>
        <p:spPr>
          <a:xfrm>
            <a:off x="1879663" y="6346770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 rot="5400000">
            <a:off x="7639815" y="565614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7708910" y="4309120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7697627" y="5107340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7697627" y="6049722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zh-TW" altLang="en-US" sz="2800" baseline="-25000" dirty="0"/>
          </a:p>
        </p:txBody>
      </p:sp>
      <p:sp>
        <p:nvSpPr>
          <p:cNvPr id="84" name="橢圓 83"/>
          <p:cNvSpPr/>
          <p:nvPr/>
        </p:nvSpPr>
        <p:spPr>
          <a:xfrm>
            <a:off x="4925260" y="4351087"/>
            <a:ext cx="574158" cy="57415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4927602" y="5129657"/>
            <a:ext cx="574158" cy="57415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橢圓 85"/>
          <p:cNvSpPr/>
          <p:nvPr/>
        </p:nvSpPr>
        <p:spPr>
          <a:xfrm>
            <a:off x="4915969" y="6033819"/>
            <a:ext cx="574158" cy="57415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文字方塊 86"/>
          <p:cNvSpPr txBox="1"/>
          <p:nvPr/>
        </p:nvSpPr>
        <p:spPr>
          <a:xfrm rot="5400000">
            <a:off x="4928821" y="560720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cxnSp>
        <p:nvCxnSpPr>
          <p:cNvPr id="88" name="直線單箭頭接點 87"/>
          <p:cNvCxnSpPr/>
          <p:nvPr/>
        </p:nvCxnSpPr>
        <p:spPr>
          <a:xfrm>
            <a:off x="5603008" y="4656899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>
            <a:off x="5603008" y="5448651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>
            <a:off x="5593717" y="6346770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5605350" y="4656899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>
            <a:off x="5603008" y="4656899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>
            <a:off x="5603008" y="4656899"/>
            <a:ext cx="706655" cy="17032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5605350" y="5435469"/>
            <a:ext cx="737774" cy="92470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 flipV="1">
            <a:off x="5603008" y="4656899"/>
            <a:ext cx="741404" cy="16639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flipV="1">
            <a:off x="5603008" y="5435469"/>
            <a:ext cx="743746" cy="9318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字方塊 96"/>
          <p:cNvSpPr txBox="1"/>
          <p:nvPr/>
        </p:nvSpPr>
        <p:spPr>
          <a:xfrm>
            <a:off x="4084180" y="435108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4063249" y="512965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99" name="文字方塊 98"/>
          <p:cNvSpPr txBox="1"/>
          <p:nvPr/>
        </p:nvSpPr>
        <p:spPr>
          <a:xfrm>
            <a:off x="4077127" y="599183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53" name="文字方塊 82952"/>
              <p:cNvSpPr txBox="1"/>
              <p:nvPr/>
            </p:nvSpPr>
            <p:spPr>
              <a:xfrm>
                <a:off x="701966" y="5166173"/>
                <a:ext cx="6490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2953" name="文字方塊 829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66" y="5166173"/>
                <a:ext cx="649077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5477928" y="3779149"/>
                <a:ext cx="6490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928" y="3779149"/>
                <a:ext cx="649077" cy="523220"/>
              </a:xfrm>
              <a:prstGeom prst="rect">
                <a:avLst/>
              </a:prstGeom>
              <a:blipFill rotWithShape="0">
                <a:blip r:embed="rId11"/>
                <a:stretch>
                  <a:fillRect r="-245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直線單箭頭接點 105"/>
          <p:cNvCxnSpPr/>
          <p:nvPr/>
        </p:nvCxnSpPr>
        <p:spPr>
          <a:xfrm flipH="1">
            <a:off x="6647256" y="3820203"/>
            <a:ext cx="584687" cy="5424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字方塊 109"/>
          <p:cNvSpPr txBox="1"/>
          <p:nvPr/>
        </p:nvSpPr>
        <p:spPr>
          <a:xfrm>
            <a:off x="7264376" y="3419922"/>
            <a:ext cx="2043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simple classifier</a:t>
            </a:r>
            <a:endParaRPr lang="zh-TW" altLang="en-US" sz="2400" dirty="0"/>
          </a:p>
        </p:txBody>
      </p:sp>
      <p:sp>
        <p:nvSpPr>
          <p:cNvPr id="82958" name="左大括弧 82957"/>
          <p:cNvSpPr/>
          <p:nvPr/>
        </p:nvSpPr>
        <p:spPr>
          <a:xfrm rot="5400000">
            <a:off x="4016860" y="2757001"/>
            <a:ext cx="160984" cy="3133695"/>
          </a:xfrm>
          <a:prstGeom prst="leftBrace">
            <a:avLst>
              <a:gd name="adj1" fmla="val 171734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/>
          <p:cNvSpPr txBox="1"/>
          <p:nvPr/>
        </p:nvSpPr>
        <p:spPr>
          <a:xfrm>
            <a:off x="2600523" y="3624255"/>
            <a:ext cx="2967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Learnable kernel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4538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5" grpId="0"/>
      <p:bldP spid="110" grpId="0"/>
      <p:bldP spid="82958" grpId="0" animBg="1"/>
      <p:bldP spid="11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23789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dirty="0"/>
              <a:t>Part III:</a:t>
            </a:r>
            <a:br>
              <a:rPr lang="en-US" altLang="zh-TW" dirty="0"/>
            </a:br>
            <a:r>
              <a:rPr lang="en-US" altLang="zh-TW" dirty="0">
                <a:solidFill>
                  <a:srgbClr val="0000FF"/>
                </a:solidFill>
              </a:rPr>
              <a:t>Tips for Training DNN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4958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Recipe for Learning</a:t>
            </a:r>
            <a:endParaRPr lang="zh-TW" altLang="en-US" dirty="0"/>
          </a:p>
        </p:txBody>
      </p:sp>
      <p:pic>
        <p:nvPicPr>
          <p:cNvPr id="57346" name="Picture 2" descr="http://edge.alluremedia.com.au/m/l/2015/03/IMG_20150319_1125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15" y="1676525"/>
            <a:ext cx="773496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815974" y="6027863"/>
            <a:ext cx="7512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http://www.gizmodo.com.au/2015/04/the-basic-recipe-for-machine-learning-explained-in-a-single-powerpoint-slide/</a:t>
            </a:r>
          </a:p>
        </p:txBody>
      </p:sp>
    </p:spTree>
    <p:extLst>
      <p:ext uri="{BB962C8B-B14F-4D97-AF65-F5344CB8AC3E}">
        <p14:creationId xmlns:p14="http://schemas.microsoft.com/office/powerpoint/2010/main" val="17689391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Recipe for Learning</a:t>
            </a:r>
            <a:endParaRPr lang="zh-TW" altLang="en-US" dirty="0"/>
          </a:p>
        </p:txBody>
      </p:sp>
      <p:pic>
        <p:nvPicPr>
          <p:cNvPr id="57346" name="Picture 2" descr="http://edge.alluremedia.com.au/m/l/2015/03/IMG_20150319_1125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15" y="1676525"/>
            <a:ext cx="773496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815974" y="6027863"/>
            <a:ext cx="7512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http://www.gizmodo.com.au/2015/04/the-basic-recipe-for-machine-learning-explained-in-a-single-powerpoint-slide/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5867400" y="3599113"/>
            <a:ext cx="1495425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overfitting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28649" y="3599113"/>
            <a:ext cx="1721185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Don’t forget!</a:t>
            </a:r>
            <a:endParaRPr lang="zh-TW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4571999" y="4252065"/>
            <a:ext cx="1581151" cy="82105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Preventing</a:t>
            </a:r>
          </a:p>
          <a:p>
            <a:pPr algn="ctr"/>
            <a:r>
              <a:rPr lang="en-US" altLang="zh-TW" sz="2400" dirty="0"/>
              <a:t>Overfitting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443465" y="4140149"/>
            <a:ext cx="2879154" cy="489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TW" sz="2400" dirty="0"/>
              <a:t>Modify the Network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1458963" y="4675690"/>
            <a:ext cx="2879154" cy="6438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Better optimization Strategy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785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8" grpId="0" animBg="1"/>
      <p:bldP spid="1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Recipe for Learning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81246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3034434" y="5641171"/>
            <a:ext cx="5842866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400" dirty="0"/>
              <a:t>Only use this approach when you already obtained good results on the training data.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0881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23789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dirty="0"/>
              <a:t>Part III:</a:t>
            </a:r>
            <a:br>
              <a:rPr lang="en-US" altLang="zh-TW" dirty="0"/>
            </a:br>
            <a:r>
              <a:rPr lang="en-US" altLang="zh-TW" dirty="0">
                <a:solidFill>
                  <a:srgbClr val="0000FF"/>
                </a:solidFill>
              </a:rPr>
              <a:t>Tips for Training DNN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685800" y="4011389"/>
            <a:ext cx="7772400" cy="8717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800" dirty="0">
                <a:solidFill>
                  <a:srgbClr val="FF0000"/>
                </a:solidFill>
              </a:rPr>
              <a:t>New Activation Function</a:t>
            </a:r>
            <a:endParaRPr lang="zh-TW" alt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211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Rectified Linear Unit (</a:t>
            </a:r>
            <a:r>
              <a:rPr lang="en-US" altLang="zh-TW" dirty="0" err="1"/>
              <a:t>ReLU</a:t>
            </a:r>
            <a:r>
              <a:rPr lang="en-US" altLang="zh-TW" dirty="0"/>
              <a:t>)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4769867" y="2393162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Reason:</a:t>
            </a:r>
            <a:endParaRPr lang="zh-TW" altLang="en-US" sz="2800" b="1" i="1" u="sng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104958" y="2966483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1. Fast to compute</a:t>
            </a:r>
            <a:endParaRPr lang="zh-TW" altLang="en-US" sz="28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5119099" y="3604415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2. Biological reason</a:t>
            </a:r>
            <a:endParaRPr lang="zh-TW" altLang="en-US" sz="28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5119099" y="4238900"/>
            <a:ext cx="3314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3. Infinite sigmoid with different biases</a:t>
            </a:r>
            <a:endParaRPr lang="zh-TW" altLang="en-US" sz="28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119099" y="5250566"/>
            <a:ext cx="3314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4. Vanishing gradient problem</a:t>
            </a:r>
            <a:endParaRPr lang="zh-TW" altLang="en-US" sz="2800" dirty="0"/>
          </a:p>
        </p:txBody>
      </p:sp>
      <p:grpSp>
        <p:nvGrpSpPr>
          <p:cNvPr id="20" name="群組 19"/>
          <p:cNvGrpSpPr/>
          <p:nvPr/>
        </p:nvGrpSpPr>
        <p:grpSpPr>
          <a:xfrm>
            <a:off x="1181227" y="2749476"/>
            <a:ext cx="3103710" cy="2809363"/>
            <a:chOff x="1054530" y="3434696"/>
            <a:chExt cx="3103710" cy="2809363"/>
          </a:xfrm>
        </p:grpSpPr>
        <p:grpSp>
          <p:nvGrpSpPr>
            <p:cNvPr id="21" name="群組 20"/>
            <p:cNvGrpSpPr/>
            <p:nvPr/>
          </p:nvGrpSpPr>
          <p:grpSpPr>
            <a:xfrm>
              <a:off x="1448290" y="3434696"/>
              <a:ext cx="2709950" cy="2809363"/>
              <a:chOff x="6200673" y="3815455"/>
              <a:chExt cx="2709950" cy="2809363"/>
            </a:xfrm>
          </p:grpSpPr>
          <p:cxnSp>
            <p:nvCxnSpPr>
              <p:cNvPr id="25" name="直線單箭頭接點 24"/>
              <p:cNvCxnSpPr/>
              <p:nvPr/>
            </p:nvCxnSpPr>
            <p:spPr>
              <a:xfrm>
                <a:off x="6200673" y="5714500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單箭頭接點 25"/>
              <p:cNvCxnSpPr/>
              <p:nvPr/>
            </p:nvCxnSpPr>
            <p:spPr>
              <a:xfrm rot="16200000">
                <a:off x="6200674" y="5387649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字方塊 30"/>
                  <p:cNvSpPr txBox="1"/>
                  <p:nvPr/>
                </p:nvSpPr>
                <p:spPr>
                  <a:xfrm>
                    <a:off x="8687357" y="5527718"/>
                    <a:ext cx="223266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92" name="文字方塊 9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7357" y="5527718"/>
                    <a:ext cx="223266" cy="369332"/>
                  </a:xfrm>
                  <a:prstGeom prst="rect">
                    <a:avLst/>
                  </a:prstGeom>
                  <a:blipFill rotWithShape="0">
                    <a:blip r:embed="rId19"/>
                    <a:stretch>
                      <a:fillRect l="-16216" r="-1621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字方塊 31"/>
                  <p:cNvSpPr txBox="1"/>
                  <p:nvPr/>
                </p:nvSpPr>
                <p:spPr>
                  <a:xfrm>
                    <a:off x="7313865" y="3815455"/>
                    <a:ext cx="247953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93" name="文字方塊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3865" y="3815455"/>
                    <a:ext cx="247953" cy="369332"/>
                  </a:xfrm>
                  <a:prstGeom prst="rect">
                    <a:avLst/>
                  </a:prstGeom>
                  <a:blipFill rotWithShape="0">
                    <a:blip r:embed="rId20"/>
                    <a:stretch>
                      <a:fillRect l="-17500" r="-15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直線接點 32"/>
              <p:cNvCxnSpPr/>
              <p:nvPr/>
            </p:nvCxnSpPr>
            <p:spPr>
              <a:xfrm>
                <a:off x="6228958" y="5708803"/>
                <a:ext cx="1237168" cy="0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>
              <a:xfrm flipV="1">
                <a:off x="7427944" y="4629511"/>
                <a:ext cx="959230" cy="1079292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字方塊 34"/>
                  <p:cNvSpPr txBox="1"/>
                  <p:nvPr/>
                </p:nvSpPr>
                <p:spPr>
                  <a:xfrm>
                    <a:off x="7985942" y="4252893"/>
                    <a:ext cx="802464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98" name="文字方塊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5942" y="4252893"/>
                    <a:ext cx="802464" cy="369332"/>
                  </a:xfrm>
                  <a:prstGeom prst="rect">
                    <a:avLst/>
                  </a:prstGeom>
                  <a:blipFill rotWithShape="0">
                    <a:blip r:embed="rId21"/>
                    <a:stretch>
                      <a:fillRect l="-4545" r="-378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字方塊 35"/>
                  <p:cNvSpPr txBox="1"/>
                  <p:nvPr/>
                </p:nvSpPr>
                <p:spPr>
                  <a:xfrm>
                    <a:off x="6401952" y="5321208"/>
                    <a:ext cx="818044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99" name="文字方塊 9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1952" y="5321208"/>
                    <a:ext cx="818044" cy="369332"/>
                  </a:xfrm>
                  <a:prstGeom prst="rect">
                    <a:avLst/>
                  </a:prstGeom>
                  <a:blipFill rotWithShape="0">
                    <a:blip r:embed="rId22"/>
                    <a:stretch>
                      <a:fillRect l="-4478" r="-8955"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/>
                <p:cNvSpPr txBox="1"/>
                <p:nvPr/>
              </p:nvSpPr>
              <p:spPr>
                <a:xfrm>
                  <a:off x="1054530" y="3588584"/>
                  <a:ext cx="77784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8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23" name="文字方塊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530" y="3588584"/>
                  <a:ext cx="777842" cy="430887"/>
                </a:xfrm>
                <a:prstGeom prst="rect">
                  <a:avLst/>
                </a:prstGeom>
                <a:blipFill rotWithShape="0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矩形 3"/>
          <p:cNvSpPr/>
          <p:nvPr/>
        </p:nvSpPr>
        <p:spPr>
          <a:xfrm>
            <a:off x="1450015" y="5602602"/>
            <a:ext cx="2672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[Xavier </a:t>
            </a:r>
            <a:r>
              <a:rPr lang="en-US" altLang="zh-TW" dirty="0" err="1">
                <a:solidFill>
                  <a:srgbClr val="0000FF"/>
                </a:solidFill>
              </a:rPr>
              <a:t>Glorot</a:t>
            </a:r>
            <a:r>
              <a:rPr lang="en-US" altLang="zh-TW" dirty="0">
                <a:solidFill>
                  <a:srgbClr val="0000FF"/>
                </a:solidFill>
              </a:rPr>
              <a:t>, AISTATS’11]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04958" y="5249443"/>
            <a:ext cx="3314700" cy="9669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1462590" y="5835579"/>
            <a:ext cx="269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[Andrew L. Maas, ICML’13]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462590" y="6097270"/>
            <a:ext cx="2263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[Kaiming He, arXiv’15]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35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Vanishing Gradient Problem</a:t>
            </a:r>
            <a:endParaRPr lang="zh-TW" altLang="en-US" dirty="0"/>
          </a:p>
        </p:txBody>
      </p:sp>
      <p:sp>
        <p:nvSpPr>
          <p:cNvPr id="129" name="矩形圖說文字 128"/>
          <p:cNvSpPr/>
          <p:nvPr/>
        </p:nvSpPr>
        <p:spPr>
          <a:xfrm>
            <a:off x="4534705" y="4341996"/>
            <a:ext cx="2643016" cy="535965"/>
          </a:xfrm>
          <a:prstGeom prst="wedgeRectCallout">
            <a:avLst>
              <a:gd name="adj1" fmla="val -190"/>
              <a:gd name="adj2" fmla="val -17915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Larger gradients</a:t>
            </a:r>
            <a:endParaRPr lang="zh-TW" altLang="en-US" sz="2400" dirty="0"/>
          </a:p>
        </p:txBody>
      </p:sp>
      <p:sp>
        <p:nvSpPr>
          <p:cNvPr id="131" name="矩形 130"/>
          <p:cNvSpPr/>
          <p:nvPr/>
        </p:nvSpPr>
        <p:spPr>
          <a:xfrm>
            <a:off x="1002763" y="5683083"/>
            <a:ext cx="2643016" cy="5572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Almost random</a:t>
            </a:r>
            <a:endParaRPr lang="zh-TW" altLang="en-US" sz="2400" dirty="0"/>
          </a:p>
        </p:txBody>
      </p:sp>
      <p:sp>
        <p:nvSpPr>
          <p:cNvPr id="132" name="矩形 131"/>
          <p:cNvSpPr/>
          <p:nvPr/>
        </p:nvSpPr>
        <p:spPr>
          <a:xfrm>
            <a:off x="4542371" y="5677619"/>
            <a:ext cx="2635350" cy="5572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Already converge</a:t>
            </a:r>
            <a:endParaRPr lang="zh-TW" altLang="en-US" sz="2400" dirty="0"/>
          </a:p>
        </p:txBody>
      </p:sp>
      <p:sp>
        <p:nvSpPr>
          <p:cNvPr id="133" name="文字方塊 132"/>
          <p:cNvSpPr txBox="1"/>
          <p:nvPr/>
        </p:nvSpPr>
        <p:spPr>
          <a:xfrm>
            <a:off x="6416421" y="6198511"/>
            <a:ext cx="2545355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</a:rPr>
              <a:t>based on random!?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1002763" y="5022157"/>
            <a:ext cx="2643016" cy="5584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Learn very slow</a:t>
            </a:r>
            <a:endParaRPr lang="zh-TW" altLang="en-US" sz="2400" dirty="0"/>
          </a:p>
        </p:txBody>
      </p:sp>
      <p:sp>
        <p:nvSpPr>
          <p:cNvPr id="136" name="矩形 135"/>
          <p:cNvSpPr/>
          <p:nvPr/>
        </p:nvSpPr>
        <p:spPr>
          <a:xfrm>
            <a:off x="4537996" y="5023425"/>
            <a:ext cx="2639725" cy="5572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Learn very fast</a:t>
            </a:r>
            <a:endParaRPr lang="zh-TW" altLang="en-US" sz="2400" dirty="0"/>
          </a:p>
        </p:txBody>
      </p:sp>
      <p:sp>
        <p:nvSpPr>
          <p:cNvPr id="137" name="矩形 136"/>
          <p:cNvSpPr/>
          <p:nvPr/>
        </p:nvSpPr>
        <p:spPr>
          <a:xfrm>
            <a:off x="2896306" y="152193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矩形 137"/>
          <p:cNvSpPr/>
          <p:nvPr/>
        </p:nvSpPr>
        <p:spPr>
          <a:xfrm>
            <a:off x="4221892" y="150558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矩形 138"/>
          <p:cNvSpPr/>
          <p:nvPr/>
        </p:nvSpPr>
        <p:spPr>
          <a:xfrm>
            <a:off x="6255229" y="1532729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矩形 140"/>
          <p:cNvSpPr/>
          <p:nvPr/>
        </p:nvSpPr>
        <p:spPr>
          <a:xfrm>
            <a:off x="1713203" y="154957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2" name="直線單箭頭接點 141"/>
          <p:cNvCxnSpPr/>
          <p:nvPr/>
        </p:nvCxnSpPr>
        <p:spPr>
          <a:xfrm>
            <a:off x="6642036" y="2581149"/>
            <a:ext cx="701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/>
          <p:cNvCxnSpPr/>
          <p:nvPr/>
        </p:nvCxnSpPr>
        <p:spPr>
          <a:xfrm>
            <a:off x="6751352" y="3827039"/>
            <a:ext cx="5919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>
            <a:off x="6618152" y="1802346"/>
            <a:ext cx="7251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1781591" y="226726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矩形 145"/>
          <p:cNvSpPr/>
          <p:nvPr/>
        </p:nvSpPr>
        <p:spPr>
          <a:xfrm>
            <a:off x="1787409" y="169693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197776"/>
              </p:ext>
            </p:extLst>
          </p:nvPr>
        </p:nvGraphicFramePr>
        <p:xfrm>
          <a:off x="1800108" y="160168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6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108" y="160168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168410"/>
              </p:ext>
            </p:extLst>
          </p:nvPr>
        </p:nvGraphicFramePr>
        <p:xfrm>
          <a:off x="1805404" y="2184418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7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404" y="2184418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橢圓 148"/>
          <p:cNvSpPr/>
          <p:nvPr/>
        </p:nvSpPr>
        <p:spPr>
          <a:xfrm>
            <a:off x="2993416" y="153293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0" name="橢圓 149"/>
          <p:cNvSpPr/>
          <p:nvPr/>
        </p:nvSpPr>
        <p:spPr>
          <a:xfrm>
            <a:off x="2995758" y="231150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1" name="橢圓 150"/>
          <p:cNvSpPr/>
          <p:nvPr/>
        </p:nvSpPr>
        <p:spPr>
          <a:xfrm>
            <a:off x="2984125" y="353951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2" name="文字方塊 151"/>
          <p:cNvSpPr txBox="1"/>
          <p:nvPr/>
        </p:nvSpPr>
        <p:spPr>
          <a:xfrm rot="5400000">
            <a:off x="2981378" y="296181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53" name="矩形 152"/>
          <p:cNvSpPr/>
          <p:nvPr/>
        </p:nvSpPr>
        <p:spPr>
          <a:xfrm>
            <a:off x="1791116" y="366502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663595"/>
              </p:ext>
            </p:extLst>
          </p:nvPr>
        </p:nvGraphicFramePr>
        <p:xfrm>
          <a:off x="1788000" y="356877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8" name="方程式" r:id="rId8" imgW="190440" imgH="228600" progId="Equation.3">
                  <p:embed/>
                </p:oleObj>
              </mc:Choice>
              <mc:Fallback>
                <p:oleObj name="方程式" r:id="rId8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000" y="356877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文字方塊 154"/>
          <p:cNvSpPr txBox="1"/>
          <p:nvPr/>
        </p:nvSpPr>
        <p:spPr>
          <a:xfrm rot="5400000">
            <a:off x="1667048" y="294996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56" name="橢圓 155"/>
          <p:cNvSpPr/>
          <p:nvPr/>
        </p:nvSpPr>
        <p:spPr>
          <a:xfrm>
            <a:off x="4308978" y="153293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7" name="橢圓 156"/>
          <p:cNvSpPr/>
          <p:nvPr/>
        </p:nvSpPr>
        <p:spPr>
          <a:xfrm>
            <a:off x="4311320" y="231150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" name="橢圓 157"/>
          <p:cNvSpPr/>
          <p:nvPr/>
        </p:nvSpPr>
        <p:spPr>
          <a:xfrm>
            <a:off x="4299687" y="353951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文字方塊 158"/>
          <p:cNvSpPr txBox="1"/>
          <p:nvPr/>
        </p:nvSpPr>
        <p:spPr>
          <a:xfrm rot="5400000">
            <a:off x="4296940" y="296181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60" name="橢圓 159"/>
          <p:cNvSpPr/>
          <p:nvPr/>
        </p:nvSpPr>
        <p:spPr>
          <a:xfrm>
            <a:off x="6331073" y="152462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1" name="橢圓 160"/>
          <p:cNvSpPr/>
          <p:nvPr/>
        </p:nvSpPr>
        <p:spPr>
          <a:xfrm>
            <a:off x="6333415" y="228453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2" name="橢圓 161"/>
          <p:cNvSpPr/>
          <p:nvPr/>
        </p:nvSpPr>
        <p:spPr>
          <a:xfrm>
            <a:off x="6340443" y="3531205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3" name="文字方塊 162"/>
          <p:cNvSpPr txBox="1"/>
          <p:nvPr/>
        </p:nvSpPr>
        <p:spPr>
          <a:xfrm rot="5400000">
            <a:off x="6337696" y="295033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64" name="文字方塊 163"/>
          <p:cNvSpPr txBox="1"/>
          <p:nvPr/>
        </p:nvSpPr>
        <p:spPr>
          <a:xfrm>
            <a:off x="4881023" y="147435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65" name="文字方塊 164"/>
          <p:cNvSpPr txBox="1"/>
          <p:nvPr/>
        </p:nvSpPr>
        <p:spPr>
          <a:xfrm>
            <a:off x="4898646" y="225985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66" name="文字方塊 165"/>
          <p:cNvSpPr txBox="1"/>
          <p:nvPr/>
        </p:nvSpPr>
        <p:spPr>
          <a:xfrm>
            <a:off x="4910826" y="351614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167" name="直線單箭頭接點 166"/>
          <p:cNvCxnSpPr>
            <a:stCxn id="149" idx="6"/>
            <a:endCxn id="156" idx="2"/>
          </p:cNvCxnSpPr>
          <p:nvPr/>
        </p:nvCxnSpPr>
        <p:spPr>
          <a:xfrm>
            <a:off x="3567574" y="182001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/>
          <p:cNvCxnSpPr/>
          <p:nvPr/>
        </p:nvCxnSpPr>
        <p:spPr>
          <a:xfrm>
            <a:off x="3567574" y="261176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/>
          <p:nvPr/>
        </p:nvCxnSpPr>
        <p:spPr>
          <a:xfrm>
            <a:off x="3558283" y="383373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單箭頭接點 169"/>
          <p:cNvCxnSpPr>
            <a:stCxn id="150" idx="6"/>
            <a:endCxn id="156" idx="2"/>
          </p:cNvCxnSpPr>
          <p:nvPr/>
        </p:nvCxnSpPr>
        <p:spPr>
          <a:xfrm flipV="1">
            <a:off x="3569916" y="1820015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單箭頭接點 170"/>
          <p:cNvCxnSpPr>
            <a:stCxn id="149" idx="6"/>
            <a:endCxn id="157" idx="2"/>
          </p:cNvCxnSpPr>
          <p:nvPr/>
        </p:nvCxnSpPr>
        <p:spPr>
          <a:xfrm>
            <a:off x="3567574" y="1820015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單箭頭接點 171"/>
          <p:cNvCxnSpPr>
            <a:stCxn id="149" idx="6"/>
            <a:endCxn id="158" idx="2"/>
          </p:cNvCxnSpPr>
          <p:nvPr/>
        </p:nvCxnSpPr>
        <p:spPr>
          <a:xfrm>
            <a:off x="3567574" y="1820015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單箭頭接點 172"/>
          <p:cNvCxnSpPr>
            <a:stCxn id="150" idx="6"/>
            <a:endCxn id="158" idx="2"/>
          </p:cNvCxnSpPr>
          <p:nvPr/>
        </p:nvCxnSpPr>
        <p:spPr>
          <a:xfrm>
            <a:off x="3569916" y="2598585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單箭頭接點 173"/>
          <p:cNvCxnSpPr>
            <a:stCxn id="151" idx="6"/>
            <a:endCxn id="156" idx="2"/>
          </p:cNvCxnSpPr>
          <p:nvPr/>
        </p:nvCxnSpPr>
        <p:spPr>
          <a:xfrm flipV="1">
            <a:off x="3558283" y="1820015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單箭頭接點 174"/>
          <p:cNvCxnSpPr>
            <a:stCxn id="151" idx="6"/>
            <a:endCxn id="157" idx="2"/>
          </p:cNvCxnSpPr>
          <p:nvPr/>
        </p:nvCxnSpPr>
        <p:spPr>
          <a:xfrm flipV="1">
            <a:off x="3558283" y="2598585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/>
          <p:cNvCxnSpPr>
            <a:endCxn id="149" idx="2"/>
          </p:cNvCxnSpPr>
          <p:nvPr/>
        </p:nvCxnSpPr>
        <p:spPr>
          <a:xfrm flipV="1">
            <a:off x="2134016" y="1820015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>
            <a:stCxn id="146" idx="3"/>
            <a:endCxn id="150" idx="2"/>
          </p:cNvCxnSpPr>
          <p:nvPr/>
        </p:nvCxnSpPr>
        <p:spPr>
          <a:xfrm>
            <a:off x="2130309" y="186838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單箭頭接點 177"/>
          <p:cNvCxnSpPr>
            <a:stCxn id="146" idx="3"/>
            <a:endCxn id="151" idx="2"/>
          </p:cNvCxnSpPr>
          <p:nvPr/>
        </p:nvCxnSpPr>
        <p:spPr>
          <a:xfrm>
            <a:off x="2130309" y="186838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單箭頭接點 178"/>
          <p:cNvCxnSpPr>
            <a:stCxn id="148" idx="3"/>
            <a:endCxn id="149" idx="2"/>
          </p:cNvCxnSpPr>
          <p:nvPr/>
        </p:nvCxnSpPr>
        <p:spPr>
          <a:xfrm flipV="1">
            <a:off x="2157829" y="182001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單箭頭接點 179"/>
          <p:cNvCxnSpPr>
            <a:stCxn id="145" idx="3"/>
            <a:endCxn id="150" idx="2"/>
          </p:cNvCxnSpPr>
          <p:nvPr/>
        </p:nvCxnSpPr>
        <p:spPr>
          <a:xfrm>
            <a:off x="2124491" y="2438718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單箭頭接點 180"/>
          <p:cNvCxnSpPr>
            <a:stCxn id="145" idx="3"/>
            <a:endCxn id="151" idx="2"/>
          </p:cNvCxnSpPr>
          <p:nvPr/>
        </p:nvCxnSpPr>
        <p:spPr>
          <a:xfrm>
            <a:off x="2124491" y="2438718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單箭頭接點 181"/>
          <p:cNvCxnSpPr>
            <a:stCxn id="154" idx="3"/>
            <a:endCxn id="149" idx="2"/>
          </p:cNvCxnSpPr>
          <p:nvPr/>
        </p:nvCxnSpPr>
        <p:spPr>
          <a:xfrm flipV="1">
            <a:off x="2195988" y="1820015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>
            <a:stCxn id="154" idx="3"/>
            <a:endCxn id="150" idx="2"/>
          </p:cNvCxnSpPr>
          <p:nvPr/>
        </p:nvCxnSpPr>
        <p:spPr>
          <a:xfrm flipV="1">
            <a:off x="2169619" y="259858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>
            <a:stCxn id="154" idx="3"/>
            <a:endCxn id="151" idx="2"/>
          </p:cNvCxnSpPr>
          <p:nvPr/>
        </p:nvCxnSpPr>
        <p:spPr>
          <a:xfrm>
            <a:off x="2169619" y="381319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7328776" y="1489235"/>
            <a:ext cx="642352" cy="2587672"/>
            <a:chOff x="7668524" y="1462486"/>
            <a:chExt cx="642352" cy="2587672"/>
          </a:xfrm>
        </p:grpSpPr>
        <p:sp>
          <p:nvSpPr>
            <p:cNvPr id="185" name="文字方塊 184"/>
            <p:cNvSpPr txBox="1"/>
            <p:nvPr/>
          </p:nvSpPr>
          <p:spPr>
            <a:xfrm rot="5400000">
              <a:off x="7610714" y="298130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186" name="文字方塊 185"/>
            <p:cNvSpPr txBox="1"/>
            <p:nvPr/>
          </p:nvSpPr>
          <p:spPr>
            <a:xfrm>
              <a:off x="7679807" y="1462486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</a:t>
              </a:r>
              <a:endParaRPr lang="zh-TW" altLang="en-US" sz="2800" baseline="-25000" dirty="0"/>
            </a:p>
          </p:txBody>
        </p:sp>
        <p:sp>
          <p:nvSpPr>
            <p:cNvPr id="187" name="文字方塊 186"/>
            <p:cNvSpPr txBox="1"/>
            <p:nvPr/>
          </p:nvSpPr>
          <p:spPr>
            <a:xfrm>
              <a:off x="7668524" y="2260706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2</a:t>
              </a:r>
              <a:endParaRPr lang="zh-TW" altLang="en-US" sz="2800" baseline="-25000" dirty="0"/>
            </a:p>
          </p:txBody>
        </p:sp>
        <p:sp>
          <p:nvSpPr>
            <p:cNvPr id="188" name="文字方塊 187"/>
            <p:cNvSpPr txBox="1"/>
            <p:nvPr/>
          </p:nvSpPr>
          <p:spPr>
            <a:xfrm>
              <a:off x="7668524" y="3526938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 err="1"/>
                <a:t>y</a:t>
              </a:r>
              <a:r>
                <a:rPr lang="en-US" altLang="zh-TW" sz="2800" baseline="-25000" dirty="0" err="1"/>
                <a:t>M</a:t>
              </a:r>
              <a:endParaRPr lang="zh-TW" altLang="en-US" sz="2800" baseline="-25000" dirty="0"/>
            </a:p>
          </p:txBody>
        </p:sp>
      </p:grpSp>
      <p:cxnSp>
        <p:nvCxnSpPr>
          <p:cNvPr id="189" name="直線單箭頭接點 188"/>
          <p:cNvCxnSpPr/>
          <p:nvPr/>
        </p:nvCxnSpPr>
        <p:spPr>
          <a:xfrm>
            <a:off x="5591673" y="1831598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單箭頭接點 189"/>
          <p:cNvCxnSpPr/>
          <p:nvPr/>
        </p:nvCxnSpPr>
        <p:spPr>
          <a:xfrm>
            <a:off x="5591673" y="2623350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單箭頭接點 190"/>
          <p:cNvCxnSpPr/>
          <p:nvPr/>
        </p:nvCxnSpPr>
        <p:spPr>
          <a:xfrm>
            <a:off x="5582382" y="3845319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/>
          <p:cNvCxnSpPr/>
          <p:nvPr/>
        </p:nvCxnSpPr>
        <p:spPr>
          <a:xfrm flipV="1">
            <a:off x="5594015" y="1831598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單箭頭接點 192"/>
          <p:cNvCxnSpPr/>
          <p:nvPr/>
        </p:nvCxnSpPr>
        <p:spPr>
          <a:xfrm>
            <a:off x="5591673" y="1831598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單箭頭接點 193"/>
          <p:cNvCxnSpPr/>
          <p:nvPr/>
        </p:nvCxnSpPr>
        <p:spPr>
          <a:xfrm>
            <a:off x="5591673" y="1831598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單箭頭接點 194"/>
          <p:cNvCxnSpPr/>
          <p:nvPr/>
        </p:nvCxnSpPr>
        <p:spPr>
          <a:xfrm>
            <a:off x="5594015" y="2610168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單箭頭接點 195"/>
          <p:cNvCxnSpPr/>
          <p:nvPr/>
        </p:nvCxnSpPr>
        <p:spPr>
          <a:xfrm flipV="1">
            <a:off x="5582382" y="1831598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/>
          <p:nvPr/>
        </p:nvCxnSpPr>
        <p:spPr>
          <a:xfrm flipV="1">
            <a:off x="5582382" y="2610168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圖說文字 127"/>
          <p:cNvSpPr/>
          <p:nvPr/>
        </p:nvSpPr>
        <p:spPr>
          <a:xfrm>
            <a:off x="1002763" y="4327556"/>
            <a:ext cx="2643016" cy="564847"/>
          </a:xfrm>
          <a:prstGeom prst="wedgeRectCallout">
            <a:avLst>
              <a:gd name="adj1" fmla="val 4384"/>
              <a:gd name="adj2" fmla="val -20950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Smaller gradients</a:t>
            </a:r>
            <a:endParaRPr lang="zh-TW" altLang="en-US" sz="24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1491314" y="2105021"/>
            <a:ext cx="5857287" cy="95410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In 2006, people used RBM pre-training.</a:t>
            </a:r>
          </a:p>
          <a:p>
            <a:r>
              <a:rPr lang="en-US" altLang="zh-TW" sz="2800" dirty="0"/>
              <a:t>In 2015, people use </a:t>
            </a:r>
            <a:r>
              <a:rPr lang="en-US" altLang="zh-TW" sz="2800" dirty="0" err="1"/>
              <a:t>ReLU</a:t>
            </a:r>
            <a:r>
              <a:rPr lang="en-US" altLang="zh-TW" sz="2800" dirty="0"/>
              <a:t>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8507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6" grpId="0" animBg="1"/>
      <p:bldP spid="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7959846" y="1876480"/>
            <a:ext cx="577144" cy="27342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矩形 128"/>
          <p:cNvSpPr/>
          <p:nvPr/>
        </p:nvSpPr>
        <p:spPr>
          <a:xfrm>
            <a:off x="6309431" y="1910450"/>
            <a:ext cx="577144" cy="27342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Vanishing Gradient Problem</a:t>
            </a:r>
            <a:endParaRPr lang="zh-TW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1811753" y="1958032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3137339" y="1941685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5170676" y="196882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628650" y="1985673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5" name="直線單箭頭接點 64"/>
          <p:cNvCxnSpPr/>
          <p:nvPr/>
        </p:nvCxnSpPr>
        <p:spPr>
          <a:xfrm>
            <a:off x="5557483" y="3017247"/>
            <a:ext cx="701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5666799" y="4263137"/>
            <a:ext cx="5919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5533599" y="2238444"/>
            <a:ext cx="7251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697038" y="270336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702856" y="2133037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0" name="Object 12"/>
          <p:cNvGraphicFramePr>
            <a:graphicFrameLocks noChangeAspect="1"/>
          </p:cNvGraphicFramePr>
          <p:nvPr>
            <p:extLst/>
          </p:nvPr>
        </p:nvGraphicFramePr>
        <p:xfrm>
          <a:off x="715555" y="2037787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65" name="方程式" r:id="rId3" imgW="152280" imgH="215640" progId="Equation.3">
                  <p:embed/>
                </p:oleObj>
              </mc:Choice>
              <mc:Fallback>
                <p:oleObj name="方程式" r:id="rId3" imgW="15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555" y="2037787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2"/>
          <p:cNvGraphicFramePr>
            <a:graphicFrameLocks noChangeAspect="1"/>
          </p:cNvGraphicFramePr>
          <p:nvPr>
            <p:extLst/>
          </p:nvPr>
        </p:nvGraphicFramePr>
        <p:xfrm>
          <a:off x="720851" y="2620516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66" name="方程式" r:id="rId5" imgW="164880" imgH="215640" progId="Equation.3">
                  <p:embed/>
                </p:oleObj>
              </mc:Choice>
              <mc:Fallback>
                <p:oleObj name="方程式" r:id="rId5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51" y="2620516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橢圓 71"/>
          <p:cNvSpPr/>
          <p:nvPr/>
        </p:nvSpPr>
        <p:spPr>
          <a:xfrm>
            <a:off x="1908863" y="1969034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橢圓 72"/>
          <p:cNvSpPr/>
          <p:nvPr/>
        </p:nvSpPr>
        <p:spPr>
          <a:xfrm>
            <a:off x="1911205" y="2747604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/>
          <p:cNvSpPr/>
          <p:nvPr/>
        </p:nvSpPr>
        <p:spPr>
          <a:xfrm>
            <a:off x="1899572" y="39756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/>
          <p:cNvSpPr txBox="1"/>
          <p:nvPr/>
        </p:nvSpPr>
        <p:spPr>
          <a:xfrm rot="5400000">
            <a:off x="1896825" y="339790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6" name="矩形 75"/>
          <p:cNvSpPr/>
          <p:nvPr/>
        </p:nvSpPr>
        <p:spPr>
          <a:xfrm>
            <a:off x="706563" y="410112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7" name="Object 12"/>
          <p:cNvGraphicFramePr>
            <a:graphicFrameLocks noChangeAspect="1"/>
          </p:cNvGraphicFramePr>
          <p:nvPr>
            <p:extLst/>
          </p:nvPr>
        </p:nvGraphicFramePr>
        <p:xfrm>
          <a:off x="703447" y="4004869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67" name="方程式" r:id="rId7" imgW="190440" imgH="228600" progId="Equation.3">
                  <p:embed/>
                </p:oleObj>
              </mc:Choice>
              <mc:Fallback>
                <p:oleObj name="方程式" r:id="rId7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47" y="4004869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文字方塊 77"/>
          <p:cNvSpPr txBox="1"/>
          <p:nvPr/>
        </p:nvSpPr>
        <p:spPr>
          <a:xfrm rot="5400000">
            <a:off x="582495" y="338606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9" name="橢圓 78"/>
          <p:cNvSpPr/>
          <p:nvPr/>
        </p:nvSpPr>
        <p:spPr>
          <a:xfrm>
            <a:off x="3224425" y="1969034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3226767" y="2747604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橢圓 80"/>
          <p:cNvSpPr/>
          <p:nvPr/>
        </p:nvSpPr>
        <p:spPr>
          <a:xfrm>
            <a:off x="3215134" y="397561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文字方塊 81"/>
          <p:cNvSpPr txBox="1"/>
          <p:nvPr/>
        </p:nvSpPr>
        <p:spPr>
          <a:xfrm rot="5400000">
            <a:off x="3212387" y="339790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83" name="橢圓 82"/>
          <p:cNvSpPr/>
          <p:nvPr/>
        </p:nvSpPr>
        <p:spPr>
          <a:xfrm>
            <a:off x="5246520" y="196072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5248862" y="272063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5255890" y="396730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文字方塊 85"/>
          <p:cNvSpPr txBox="1"/>
          <p:nvPr/>
        </p:nvSpPr>
        <p:spPr>
          <a:xfrm rot="5400000">
            <a:off x="5253143" y="338643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3796470" y="191045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3814093" y="269594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3826273" y="395224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90" name="直線單箭頭接點 89"/>
          <p:cNvCxnSpPr>
            <a:stCxn id="72" idx="6"/>
            <a:endCxn id="79" idx="2"/>
          </p:cNvCxnSpPr>
          <p:nvPr/>
        </p:nvCxnSpPr>
        <p:spPr>
          <a:xfrm>
            <a:off x="2483021" y="2256113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>
            <a:off x="2483021" y="304786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>
            <a:off x="2473730" y="4269834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73" idx="6"/>
            <a:endCxn id="79" idx="2"/>
          </p:cNvCxnSpPr>
          <p:nvPr/>
        </p:nvCxnSpPr>
        <p:spPr>
          <a:xfrm flipV="1">
            <a:off x="2485363" y="2256113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72" idx="6"/>
            <a:endCxn id="80" idx="2"/>
          </p:cNvCxnSpPr>
          <p:nvPr/>
        </p:nvCxnSpPr>
        <p:spPr>
          <a:xfrm>
            <a:off x="2483021" y="2256113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72" idx="6"/>
            <a:endCxn id="81" idx="2"/>
          </p:cNvCxnSpPr>
          <p:nvPr/>
        </p:nvCxnSpPr>
        <p:spPr>
          <a:xfrm>
            <a:off x="2483021" y="2256113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73" idx="6"/>
            <a:endCxn id="81" idx="2"/>
          </p:cNvCxnSpPr>
          <p:nvPr/>
        </p:nvCxnSpPr>
        <p:spPr>
          <a:xfrm>
            <a:off x="2485363" y="3034683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stCxn id="74" idx="6"/>
            <a:endCxn id="79" idx="2"/>
          </p:cNvCxnSpPr>
          <p:nvPr/>
        </p:nvCxnSpPr>
        <p:spPr>
          <a:xfrm flipV="1">
            <a:off x="2473730" y="2256113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stCxn id="74" idx="6"/>
            <a:endCxn id="80" idx="2"/>
          </p:cNvCxnSpPr>
          <p:nvPr/>
        </p:nvCxnSpPr>
        <p:spPr>
          <a:xfrm flipV="1">
            <a:off x="2473730" y="3034683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endCxn id="72" idx="2"/>
          </p:cNvCxnSpPr>
          <p:nvPr/>
        </p:nvCxnSpPr>
        <p:spPr>
          <a:xfrm flipV="1">
            <a:off x="1049463" y="2256113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>
            <a:stCxn id="69" idx="3"/>
            <a:endCxn id="73" idx="2"/>
          </p:cNvCxnSpPr>
          <p:nvPr/>
        </p:nvCxnSpPr>
        <p:spPr>
          <a:xfrm>
            <a:off x="1045756" y="2304487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>
            <a:stCxn id="69" idx="3"/>
            <a:endCxn id="74" idx="2"/>
          </p:cNvCxnSpPr>
          <p:nvPr/>
        </p:nvCxnSpPr>
        <p:spPr>
          <a:xfrm>
            <a:off x="1045756" y="2304487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>
            <a:stCxn id="71" idx="3"/>
            <a:endCxn id="72" idx="2"/>
          </p:cNvCxnSpPr>
          <p:nvPr/>
        </p:nvCxnSpPr>
        <p:spPr>
          <a:xfrm flipV="1">
            <a:off x="1073276" y="2256113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>
            <a:stCxn id="68" idx="3"/>
            <a:endCxn id="73" idx="2"/>
          </p:cNvCxnSpPr>
          <p:nvPr/>
        </p:nvCxnSpPr>
        <p:spPr>
          <a:xfrm>
            <a:off x="1039938" y="2874816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68" idx="3"/>
            <a:endCxn id="74" idx="2"/>
          </p:cNvCxnSpPr>
          <p:nvPr/>
        </p:nvCxnSpPr>
        <p:spPr>
          <a:xfrm>
            <a:off x="1039938" y="2874816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>
            <a:stCxn id="77" idx="3"/>
            <a:endCxn id="72" idx="2"/>
          </p:cNvCxnSpPr>
          <p:nvPr/>
        </p:nvCxnSpPr>
        <p:spPr>
          <a:xfrm flipV="1">
            <a:off x="1111435" y="2256113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stCxn id="77" idx="3"/>
            <a:endCxn id="73" idx="2"/>
          </p:cNvCxnSpPr>
          <p:nvPr/>
        </p:nvCxnSpPr>
        <p:spPr>
          <a:xfrm flipV="1">
            <a:off x="1085066" y="3034683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>
            <a:stCxn id="77" idx="3"/>
            <a:endCxn id="74" idx="2"/>
          </p:cNvCxnSpPr>
          <p:nvPr/>
        </p:nvCxnSpPr>
        <p:spPr>
          <a:xfrm>
            <a:off x="1085066" y="4249289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群組 107"/>
          <p:cNvGrpSpPr/>
          <p:nvPr/>
        </p:nvGrpSpPr>
        <p:grpSpPr>
          <a:xfrm>
            <a:off x="6244223" y="1925333"/>
            <a:ext cx="642352" cy="2577734"/>
            <a:chOff x="7668524" y="1462486"/>
            <a:chExt cx="642352" cy="2577734"/>
          </a:xfrm>
        </p:grpSpPr>
        <p:sp>
          <p:nvSpPr>
            <p:cNvPr id="109" name="文字方塊 108"/>
            <p:cNvSpPr txBox="1"/>
            <p:nvPr/>
          </p:nvSpPr>
          <p:spPr>
            <a:xfrm rot="5400000">
              <a:off x="7610714" y="298130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7679807" y="1462486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800" baseline="-25000" dirty="0"/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807" y="1462486"/>
                  <a:ext cx="631069" cy="51328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/>
                <p:cNvSpPr txBox="1"/>
                <p:nvPr/>
              </p:nvSpPr>
              <p:spPr>
                <a:xfrm>
                  <a:off x="7668524" y="2260706"/>
                  <a:ext cx="63106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800" baseline="-25000" dirty="0"/>
                </a:p>
              </p:txBody>
            </p:sp>
          </mc:Choice>
          <mc:Fallback xmlns="">
            <p:sp>
              <p:nvSpPr>
                <p:cNvPr id="111" name="文字方塊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2260706"/>
                  <a:ext cx="631069" cy="52322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/>
                <p:cNvSpPr txBox="1"/>
                <p:nvPr/>
              </p:nvSpPr>
              <p:spPr>
                <a:xfrm>
                  <a:off x="7668524" y="3526938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zh-TW" altLang="en-US" sz="2800" baseline="-25000" dirty="0"/>
                </a:p>
              </p:txBody>
            </p:sp>
          </mc:Choice>
          <mc:Fallback xmlns="">
            <p:sp>
              <p:nvSpPr>
                <p:cNvPr id="112" name="文字方塊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3526938"/>
                  <a:ext cx="631069" cy="51328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3" name="直線單箭頭接點 112"/>
          <p:cNvCxnSpPr/>
          <p:nvPr/>
        </p:nvCxnSpPr>
        <p:spPr>
          <a:xfrm>
            <a:off x="4507120" y="226769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4507120" y="3059448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4497829" y="428141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/>
          <p:cNvCxnSpPr/>
          <p:nvPr/>
        </p:nvCxnSpPr>
        <p:spPr>
          <a:xfrm flipV="1">
            <a:off x="4509462" y="2267696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/>
          <p:cNvCxnSpPr/>
          <p:nvPr/>
        </p:nvCxnSpPr>
        <p:spPr>
          <a:xfrm>
            <a:off x="4507120" y="2267696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>
            <a:off x="4507120" y="2267696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4509462" y="3046266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 flipV="1">
            <a:off x="4497829" y="2267696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V="1">
            <a:off x="4497829" y="3046266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群組 123"/>
          <p:cNvGrpSpPr/>
          <p:nvPr/>
        </p:nvGrpSpPr>
        <p:grpSpPr>
          <a:xfrm>
            <a:off x="7948561" y="1958032"/>
            <a:ext cx="642352" cy="2577734"/>
            <a:chOff x="7668524" y="1462486"/>
            <a:chExt cx="642352" cy="2577734"/>
          </a:xfrm>
        </p:grpSpPr>
        <p:sp>
          <p:nvSpPr>
            <p:cNvPr id="125" name="文字方塊 124"/>
            <p:cNvSpPr txBox="1"/>
            <p:nvPr/>
          </p:nvSpPr>
          <p:spPr>
            <a:xfrm rot="5400000">
              <a:off x="7610714" y="298130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25"/>
                <p:cNvSpPr txBox="1"/>
                <p:nvPr/>
              </p:nvSpPr>
              <p:spPr>
                <a:xfrm>
                  <a:off x="7679807" y="1462486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800" baseline="-25000" dirty="0"/>
                </a:p>
              </p:txBody>
            </p:sp>
          </mc:Choice>
          <mc:Fallback xmlns="">
            <p:sp>
              <p:nvSpPr>
                <p:cNvPr id="126" name="文字方塊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807" y="1462486"/>
                  <a:ext cx="631069" cy="51328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字方塊 126"/>
                <p:cNvSpPr txBox="1"/>
                <p:nvPr/>
              </p:nvSpPr>
              <p:spPr>
                <a:xfrm>
                  <a:off x="7668524" y="2260706"/>
                  <a:ext cx="63106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800" baseline="-25000" dirty="0"/>
                </a:p>
              </p:txBody>
            </p:sp>
          </mc:Choice>
          <mc:Fallback xmlns="">
            <p:sp>
              <p:nvSpPr>
                <p:cNvPr id="127" name="文字方塊 1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2260706"/>
                  <a:ext cx="631069" cy="523220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7668524" y="3526938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zh-TW" altLang="en-US" sz="2800" baseline="-25000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3526938"/>
                  <a:ext cx="631069" cy="513282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1" name="左-右雙向箭號 130"/>
          <p:cNvSpPr/>
          <p:nvPr/>
        </p:nvSpPr>
        <p:spPr>
          <a:xfrm>
            <a:off x="6990289" y="2973068"/>
            <a:ext cx="930070" cy="446319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7191833" y="3411153"/>
                <a:ext cx="4514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833" y="3411153"/>
                <a:ext cx="451470" cy="46166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文字方塊 132"/>
          <p:cNvSpPr txBox="1"/>
          <p:nvPr/>
        </p:nvSpPr>
        <p:spPr>
          <a:xfrm>
            <a:off x="956967" y="5414929"/>
            <a:ext cx="528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Intuitive way to compute the gradient …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/>
              <p:cNvSpPr txBox="1"/>
              <p:nvPr/>
            </p:nvSpPr>
            <p:spPr>
              <a:xfrm>
                <a:off x="6304412" y="5876594"/>
                <a:ext cx="921663" cy="702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5" name="文字方塊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412" y="5876594"/>
                <a:ext cx="921663" cy="702244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/>
              <p:cNvSpPr txBox="1"/>
              <p:nvPr/>
            </p:nvSpPr>
            <p:spPr>
              <a:xfrm>
                <a:off x="1029335" y="4686014"/>
                <a:ext cx="9022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8" name="文字方塊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335" y="4686014"/>
                <a:ext cx="902235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/>
              <p:cNvSpPr txBox="1"/>
              <p:nvPr/>
            </p:nvSpPr>
            <p:spPr>
              <a:xfrm>
                <a:off x="7029184" y="3813315"/>
                <a:ext cx="8634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9" name="文字方塊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184" y="3813315"/>
                <a:ext cx="863441" cy="46166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/>
              <p:cNvSpPr txBox="1"/>
              <p:nvPr/>
            </p:nvSpPr>
            <p:spPr>
              <a:xfrm>
                <a:off x="7318726" y="5876594"/>
                <a:ext cx="488339" cy="702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1" name="文字方塊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726" y="5876594"/>
                <a:ext cx="488339" cy="702244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左-右雙向箭號 3"/>
          <p:cNvSpPr/>
          <p:nvPr/>
        </p:nvSpPr>
        <p:spPr>
          <a:xfrm rot="5400000">
            <a:off x="987114" y="4025362"/>
            <a:ext cx="965281" cy="511427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左-右雙向箭號 135"/>
          <p:cNvSpPr/>
          <p:nvPr/>
        </p:nvSpPr>
        <p:spPr>
          <a:xfrm rot="5400000">
            <a:off x="2326876" y="4082465"/>
            <a:ext cx="660247" cy="396278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左-右雙向箭號 139"/>
          <p:cNvSpPr/>
          <p:nvPr/>
        </p:nvSpPr>
        <p:spPr>
          <a:xfrm rot="5400000">
            <a:off x="3651368" y="4097470"/>
            <a:ext cx="482606" cy="267238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2" name="左-右雙向箭號 141"/>
          <p:cNvSpPr>
            <a:spLocks noChangeAspect="1"/>
          </p:cNvSpPr>
          <p:nvPr/>
        </p:nvSpPr>
        <p:spPr>
          <a:xfrm rot="5400000">
            <a:off x="7340792" y="3122642"/>
            <a:ext cx="268770" cy="183094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3" name="手繪多邊形 142"/>
          <p:cNvSpPr/>
          <p:nvPr/>
        </p:nvSpPr>
        <p:spPr>
          <a:xfrm>
            <a:off x="1933060" y="4136984"/>
            <a:ext cx="485775" cy="275950"/>
          </a:xfrm>
          <a:custGeom>
            <a:avLst/>
            <a:gdLst>
              <a:gd name="connsiteX0" fmla="*/ 0 w 485775"/>
              <a:gd name="connsiteY0" fmla="*/ 253953 h 275950"/>
              <a:gd name="connsiteX1" fmla="*/ 190500 w 485775"/>
              <a:gd name="connsiteY1" fmla="*/ 253953 h 275950"/>
              <a:gd name="connsiteX2" fmla="*/ 352425 w 485775"/>
              <a:gd name="connsiteY2" fmla="*/ 25353 h 275950"/>
              <a:gd name="connsiteX3" fmla="*/ 485775 w 485775"/>
              <a:gd name="connsiteY3" fmla="*/ 15828 h 27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775" h="275950">
                <a:moveTo>
                  <a:pt x="0" y="253953"/>
                </a:moveTo>
                <a:cubicBezTo>
                  <a:pt x="65881" y="273003"/>
                  <a:pt x="131762" y="292053"/>
                  <a:pt x="190500" y="253953"/>
                </a:cubicBezTo>
                <a:cubicBezTo>
                  <a:pt x="249238" y="215853"/>
                  <a:pt x="303213" y="65040"/>
                  <a:pt x="352425" y="25353"/>
                </a:cubicBezTo>
                <a:cubicBezTo>
                  <a:pt x="401638" y="-14335"/>
                  <a:pt x="443706" y="746"/>
                  <a:pt x="485775" y="15828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4" name="手繪多邊形 143"/>
          <p:cNvSpPr/>
          <p:nvPr/>
        </p:nvSpPr>
        <p:spPr>
          <a:xfrm>
            <a:off x="3267060" y="4171526"/>
            <a:ext cx="485775" cy="275950"/>
          </a:xfrm>
          <a:custGeom>
            <a:avLst/>
            <a:gdLst>
              <a:gd name="connsiteX0" fmla="*/ 0 w 485775"/>
              <a:gd name="connsiteY0" fmla="*/ 253953 h 275950"/>
              <a:gd name="connsiteX1" fmla="*/ 190500 w 485775"/>
              <a:gd name="connsiteY1" fmla="*/ 253953 h 275950"/>
              <a:gd name="connsiteX2" fmla="*/ 352425 w 485775"/>
              <a:gd name="connsiteY2" fmla="*/ 25353 h 275950"/>
              <a:gd name="connsiteX3" fmla="*/ 485775 w 485775"/>
              <a:gd name="connsiteY3" fmla="*/ 15828 h 27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775" h="275950">
                <a:moveTo>
                  <a:pt x="0" y="253953"/>
                </a:moveTo>
                <a:cubicBezTo>
                  <a:pt x="65881" y="273003"/>
                  <a:pt x="131762" y="292053"/>
                  <a:pt x="190500" y="253953"/>
                </a:cubicBezTo>
                <a:cubicBezTo>
                  <a:pt x="249238" y="215853"/>
                  <a:pt x="303213" y="65040"/>
                  <a:pt x="352425" y="25353"/>
                </a:cubicBezTo>
                <a:cubicBezTo>
                  <a:pt x="401638" y="-14335"/>
                  <a:pt x="443706" y="746"/>
                  <a:pt x="485775" y="15828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4" name="矩形圖說文字 153"/>
          <p:cNvSpPr/>
          <p:nvPr/>
        </p:nvSpPr>
        <p:spPr>
          <a:xfrm>
            <a:off x="572118" y="1308019"/>
            <a:ext cx="2643016" cy="564847"/>
          </a:xfrm>
          <a:prstGeom prst="wedgeRectCallout">
            <a:avLst>
              <a:gd name="adj1" fmla="val -15935"/>
              <a:gd name="adj2" fmla="val 19392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Smaller gradients</a:t>
            </a:r>
            <a:endParaRPr lang="zh-TW" altLang="en-US" sz="2400" dirty="0"/>
          </a:p>
        </p:txBody>
      </p:sp>
      <p:sp>
        <p:nvSpPr>
          <p:cNvPr id="155" name="左-右雙向箭號 154"/>
          <p:cNvSpPr/>
          <p:nvPr/>
        </p:nvSpPr>
        <p:spPr>
          <a:xfrm rot="5400000">
            <a:off x="5790526" y="4091611"/>
            <a:ext cx="401721" cy="240925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6" name="群組 145"/>
          <p:cNvGrpSpPr/>
          <p:nvPr/>
        </p:nvGrpSpPr>
        <p:grpSpPr>
          <a:xfrm>
            <a:off x="4395404" y="1850219"/>
            <a:ext cx="4334480" cy="3410426"/>
            <a:chOff x="3826273" y="2417879"/>
            <a:chExt cx="4334480" cy="3410426"/>
          </a:xfrm>
        </p:grpSpPr>
        <p:pic>
          <p:nvPicPr>
            <p:cNvPr id="147" name="圖片 146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6273" y="2417879"/>
              <a:ext cx="4334480" cy="3410426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cxnSp>
          <p:nvCxnSpPr>
            <p:cNvPr id="148" name="直線接點 147"/>
            <p:cNvCxnSpPr/>
            <p:nvPr/>
          </p:nvCxnSpPr>
          <p:spPr>
            <a:xfrm>
              <a:off x="6696058" y="3528555"/>
              <a:ext cx="0" cy="1513446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/>
            <p:cNvCxnSpPr/>
            <p:nvPr/>
          </p:nvCxnSpPr>
          <p:spPr>
            <a:xfrm>
              <a:off x="7643303" y="3326101"/>
              <a:ext cx="0" cy="1715900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接點 149"/>
            <p:cNvCxnSpPr/>
            <p:nvPr/>
          </p:nvCxnSpPr>
          <p:spPr>
            <a:xfrm flipH="1">
              <a:off x="5917019" y="3287769"/>
              <a:ext cx="1726284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接點 150"/>
            <p:cNvCxnSpPr/>
            <p:nvPr/>
          </p:nvCxnSpPr>
          <p:spPr>
            <a:xfrm flipH="1">
              <a:off x="5917018" y="3528555"/>
              <a:ext cx="772745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文字方塊 151"/>
            <p:cNvSpPr txBox="1"/>
            <p:nvPr/>
          </p:nvSpPr>
          <p:spPr>
            <a:xfrm>
              <a:off x="6598003" y="4959396"/>
              <a:ext cx="11394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Large input</a:t>
              </a:r>
              <a:endParaRPr lang="zh-TW" altLang="en-US" sz="2400" dirty="0"/>
            </a:p>
          </p:txBody>
        </p:sp>
        <p:sp>
          <p:nvSpPr>
            <p:cNvPr id="153" name="文字方塊 152"/>
            <p:cNvSpPr txBox="1"/>
            <p:nvPr/>
          </p:nvSpPr>
          <p:spPr>
            <a:xfrm>
              <a:off x="4777545" y="2964063"/>
              <a:ext cx="11394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Small output</a:t>
              </a:r>
              <a:endParaRPr lang="zh-TW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1418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5" grpId="0"/>
      <p:bldP spid="138" grpId="0"/>
      <p:bldP spid="139" grpId="0"/>
      <p:bldP spid="141" grpId="0"/>
      <p:bldP spid="4" grpId="0" animBg="1"/>
      <p:bldP spid="136" grpId="0" animBg="1"/>
      <p:bldP spid="140" grpId="0" animBg="1"/>
      <p:bldP spid="142" grpId="0" animBg="1"/>
      <p:bldP spid="15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7366800" y="4376764"/>
            <a:ext cx="7013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7342916" y="3597961"/>
            <a:ext cx="7252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群組 66"/>
          <p:cNvGrpSpPr/>
          <p:nvPr/>
        </p:nvGrpSpPr>
        <p:grpSpPr>
          <a:xfrm>
            <a:off x="958664" y="3219325"/>
            <a:ext cx="342900" cy="461962"/>
            <a:chOff x="1378935" y="1958800"/>
            <a:chExt cx="342900" cy="461962"/>
          </a:xfrm>
        </p:grpSpPr>
        <p:sp>
          <p:nvSpPr>
            <p:cNvPr id="9" name="矩形 8"/>
            <p:cNvSpPr/>
            <p:nvPr/>
          </p:nvSpPr>
          <p:spPr>
            <a:xfrm>
              <a:off x="1378935" y="205405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0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1391634" y="195880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98"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634" y="195880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群組 67"/>
          <p:cNvGrpSpPr/>
          <p:nvPr/>
        </p:nvGrpSpPr>
        <p:grpSpPr>
          <a:xfrm>
            <a:off x="981547" y="4354673"/>
            <a:ext cx="376238" cy="461963"/>
            <a:chOff x="1373117" y="2541529"/>
            <a:chExt cx="376238" cy="461963"/>
          </a:xfrm>
        </p:grpSpPr>
        <p:sp>
          <p:nvSpPr>
            <p:cNvPr id="8" name="矩形 7"/>
            <p:cNvSpPr/>
            <p:nvPr/>
          </p:nvSpPr>
          <p:spPr>
            <a:xfrm>
              <a:off x="1373117" y="262437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1396930" y="254152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99"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930" y="254152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>
            <a:off x="2874512" y="2169925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876854" y="3195377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884669" y="425305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/>
          </p:nvPr>
        </p:nvGraphicFramePr>
        <p:xfrm>
          <a:off x="8161635" y="3316091"/>
          <a:ext cx="3524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00" name="方程式" r:id="rId7" imgW="164880" imgH="215640" progId="Equation.3">
                  <p:embed/>
                </p:oleObj>
              </mc:Choice>
              <mc:Fallback>
                <p:oleObj name="方程式" r:id="rId7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1635" y="3316091"/>
                        <a:ext cx="352425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/>
          <p:cNvGraphicFramePr>
            <a:graphicFrameLocks noChangeAspect="1"/>
          </p:cNvGraphicFramePr>
          <p:nvPr>
            <p:extLst/>
          </p:nvPr>
        </p:nvGraphicFramePr>
        <p:xfrm>
          <a:off x="8134648" y="409926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01" name="方程式" r:id="rId9" imgW="177480" imgH="215640" progId="Equation.3">
                  <p:embed/>
                </p:oleObj>
              </mc:Choice>
              <mc:Fallback>
                <p:oleObj name="方程式" r:id="rId9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648" y="409926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橢圓 21"/>
          <p:cNvSpPr/>
          <p:nvPr/>
        </p:nvSpPr>
        <p:spPr>
          <a:xfrm>
            <a:off x="5282464" y="2169924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5295518" y="3211490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5321626" y="425305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7055837" y="332023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7058179" y="408014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單箭頭接點 35"/>
          <p:cNvCxnSpPr>
            <a:stCxn id="65" idx="6"/>
            <a:endCxn id="24" idx="2"/>
          </p:cNvCxnSpPr>
          <p:nvPr/>
        </p:nvCxnSpPr>
        <p:spPr>
          <a:xfrm flipV="1">
            <a:off x="3448670" y="4540135"/>
            <a:ext cx="1872956" cy="10727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66" idx="2"/>
          </p:cNvCxnSpPr>
          <p:nvPr/>
        </p:nvCxnSpPr>
        <p:spPr>
          <a:xfrm>
            <a:off x="3468118" y="5612912"/>
            <a:ext cx="18535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13" idx="6"/>
            <a:endCxn id="22" idx="2"/>
          </p:cNvCxnSpPr>
          <p:nvPr/>
        </p:nvCxnSpPr>
        <p:spPr>
          <a:xfrm flipV="1">
            <a:off x="3451012" y="2457003"/>
            <a:ext cx="1831452" cy="10254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12" idx="6"/>
            <a:endCxn id="23" idx="2"/>
          </p:cNvCxnSpPr>
          <p:nvPr/>
        </p:nvCxnSpPr>
        <p:spPr>
          <a:xfrm>
            <a:off x="3448670" y="2457004"/>
            <a:ext cx="1846848" cy="10415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2" idx="6"/>
            <a:endCxn id="24" idx="2"/>
          </p:cNvCxnSpPr>
          <p:nvPr/>
        </p:nvCxnSpPr>
        <p:spPr>
          <a:xfrm>
            <a:off x="3448670" y="2457004"/>
            <a:ext cx="1872956" cy="20831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3" idx="6"/>
            <a:endCxn id="24" idx="2"/>
          </p:cNvCxnSpPr>
          <p:nvPr/>
        </p:nvCxnSpPr>
        <p:spPr>
          <a:xfrm>
            <a:off x="3451012" y="3482456"/>
            <a:ext cx="1870614" cy="10576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4" idx="6"/>
            <a:endCxn id="22" idx="2"/>
          </p:cNvCxnSpPr>
          <p:nvPr/>
        </p:nvCxnSpPr>
        <p:spPr>
          <a:xfrm flipV="1">
            <a:off x="3458827" y="2457003"/>
            <a:ext cx="1823637" cy="20831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4" idx="6"/>
            <a:endCxn id="23" idx="2"/>
          </p:cNvCxnSpPr>
          <p:nvPr/>
        </p:nvCxnSpPr>
        <p:spPr>
          <a:xfrm flipV="1">
            <a:off x="3458827" y="3498569"/>
            <a:ext cx="1836691" cy="10415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0" idx="3"/>
            <a:endCxn id="12" idx="2"/>
          </p:cNvCxnSpPr>
          <p:nvPr/>
        </p:nvCxnSpPr>
        <p:spPr>
          <a:xfrm flipV="1">
            <a:off x="1296801" y="2457004"/>
            <a:ext cx="1577711" cy="99330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9" idx="3"/>
            <a:endCxn id="13" idx="2"/>
          </p:cNvCxnSpPr>
          <p:nvPr/>
        </p:nvCxnSpPr>
        <p:spPr>
          <a:xfrm flipV="1">
            <a:off x="1301564" y="3482456"/>
            <a:ext cx="1575290" cy="356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9" idx="3"/>
            <a:endCxn id="65" idx="2"/>
          </p:cNvCxnSpPr>
          <p:nvPr/>
        </p:nvCxnSpPr>
        <p:spPr>
          <a:xfrm>
            <a:off x="1301564" y="3486025"/>
            <a:ext cx="1572948" cy="21268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1" idx="3"/>
            <a:endCxn id="12" idx="2"/>
          </p:cNvCxnSpPr>
          <p:nvPr/>
        </p:nvCxnSpPr>
        <p:spPr>
          <a:xfrm flipV="1">
            <a:off x="1357785" y="2457004"/>
            <a:ext cx="1516727" cy="21286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8" idx="3"/>
            <a:endCxn id="13" idx="2"/>
          </p:cNvCxnSpPr>
          <p:nvPr/>
        </p:nvCxnSpPr>
        <p:spPr>
          <a:xfrm flipV="1">
            <a:off x="1324447" y="3482456"/>
            <a:ext cx="1552407" cy="11265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8" idx="3"/>
            <a:endCxn id="65" idx="2"/>
          </p:cNvCxnSpPr>
          <p:nvPr/>
        </p:nvCxnSpPr>
        <p:spPr>
          <a:xfrm>
            <a:off x="1324447" y="4608973"/>
            <a:ext cx="1550065" cy="10039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22" idx="6"/>
          </p:cNvCxnSpPr>
          <p:nvPr/>
        </p:nvCxnSpPr>
        <p:spPr>
          <a:xfrm>
            <a:off x="5856622" y="2457003"/>
            <a:ext cx="1165922" cy="11493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23" idx="6"/>
          </p:cNvCxnSpPr>
          <p:nvPr/>
        </p:nvCxnSpPr>
        <p:spPr>
          <a:xfrm>
            <a:off x="5869676" y="3498569"/>
            <a:ext cx="1152868" cy="8995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23" idx="6"/>
          </p:cNvCxnSpPr>
          <p:nvPr/>
        </p:nvCxnSpPr>
        <p:spPr>
          <a:xfrm>
            <a:off x="5869676" y="3498569"/>
            <a:ext cx="1152868" cy="1077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22" idx="6"/>
          </p:cNvCxnSpPr>
          <p:nvPr/>
        </p:nvCxnSpPr>
        <p:spPr>
          <a:xfrm>
            <a:off x="5856622" y="2457003"/>
            <a:ext cx="1168264" cy="19278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24" idx="6"/>
          </p:cNvCxnSpPr>
          <p:nvPr/>
        </p:nvCxnSpPr>
        <p:spPr>
          <a:xfrm flipV="1">
            <a:off x="5895784" y="3606330"/>
            <a:ext cx="1126760" cy="9338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24" idx="6"/>
          </p:cNvCxnSpPr>
          <p:nvPr/>
        </p:nvCxnSpPr>
        <p:spPr>
          <a:xfrm flipV="1">
            <a:off x="5895784" y="4384900"/>
            <a:ext cx="1129102" cy="155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2874512" y="532583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橢圓 65"/>
          <p:cNvSpPr/>
          <p:nvPr/>
        </p:nvSpPr>
        <p:spPr>
          <a:xfrm>
            <a:off x="5321626" y="5325833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1" name="直線單箭頭接點 100"/>
          <p:cNvCxnSpPr>
            <a:stCxn id="8" idx="3"/>
            <a:endCxn id="14" idx="2"/>
          </p:cNvCxnSpPr>
          <p:nvPr/>
        </p:nvCxnSpPr>
        <p:spPr>
          <a:xfrm flipV="1">
            <a:off x="1324447" y="4540135"/>
            <a:ext cx="1560222" cy="688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9" idx="3"/>
            <a:endCxn id="14" idx="2"/>
          </p:cNvCxnSpPr>
          <p:nvPr/>
        </p:nvCxnSpPr>
        <p:spPr>
          <a:xfrm>
            <a:off x="1301564" y="3486025"/>
            <a:ext cx="1583105" cy="10541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stCxn id="65" idx="6"/>
            <a:endCxn id="23" idx="2"/>
          </p:cNvCxnSpPr>
          <p:nvPr/>
        </p:nvCxnSpPr>
        <p:spPr>
          <a:xfrm flipV="1">
            <a:off x="3448670" y="3498569"/>
            <a:ext cx="1846848" cy="21143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/>
          <p:cNvCxnSpPr>
            <a:stCxn id="65" idx="6"/>
            <a:endCxn id="22" idx="2"/>
          </p:cNvCxnSpPr>
          <p:nvPr/>
        </p:nvCxnSpPr>
        <p:spPr>
          <a:xfrm flipV="1">
            <a:off x="3448670" y="2457003"/>
            <a:ext cx="1833794" cy="3155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>
            <a:endCxn id="66" idx="2"/>
          </p:cNvCxnSpPr>
          <p:nvPr/>
        </p:nvCxnSpPr>
        <p:spPr>
          <a:xfrm>
            <a:off x="3464066" y="4536454"/>
            <a:ext cx="1857560" cy="10764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4" idx="6"/>
            <a:endCxn id="24" idx="2"/>
          </p:cNvCxnSpPr>
          <p:nvPr/>
        </p:nvCxnSpPr>
        <p:spPr>
          <a:xfrm>
            <a:off x="3458827" y="4540135"/>
            <a:ext cx="18627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>
            <a:off x="3448670" y="3498569"/>
            <a:ext cx="18627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>
            <a:off x="3468118" y="2457003"/>
            <a:ext cx="18627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3" idx="6"/>
            <a:endCxn id="66" idx="2"/>
          </p:cNvCxnSpPr>
          <p:nvPr/>
        </p:nvCxnSpPr>
        <p:spPr>
          <a:xfrm>
            <a:off x="3451012" y="3482456"/>
            <a:ext cx="1870614" cy="21304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12" idx="6"/>
            <a:endCxn id="66" idx="2"/>
          </p:cNvCxnSpPr>
          <p:nvPr/>
        </p:nvCxnSpPr>
        <p:spPr>
          <a:xfrm>
            <a:off x="3448670" y="2457004"/>
            <a:ext cx="1872956" cy="31559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>
            <a:stCxn id="66" idx="6"/>
            <a:endCxn id="28" idx="2"/>
          </p:cNvCxnSpPr>
          <p:nvPr/>
        </p:nvCxnSpPr>
        <p:spPr>
          <a:xfrm flipV="1">
            <a:off x="5895784" y="4367226"/>
            <a:ext cx="1162395" cy="12456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>
            <a:stCxn id="66" idx="6"/>
            <a:endCxn id="27" idx="2"/>
          </p:cNvCxnSpPr>
          <p:nvPr/>
        </p:nvCxnSpPr>
        <p:spPr>
          <a:xfrm flipV="1">
            <a:off x="5895784" y="3607317"/>
            <a:ext cx="1160053" cy="20055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>
            <a:off x="2922711" y="2555801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flipV="1">
            <a:off x="3147047" y="2268725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接點 158"/>
          <p:cNvCxnSpPr/>
          <p:nvPr/>
        </p:nvCxnSpPr>
        <p:spPr>
          <a:xfrm>
            <a:off x="2929666" y="3593842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接點 159"/>
          <p:cNvCxnSpPr/>
          <p:nvPr/>
        </p:nvCxnSpPr>
        <p:spPr>
          <a:xfrm flipV="1">
            <a:off x="3154002" y="3306766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接點 160"/>
          <p:cNvCxnSpPr/>
          <p:nvPr/>
        </p:nvCxnSpPr>
        <p:spPr>
          <a:xfrm>
            <a:off x="2922711" y="4663840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接點 161"/>
          <p:cNvCxnSpPr/>
          <p:nvPr/>
        </p:nvCxnSpPr>
        <p:spPr>
          <a:xfrm flipV="1">
            <a:off x="3147047" y="4376764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接點 162"/>
          <p:cNvCxnSpPr/>
          <p:nvPr/>
        </p:nvCxnSpPr>
        <p:spPr>
          <a:xfrm>
            <a:off x="2929666" y="5725236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接點 163"/>
          <p:cNvCxnSpPr/>
          <p:nvPr/>
        </p:nvCxnSpPr>
        <p:spPr>
          <a:xfrm flipV="1">
            <a:off x="3154002" y="5438160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接點 164"/>
          <p:cNvCxnSpPr/>
          <p:nvPr/>
        </p:nvCxnSpPr>
        <p:spPr>
          <a:xfrm>
            <a:off x="5359751" y="5725402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接點 165"/>
          <p:cNvCxnSpPr/>
          <p:nvPr/>
        </p:nvCxnSpPr>
        <p:spPr>
          <a:xfrm flipV="1">
            <a:off x="5584087" y="5438326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接點 166"/>
          <p:cNvCxnSpPr/>
          <p:nvPr/>
        </p:nvCxnSpPr>
        <p:spPr>
          <a:xfrm>
            <a:off x="5381631" y="4641749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接點 167"/>
          <p:cNvCxnSpPr/>
          <p:nvPr/>
        </p:nvCxnSpPr>
        <p:spPr>
          <a:xfrm flipV="1">
            <a:off x="5605967" y="4354673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接點 168"/>
          <p:cNvCxnSpPr/>
          <p:nvPr/>
        </p:nvCxnSpPr>
        <p:spPr>
          <a:xfrm>
            <a:off x="5330914" y="3604268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/>
          <p:nvPr/>
        </p:nvCxnSpPr>
        <p:spPr>
          <a:xfrm flipV="1">
            <a:off x="5555250" y="3317192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接點 170"/>
          <p:cNvCxnSpPr/>
          <p:nvPr/>
        </p:nvCxnSpPr>
        <p:spPr>
          <a:xfrm>
            <a:off x="5337618" y="2534186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接點 171"/>
          <p:cNvCxnSpPr/>
          <p:nvPr/>
        </p:nvCxnSpPr>
        <p:spPr>
          <a:xfrm flipV="1">
            <a:off x="5561954" y="2247110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字方塊 172"/>
          <p:cNvSpPr txBox="1"/>
          <p:nvPr/>
        </p:nvSpPr>
        <p:spPr>
          <a:xfrm>
            <a:off x="3271873" y="4581583"/>
            <a:ext cx="51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0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74" name="文字方塊 173"/>
          <p:cNvSpPr txBox="1"/>
          <p:nvPr/>
        </p:nvSpPr>
        <p:spPr>
          <a:xfrm>
            <a:off x="3264971" y="5679829"/>
            <a:ext cx="51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0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5732988" y="1984462"/>
            <a:ext cx="51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0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5742701" y="4010202"/>
            <a:ext cx="51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0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grpSp>
        <p:nvGrpSpPr>
          <p:cNvPr id="76" name="群組 75"/>
          <p:cNvGrpSpPr/>
          <p:nvPr/>
        </p:nvGrpSpPr>
        <p:grpSpPr>
          <a:xfrm>
            <a:off x="6275254" y="19180"/>
            <a:ext cx="2709950" cy="2809363"/>
            <a:chOff x="6200673" y="3815455"/>
            <a:chExt cx="2709950" cy="2809363"/>
          </a:xfrm>
        </p:grpSpPr>
        <p:cxnSp>
          <p:nvCxnSpPr>
            <p:cNvPr id="78" name="直線單箭頭接點 77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/>
                <p:cNvSpPr txBox="1"/>
                <p:nvPr/>
              </p:nvSpPr>
              <p:spPr>
                <a:xfrm>
                  <a:off x="8687357" y="5527718"/>
                  <a:ext cx="22326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2" name="文字方塊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7357" y="5527718"/>
                  <a:ext cx="223266" cy="369332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 l="-16216" r="-1621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/>
                <p:cNvSpPr txBox="1"/>
                <p:nvPr/>
              </p:nvSpPr>
              <p:spPr>
                <a:xfrm>
                  <a:off x="7313865" y="3815455"/>
                  <a:ext cx="2479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3" name="文字方塊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3865" y="3815455"/>
                  <a:ext cx="247953" cy="369332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 l="-17500" r="-1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直線接點 81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/>
                <p:cNvSpPr txBox="1"/>
                <p:nvPr/>
              </p:nvSpPr>
              <p:spPr>
                <a:xfrm>
                  <a:off x="7985942" y="4252893"/>
                  <a:ext cx="80246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8" name="文字方塊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942" y="4252893"/>
                  <a:ext cx="802464" cy="369332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l="-4545" r="-378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/>
                <p:cNvSpPr txBox="1"/>
                <p:nvPr/>
              </p:nvSpPr>
              <p:spPr>
                <a:xfrm>
                  <a:off x="6401952" y="5321208"/>
                  <a:ext cx="8180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9" name="文字方塊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952" y="5321208"/>
                  <a:ext cx="818044" cy="369332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 l="-4478" r="-8955" b="-65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6" name="直線接點 85"/>
          <p:cNvCxnSpPr/>
          <p:nvPr/>
        </p:nvCxnSpPr>
        <p:spPr>
          <a:xfrm flipH="1">
            <a:off x="2975384" y="2268725"/>
            <a:ext cx="362857" cy="3628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 flipH="1">
            <a:off x="2967108" y="3306565"/>
            <a:ext cx="362857" cy="3628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 flipH="1">
            <a:off x="5383109" y="3314331"/>
            <a:ext cx="362857" cy="3628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H="1">
            <a:off x="5434099" y="5431483"/>
            <a:ext cx="362857" cy="3628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45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  <p:bldP spid="175" grpId="0"/>
      <p:bldP spid="17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7366800" y="4376764"/>
            <a:ext cx="7013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7342916" y="3597961"/>
            <a:ext cx="7252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群組 66"/>
          <p:cNvGrpSpPr/>
          <p:nvPr/>
        </p:nvGrpSpPr>
        <p:grpSpPr>
          <a:xfrm>
            <a:off x="958664" y="3219325"/>
            <a:ext cx="342900" cy="461962"/>
            <a:chOff x="1378935" y="1958800"/>
            <a:chExt cx="342900" cy="461962"/>
          </a:xfrm>
        </p:grpSpPr>
        <p:sp>
          <p:nvSpPr>
            <p:cNvPr id="9" name="矩形 8"/>
            <p:cNvSpPr/>
            <p:nvPr/>
          </p:nvSpPr>
          <p:spPr>
            <a:xfrm>
              <a:off x="1378935" y="205405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0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1391634" y="195880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18"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634" y="195880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群組 67"/>
          <p:cNvGrpSpPr/>
          <p:nvPr/>
        </p:nvGrpSpPr>
        <p:grpSpPr>
          <a:xfrm>
            <a:off x="981547" y="4354673"/>
            <a:ext cx="376238" cy="461963"/>
            <a:chOff x="1373117" y="2541529"/>
            <a:chExt cx="376238" cy="461963"/>
          </a:xfrm>
        </p:grpSpPr>
        <p:sp>
          <p:nvSpPr>
            <p:cNvPr id="8" name="矩形 7"/>
            <p:cNvSpPr/>
            <p:nvPr/>
          </p:nvSpPr>
          <p:spPr>
            <a:xfrm>
              <a:off x="1373117" y="262437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1396930" y="254152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19"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930" y="254152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>
            <a:off x="2874512" y="2169925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876854" y="3195377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/>
          </p:nvPr>
        </p:nvGraphicFramePr>
        <p:xfrm>
          <a:off x="8161635" y="3316091"/>
          <a:ext cx="3524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20" name="方程式" r:id="rId7" imgW="164880" imgH="215640" progId="Equation.3">
                  <p:embed/>
                </p:oleObj>
              </mc:Choice>
              <mc:Fallback>
                <p:oleObj name="方程式" r:id="rId7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1635" y="3316091"/>
                        <a:ext cx="352425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/>
          <p:cNvGraphicFramePr>
            <a:graphicFrameLocks noChangeAspect="1"/>
          </p:cNvGraphicFramePr>
          <p:nvPr>
            <p:extLst/>
          </p:nvPr>
        </p:nvGraphicFramePr>
        <p:xfrm>
          <a:off x="8134648" y="409926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21" name="方程式" r:id="rId9" imgW="177480" imgH="215640" progId="Equation.3">
                  <p:embed/>
                </p:oleObj>
              </mc:Choice>
              <mc:Fallback>
                <p:oleObj name="方程式" r:id="rId9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648" y="409926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橢圓 22"/>
          <p:cNvSpPr/>
          <p:nvPr/>
        </p:nvSpPr>
        <p:spPr>
          <a:xfrm>
            <a:off x="5295518" y="3211490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7055837" y="332023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7058179" y="408014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/>
          <p:cNvCxnSpPr>
            <a:stCxn id="12" idx="6"/>
            <a:endCxn id="23" idx="2"/>
          </p:cNvCxnSpPr>
          <p:nvPr/>
        </p:nvCxnSpPr>
        <p:spPr>
          <a:xfrm>
            <a:off x="3448670" y="2457004"/>
            <a:ext cx="1846848" cy="10415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0" idx="3"/>
            <a:endCxn id="12" idx="2"/>
          </p:cNvCxnSpPr>
          <p:nvPr/>
        </p:nvCxnSpPr>
        <p:spPr>
          <a:xfrm flipV="1">
            <a:off x="1296801" y="2457004"/>
            <a:ext cx="1577711" cy="99330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9" idx="3"/>
            <a:endCxn id="13" idx="2"/>
          </p:cNvCxnSpPr>
          <p:nvPr/>
        </p:nvCxnSpPr>
        <p:spPr>
          <a:xfrm flipV="1">
            <a:off x="1301564" y="3482456"/>
            <a:ext cx="1575290" cy="356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1" idx="3"/>
            <a:endCxn id="12" idx="2"/>
          </p:cNvCxnSpPr>
          <p:nvPr/>
        </p:nvCxnSpPr>
        <p:spPr>
          <a:xfrm flipV="1">
            <a:off x="1357785" y="2457004"/>
            <a:ext cx="1516727" cy="21286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8" idx="3"/>
            <a:endCxn id="13" idx="2"/>
          </p:cNvCxnSpPr>
          <p:nvPr/>
        </p:nvCxnSpPr>
        <p:spPr>
          <a:xfrm flipV="1">
            <a:off x="1324447" y="3482456"/>
            <a:ext cx="1552407" cy="11265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23" idx="6"/>
          </p:cNvCxnSpPr>
          <p:nvPr/>
        </p:nvCxnSpPr>
        <p:spPr>
          <a:xfrm>
            <a:off x="5869676" y="3498569"/>
            <a:ext cx="1152868" cy="8995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23" idx="6"/>
          </p:cNvCxnSpPr>
          <p:nvPr/>
        </p:nvCxnSpPr>
        <p:spPr>
          <a:xfrm>
            <a:off x="5869676" y="3498569"/>
            <a:ext cx="1152868" cy="1077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5321626" y="5325833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4" name="直線單箭頭接點 123"/>
          <p:cNvCxnSpPr/>
          <p:nvPr/>
        </p:nvCxnSpPr>
        <p:spPr>
          <a:xfrm>
            <a:off x="3448670" y="3498569"/>
            <a:ext cx="18627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3" idx="6"/>
            <a:endCxn id="66" idx="2"/>
          </p:cNvCxnSpPr>
          <p:nvPr/>
        </p:nvCxnSpPr>
        <p:spPr>
          <a:xfrm>
            <a:off x="3451012" y="3482456"/>
            <a:ext cx="1870614" cy="21304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12" idx="6"/>
            <a:endCxn id="66" idx="2"/>
          </p:cNvCxnSpPr>
          <p:nvPr/>
        </p:nvCxnSpPr>
        <p:spPr>
          <a:xfrm>
            <a:off x="3448670" y="2457004"/>
            <a:ext cx="1872956" cy="31559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>
            <a:stCxn id="66" idx="6"/>
            <a:endCxn id="28" idx="2"/>
          </p:cNvCxnSpPr>
          <p:nvPr/>
        </p:nvCxnSpPr>
        <p:spPr>
          <a:xfrm flipV="1">
            <a:off x="5895784" y="4367226"/>
            <a:ext cx="1162395" cy="12456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>
            <a:stCxn id="66" idx="6"/>
            <a:endCxn id="27" idx="2"/>
          </p:cNvCxnSpPr>
          <p:nvPr/>
        </p:nvCxnSpPr>
        <p:spPr>
          <a:xfrm flipV="1">
            <a:off x="5895784" y="3607317"/>
            <a:ext cx="1160053" cy="20055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>
            <a:off x="2922711" y="2555801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flipV="1">
            <a:off x="3147047" y="2268725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接點 158"/>
          <p:cNvCxnSpPr/>
          <p:nvPr/>
        </p:nvCxnSpPr>
        <p:spPr>
          <a:xfrm>
            <a:off x="2929666" y="3593842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接點 159"/>
          <p:cNvCxnSpPr/>
          <p:nvPr/>
        </p:nvCxnSpPr>
        <p:spPr>
          <a:xfrm flipV="1">
            <a:off x="3154002" y="3306766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接點 164"/>
          <p:cNvCxnSpPr/>
          <p:nvPr/>
        </p:nvCxnSpPr>
        <p:spPr>
          <a:xfrm>
            <a:off x="5359751" y="5725402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接點 165"/>
          <p:cNvCxnSpPr/>
          <p:nvPr/>
        </p:nvCxnSpPr>
        <p:spPr>
          <a:xfrm flipV="1">
            <a:off x="5584087" y="5438326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接點 168"/>
          <p:cNvCxnSpPr/>
          <p:nvPr/>
        </p:nvCxnSpPr>
        <p:spPr>
          <a:xfrm>
            <a:off x="5330914" y="3604268"/>
            <a:ext cx="224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/>
          <p:nvPr/>
        </p:nvCxnSpPr>
        <p:spPr>
          <a:xfrm flipV="1">
            <a:off x="5555250" y="3317192"/>
            <a:ext cx="197226" cy="287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523925" y="1501737"/>
            <a:ext cx="386080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 Thinner linear network</a:t>
            </a:r>
            <a:endParaRPr lang="zh-TW" altLang="en-US" sz="2800" dirty="0"/>
          </a:p>
        </p:txBody>
      </p:sp>
      <p:cxnSp>
        <p:nvCxnSpPr>
          <p:cNvPr id="6" name="直線接點 5"/>
          <p:cNvCxnSpPr/>
          <p:nvPr/>
        </p:nvCxnSpPr>
        <p:spPr>
          <a:xfrm flipH="1">
            <a:off x="2975384" y="2268725"/>
            <a:ext cx="362857" cy="3628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 flipH="1">
            <a:off x="2967108" y="3306565"/>
            <a:ext cx="362857" cy="3628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 flipH="1">
            <a:off x="5383109" y="3314331"/>
            <a:ext cx="362857" cy="3628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H="1">
            <a:off x="5434099" y="5431483"/>
            <a:ext cx="362857" cy="3628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圖說文字 14"/>
          <p:cNvSpPr/>
          <p:nvPr/>
        </p:nvSpPr>
        <p:spPr>
          <a:xfrm>
            <a:off x="1544169" y="4910176"/>
            <a:ext cx="2862430" cy="1016000"/>
          </a:xfrm>
          <a:prstGeom prst="wedgeRectCallout">
            <a:avLst>
              <a:gd name="adj1" fmla="val -27942"/>
              <a:gd name="adj2" fmla="val -1375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Do not have smaller gradients</a:t>
            </a:r>
            <a:endParaRPr lang="zh-TW" altLang="en-US" sz="2800" dirty="0"/>
          </a:p>
        </p:txBody>
      </p:sp>
      <p:grpSp>
        <p:nvGrpSpPr>
          <p:cNvPr id="45" name="群組 44"/>
          <p:cNvGrpSpPr/>
          <p:nvPr/>
        </p:nvGrpSpPr>
        <p:grpSpPr>
          <a:xfrm>
            <a:off x="6275254" y="19180"/>
            <a:ext cx="2709950" cy="2809363"/>
            <a:chOff x="6200673" y="3815455"/>
            <a:chExt cx="2709950" cy="2809363"/>
          </a:xfrm>
        </p:grpSpPr>
        <p:cxnSp>
          <p:nvCxnSpPr>
            <p:cNvPr id="46" name="直線單箭頭接點 45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51"/>
                <p:cNvSpPr txBox="1"/>
                <p:nvPr/>
              </p:nvSpPr>
              <p:spPr>
                <a:xfrm>
                  <a:off x="8687357" y="5527718"/>
                  <a:ext cx="22326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2" name="文字方塊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7357" y="5527718"/>
                  <a:ext cx="223266" cy="369332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 l="-16216" r="-1621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/>
                <p:cNvSpPr txBox="1"/>
                <p:nvPr/>
              </p:nvSpPr>
              <p:spPr>
                <a:xfrm>
                  <a:off x="7313865" y="3815455"/>
                  <a:ext cx="2479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3" name="文字方塊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3865" y="3815455"/>
                  <a:ext cx="247953" cy="369332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 l="-17500" r="-1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線接點 53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/>
                <p:cNvSpPr txBox="1"/>
                <p:nvPr/>
              </p:nvSpPr>
              <p:spPr>
                <a:xfrm>
                  <a:off x="7985942" y="4252893"/>
                  <a:ext cx="80246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8" name="文字方塊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942" y="4252893"/>
                  <a:ext cx="802464" cy="369332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l="-4545" r="-378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/>
                <p:cNvSpPr txBox="1"/>
                <p:nvPr/>
              </p:nvSpPr>
              <p:spPr>
                <a:xfrm>
                  <a:off x="6401952" y="5321208"/>
                  <a:ext cx="8180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9" name="文字方塊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952" y="5321208"/>
                  <a:ext cx="818044" cy="369332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 l="-4478" r="-8955" b="-65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858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 141"/>
          <p:cNvSpPr/>
          <p:nvPr/>
        </p:nvSpPr>
        <p:spPr>
          <a:xfrm>
            <a:off x="6399239" y="2520593"/>
            <a:ext cx="450779" cy="31831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6" name="橢圓 225"/>
          <p:cNvSpPr/>
          <p:nvPr/>
        </p:nvSpPr>
        <p:spPr>
          <a:xfrm>
            <a:off x="6279832" y="4259614"/>
            <a:ext cx="671512" cy="140719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7" name="橢圓 226"/>
          <p:cNvSpPr/>
          <p:nvPr/>
        </p:nvSpPr>
        <p:spPr>
          <a:xfrm>
            <a:off x="6270982" y="2493856"/>
            <a:ext cx="671512" cy="140719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矩形 139"/>
          <p:cNvSpPr/>
          <p:nvPr/>
        </p:nvSpPr>
        <p:spPr>
          <a:xfrm>
            <a:off x="2577045" y="2533350"/>
            <a:ext cx="450779" cy="319292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5" name="橢圓 224"/>
          <p:cNvSpPr/>
          <p:nvPr/>
        </p:nvSpPr>
        <p:spPr>
          <a:xfrm>
            <a:off x="2455632" y="4263694"/>
            <a:ext cx="671512" cy="140719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4" name="橢圓 223"/>
          <p:cNvSpPr/>
          <p:nvPr/>
        </p:nvSpPr>
        <p:spPr>
          <a:xfrm>
            <a:off x="2446782" y="2497936"/>
            <a:ext cx="671512" cy="140719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3" name="矩形 142"/>
          <p:cNvSpPr/>
          <p:nvPr/>
        </p:nvSpPr>
        <p:spPr>
          <a:xfrm>
            <a:off x="8307180" y="2877442"/>
            <a:ext cx="450779" cy="241662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矩形 140"/>
          <p:cNvSpPr/>
          <p:nvPr/>
        </p:nvSpPr>
        <p:spPr>
          <a:xfrm>
            <a:off x="4486955" y="2868547"/>
            <a:ext cx="450779" cy="242684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矩形 138"/>
          <p:cNvSpPr/>
          <p:nvPr/>
        </p:nvSpPr>
        <p:spPr>
          <a:xfrm>
            <a:off x="486912" y="3373624"/>
            <a:ext cx="450779" cy="147713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Learnable activation function </a:t>
            </a:r>
            <a:r>
              <a:rPr lang="en-US" altLang="zh-TW" sz="1800" dirty="0">
                <a:solidFill>
                  <a:srgbClr val="0000FF"/>
                </a:solidFill>
              </a:rPr>
              <a:t>[Ian J. </a:t>
            </a:r>
            <a:r>
              <a:rPr lang="en-US" altLang="zh-TW" sz="1800" dirty="0" err="1">
                <a:solidFill>
                  <a:srgbClr val="0000FF"/>
                </a:solidFill>
              </a:rPr>
              <a:t>Goodfellow</a:t>
            </a:r>
            <a:r>
              <a:rPr lang="en-US" altLang="zh-TW" sz="1800" dirty="0">
                <a:solidFill>
                  <a:srgbClr val="0000FF"/>
                </a:solidFill>
              </a:rPr>
              <a:t>, ICML’13]</a:t>
            </a:r>
            <a:endParaRPr lang="zh-TW" altLang="en-US" sz="1800" dirty="0">
              <a:solidFill>
                <a:srgbClr val="0000FF"/>
              </a:solidFill>
            </a:endParaRPr>
          </a:p>
          <a:p>
            <a:endParaRPr lang="en-US" altLang="zh-TW" dirty="0"/>
          </a:p>
        </p:txBody>
      </p:sp>
      <p:sp>
        <p:nvSpPr>
          <p:cNvPr id="8" name="橢圓 7"/>
          <p:cNvSpPr/>
          <p:nvPr/>
        </p:nvSpPr>
        <p:spPr>
          <a:xfrm>
            <a:off x="3479187" y="2935808"/>
            <a:ext cx="840932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Max</a:t>
            </a:r>
            <a:endParaRPr lang="zh-TW" altLang="en-US" dirty="0"/>
          </a:p>
        </p:txBody>
      </p:sp>
      <p:grpSp>
        <p:nvGrpSpPr>
          <p:cNvPr id="75" name="群組 74"/>
          <p:cNvGrpSpPr/>
          <p:nvPr/>
        </p:nvGrpSpPr>
        <p:grpSpPr>
          <a:xfrm>
            <a:off x="529187" y="3388339"/>
            <a:ext cx="342900" cy="461962"/>
            <a:chOff x="600453" y="3988847"/>
            <a:chExt cx="342900" cy="461962"/>
          </a:xfrm>
        </p:grpSpPr>
        <p:sp>
          <p:nvSpPr>
            <p:cNvPr id="30" name="矩形 29"/>
            <p:cNvSpPr/>
            <p:nvPr/>
          </p:nvSpPr>
          <p:spPr>
            <a:xfrm>
              <a:off x="600453" y="408409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31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613152" y="3988847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42" name="方程式" r:id="rId4" imgW="152280" imgH="215640" progId="Equation.3">
                    <p:embed/>
                  </p:oleObj>
                </mc:Choice>
                <mc:Fallback>
                  <p:oleObj name="方程式" r:id="rId4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152" y="3988847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6" name="群組 75"/>
          <p:cNvGrpSpPr/>
          <p:nvPr/>
        </p:nvGrpSpPr>
        <p:grpSpPr>
          <a:xfrm>
            <a:off x="531452" y="4238061"/>
            <a:ext cx="376238" cy="461963"/>
            <a:chOff x="594635" y="4571576"/>
            <a:chExt cx="376238" cy="461963"/>
          </a:xfrm>
        </p:grpSpPr>
        <p:sp>
          <p:nvSpPr>
            <p:cNvPr id="29" name="矩形 28"/>
            <p:cNvSpPr/>
            <p:nvPr/>
          </p:nvSpPr>
          <p:spPr>
            <a:xfrm>
              <a:off x="594635" y="465442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32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618448" y="4571576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43" name="方程式" r:id="rId6" imgW="164880" imgH="215640" progId="Equation.3">
                    <p:embed/>
                  </p:oleObj>
                </mc:Choice>
                <mc:Fallback>
                  <p:oleObj name="方程式" r:id="rId6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448" y="4571576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字方塊 34"/>
          <p:cNvSpPr txBox="1"/>
          <p:nvPr/>
        </p:nvSpPr>
        <p:spPr>
          <a:xfrm>
            <a:off x="144282" y="2734478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</a:t>
            </a:r>
          </a:p>
        </p:txBody>
      </p:sp>
      <p:sp>
        <p:nvSpPr>
          <p:cNvPr id="52" name="橢圓 51"/>
          <p:cNvSpPr/>
          <p:nvPr/>
        </p:nvSpPr>
        <p:spPr>
          <a:xfrm>
            <a:off x="3487041" y="4762363"/>
            <a:ext cx="840932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Max</a:t>
            </a:r>
            <a:endParaRPr lang="zh-TW" altLang="en-US" dirty="0"/>
          </a:p>
        </p:txBody>
      </p:sp>
      <p:grpSp>
        <p:nvGrpSpPr>
          <p:cNvPr id="85" name="群組 84"/>
          <p:cNvGrpSpPr/>
          <p:nvPr/>
        </p:nvGrpSpPr>
        <p:grpSpPr>
          <a:xfrm>
            <a:off x="1977455" y="2531732"/>
            <a:ext cx="926032" cy="523220"/>
            <a:chOff x="3518823" y="2481252"/>
            <a:chExt cx="926032" cy="523220"/>
          </a:xfrm>
        </p:grpSpPr>
        <p:grpSp>
          <p:nvGrpSpPr>
            <p:cNvPr id="36" name="群組 35"/>
            <p:cNvGrpSpPr/>
            <p:nvPr/>
          </p:nvGrpSpPr>
          <p:grpSpPr>
            <a:xfrm>
              <a:off x="3518823" y="2481252"/>
              <a:ext cx="311569" cy="523220"/>
              <a:chOff x="3518823" y="2481252"/>
              <a:chExt cx="311569" cy="523220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3530355" y="2481252"/>
                <a:ext cx="3000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+</a:t>
                </a:r>
                <a:endParaRPr lang="zh-TW" alt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/>
                <p:cNvSpPr txBox="1"/>
                <p:nvPr/>
              </p:nvSpPr>
              <p:spPr>
                <a:xfrm>
                  <a:off x="4206008" y="2571873"/>
                  <a:ext cx="238847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80" name="文字方塊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008" y="2571873"/>
                  <a:ext cx="238847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線單箭頭接點 82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1988987" y="3397713"/>
            <a:ext cx="926169" cy="523220"/>
            <a:chOff x="3518823" y="2481252"/>
            <a:chExt cx="926169" cy="523220"/>
          </a:xfrm>
        </p:grpSpPr>
        <p:grpSp>
          <p:nvGrpSpPr>
            <p:cNvPr id="87" name="群組 86"/>
            <p:cNvGrpSpPr/>
            <p:nvPr/>
          </p:nvGrpSpPr>
          <p:grpSpPr>
            <a:xfrm>
              <a:off x="3518823" y="2481252"/>
              <a:ext cx="311569" cy="523220"/>
              <a:chOff x="3518823" y="2481252"/>
              <a:chExt cx="311569" cy="523220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1" name="文字方塊 90"/>
              <p:cNvSpPr txBox="1"/>
              <p:nvPr/>
            </p:nvSpPr>
            <p:spPr>
              <a:xfrm>
                <a:off x="3530355" y="2481252"/>
                <a:ext cx="3000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+</a:t>
                </a:r>
                <a:endParaRPr lang="zh-TW" alt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/>
                <p:cNvSpPr txBox="1"/>
                <p:nvPr/>
              </p:nvSpPr>
              <p:spPr>
                <a:xfrm>
                  <a:off x="4206145" y="2546534"/>
                  <a:ext cx="238847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88" name="文字方塊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145" y="2546534"/>
                  <a:ext cx="238847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直線單箭頭接點 88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群組 91"/>
          <p:cNvGrpSpPr/>
          <p:nvPr/>
        </p:nvGrpSpPr>
        <p:grpSpPr>
          <a:xfrm>
            <a:off x="1987968" y="4263694"/>
            <a:ext cx="1155650" cy="523220"/>
            <a:chOff x="3518823" y="2481252"/>
            <a:chExt cx="1155650" cy="523220"/>
          </a:xfrm>
        </p:grpSpPr>
        <p:grpSp>
          <p:nvGrpSpPr>
            <p:cNvPr id="93" name="群組 92"/>
            <p:cNvGrpSpPr/>
            <p:nvPr/>
          </p:nvGrpSpPr>
          <p:grpSpPr>
            <a:xfrm>
              <a:off x="3518823" y="2481252"/>
              <a:ext cx="311569" cy="523220"/>
              <a:chOff x="3518823" y="2481252"/>
              <a:chExt cx="311569" cy="523220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7" name="文字方塊 96"/>
              <p:cNvSpPr txBox="1"/>
              <p:nvPr/>
            </p:nvSpPr>
            <p:spPr>
              <a:xfrm>
                <a:off x="3530355" y="2481252"/>
                <a:ext cx="3000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+</a:t>
                </a:r>
                <a:endParaRPr lang="zh-TW" altLang="en-US" sz="2800" dirty="0"/>
              </a:p>
            </p:txBody>
          </p:sp>
        </p:grpSp>
        <p:cxnSp>
          <p:nvCxnSpPr>
            <p:cNvPr id="95" name="直線單箭頭接點 94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/>
                <p:cNvSpPr txBox="1"/>
                <p:nvPr/>
              </p:nvSpPr>
              <p:spPr>
                <a:xfrm>
                  <a:off x="4206396" y="2533432"/>
                  <a:ext cx="468077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94" name="文字方塊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396" y="2533432"/>
                  <a:ext cx="468077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群組 97"/>
          <p:cNvGrpSpPr/>
          <p:nvPr/>
        </p:nvGrpSpPr>
        <p:grpSpPr>
          <a:xfrm>
            <a:off x="1986148" y="5205858"/>
            <a:ext cx="926032" cy="523220"/>
            <a:chOff x="3518823" y="2481252"/>
            <a:chExt cx="926032" cy="523220"/>
          </a:xfrm>
        </p:grpSpPr>
        <p:grpSp>
          <p:nvGrpSpPr>
            <p:cNvPr id="99" name="群組 98"/>
            <p:cNvGrpSpPr/>
            <p:nvPr/>
          </p:nvGrpSpPr>
          <p:grpSpPr>
            <a:xfrm>
              <a:off x="3518823" y="2481252"/>
              <a:ext cx="311569" cy="523220"/>
              <a:chOff x="3518823" y="2481252"/>
              <a:chExt cx="311569" cy="523220"/>
            </a:xfrm>
          </p:grpSpPr>
          <p:sp>
            <p:nvSpPr>
              <p:cNvPr id="102" name="矩形 101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3" name="文字方塊 102"/>
              <p:cNvSpPr txBox="1"/>
              <p:nvPr/>
            </p:nvSpPr>
            <p:spPr>
              <a:xfrm>
                <a:off x="3530355" y="2481252"/>
                <a:ext cx="3000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+</a:t>
                </a:r>
                <a:endParaRPr lang="zh-TW" alt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/>
                <p:cNvSpPr txBox="1"/>
                <p:nvPr/>
              </p:nvSpPr>
              <p:spPr>
                <a:xfrm>
                  <a:off x="4206008" y="2545696"/>
                  <a:ext cx="238847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00" name="文字方塊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008" y="2545696"/>
                  <a:ext cx="238847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直線單箭頭接點 100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/>
              <p:cNvSpPr txBox="1"/>
              <p:nvPr/>
            </p:nvSpPr>
            <p:spPr>
              <a:xfrm>
                <a:off x="4545038" y="3036457"/>
                <a:ext cx="238847" cy="369332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4" name="文字方塊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038" y="3036457"/>
                <a:ext cx="238847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4531978" y="4847629"/>
                <a:ext cx="238847" cy="369332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978" y="4847629"/>
                <a:ext cx="238847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橢圓 105"/>
          <p:cNvSpPr/>
          <p:nvPr/>
        </p:nvSpPr>
        <p:spPr>
          <a:xfrm>
            <a:off x="7315536" y="2935808"/>
            <a:ext cx="840932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Max</a:t>
            </a:r>
            <a:endParaRPr lang="zh-TW" altLang="en-US" dirty="0"/>
          </a:p>
        </p:txBody>
      </p:sp>
      <p:sp>
        <p:nvSpPr>
          <p:cNvPr id="107" name="橢圓 106"/>
          <p:cNvSpPr/>
          <p:nvPr/>
        </p:nvSpPr>
        <p:spPr>
          <a:xfrm>
            <a:off x="7323390" y="4762363"/>
            <a:ext cx="840932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Max</a:t>
            </a:r>
            <a:endParaRPr lang="zh-TW" altLang="en-US" dirty="0"/>
          </a:p>
        </p:txBody>
      </p:sp>
      <p:grpSp>
        <p:nvGrpSpPr>
          <p:cNvPr id="108" name="群組 107"/>
          <p:cNvGrpSpPr/>
          <p:nvPr/>
        </p:nvGrpSpPr>
        <p:grpSpPr>
          <a:xfrm>
            <a:off x="5813804" y="2531732"/>
            <a:ext cx="862776" cy="523220"/>
            <a:chOff x="3518823" y="2481252"/>
            <a:chExt cx="862776" cy="523220"/>
          </a:xfrm>
        </p:grpSpPr>
        <p:grpSp>
          <p:nvGrpSpPr>
            <p:cNvPr id="109" name="群組 108"/>
            <p:cNvGrpSpPr/>
            <p:nvPr/>
          </p:nvGrpSpPr>
          <p:grpSpPr>
            <a:xfrm>
              <a:off x="3518823" y="2481252"/>
              <a:ext cx="311569" cy="523220"/>
              <a:chOff x="3518823" y="2481252"/>
              <a:chExt cx="311569" cy="523220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" name="文字方塊 112"/>
              <p:cNvSpPr txBox="1"/>
              <p:nvPr/>
            </p:nvSpPr>
            <p:spPr>
              <a:xfrm>
                <a:off x="3530355" y="2481252"/>
                <a:ext cx="3000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+</a:t>
                </a:r>
                <a:endParaRPr lang="zh-TW" alt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4142752" y="2545696"/>
                  <a:ext cx="238847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38847" cy="369332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l="-23810" r="-26190" b="-31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線單箭頭接點 110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群組 113"/>
          <p:cNvGrpSpPr/>
          <p:nvPr/>
        </p:nvGrpSpPr>
        <p:grpSpPr>
          <a:xfrm>
            <a:off x="5825336" y="3397713"/>
            <a:ext cx="862776" cy="523220"/>
            <a:chOff x="3518823" y="2481252"/>
            <a:chExt cx="862776" cy="523220"/>
          </a:xfrm>
        </p:grpSpPr>
        <p:grpSp>
          <p:nvGrpSpPr>
            <p:cNvPr id="115" name="群組 114"/>
            <p:cNvGrpSpPr/>
            <p:nvPr/>
          </p:nvGrpSpPr>
          <p:grpSpPr>
            <a:xfrm>
              <a:off x="3518823" y="2481252"/>
              <a:ext cx="311569" cy="523220"/>
              <a:chOff x="3518823" y="2481252"/>
              <a:chExt cx="311569" cy="523220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9" name="文字方塊 118"/>
              <p:cNvSpPr txBox="1"/>
              <p:nvPr/>
            </p:nvSpPr>
            <p:spPr>
              <a:xfrm>
                <a:off x="3530355" y="2481252"/>
                <a:ext cx="3000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+</a:t>
                </a:r>
                <a:endParaRPr lang="zh-TW" alt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/>
                <p:cNvSpPr txBox="1"/>
                <p:nvPr/>
              </p:nvSpPr>
              <p:spPr>
                <a:xfrm>
                  <a:off x="4142752" y="2545696"/>
                  <a:ext cx="238847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16" name="文字方塊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38847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l="-26190" r="-23810" b="-15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直線單箭頭接點 116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群組 119"/>
          <p:cNvGrpSpPr/>
          <p:nvPr/>
        </p:nvGrpSpPr>
        <p:grpSpPr>
          <a:xfrm>
            <a:off x="5824317" y="4263694"/>
            <a:ext cx="862776" cy="523220"/>
            <a:chOff x="3518823" y="2481252"/>
            <a:chExt cx="862776" cy="523220"/>
          </a:xfrm>
        </p:grpSpPr>
        <p:grpSp>
          <p:nvGrpSpPr>
            <p:cNvPr id="121" name="群組 120"/>
            <p:cNvGrpSpPr/>
            <p:nvPr/>
          </p:nvGrpSpPr>
          <p:grpSpPr>
            <a:xfrm>
              <a:off x="3518823" y="2481252"/>
              <a:ext cx="311569" cy="523220"/>
              <a:chOff x="3518823" y="2481252"/>
              <a:chExt cx="311569" cy="523220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5" name="文字方塊 124"/>
              <p:cNvSpPr txBox="1"/>
              <p:nvPr/>
            </p:nvSpPr>
            <p:spPr>
              <a:xfrm>
                <a:off x="3530355" y="2481252"/>
                <a:ext cx="3000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+</a:t>
                </a:r>
                <a:endParaRPr lang="zh-TW" alt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字方塊 121"/>
                <p:cNvSpPr txBox="1"/>
                <p:nvPr/>
              </p:nvSpPr>
              <p:spPr>
                <a:xfrm>
                  <a:off x="4142752" y="2545696"/>
                  <a:ext cx="238847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22" name="文字方塊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38847" cy="369332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l="-26190" r="-23810" b="-15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直線單箭頭接點 122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群組 125"/>
          <p:cNvGrpSpPr/>
          <p:nvPr/>
        </p:nvGrpSpPr>
        <p:grpSpPr>
          <a:xfrm>
            <a:off x="5822497" y="5205858"/>
            <a:ext cx="877290" cy="523220"/>
            <a:chOff x="3518823" y="2481252"/>
            <a:chExt cx="877290" cy="523220"/>
          </a:xfrm>
        </p:grpSpPr>
        <p:grpSp>
          <p:nvGrpSpPr>
            <p:cNvPr id="127" name="群組 126"/>
            <p:cNvGrpSpPr/>
            <p:nvPr/>
          </p:nvGrpSpPr>
          <p:grpSpPr>
            <a:xfrm>
              <a:off x="3518823" y="2481252"/>
              <a:ext cx="311569" cy="523220"/>
              <a:chOff x="3518823" y="2481252"/>
              <a:chExt cx="311569" cy="523220"/>
            </a:xfrm>
          </p:grpSpPr>
          <p:sp>
            <p:nvSpPr>
              <p:cNvPr id="130" name="矩形 129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1" name="文字方塊 130"/>
              <p:cNvSpPr txBox="1"/>
              <p:nvPr/>
            </p:nvSpPr>
            <p:spPr>
              <a:xfrm>
                <a:off x="3530355" y="2481252"/>
                <a:ext cx="3000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+</a:t>
                </a:r>
                <a:endParaRPr lang="zh-TW" alt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4157266" y="2545696"/>
                  <a:ext cx="238847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7266" y="2545696"/>
                  <a:ext cx="238847" cy="369332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 l="-26190" r="-23810" b="-31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直線單箭頭接點 128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8407132" y="3064687"/>
                <a:ext cx="238848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132" y="3064687"/>
                <a:ext cx="238848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23810" r="-26190" b="-31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/>
              <p:cNvSpPr txBox="1"/>
              <p:nvPr/>
            </p:nvSpPr>
            <p:spPr>
              <a:xfrm>
                <a:off x="8410778" y="4878525"/>
                <a:ext cx="238848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3" name="文字方塊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778" y="4878525"/>
                <a:ext cx="238848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26190" r="-23810" b="-3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直線單箭頭接點 143"/>
          <p:cNvCxnSpPr/>
          <p:nvPr/>
        </p:nvCxnSpPr>
        <p:spPr>
          <a:xfrm>
            <a:off x="4293226" y="3260273"/>
            <a:ext cx="2551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/>
          <p:cNvCxnSpPr/>
          <p:nvPr/>
        </p:nvCxnSpPr>
        <p:spPr>
          <a:xfrm>
            <a:off x="4302223" y="5070023"/>
            <a:ext cx="2551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/>
          <p:cNvCxnSpPr/>
          <p:nvPr/>
        </p:nvCxnSpPr>
        <p:spPr>
          <a:xfrm>
            <a:off x="8136736" y="3258233"/>
            <a:ext cx="2551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/>
          <p:cNvCxnSpPr/>
          <p:nvPr/>
        </p:nvCxnSpPr>
        <p:spPr>
          <a:xfrm>
            <a:off x="8145733" y="5067983"/>
            <a:ext cx="2551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>
            <a:endCxn id="11" idx="1"/>
          </p:cNvCxnSpPr>
          <p:nvPr/>
        </p:nvCxnSpPr>
        <p:spPr>
          <a:xfrm flipV="1">
            <a:off x="838676" y="2805935"/>
            <a:ext cx="1138779" cy="8430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>
            <a:stCxn id="31" idx="3"/>
            <a:endCxn id="91" idx="1"/>
          </p:cNvCxnSpPr>
          <p:nvPr/>
        </p:nvCxnSpPr>
        <p:spPr>
          <a:xfrm>
            <a:off x="867324" y="3619320"/>
            <a:ext cx="1133195" cy="40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單箭頭接點 162"/>
          <p:cNvCxnSpPr>
            <a:stCxn id="30" idx="3"/>
            <a:endCxn id="96" idx="1"/>
          </p:cNvCxnSpPr>
          <p:nvPr/>
        </p:nvCxnSpPr>
        <p:spPr>
          <a:xfrm>
            <a:off x="872087" y="3655039"/>
            <a:ext cx="1115881" cy="8828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單箭頭接點 165"/>
          <p:cNvCxnSpPr>
            <a:stCxn id="30" idx="3"/>
            <a:endCxn id="103" idx="1"/>
          </p:cNvCxnSpPr>
          <p:nvPr/>
        </p:nvCxnSpPr>
        <p:spPr>
          <a:xfrm>
            <a:off x="872087" y="3655039"/>
            <a:ext cx="1125593" cy="18124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>
            <a:stCxn id="32" idx="3"/>
            <a:endCxn id="11" idx="1"/>
          </p:cNvCxnSpPr>
          <p:nvPr/>
        </p:nvCxnSpPr>
        <p:spPr>
          <a:xfrm flipV="1">
            <a:off x="907690" y="2805935"/>
            <a:ext cx="1069765" cy="1663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單箭頭接點 171"/>
          <p:cNvCxnSpPr>
            <a:stCxn id="32" idx="3"/>
            <a:endCxn id="90" idx="1"/>
          </p:cNvCxnSpPr>
          <p:nvPr/>
        </p:nvCxnSpPr>
        <p:spPr>
          <a:xfrm flipV="1">
            <a:off x="907690" y="3671916"/>
            <a:ext cx="1081297" cy="797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>
            <a:stCxn id="32" idx="3"/>
            <a:endCxn id="102" idx="1"/>
          </p:cNvCxnSpPr>
          <p:nvPr/>
        </p:nvCxnSpPr>
        <p:spPr>
          <a:xfrm>
            <a:off x="907690" y="4469042"/>
            <a:ext cx="1078458" cy="10110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單箭頭接點 177"/>
          <p:cNvCxnSpPr>
            <a:stCxn id="32" idx="3"/>
            <a:endCxn id="96" idx="1"/>
          </p:cNvCxnSpPr>
          <p:nvPr/>
        </p:nvCxnSpPr>
        <p:spPr>
          <a:xfrm>
            <a:off x="907690" y="4469042"/>
            <a:ext cx="1080278" cy="688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>
            <a:stCxn id="104" idx="3"/>
          </p:cNvCxnSpPr>
          <p:nvPr/>
        </p:nvCxnSpPr>
        <p:spPr>
          <a:xfrm flipV="1">
            <a:off x="4783885" y="2802303"/>
            <a:ext cx="1003733" cy="4188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>
            <a:stCxn id="104" idx="3"/>
          </p:cNvCxnSpPr>
          <p:nvPr/>
        </p:nvCxnSpPr>
        <p:spPr>
          <a:xfrm>
            <a:off x="4783885" y="3221123"/>
            <a:ext cx="1026797" cy="4345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單箭頭接點 184"/>
          <p:cNvCxnSpPr>
            <a:stCxn id="104" idx="3"/>
          </p:cNvCxnSpPr>
          <p:nvPr/>
        </p:nvCxnSpPr>
        <p:spPr>
          <a:xfrm>
            <a:off x="4783885" y="3221123"/>
            <a:ext cx="1014246" cy="13131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單箭頭接點 185"/>
          <p:cNvCxnSpPr>
            <a:stCxn id="104" idx="3"/>
          </p:cNvCxnSpPr>
          <p:nvPr/>
        </p:nvCxnSpPr>
        <p:spPr>
          <a:xfrm>
            <a:off x="4783885" y="3221123"/>
            <a:ext cx="1023958" cy="22427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單箭頭接點 186"/>
          <p:cNvCxnSpPr>
            <a:stCxn id="105" idx="3"/>
          </p:cNvCxnSpPr>
          <p:nvPr/>
        </p:nvCxnSpPr>
        <p:spPr>
          <a:xfrm flipV="1">
            <a:off x="4770825" y="2802303"/>
            <a:ext cx="1016793" cy="22299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單箭頭接點 187"/>
          <p:cNvCxnSpPr>
            <a:stCxn id="105" idx="3"/>
          </p:cNvCxnSpPr>
          <p:nvPr/>
        </p:nvCxnSpPr>
        <p:spPr>
          <a:xfrm flipV="1">
            <a:off x="4770825" y="3668283"/>
            <a:ext cx="1028325" cy="13640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單箭頭接點 188"/>
          <p:cNvCxnSpPr>
            <a:stCxn id="105" idx="3"/>
          </p:cNvCxnSpPr>
          <p:nvPr/>
        </p:nvCxnSpPr>
        <p:spPr>
          <a:xfrm>
            <a:off x="4770825" y="5032295"/>
            <a:ext cx="1025486" cy="444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單箭頭接點 189"/>
          <p:cNvCxnSpPr>
            <a:stCxn id="105" idx="3"/>
          </p:cNvCxnSpPr>
          <p:nvPr/>
        </p:nvCxnSpPr>
        <p:spPr>
          <a:xfrm flipV="1">
            <a:off x="4770825" y="4534265"/>
            <a:ext cx="1027306" cy="4980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單箭頭接點 198"/>
          <p:cNvCxnSpPr>
            <a:stCxn id="110" idx="3"/>
            <a:endCxn id="106" idx="2"/>
          </p:cNvCxnSpPr>
          <p:nvPr/>
        </p:nvCxnSpPr>
        <p:spPr>
          <a:xfrm>
            <a:off x="6676580" y="2780842"/>
            <a:ext cx="638956" cy="4420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單箭頭接點 199"/>
          <p:cNvCxnSpPr>
            <a:endCxn id="106" idx="2"/>
          </p:cNvCxnSpPr>
          <p:nvPr/>
        </p:nvCxnSpPr>
        <p:spPr>
          <a:xfrm flipV="1">
            <a:off x="6779197" y="3222887"/>
            <a:ext cx="536339" cy="4544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單箭頭接點 205"/>
          <p:cNvCxnSpPr>
            <a:endCxn id="107" idx="2"/>
          </p:cNvCxnSpPr>
          <p:nvPr/>
        </p:nvCxnSpPr>
        <p:spPr>
          <a:xfrm>
            <a:off x="6799988" y="4557557"/>
            <a:ext cx="523402" cy="4918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線單箭頭接點 208"/>
          <p:cNvCxnSpPr>
            <a:stCxn id="128" idx="3"/>
            <a:endCxn id="107" idx="2"/>
          </p:cNvCxnSpPr>
          <p:nvPr/>
        </p:nvCxnSpPr>
        <p:spPr>
          <a:xfrm flipV="1">
            <a:off x="6699787" y="5049442"/>
            <a:ext cx="623603" cy="4055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單箭頭接點 218"/>
          <p:cNvCxnSpPr/>
          <p:nvPr/>
        </p:nvCxnSpPr>
        <p:spPr>
          <a:xfrm>
            <a:off x="2978820" y="2792922"/>
            <a:ext cx="502187" cy="4398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單箭頭接點 219"/>
          <p:cNvCxnSpPr/>
          <p:nvPr/>
        </p:nvCxnSpPr>
        <p:spPr>
          <a:xfrm flipV="1">
            <a:off x="2944668" y="3232819"/>
            <a:ext cx="536339" cy="4544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單箭頭接點 220"/>
          <p:cNvCxnSpPr/>
          <p:nvPr/>
        </p:nvCxnSpPr>
        <p:spPr>
          <a:xfrm>
            <a:off x="2965459" y="4567489"/>
            <a:ext cx="523402" cy="4918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單箭頭接點 221"/>
          <p:cNvCxnSpPr/>
          <p:nvPr/>
        </p:nvCxnSpPr>
        <p:spPr>
          <a:xfrm flipV="1">
            <a:off x="2987513" y="5059374"/>
            <a:ext cx="501348" cy="407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417333" y="764223"/>
            <a:ext cx="508002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800" dirty="0" err="1"/>
              <a:t>ReLU</a:t>
            </a:r>
            <a:r>
              <a:rPr lang="en-US" altLang="zh-TW" sz="2800" dirty="0"/>
              <a:t> is a special cases of </a:t>
            </a:r>
            <a:r>
              <a:rPr lang="en-US" altLang="zh-TW" sz="2800" dirty="0" err="1"/>
              <a:t>Maxout</a:t>
            </a:r>
            <a:endParaRPr lang="en-US" altLang="zh-TW" sz="2800" dirty="0"/>
          </a:p>
        </p:txBody>
      </p:sp>
      <p:sp>
        <p:nvSpPr>
          <p:cNvPr id="145" name="矩形 144"/>
          <p:cNvSpPr/>
          <p:nvPr/>
        </p:nvSpPr>
        <p:spPr>
          <a:xfrm>
            <a:off x="1031330" y="5997408"/>
            <a:ext cx="7379448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You can have more than 2 elements in a group.</a:t>
            </a:r>
          </a:p>
        </p:txBody>
      </p:sp>
      <p:sp>
        <p:nvSpPr>
          <p:cNvPr id="4" name="矩形 3"/>
          <p:cNvSpPr/>
          <p:nvPr/>
        </p:nvSpPr>
        <p:spPr>
          <a:xfrm>
            <a:off x="2474597" y="2539840"/>
            <a:ext cx="1881191" cy="13326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3220742" y="2440970"/>
            <a:ext cx="1139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neuron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19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226" grpId="0" animBg="1"/>
      <p:bldP spid="227" grpId="0" animBg="1"/>
      <p:bldP spid="140" grpId="0" animBg="1"/>
      <p:bldP spid="225" grpId="0" animBg="1"/>
      <p:bldP spid="224" grpId="0" animBg="1"/>
      <p:bldP spid="143" grpId="0" animBg="1"/>
      <p:bldP spid="141" grpId="0" animBg="1"/>
      <p:bldP spid="139" grpId="0" animBg="1"/>
      <p:bldP spid="8" grpId="0" animBg="1"/>
      <p:bldP spid="35" grpId="0"/>
      <p:bldP spid="52" grpId="0" animBg="1"/>
      <p:bldP spid="104" grpId="0" animBg="1"/>
      <p:bldP spid="105" grpId="0" animBg="1"/>
      <p:bldP spid="106" grpId="0" animBg="1"/>
      <p:bldP spid="107" grpId="0" animBg="1"/>
      <p:bldP spid="132" grpId="0" animBg="1"/>
      <p:bldP spid="133" grpId="0" animBg="1"/>
      <p:bldP spid="145" grpId="0" animBg="1"/>
      <p:bldP spid="4" grpId="0" animBg="1"/>
      <p:bldP spid="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Learnable activation function </a:t>
            </a:r>
            <a:r>
              <a:rPr lang="en-US" altLang="zh-TW" sz="1800" dirty="0">
                <a:solidFill>
                  <a:srgbClr val="0000FF"/>
                </a:solidFill>
              </a:rPr>
              <a:t>[Ian J. </a:t>
            </a:r>
            <a:r>
              <a:rPr lang="en-US" altLang="zh-TW" sz="1800" dirty="0" err="1">
                <a:solidFill>
                  <a:srgbClr val="0000FF"/>
                </a:solidFill>
              </a:rPr>
              <a:t>Goodfellow</a:t>
            </a:r>
            <a:r>
              <a:rPr lang="en-US" altLang="zh-TW" sz="1800" dirty="0">
                <a:solidFill>
                  <a:srgbClr val="0000FF"/>
                </a:solidFill>
              </a:rPr>
              <a:t>, ICML’13]</a:t>
            </a:r>
          </a:p>
          <a:p>
            <a:pPr lvl="1"/>
            <a:r>
              <a:rPr lang="en-US" altLang="zh-TW" sz="2800" dirty="0"/>
              <a:t>Activation function in </a:t>
            </a:r>
            <a:r>
              <a:rPr lang="en-US" altLang="zh-TW" sz="2800" dirty="0" err="1"/>
              <a:t>maxout</a:t>
            </a:r>
            <a:r>
              <a:rPr lang="en-US" altLang="zh-TW" sz="2800" dirty="0"/>
              <a:t> network can be any piecewise linear convex function</a:t>
            </a:r>
          </a:p>
          <a:p>
            <a:pPr lvl="1"/>
            <a:r>
              <a:rPr lang="en-US" altLang="zh-TW" sz="2800" dirty="0"/>
              <a:t>How many pieces depending on how many elements in a group </a:t>
            </a:r>
            <a:endParaRPr lang="zh-TW" altLang="en-US" sz="2800" dirty="0"/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417333" y="764223"/>
            <a:ext cx="508002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800" dirty="0" err="1"/>
              <a:t>ReLU</a:t>
            </a:r>
            <a:r>
              <a:rPr lang="en-US" altLang="zh-TW" sz="2800" dirty="0"/>
              <a:t> is a special cases of </a:t>
            </a:r>
            <a:r>
              <a:rPr lang="en-US" altLang="zh-TW" sz="2800" dirty="0" err="1"/>
              <a:t>Maxout</a:t>
            </a:r>
            <a:endParaRPr lang="en-US" altLang="zh-TW" sz="2800" dirty="0"/>
          </a:p>
        </p:txBody>
      </p:sp>
      <p:sp>
        <p:nvSpPr>
          <p:cNvPr id="5" name="矩形 4"/>
          <p:cNvSpPr/>
          <p:nvPr/>
        </p:nvSpPr>
        <p:spPr>
          <a:xfrm>
            <a:off x="926419" y="4221874"/>
            <a:ext cx="3313725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2 elements in a group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602871" y="4916944"/>
            <a:ext cx="1600832" cy="1600832"/>
            <a:chOff x="6200673" y="4150479"/>
            <a:chExt cx="2474339" cy="2474339"/>
          </a:xfrm>
        </p:grpSpPr>
        <p:cxnSp>
          <p:nvCxnSpPr>
            <p:cNvPr id="7" name="直線單箭頭接點 6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2748303" y="4945004"/>
            <a:ext cx="1600832" cy="1600832"/>
            <a:chOff x="6200673" y="4150479"/>
            <a:chExt cx="2474339" cy="2474339"/>
          </a:xfrm>
        </p:grpSpPr>
        <p:cxnSp>
          <p:nvCxnSpPr>
            <p:cNvPr id="22" name="直線單箭頭接點 21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>
              <a:off x="6377382" y="4785491"/>
              <a:ext cx="1088745" cy="92331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群組 47"/>
          <p:cNvGrpSpPr/>
          <p:nvPr/>
        </p:nvGrpSpPr>
        <p:grpSpPr>
          <a:xfrm>
            <a:off x="5138063" y="4936727"/>
            <a:ext cx="1600832" cy="1600832"/>
            <a:chOff x="6200673" y="4150479"/>
            <a:chExt cx="2474339" cy="2474339"/>
          </a:xfrm>
        </p:grpSpPr>
        <p:cxnSp>
          <p:nvCxnSpPr>
            <p:cNvPr id="49" name="直線單箭頭接點 48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>
              <a:off x="6266972" y="4841656"/>
              <a:ext cx="283410" cy="87854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/>
          <p:cNvGrpSpPr/>
          <p:nvPr/>
        </p:nvGrpSpPr>
        <p:grpSpPr>
          <a:xfrm>
            <a:off x="6979338" y="4916944"/>
            <a:ext cx="1600832" cy="1620615"/>
            <a:chOff x="6200673" y="4119901"/>
            <a:chExt cx="2474339" cy="2504917"/>
          </a:xfrm>
        </p:grpSpPr>
        <p:cxnSp>
          <p:nvCxnSpPr>
            <p:cNvPr id="54" name="直線單箭頭接點 53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 flipV="1">
              <a:off x="7720924" y="5239126"/>
              <a:ext cx="583675" cy="68394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/>
            <p:nvPr/>
          </p:nvCxnSpPr>
          <p:spPr>
            <a:xfrm flipV="1">
              <a:off x="8270564" y="4119901"/>
              <a:ext cx="148372" cy="1143305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矩形 57"/>
          <p:cNvSpPr/>
          <p:nvPr/>
        </p:nvSpPr>
        <p:spPr>
          <a:xfrm>
            <a:off x="5080221" y="4224766"/>
            <a:ext cx="3313725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3 elements in a group</a:t>
            </a:r>
          </a:p>
        </p:txBody>
      </p:sp>
      <p:cxnSp>
        <p:nvCxnSpPr>
          <p:cNvPr id="61" name="直線接點 60"/>
          <p:cNvCxnSpPr/>
          <p:nvPr/>
        </p:nvCxnSpPr>
        <p:spPr>
          <a:xfrm>
            <a:off x="5314546" y="5920877"/>
            <a:ext cx="602899" cy="5906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7200900" y="6060067"/>
            <a:ext cx="805670" cy="116896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35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23789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dirty="0"/>
              <a:t>Part III:</a:t>
            </a:r>
            <a:br>
              <a:rPr lang="en-US" altLang="zh-TW" dirty="0"/>
            </a:br>
            <a:r>
              <a:rPr lang="en-US" altLang="zh-TW" dirty="0">
                <a:solidFill>
                  <a:srgbClr val="0000FF"/>
                </a:solidFill>
              </a:rPr>
              <a:t>Tips for Training DNN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685800" y="4011389"/>
            <a:ext cx="7772400" cy="8717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800" dirty="0">
                <a:solidFill>
                  <a:srgbClr val="FF0000"/>
                </a:solidFill>
              </a:rPr>
              <a:t>Adaptive Learning Rate</a:t>
            </a:r>
            <a:endParaRPr lang="zh-TW" alt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923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1177574" y="1409291"/>
            <a:ext cx="7092867" cy="5365372"/>
            <a:chOff x="706835" y="2011916"/>
            <a:chExt cx="6113826" cy="4624779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835" y="2011916"/>
              <a:ext cx="6113826" cy="458536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/>
                <p:cNvSpPr txBox="1"/>
                <p:nvPr/>
              </p:nvSpPr>
              <p:spPr>
                <a:xfrm>
                  <a:off x="3675390" y="6267363"/>
                  <a:ext cx="421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6" name="文字方塊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390" y="6267363"/>
                  <a:ext cx="421847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843326" y="4119935"/>
                  <a:ext cx="42896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42896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0000" r="-5714"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橢圓 17"/>
          <p:cNvSpPr/>
          <p:nvPr/>
        </p:nvSpPr>
        <p:spPr>
          <a:xfrm>
            <a:off x="2629639" y="5334091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/>
          <p:nvPr/>
        </p:nvCxnSpPr>
        <p:spPr>
          <a:xfrm flipV="1">
            <a:off x="2767488" y="4637121"/>
            <a:ext cx="224999" cy="7268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2890145" y="5333515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145" y="5333515"/>
                <a:ext cx="458899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165801" y="4567768"/>
                <a:ext cx="1265026" cy="36933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801" y="4567768"/>
                <a:ext cx="1265026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 Rate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110901" y="2093407"/>
            <a:ext cx="3527934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If learning rate is too large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110900" y="3148935"/>
            <a:ext cx="3527935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Cost may not decrease after each update</a:t>
            </a:r>
            <a:endParaRPr lang="zh-TW" altLang="en-US" sz="2400" dirty="0"/>
          </a:p>
        </p:txBody>
      </p:sp>
      <p:sp>
        <p:nvSpPr>
          <p:cNvPr id="24" name="向右箭號 23"/>
          <p:cNvSpPr/>
          <p:nvPr/>
        </p:nvSpPr>
        <p:spPr>
          <a:xfrm>
            <a:off x="-2030153" y="7206362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5441958" y="627153"/>
            <a:ext cx="247562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800" dirty="0"/>
              <a:t>Set the learning rate </a:t>
            </a:r>
            <a:r>
              <a:rPr lang="el-GR" altLang="zh-TW" sz="2800" dirty="0"/>
              <a:t>η</a:t>
            </a:r>
            <a:r>
              <a:rPr lang="en-US" altLang="zh-TW" sz="2800" dirty="0"/>
              <a:t> carefully</a:t>
            </a:r>
            <a:endParaRPr lang="zh-TW" altLang="en-US" sz="2800" dirty="0"/>
          </a:p>
        </p:txBody>
      </p:sp>
      <p:cxnSp>
        <p:nvCxnSpPr>
          <p:cNvPr id="25" name="直線單箭頭接點 24"/>
          <p:cNvCxnSpPr/>
          <p:nvPr/>
        </p:nvCxnSpPr>
        <p:spPr>
          <a:xfrm flipV="1">
            <a:off x="2753332" y="2141640"/>
            <a:ext cx="1007228" cy="32536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1955655" y="2218786"/>
                <a:ext cx="1435971" cy="369332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655" y="2218786"/>
                <a:ext cx="1435971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橢圓 27"/>
          <p:cNvSpPr/>
          <p:nvPr/>
        </p:nvSpPr>
        <p:spPr>
          <a:xfrm>
            <a:off x="3690255" y="1925523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下箭號 28"/>
          <p:cNvSpPr/>
          <p:nvPr/>
        </p:nvSpPr>
        <p:spPr>
          <a:xfrm>
            <a:off x="6533337" y="2637286"/>
            <a:ext cx="683059" cy="49259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15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27" grpId="0" animBg="1"/>
      <p:bldP spid="28" grpId="0" animBg="1"/>
      <p:bldP spid="2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1177574" y="1409291"/>
            <a:ext cx="7092867" cy="5365372"/>
            <a:chOff x="706835" y="2011916"/>
            <a:chExt cx="6113826" cy="4624779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835" y="2011916"/>
              <a:ext cx="6113826" cy="458536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/>
                <p:cNvSpPr txBox="1"/>
                <p:nvPr/>
              </p:nvSpPr>
              <p:spPr>
                <a:xfrm>
                  <a:off x="3675390" y="6267363"/>
                  <a:ext cx="421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6" name="文字方塊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390" y="6267363"/>
                  <a:ext cx="421847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843326" y="4119935"/>
                  <a:ext cx="42896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42896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0000" r="-5714"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橢圓 17"/>
          <p:cNvSpPr/>
          <p:nvPr/>
        </p:nvSpPr>
        <p:spPr>
          <a:xfrm>
            <a:off x="2629639" y="5334091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/>
          <p:nvPr/>
        </p:nvCxnSpPr>
        <p:spPr>
          <a:xfrm flipV="1">
            <a:off x="2767488" y="4637121"/>
            <a:ext cx="224999" cy="7268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2890145" y="5333515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145" y="5333515"/>
                <a:ext cx="458899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165801" y="4567768"/>
                <a:ext cx="1265026" cy="36933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801" y="4567768"/>
                <a:ext cx="1265026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 Rate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110901" y="2093407"/>
            <a:ext cx="3527934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If learning rate is too large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110900" y="3148935"/>
            <a:ext cx="3527935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Cost may not decrease after each update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5441958" y="627153"/>
            <a:ext cx="247562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800" dirty="0"/>
              <a:t>Set the learning rate </a:t>
            </a:r>
            <a:r>
              <a:rPr lang="el-GR" altLang="zh-TW" sz="2800" dirty="0"/>
              <a:t>η</a:t>
            </a:r>
            <a:r>
              <a:rPr lang="en-US" altLang="zh-TW" sz="2800" dirty="0"/>
              <a:t> carefully</a:t>
            </a:r>
            <a:endParaRPr lang="zh-TW" altLang="en-US" sz="2800" dirty="0"/>
          </a:p>
        </p:txBody>
      </p:sp>
      <p:cxnSp>
        <p:nvCxnSpPr>
          <p:cNvPr id="25" name="直線單箭頭接點 24"/>
          <p:cNvCxnSpPr/>
          <p:nvPr/>
        </p:nvCxnSpPr>
        <p:spPr>
          <a:xfrm flipV="1">
            <a:off x="2763695" y="5075253"/>
            <a:ext cx="103403" cy="3115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1156232" y="4768774"/>
                <a:ext cx="1435971" cy="369332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32" y="4768774"/>
                <a:ext cx="1435971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橢圓 27"/>
          <p:cNvSpPr/>
          <p:nvPr/>
        </p:nvSpPr>
        <p:spPr>
          <a:xfrm>
            <a:off x="2776370" y="4877260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下箭號 28"/>
          <p:cNvSpPr/>
          <p:nvPr/>
        </p:nvSpPr>
        <p:spPr>
          <a:xfrm>
            <a:off x="6533337" y="2637286"/>
            <a:ext cx="683059" cy="49259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5116867" y="4304550"/>
            <a:ext cx="3527934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If learning rate is too small</a:t>
            </a:r>
            <a:endParaRPr lang="zh-TW" altLang="en-US" sz="2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5116866" y="5360078"/>
            <a:ext cx="3527935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Training would be too slow</a:t>
            </a:r>
            <a:endParaRPr lang="zh-TW" altLang="en-US" sz="2400" dirty="0"/>
          </a:p>
        </p:txBody>
      </p:sp>
      <p:sp>
        <p:nvSpPr>
          <p:cNvPr id="32" name="向下箭號 31"/>
          <p:cNvSpPr/>
          <p:nvPr/>
        </p:nvSpPr>
        <p:spPr>
          <a:xfrm>
            <a:off x="6539303" y="4848429"/>
            <a:ext cx="683059" cy="49259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4430827" y="160428"/>
            <a:ext cx="4423440" cy="156966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Can we give different parameters different learning rates?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95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Adagrad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4508649" y="3467392"/>
            <a:ext cx="3429524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Parameter dependent 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1121476" y="2651709"/>
                <a:ext cx="29874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TW" altLang="en-US" sz="28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476" y="2651709"/>
                <a:ext cx="2987485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4508649" y="4719206"/>
            <a:ext cx="1994461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constant</a:t>
            </a:r>
          </a:p>
        </p:txBody>
      </p:sp>
      <p:cxnSp>
        <p:nvCxnSpPr>
          <p:cNvPr id="8" name="直線單箭頭接點 7"/>
          <p:cNvCxnSpPr>
            <a:endCxn id="6" idx="1"/>
          </p:cNvCxnSpPr>
          <p:nvPr/>
        </p:nvCxnSpPr>
        <p:spPr>
          <a:xfrm>
            <a:off x="3413416" y="3176842"/>
            <a:ext cx="1095233" cy="7676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547699" y="996439"/>
                <a:ext cx="33588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699" y="996439"/>
                <a:ext cx="3358868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/>
          <p:cNvSpPr txBox="1"/>
          <p:nvPr/>
        </p:nvSpPr>
        <p:spPr>
          <a:xfrm>
            <a:off x="4152768" y="448003"/>
            <a:ext cx="339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Original Gradient Descent</a:t>
            </a:r>
            <a:endParaRPr lang="zh-TW" altLang="en-US" sz="24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787988" y="1766150"/>
            <a:ext cx="6641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Each parameter w are considered separately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4852735" y="2364456"/>
                <a:ext cx="1997918" cy="8593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zh-TW" alt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735" y="2364456"/>
                <a:ext cx="1997918" cy="85933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接點 11"/>
          <p:cNvCxnSpPr/>
          <p:nvPr/>
        </p:nvCxnSpPr>
        <p:spPr>
          <a:xfrm>
            <a:off x="3712717" y="3098924"/>
            <a:ext cx="350491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4878135" y="3082596"/>
            <a:ext cx="350491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903206" y="4937495"/>
                <a:ext cx="3257876" cy="12736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TW" altLang="en-US" sz="28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28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06" y="4937495"/>
                <a:ext cx="3257876" cy="12736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/>
          <p:cNvSpPr txBox="1"/>
          <p:nvPr/>
        </p:nvSpPr>
        <p:spPr>
          <a:xfrm>
            <a:off x="4508649" y="5448997"/>
            <a:ext cx="4291265" cy="95410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Summation of the square of the previous derivatives</a:t>
            </a:r>
          </a:p>
        </p:txBody>
      </p:sp>
      <p:cxnSp>
        <p:nvCxnSpPr>
          <p:cNvPr id="31" name="直線單箭頭接點 30"/>
          <p:cNvCxnSpPr>
            <a:endCxn id="13" idx="1"/>
          </p:cNvCxnSpPr>
          <p:nvPr/>
        </p:nvCxnSpPr>
        <p:spPr>
          <a:xfrm flipV="1">
            <a:off x="3115733" y="4980816"/>
            <a:ext cx="1392916" cy="125198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841036" y="5826666"/>
            <a:ext cx="730964" cy="99384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2353733" y="5515278"/>
            <a:ext cx="1487303" cy="58540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3221636" y="2592703"/>
            <a:ext cx="423953" cy="5854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356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3" grpId="0" animBg="1"/>
      <p:bldP spid="19" grpId="0"/>
      <p:bldP spid="22" grpId="0"/>
      <p:bldP spid="28" grpId="0"/>
      <p:bldP spid="29" grpId="0" animBg="1"/>
      <p:bldP spid="35" grpId="0" animBg="1"/>
      <p:bldP spid="3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Adagrad</a:t>
            </a:r>
            <a:endParaRPr lang="zh-TW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020657"/>
              </p:ext>
            </p:extLst>
          </p:nvPr>
        </p:nvGraphicFramePr>
        <p:xfrm>
          <a:off x="985464" y="1769268"/>
          <a:ext cx="304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g</a:t>
                      </a:r>
                      <a:r>
                        <a:rPr lang="en-US" altLang="zh-TW" sz="2400" baseline="30000" dirty="0"/>
                        <a:t>0</a:t>
                      </a:r>
                      <a:endParaRPr lang="zh-TW" altLang="en-US" sz="2400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g</a:t>
                      </a:r>
                      <a:r>
                        <a:rPr lang="en-US" altLang="zh-TW" sz="2400" b="1" kern="1200" baseline="30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1" kern="1200" baseline="30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……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……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954217"/>
              </p:ext>
            </p:extLst>
          </p:nvPr>
        </p:nvGraphicFramePr>
        <p:xfrm>
          <a:off x="5176590" y="1752794"/>
          <a:ext cx="304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g</a:t>
                      </a:r>
                      <a:r>
                        <a:rPr lang="en-US" altLang="zh-TW" sz="2400" baseline="30000" dirty="0"/>
                        <a:t>0</a:t>
                      </a:r>
                      <a:endParaRPr lang="zh-TW" altLang="en-US" sz="2400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g</a:t>
                      </a:r>
                      <a:r>
                        <a:rPr lang="en-US" altLang="zh-TW" sz="2400" b="1" kern="1200" baseline="30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1" kern="1200" baseline="30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……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20.0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10.0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……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26781" y="4940093"/>
            <a:ext cx="2244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Observation:</a:t>
            </a:r>
            <a:endParaRPr lang="zh-TW" altLang="en-US" sz="2800" b="1" i="1" u="sng" dirty="0"/>
          </a:p>
        </p:txBody>
      </p:sp>
      <p:sp>
        <p:nvSpPr>
          <p:cNvPr id="5" name="文字方塊 4"/>
          <p:cNvSpPr txBox="1"/>
          <p:nvPr/>
        </p:nvSpPr>
        <p:spPr>
          <a:xfrm>
            <a:off x="2441093" y="4944841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1. Learning rate is smaller and smaller for all parameters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441093" y="5834845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2. Smaller derivatives, larger learning rate, and vice versa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679897" y="3241635"/>
                <a:ext cx="1570652" cy="7014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97" y="3241635"/>
                <a:ext cx="1570652" cy="7014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1050136" y="4076512"/>
                <a:ext cx="1570652" cy="7014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136" y="4076512"/>
                <a:ext cx="1570652" cy="701474"/>
              </a:xfrm>
              <a:prstGeom prst="rect">
                <a:avLst/>
              </a:prstGeom>
              <a:blipFill rotWithShape="0">
                <a:blip r:embed="rId4"/>
                <a:stretch>
                  <a:fillRect r="-50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5166200" y="3294493"/>
                <a:ext cx="1570652" cy="7014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200" y="3294493"/>
                <a:ext cx="1570652" cy="7014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5490662" y="4072036"/>
                <a:ext cx="1570652" cy="7014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662" y="4072036"/>
                <a:ext cx="1570652" cy="7014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2448125" y="3291475"/>
                <a:ext cx="1570652" cy="632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125" y="3291475"/>
                <a:ext cx="1570652" cy="63235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2539183" y="4134243"/>
                <a:ext cx="1570652" cy="632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183" y="4134243"/>
                <a:ext cx="1570652" cy="63235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6711902" y="3343742"/>
                <a:ext cx="1570652" cy="632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902" y="3343742"/>
                <a:ext cx="1570652" cy="63235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6756478" y="4162883"/>
                <a:ext cx="1570652" cy="632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78" y="4162883"/>
                <a:ext cx="1570652" cy="63235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/>
          <p:nvPr/>
        </p:nvCxnSpPr>
        <p:spPr>
          <a:xfrm>
            <a:off x="3958305" y="3387139"/>
            <a:ext cx="0" cy="136979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8179022" y="3343742"/>
            <a:ext cx="0" cy="136979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H="1">
            <a:off x="4335678" y="4568011"/>
            <a:ext cx="870668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4363886" y="3710717"/>
            <a:ext cx="870668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916300" y="6034405"/>
            <a:ext cx="1262722" cy="53988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Why?</a:t>
            </a:r>
            <a:endParaRPr lang="zh-TW" altLang="en-US" sz="2800" dirty="0"/>
          </a:p>
        </p:txBody>
      </p:sp>
      <p:grpSp>
        <p:nvGrpSpPr>
          <p:cNvPr id="9" name="群組 8"/>
          <p:cNvGrpSpPr/>
          <p:nvPr/>
        </p:nvGrpSpPr>
        <p:grpSpPr>
          <a:xfrm>
            <a:off x="5862138" y="213100"/>
            <a:ext cx="3257876" cy="1468758"/>
            <a:chOff x="4572000" y="382381"/>
            <a:chExt cx="3257876" cy="1468758"/>
          </a:xfrm>
        </p:grpSpPr>
        <p:sp>
          <p:nvSpPr>
            <p:cNvPr id="14" name="矩形 13"/>
            <p:cNvSpPr/>
            <p:nvPr/>
          </p:nvSpPr>
          <p:spPr>
            <a:xfrm>
              <a:off x="5735230" y="382381"/>
              <a:ext cx="1913705" cy="14687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/>
                <p:cNvSpPr txBox="1"/>
                <p:nvPr/>
              </p:nvSpPr>
              <p:spPr>
                <a:xfrm>
                  <a:off x="4572000" y="537479"/>
                  <a:ext cx="3257876" cy="127368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TW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TW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rad>
                          </m:den>
                        </m:f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32" name="文字方塊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537479"/>
                  <a:ext cx="3257876" cy="127368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文字方塊 10"/>
          <p:cNvSpPr txBox="1"/>
          <p:nvPr/>
        </p:nvSpPr>
        <p:spPr>
          <a:xfrm>
            <a:off x="343714" y="2751790"/>
            <a:ext cx="2172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Learning rate:</a:t>
            </a:r>
            <a:endParaRPr lang="zh-TW" altLang="en-US" sz="24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4852687" y="2785656"/>
            <a:ext cx="2172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Learning rate: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1992475" y="1754805"/>
            <a:ext cx="2371411" cy="968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6143939" y="1736849"/>
            <a:ext cx="2371411" cy="968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33291" y="1960684"/>
                <a:ext cx="4932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91" y="1960684"/>
                <a:ext cx="493212" cy="43088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4639224" y="1976310"/>
                <a:ext cx="5014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24" y="1976310"/>
                <a:ext cx="501484" cy="43088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86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  <p:bldP spid="16" grpId="0"/>
      <p:bldP spid="19" grpId="0"/>
      <p:bldP spid="23" grpId="0"/>
      <p:bldP spid="24" grpId="0"/>
      <p:bldP spid="25" grpId="0"/>
      <p:bldP spid="26" grpId="0"/>
      <p:bldP spid="27" grpId="0"/>
      <p:bldP spid="28" grpId="0"/>
      <p:bldP spid="8" grpId="0" animBg="1"/>
      <p:bldP spid="11" grpId="0"/>
      <p:bldP spid="33" grpId="0"/>
      <p:bldP spid="12" grpId="0" animBg="1"/>
      <p:bldP spid="34" grpId="0" animBg="1"/>
      <p:bldP spid="35" grpId="0"/>
      <p:bldP spid="36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78" y="227103"/>
            <a:ext cx="4363923" cy="358171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365924" y="3929177"/>
            <a:ext cx="2863851" cy="54924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Smaller Derivatives</a:t>
            </a:r>
            <a:endParaRPr lang="zh-TW" altLang="en-US" sz="2400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117352" y="4635878"/>
            <a:ext cx="3487715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365924" y="4829612"/>
            <a:ext cx="2990570" cy="54814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Larger Learning Rate</a:t>
            </a:r>
            <a:endParaRPr lang="zh-TW" altLang="en-US" sz="2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441093" y="5834845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2. Smaller derivatives, larger learning rate, and vice versa</a:t>
            </a:r>
            <a:endParaRPr lang="zh-TW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6916300" y="6034405"/>
            <a:ext cx="1262722" cy="53988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Why?</a:t>
            </a:r>
            <a:endParaRPr lang="zh-TW" altLang="en-US" sz="2800" dirty="0"/>
          </a:p>
        </p:txBody>
      </p:sp>
      <p:sp>
        <p:nvSpPr>
          <p:cNvPr id="20" name="矩形 19"/>
          <p:cNvSpPr/>
          <p:nvPr/>
        </p:nvSpPr>
        <p:spPr>
          <a:xfrm>
            <a:off x="588706" y="2211692"/>
            <a:ext cx="2083228" cy="80639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Smaller Learning Rate</a:t>
            </a:r>
            <a:endParaRPr lang="zh-TW" altLang="en-US" sz="2400" dirty="0"/>
          </a:p>
        </p:txBody>
      </p:sp>
      <p:cxnSp>
        <p:nvCxnSpPr>
          <p:cNvPr id="21" name="直線單箭頭接點 20"/>
          <p:cNvCxnSpPr/>
          <p:nvPr/>
        </p:nvCxnSpPr>
        <p:spPr>
          <a:xfrm rot="5400000" flipH="1">
            <a:off x="2024216" y="2017958"/>
            <a:ext cx="200025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88706" y="1017833"/>
            <a:ext cx="2083228" cy="80639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Larger derivatives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5182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0" grpId="0" animBg="1"/>
      <p:bldP spid="2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7678" y="1811111"/>
            <a:ext cx="1563007" cy="4710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 the whole story ……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Adagrad</a:t>
            </a:r>
            <a:r>
              <a:rPr lang="en-US" altLang="zh-TW" dirty="0"/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[John </a:t>
            </a:r>
            <a:r>
              <a:rPr lang="en-US" altLang="zh-TW" sz="1800" dirty="0" err="1">
                <a:solidFill>
                  <a:srgbClr val="0000FF"/>
                </a:solidFill>
              </a:rPr>
              <a:t>Duchi</a:t>
            </a:r>
            <a:r>
              <a:rPr lang="en-US" altLang="zh-TW" sz="1800" dirty="0">
                <a:solidFill>
                  <a:srgbClr val="0000FF"/>
                </a:solidFill>
              </a:rPr>
              <a:t>, JMLR’11]</a:t>
            </a:r>
          </a:p>
          <a:p>
            <a:r>
              <a:rPr lang="en-US" altLang="zh-TW" dirty="0" err="1"/>
              <a:t>RMSprop</a:t>
            </a:r>
            <a:endParaRPr lang="en-US" altLang="zh-TW" dirty="0"/>
          </a:p>
          <a:p>
            <a:pPr lvl="1"/>
            <a:r>
              <a:rPr lang="en-US" altLang="zh-TW" sz="1800" dirty="0">
                <a:solidFill>
                  <a:srgbClr val="0000FF"/>
                </a:solidFill>
              </a:rPr>
              <a:t>https://www.youtube.com/watch?v=O3sxAc4hxZU</a:t>
            </a:r>
          </a:p>
          <a:p>
            <a:r>
              <a:rPr lang="en-US" altLang="zh-TW" dirty="0" err="1"/>
              <a:t>Adadelta</a:t>
            </a:r>
            <a:r>
              <a:rPr lang="en-US" altLang="zh-TW" dirty="0"/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[Matthew D. </a:t>
            </a:r>
            <a:r>
              <a:rPr lang="en-US" altLang="zh-TW" sz="1800" dirty="0" err="1">
                <a:solidFill>
                  <a:srgbClr val="0000FF"/>
                </a:solidFill>
              </a:rPr>
              <a:t>Zeiler</a:t>
            </a:r>
            <a:r>
              <a:rPr lang="en-US" altLang="zh-TW" sz="1800" dirty="0">
                <a:solidFill>
                  <a:srgbClr val="0000FF"/>
                </a:solidFill>
              </a:rPr>
              <a:t>, arXiv’12]</a:t>
            </a:r>
          </a:p>
          <a:p>
            <a:r>
              <a:rPr lang="en-US" altLang="zh-TW" dirty="0"/>
              <a:t>Adam </a:t>
            </a:r>
            <a:r>
              <a:rPr lang="en-US" altLang="zh-TW" sz="1800" dirty="0">
                <a:solidFill>
                  <a:srgbClr val="0000FF"/>
                </a:solidFill>
              </a:rPr>
              <a:t>[</a:t>
            </a:r>
            <a:r>
              <a:rPr lang="en-US" altLang="zh-TW" sz="1800" dirty="0" err="1">
                <a:solidFill>
                  <a:srgbClr val="0000FF"/>
                </a:solidFill>
              </a:rPr>
              <a:t>Diederik</a:t>
            </a:r>
            <a:r>
              <a:rPr lang="en-US" altLang="zh-TW" sz="1800" dirty="0">
                <a:solidFill>
                  <a:srgbClr val="0000FF"/>
                </a:solidFill>
              </a:rPr>
              <a:t> P. </a:t>
            </a:r>
            <a:r>
              <a:rPr lang="en-US" altLang="zh-TW" sz="1800" dirty="0" err="1">
                <a:solidFill>
                  <a:srgbClr val="0000FF"/>
                </a:solidFill>
              </a:rPr>
              <a:t>Kingma</a:t>
            </a:r>
            <a:r>
              <a:rPr lang="en-US" altLang="zh-TW" sz="1800" dirty="0">
                <a:solidFill>
                  <a:srgbClr val="0000FF"/>
                </a:solidFill>
              </a:rPr>
              <a:t>, ICLR’15]</a:t>
            </a:r>
          </a:p>
          <a:p>
            <a:r>
              <a:rPr lang="en-US" altLang="zh-TW" dirty="0" err="1"/>
              <a:t>AdaSecant</a:t>
            </a:r>
            <a:r>
              <a:rPr lang="en-US" altLang="zh-TW" dirty="0"/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[Caglar Gulcehre, arXiv’14]</a:t>
            </a:r>
          </a:p>
          <a:p>
            <a:r>
              <a:rPr lang="en-US" altLang="zh-TW" dirty="0"/>
              <a:t>“No more pesky learning rates” </a:t>
            </a:r>
            <a:r>
              <a:rPr lang="en-US" altLang="zh-TW" sz="1800" dirty="0">
                <a:solidFill>
                  <a:srgbClr val="0000FF"/>
                </a:solidFill>
              </a:rPr>
              <a:t>[Tom Schaul, arXiv’12]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5452452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23789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dirty="0"/>
              <a:t>Part III:</a:t>
            </a:r>
            <a:br>
              <a:rPr lang="en-US" altLang="zh-TW" dirty="0"/>
            </a:br>
            <a:r>
              <a:rPr lang="en-US" altLang="zh-TW" dirty="0">
                <a:solidFill>
                  <a:srgbClr val="0000FF"/>
                </a:solidFill>
              </a:rPr>
              <a:t>Tips for Training DNN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標題 1"/>
          <p:cNvSpPr txBox="1">
            <a:spLocks/>
          </p:cNvSpPr>
          <p:nvPr/>
        </p:nvSpPr>
        <p:spPr>
          <a:xfrm>
            <a:off x="685800" y="4011389"/>
            <a:ext cx="7772400" cy="8717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800" dirty="0">
                <a:solidFill>
                  <a:srgbClr val="FF0000"/>
                </a:solidFill>
              </a:rPr>
              <a:t>Dropout</a:t>
            </a:r>
            <a:endParaRPr lang="zh-TW" alt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7243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444764" y="1500571"/>
            <a:ext cx="2321169" cy="523220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800" b="1" u="sng" dirty="0">
                <a:solidFill>
                  <a:srgbClr val="0000FF"/>
                </a:solidFill>
              </a:rPr>
              <a:t>Training:</a:t>
            </a:r>
            <a:endParaRPr lang="zh-TW" alt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63" name="橢圓 62"/>
          <p:cNvSpPr/>
          <p:nvPr/>
        </p:nvSpPr>
        <p:spPr>
          <a:xfrm>
            <a:off x="3895072" y="1540110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/>
          <p:cNvSpPr/>
          <p:nvPr/>
        </p:nvSpPr>
        <p:spPr>
          <a:xfrm>
            <a:off x="3895072" y="2240929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5" name="橢圓 64"/>
          <p:cNvSpPr/>
          <p:nvPr/>
        </p:nvSpPr>
        <p:spPr>
          <a:xfrm>
            <a:off x="3895072" y="2939183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6" name="橢圓 65"/>
          <p:cNvSpPr/>
          <p:nvPr/>
        </p:nvSpPr>
        <p:spPr>
          <a:xfrm>
            <a:off x="3895072" y="3637437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7" name="橢圓 66"/>
          <p:cNvSpPr/>
          <p:nvPr/>
        </p:nvSpPr>
        <p:spPr>
          <a:xfrm>
            <a:off x="7101753" y="2153004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8" name="橢圓 67"/>
          <p:cNvSpPr/>
          <p:nvPr/>
        </p:nvSpPr>
        <p:spPr>
          <a:xfrm>
            <a:off x="7101753" y="2991938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2369918" y="1640295"/>
            <a:ext cx="266335" cy="26633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0" name="直線單箭頭接點 69"/>
          <p:cNvCxnSpPr>
            <a:stCxn id="69" idx="3"/>
            <a:endCxn id="63" idx="2"/>
          </p:cNvCxnSpPr>
          <p:nvPr/>
        </p:nvCxnSpPr>
        <p:spPr>
          <a:xfrm>
            <a:off x="2636253" y="1773463"/>
            <a:ext cx="1258819" cy="216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69" idx="3"/>
            <a:endCxn id="64" idx="2"/>
          </p:cNvCxnSpPr>
          <p:nvPr/>
        </p:nvCxnSpPr>
        <p:spPr>
          <a:xfrm>
            <a:off x="2636253" y="1773463"/>
            <a:ext cx="1258819" cy="7224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stCxn id="69" idx="3"/>
            <a:endCxn id="65" idx="2"/>
          </p:cNvCxnSpPr>
          <p:nvPr/>
        </p:nvCxnSpPr>
        <p:spPr>
          <a:xfrm>
            <a:off x="2636253" y="1773463"/>
            <a:ext cx="1258819" cy="14206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69" idx="3"/>
            <a:endCxn id="66" idx="2"/>
          </p:cNvCxnSpPr>
          <p:nvPr/>
        </p:nvCxnSpPr>
        <p:spPr>
          <a:xfrm>
            <a:off x="2636253" y="1773463"/>
            <a:ext cx="1258819" cy="21189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2"/>
          </p:cNvCxnSpPr>
          <p:nvPr/>
        </p:nvCxnSpPr>
        <p:spPr>
          <a:xfrm flipV="1">
            <a:off x="6169768" y="2407981"/>
            <a:ext cx="931985" cy="1064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2"/>
          </p:cNvCxnSpPr>
          <p:nvPr/>
        </p:nvCxnSpPr>
        <p:spPr>
          <a:xfrm>
            <a:off x="6169767" y="1751124"/>
            <a:ext cx="931986" cy="6568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68" idx="2"/>
          </p:cNvCxnSpPr>
          <p:nvPr/>
        </p:nvCxnSpPr>
        <p:spPr>
          <a:xfrm>
            <a:off x="6169768" y="1795087"/>
            <a:ext cx="931985" cy="14518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68" idx="2"/>
          </p:cNvCxnSpPr>
          <p:nvPr/>
        </p:nvCxnSpPr>
        <p:spPr>
          <a:xfrm>
            <a:off x="6169767" y="2549938"/>
            <a:ext cx="931986" cy="6969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endCxn id="67" idx="2"/>
          </p:cNvCxnSpPr>
          <p:nvPr/>
        </p:nvCxnSpPr>
        <p:spPr>
          <a:xfrm flipV="1">
            <a:off x="6169768" y="2407981"/>
            <a:ext cx="931985" cy="7861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endCxn id="68" idx="2"/>
          </p:cNvCxnSpPr>
          <p:nvPr/>
        </p:nvCxnSpPr>
        <p:spPr>
          <a:xfrm>
            <a:off x="6169768" y="3194160"/>
            <a:ext cx="931985" cy="527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67" idx="2"/>
          </p:cNvCxnSpPr>
          <p:nvPr/>
        </p:nvCxnSpPr>
        <p:spPr>
          <a:xfrm flipV="1">
            <a:off x="6169767" y="2407981"/>
            <a:ext cx="931986" cy="14567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68" idx="2"/>
          </p:cNvCxnSpPr>
          <p:nvPr/>
        </p:nvCxnSpPr>
        <p:spPr>
          <a:xfrm flipV="1">
            <a:off x="6169768" y="3246915"/>
            <a:ext cx="931985" cy="6454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86" idx="3"/>
            <a:endCxn id="63" idx="2"/>
          </p:cNvCxnSpPr>
          <p:nvPr/>
        </p:nvCxnSpPr>
        <p:spPr>
          <a:xfrm flipV="1">
            <a:off x="2636253" y="1795087"/>
            <a:ext cx="1258819" cy="666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86" idx="3"/>
            <a:endCxn id="64" idx="2"/>
          </p:cNvCxnSpPr>
          <p:nvPr/>
        </p:nvCxnSpPr>
        <p:spPr>
          <a:xfrm>
            <a:off x="2636253" y="2461190"/>
            <a:ext cx="1258819" cy="3471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stCxn id="86" idx="3"/>
            <a:endCxn id="65" idx="2"/>
          </p:cNvCxnSpPr>
          <p:nvPr/>
        </p:nvCxnSpPr>
        <p:spPr>
          <a:xfrm>
            <a:off x="2636253" y="2461190"/>
            <a:ext cx="1258819" cy="7329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86" idx="3"/>
            <a:endCxn id="66" idx="2"/>
          </p:cNvCxnSpPr>
          <p:nvPr/>
        </p:nvCxnSpPr>
        <p:spPr>
          <a:xfrm>
            <a:off x="2636253" y="2461190"/>
            <a:ext cx="1258819" cy="14312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2369918" y="2328022"/>
            <a:ext cx="266335" cy="26633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橢圓 86"/>
          <p:cNvSpPr/>
          <p:nvPr/>
        </p:nvSpPr>
        <p:spPr>
          <a:xfrm>
            <a:off x="5659813" y="1505394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橢圓 87"/>
          <p:cNvSpPr/>
          <p:nvPr/>
        </p:nvSpPr>
        <p:spPr>
          <a:xfrm>
            <a:off x="5659813" y="2206213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9" name="橢圓 88"/>
          <p:cNvSpPr/>
          <p:nvPr/>
        </p:nvSpPr>
        <p:spPr>
          <a:xfrm>
            <a:off x="5659813" y="2904467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0" name="橢圓 89"/>
          <p:cNvSpPr/>
          <p:nvPr/>
        </p:nvSpPr>
        <p:spPr>
          <a:xfrm>
            <a:off x="5659813" y="3602721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2369918" y="3082616"/>
            <a:ext cx="266335" cy="26633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/>
        </p:nvSpPr>
        <p:spPr>
          <a:xfrm>
            <a:off x="2369918" y="3762018"/>
            <a:ext cx="266335" cy="26633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4" name="直線單箭頭接點 93"/>
          <p:cNvCxnSpPr>
            <a:stCxn id="91" idx="3"/>
            <a:endCxn id="66" idx="2"/>
          </p:cNvCxnSpPr>
          <p:nvPr/>
        </p:nvCxnSpPr>
        <p:spPr>
          <a:xfrm>
            <a:off x="2636253" y="3215784"/>
            <a:ext cx="1258819" cy="6766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92" idx="3"/>
            <a:endCxn id="65" idx="2"/>
          </p:cNvCxnSpPr>
          <p:nvPr/>
        </p:nvCxnSpPr>
        <p:spPr>
          <a:xfrm flipV="1">
            <a:off x="2636253" y="3194160"/>
            <a:ext cx="1258819" cy="7010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92" idx="3"/>
            <a:endCxn id="64" idx="2"/>
          </p:cNvCxnSpPr>
          <p:nvPr/>
        </p:nvCxnSpPr>
        <p:spPr>
          <a:xfrm flipV="1">
            <a:off x="2636253" y="2495906"/>
            <a:ext cx="1258819" cy="13992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stCxn id="92" idx="3"/>
            <a:endCxn id="63" idx="2"/>
          </p:cNvCxnSpPr>
          <p:nvPr/>
        </p:nvCxnSpPr>
        <p:spPr>
          <a:xfrm flipV="1">
            <a:off x="2636253" y="1795087"/>
            <a:ext cx="1258819" cy="2100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stCxn id="91" idx="3"/>
            <a:endCxn id="64" idx="2"/>
          </p:cNvCxnSpPr>
          <p:nvPr/>
        </p:nvCxnSpPr>
        <p:spPr>
          <a:xfrm flipV="1">
            <a:off x="2636253" y="2495906"/>
            <a:ext cx="1258819" cy="7198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stCxn id="91" idx="3"/>
            <a:endCxn id="63" idx="2"/>
          </p:cNvCxnSpPr>
          <p:nvPr/>
        </p:nvCxnSpPr>
        <p:spPr>
          <a:xfrm flipV="1">
            <a:off x="2636253" y="1795087"/>
            <a:ext cx="1258819" cy="14206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>
            <a:off x="4405026" y="1773463"/>
            <a:ext cx="1258819" cy="216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>
            <a:off x="4405026" y="1773463"/>
            <a:ext cx="1258819" cy="7224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4405026" y="1773463"/>
            <a:ext cx="1258819" cy="14206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>
            <a:off x="4405026" y="1773463"/>
            <a:ext cx="1258819" cy="21189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4405026" y="2461190"/>
            <a:ext cx="1258819" cy="3471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/>
          <p:nvPr/>
        </p:nvCxnSpPr>
        <p:spPr>
          <a:xfrm>
            <a:off x="4405026" y="2461190"/>
            <a:ext cx="1258819" cy="7329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/>
          <p:nvPr/>
        </p:nvCxnSpPr>
        <p:spPr>
          <a:xfrm>
            <a:off x="4405026" y="2461190"/>
            <a:ext cx="1258819" cy="14312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/>
          <p:nvPr/>
        </p:nvCxnSpPr>
        <p:spPr>
          <a:xfrm>
            <a:off x="4405026" y="3215784"/>
            <a:ext cx="1258819" cy="6766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 flipV="1">
            <a:off x="4405026" y="3194160"/>
            <a:ext cx="1258819" cy="7010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 flipV="1">
            <a:off x="4405026" y="2495906"/>
            <a:ext cx="1258819" cy="13992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 flipV="1">
            <a:off x="4405026" y="1795087"/>
            <a:ext cx="1258819" cy="2100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/>
          <p:nvPr/>
        </p:nvCxnSpPr>
        <p:spPr>
          <a:xfrm flipV="1">
            <a:off x="4405026" y="2495906"/>
            <a:ext cx="1258819" cy="7198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/>
          <p:nvPr/>
        </p:nvCxnSpPr>
        <p:spPr>
          <a:xfrm flipV="1">
            <a:off x="4405026" y="1795087"/>
            <a:ext cx="1258819" cy="14206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7627473" y="2420552"/>
            <a:ext cx="4659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7627473" y="3261429"/>
            <a:ext cx="4659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群組 126"/>
          <p:cNvGrpSpPr/>
          <p:nvPr/>
        </p:nvGrpSpPr>
        <p:grpSpPr>
          <a:xfrm>
            <a:off x="3965370" y="1600600"/>
            <a:ext cx="365326" cy="367349"/>
            <a:chOff x="-1866900" y="1906630"/>
            <a:chExt cx="365326" cy="367349"/>
          </a:xfrm>
        </p:grpSpPr>
        <p:cxnSp>
          <p:nvCxnSpPr>
            <p:cNvPr id="125" name="直線接點 12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群組 127"/>
          <p:cNvGrpSpPr/>
          <p:nvPr/>
        </p:nvGrpSpPr>
        <p:grpSpPr>
          <a:xfrm>
            <a:off x="3970602" y="3010485"/>
            <a:ext cx="365326" cy="367349"/>
            <a:chOff x="-1866900" y="1906630"/>
            <a:chExt cx="365326" cy="367349"/>
          </a:xfrm>
        </p:grpSpPr>
        <p:cxnSp>
          <p:nvCxnSpPr>
            <p:cNvPr id="129" name="直線接點 128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接點 129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群組 130"/>
          <p:cNvGrpSpPr/>
          <p:nvPr/>
        </p:nvGrpSpPr>
        <p:grpSpPr>
          <a:xfrm>
            <a:off x="5732127" y="2981602"/>
            <a:ext cx="365326" cy="367349"/>
            <a:chOff x="-1866900" y="1906630"/>
            <a:chExt cx="365326" cy="367349"/>
          </a:xfrm>
        </p:grpSpPr>
        <p:cxnSp>
          <p:nvCxnSpPr>
            <p:cNvPr id="132" name="直線接點 131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接點 132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群組 133"/>
          <p:cNvGrpSpPr/>
          <p:nvPr/>
        </p:nvGrpSpPr>
        <p:grpSpPr>
          <a:xfrm>
            <a:off x="5741551" y="3674023"/>
            <a:ext cx="365326" cy="367349"/>
            <a:chOff x="-1866900" y="1906630"/>
            <a:chExt cx="365326" cy="367349"/>
          </a:xfrm>
        </p:grpSpPr>
        <p:cxnSp>
          <p:nvCxnSpPr>
            <p:cNvPr id="135" name="直線接點 13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群組 136"/>
          <p:cNvGrpSpPr/>
          <p:nvPr/>
        </p:nvGrpSpPr>
        <p:grpSpPr>
          <a:xfrm>
            <a:off x="2316154" y="3023685"/>
            <a:ext cx="365326" cy="367349"/>
            <a:chOff x="-1866900" y="1906630"/>
            <a:chExt cx="365326" cy="367349"/>
          </a:xfrm>
        </p:grpSpPr>
        <p:cxnSp>
          <p:nvCxnSpPr>
            <p:cNvPr id="138" name="直線接點 137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接點 138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群組 139"/>
          <p:cNvGrpSpPr/>
          <p:nvPr/>
        </p:nvGrpSpPr>
        <p:grpSpPr>
          <a:xfrm>
            <a:off x="2339885" y="2294637"/>
            <a:ext cx="365326" cy="367349"/>
            <a:chOff x="-1866900" y="1906630"/>
            <a:chExt cx="365326" cy="367349"/>
          </a:xfrm>
        </p:grpSpPr>
        <p:cxnSp>
          <p:nvCxnSpPr>
            <p:cNvPr id="141" name="直線接點 140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直線單箭頭接點 147"/>
          <p:cNvCxnSpPr/>
          <p:nvPr/>
        </p:nvCxnSpPr>
        <p:spPr>
          <a:xfrm flipV="1">
            <a:off x="2649437" y="3206860"/>
            <a:ext cx="1245635" cy="5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/>
          <p:nvPr/>
        </p:nvCxnSpPr>
        <p:spPr>
          <a:xfrm flipV="1">
            <a:off x="4439720" y="3192846"/>
            <a:ext cx="1245635" cy="5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單箭頭接點 150"/>
          <p:cNvCxnSpPr/>
          <p:nvPr/>
        </p:nvCxnSpPr>
        <p:spPr>
          <a:xfrm flipV="1">
            <a:off x="4405026" y="1760371"/>
            <a:ext cx="1254787" cy="7355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439720" y="864250"/>
                <a:ext cx="33588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720" y="864250"/>
                <a:ext cx="3358868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文字方塊 118"/>
          <p:cNvSpPr txBox="1"/>
          <p:nvPr/>
        </p:nvSpPr>
        <p:spPr>
          <a:xfrm>
            <a:off x="915480" y="4260857"/>
            <a:ext cx="630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b="1" dirty="0"/>
              <a:t>Each time before computing the gradients</a:t>
            </a:r>
          </a:p>
        </p:txBody>
      </p:sp>
      <p:sp>
        <p:nvSpPr>
          <p:cNvPr id="120" name="文字方塊 119"/>
          <p:cNvSpPr txBox="1"/>
          <p:nvPr/>
        </p:nvSpPr>
        <p:spPr>
          <a:xfrm>
            <a:off x="1453029" y="4681573"/>
            <a:ext cx="6424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2400" dirty="0"/>
              <a:t>Each neuron has p% to dropout</a:t>
            </a:r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4044789" y="315814"/>
            <a:ext cx="2308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Pick a mini-batch</a:t>
            </a:r>
            <a:endParaRPr lang="zh-TW" altLang="en-US" sz="2400" dirty="0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2647693" y="3912724"/>
            <a:ext cx="1258819" cy="216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>
            <a:off x="4416466" y="3912724"/>
            <a:ext cx="1258819" cy="216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74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3" grpId="0" animBg="1"/>
      <p:bldP spid="65" grpId="0" animBg="1"/>
      <p:bldP spid="86" grpId="0" animBg="1"/>
      <p:bldP spid="89" grpId="0" animBg="1"/>
      <p:bldP spid="90" grpId="0" animBg="1"/>
      <p:bldP spid="91" grpId="0" animBg="1"/>
      <p:bldP spid="119" grpId="0"/>
      <p:bldP spid="120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444764" y="1500571"/>
            <a:ext cx="2321169" cy="523220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800" b="1" u="sng" dirty="0">
                <a:solidFill>
                  <a:srgbClr val="0000FF"/>
                </a:solidFill>
              </a:rPr>
              <a:t>Training:</a:t>
            </a:r>
            <a:endParaRPr lang="zh-TW" alt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3895072" y="2240929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6" name="橢圓 65"/>
          <p:cNvSpPr/>
          <p:nvPr/>
        </p:nvSpPr>
        <p:spPr>
          <a:xfrm>
            <a:off x="3895072" y="3637437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7" name="橢圓 66"/>
          <p:cNvSpPr/>
          <p:nvPr/>
        </p:nvSpPr>
        <p:spPr>
          <a:xfrm>
            <a:off x="7101753" y="2153004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8" name="橢圓 67"/>
          <p:cNvSpPr/>
          <p:nvPr/>
        </p:nvSpPr>
        <p:spPr>
          <a:xfrm>
            <a:off x="7101753" y="2991938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2369918" y="1640295"/>
            <a:ext cx="266335" cy="26633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1" name="直線單箭頭接點 70"/>
          <p:cNvCxnSpPr>
            <a:stCxn id="69" idx="3"/>
            <a:endCxn id="64" idx="2"/>
          </p:cNvCxnSpPr>
          <p:nvPr/>
        </p:nvCxnSpPr>
        <p:spPr>
          <a:xfrm>
            <a:off x="2636253" y="1773463"/>
            <a:ext cx="1258819" cy="7224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69" idx="3"/>
            <a:endCxn id="66" idx="2"/>
          </p:cNvCxnSpPr>
          <p:nvPr/>
        </p:nvCxnSpPr>
        <p:spPr>
          <a:xfrm>
            <a:off x="2636253" y="1773463"/>
            <a:ext cx="1258819" cy="21189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2"/>
          </p:cNvCxnSpPr>
          <p:nvPr/>
        </p:nvCxnSpPr>
        <p:spPr>
          <a:xfrm flipV="1">
            <a:off x="6169768" y="2407981"/>
            <a:ext cx="931985" cy="1064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2"/>
          </p:cNvCxnSpPr>
          <p:nvPr/>
        </p:nvCxnSpPr>
        <p:spPr>
          <a:xfrm>
            <a:off x="6169767" y="1751124"/>
            <a:ext cx="931986" cy="6568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68" idx="2"/>
          </p:cNvCxnSpPr>
          <p:nvPr/>
        </p:nvCxnSpPr>
        <p:spPr>
          <a:xfrm>
            <a:off x="6169768" y="1795087"/>
            <a:ext cx="931985" cy="14518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68" idx="2"/>
          </p:cNvCxnSpPr>
          <p:nvPr/>
        </p:nvCxnSpPr>
        <p:spPr>
          <a:xfrm>
            <a:off x="6169767" y="2549938"/>
            <a:ext cx="931986" cy="6969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5659813" y="1505394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橢圓 87"/>
          <p:cNvSpPr/>
          <p:nvPr/>
        </p:nvSpPr>
        <p:spPr>
          <a:xfrm>
            <a:off x="5659813" y="2206213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2369918" y="3762018"/>
            <a:ext cx="266335" cy="26633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3" name="直線單箭頭接點 92"/>
          <p:cNvCxnSpPr>
            <a:stCxn id="92" idx="3"/>
            <a:endCxn id="66" idx="2"/>
          </p:cNvCxnSpPr>
          <p:nvPr/>
        </p:nvCxnSpPr>
        <p:spPr>
          <a:xfrm flipV="1">
            <a:off x="2636253" y="3892414"/>
            <a:ext cx="1258819" cy="27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92" idx="3"/>
            <a:endCxn id="64" idx="2"/>
          </p:cNvCxnSpPr>
          <p:nvPr/>
        </p:nvCxnSpPr>
        <p:spPr>
          <a:xfrm flipV="1">
            <a:off x="2636253" y="2495906"/>
            <a:ext cx="1258819" cy="13992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4405026" y="2461190"/>
            <a:ext cx="1258819" cy="3471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 flipV="1">
            <a:off x="4405026" y="2495906"/>
            <a:ext cx="1258819" cy="13992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 flipV="1">
            <a:off x="4405026" y="1795087"/>
            <a:ext cx="1258819" cy="2100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7627473" y="2420552"/>
            <a:ext cx="4659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7627473" y="3261429"/>
            <a:ext cx="4659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字方塊 116"/>
          <p:cNvSpPr txBox="1"/>
          <p:nvPr/>
        </p:nvSpPr>
        <p:spPr>
          <a:xfrm>
            <a:off x="915479" y="4260857"/>
            <a:ext cx="6186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b="1" dirty="0"/>
              <a:t>Each time before computing the gradients</a:t>
            </a:r>
          </a:p>
        </p:txBody>
      </p:sp>
      <p:sp>
        <p:nvSpPr>
          <p:cNvPr id="118" name="文字方塊 117"/>
          <p:cNvSpPr txBox="1"/>
          <p:nvPr/>
        </p:nvSpPr>
        <p:spPr>
          <a:xfrm>
            <a:off x="1453029" y="4681573"/>
            <a:ext cx="6424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2400" dirty="0"/>
              <a:t>Each neuron has p% to dropout</a:t>
            </a:r>
            <a:endParaRPr lang="zh-TW" altLang="en-US" sz="2400" dirty="0"/>
          </a:p>
        </p:txBody>
      </p:sp>
      <p:sp>
        <p:nvSpPr>
          <p:cNvPr id="120" name="文字方塊 119"/>
          <p:cNvSpPr txBox="1"/>
          <p:nvPr/>
        </p:nvSpPr>
        <p:spPr>
          <a:xfrm>
            <a:off x="1453029" y="5533748"/>
            <a:ext cx="6174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2400" dirty="0"/>
              <a:t>Using the new network for training</a:t>
            </a:r>
            <a:endParaRPr lang="zh-TW" altLang="en-US" sz="2400" dirty="0"/>
          </a:p>
        </p:txBody>
      </p:sp>
      <p:sp>
        <p:nvSpPr>
          <p:cNvPr id="122" name="向右箭號 121"/>
          <p:cNvSpPr/>
          <p:nvPr/>
        </p:nvSpPr>
        <p:spPr>
          <a:xfrm>
            <a:off x="2007856" y="5144311"/>
            <a:ext cx="629409" cy="3755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文字方塊 122"/>
          <p:cNvSpPr txBox="1"/>
          <p:nvPr/>
        </p:nvSpPr>
        <p:spPr>
          <a:xfrm>
            <a:off x="2679981" y="5118023"/>
            <a:ext cx="5744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The structure of the network is changed.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24" name="直線單箭頭接點 123"/>
          <p:cNvCxnSpPr/>
          <p:nvPr/>
        </p:nvCxnSpPr>
        <p:spPr>
          <a:xfrm flipV="1">
            <a:off x="4405026" y="1760371"/>
            <a:ext cx="1254787" cy="7355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5424305" y="3626839"/>
            <a:ext cx="1677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Thinner!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039816" y="6117020"/>
            <a:ext cx="7064368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For each mini-batch, we resample the dropout neurons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4439720" y="864250"/>
                <a:ext cx="33588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720" y="864250"/>
                <a:ext cx="3358868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/>
          <p:cNvSpPr txBox="1"/>
          <p:nvPr/>
        </p:nvSpPr>
        <p:spPr>
          <a:xfrm>
            <a:off x="4044789" y="315814"/>
            <a:ext cx="2308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Pick a mini-batch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6843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3" grpId="0"/>
      <p:bldP spid="40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grpSp>
        <p:nvGrpSpPr>
          <p:cNvPr id="111" name="群組 110"/>
          <p:cNvGrpSpPr/>
          <p:nvPr/>
        </p:nvGrpSpPr>
        <p:grpSpPr>
          <a:xfrm>
            <a:off x="2369918" y="1505394"/>
            <a:ext cx="5723548" cy="2641997"/>
            <a:chOff x="1904899" y="2535995"/>
            <a:chExt cx="5723548" cy="2641997"/>
          </a:xfrm>
        </p:grpSpPr>
        <p:sp>
          <p:nvSpPr>
            <p:cNvPr id="4" name="橢圓 3"/>
            <p:cNvSpPr/>
            <p:nvPr/>
          </p:nvSpPr>
          <p:spPr>
            <a:xfrm>
              <a:off x="3430053" y="2570711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橢圓 4"/>
            <p:cNvSpPr/>
            <p:nvPr/>
          </p:nvSpPr>
          <p:spPr>
            <a:xfrm>
              <a:off x="3430053" y="3271530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橢圓 5"/>
            <p:cNvSpPr/>
            <p:nvPr/>
          </p:nvSpPr>
          <p:spPr>
            <a:xfrm>
              <a:off x="3430053" y="396978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430053" y="466803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6636734" y="318360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6636734" y="4022539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1904899" y="2670896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單箭頭接點 10"/>
            <p:cNvCxnSpPr>
              <a:stCxn id="10" idx="3"/>
              <a:endCxn id="4" idx="2"/>
            </p:cNvCxnSpPr>
            <p:nvPr/>
          </p:nvCxnSpPr>
          <p:spPr>
            <a:xfrm>
              <a:off x="2171234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>
              <a:stCxn id="10" idx="3"/>
              <a:endCxn id="5" idx="2"/>
            </p:cNvCxnSpPr>
            <p:nvPr/>
          </p:nvCxnSpPr>
          <p:spPr>
            <a:xfrm>
              <a:off x="2171234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10" idx="3"/>
              <a:endCxn id="6" idx="2"/>
            </p:cNvCxnSpPr>
            <p:nvPr/>
          </p:nvCxnSpPr>
          <p:spPr>
            <a:xfrm>
              <a:off x="2171234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10" idx="3"/>
              <a:endCxn id="7" idx="2"/>
            </p:cNvCxnSpPr>
            <p:nvPr/>
          </p:nvCxnSpPr>
          <p:spPr>
            <a:xfrm>
              <a:off x="2171234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>
              <a:endCxn id="8" idx="2"/>
            </p:cNvCxnSpPr>
            <p:nvPr/>
          </p:nvCxnSpPr>
          <p:spPr>
            <a:xfrm flipV="1">
              <a:off x="5704749" y="3438582"/>
              <a:ext cx="931985" cy="1064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endCxn id="8" idx="2"/>
            </p:cNvCxnSpPr>
            <p:nvPr/>
          </p:nvCxnSpPr>
          <p:spPr>
            <a:xfrm>
              <a:off x="5704748" y="2781725"/>
              <a:ext cx="931986" cy="6568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endCxn id="9" idx="2"/>
            </p:cNvCxnSpPr>
            <p:nvPr/>
          </p:nvCxnSpPr>
          <p:spPr>
            <a:xfrm>
              <a:off x="5704749" y="2825688"/>
              <a:ext cx="931985" cy="14518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endCxn id="9" idx="2"/>
            </p:cNvCxnSpPr>
            <p:nvPr/>
          </p:nvCxnSpPr>
          <p:spPr>
            <a:xfrm>
              <a:off x="5704748" y="3580539"/>
              <a:ext cx="931986" cy="6969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8" idx="2"/>
            </p:cNvCxnSpPr>
            <p:nvPr/>
          </p:nvCxnSpPr>
          <p:spPr>
            <a:xfrm flipV="1">
              <a:off x="5704749" y="3438582"/>
              <a:ext cx="931985" cy="7861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9" idx="2"/>
            </p:cNvCxnSpPr>
            <p:nvPr/>
          </p:nvCxnSpPr>
          <p:spPr>
            <a:xfrm>
              <a:off x="5704749" y="4224761"/>
              <a:ext cx="931985" cy="527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8" idx="2"/>
            </p:cNvCxnSpPr>
            <p:nvPr/>
          </p:nvCxnSpPr>
          <p:spPr>
            <a:xfrm flipV="1">
              <a:off x="5704748" y="3438582"/>
              <a:ext cx="931986" cy="14567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9" idx="2"/>
            </p:cNvCxnSpPr>
            <p:nvPr/>
          </p:nvCxnSpPr>
          <p:spPr>
            <a:xfrm flipV="1">
              <a:off x="5704749" y="4277516"/>
              <a:ext cx="931985" cy="6454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27" idx="2"/>
              <a:endCxn id="4" idx="2"/>
            </p:cNvCxnSpPr>
            <p:nvPr/>
          </p:nvCxnSpPr>
          <p:spPr>
            <a:xfrm flipV="1">
              <a:off x="2038067" y="2825688"/>
              <a:ext cx="1391986" cy="7992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7" idx="3"/>
              <a:endCxn id="5" idx="2"/>
            </p:cNvCxnSpPr>
            <p:nvPr/>
          </p:nvCxnSpPr>
          <p:spPr>
            <a:xfrm>
              <a:off x="2171234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27" idx="3"/>
              <a:endCxn id="6" idx="2"/>
            </p:cNvCxnSpPr>
            <p:nvPr/>
          </p:nvCxnSpPr>
          <p:spPr>
            <a:xfrm>
              <a:off x="2171234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27" idx="3"/>
              <a:endCxn id="7" idx="2"/>
            </p:cNvCxnSpPr>
            <p:nvPr/>
          </p:nvCxnSpPr>
          <p:spPr>
            <a:xfrm>
              <a:off x="2171234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1904899" y="3358623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5194794" y="253599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橢圓 34"/>
            <p:cNvSpPr/>
            <p:nvPr/>
          </p:nvSpPr>
          <p:spPr>
            <a:xfrm>
              <a:off x="5194794" y="323681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" name="橢圓 35"/>
            <p:cNvSpPr/>
            <p:nvPr/>
          </p:nvSpPr>
          <p:spPr>
            <a:xfrm>
              <a:off x="5194794" y="393506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7" name="橢圓 36"/>
            <p:cNvSpPr/>
            <p:nvPr/>
          </p:nvSpPr>
          <p:spPr>
            <a:xfrm>
              <a:off x="5194794" y="4633322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904899" y="4113217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1904899" y="4792619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6" name="直線單箭頭接點 65"/>
            <p:cNvCxnSpPr>
              <a:stCxn id="57" idx="3"/>
              <a:endCxn id="7" idx="2"/>
            </p:cNvCxnSpPr>
            <p:nvPr/>
          </p:nvCxnSpPr>
          <p:spPr>
            <a:xfrm flipV="1">
              <a:off x="2171234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68"/>
            <p:cNvCxnSpPr>
              <a:stCxn id="56" idx="3"/>
              <a:endCxn id="7" idx="2"/>
            </p:cNvCxnSpPr>
            <p:nvPr/>
          </p:nvCxnSpPr>
          <p:spPr>
            <a:xfrm>
              <a:off x="2171234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>
              <a:stCxn id="57" idx="3"/>
              <a:endCxn id="6" idx="2"/>
            </p:cNvCxnSpPr>
            <p:nvPr/>
          </p:nvCxnSpPr>
          <p:spPr>
            <a:xfrm flipV="1">
              <a:off x="2171234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>
              <a:stCxn id="57" idx="3"/>
              <a:endCxn id="5" idx="2"/>
            </p:cNvCxnSpPr>
            <p:nvPr/>
          </p:nvCxnSpPr>
          <p:spPr>
            <a:xfrm flipV="1">
              <a:off x="2171234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>
              <a:stCxn id="57" idx="3"/>
              <a:endCxn id="4" idx="2"/>
            </p:cNvCxnSpPr>
            <p:nvPr/>
          </p:nvCxnSpPr>
          <p:spPr>
            <a:xfrm flipV="1">
              <a:off x="2171234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>
              <a:stCxn id="56" idx="3"/>
              <a:endCxn id="5" idx="2"/>
            </p:cNvCxnSpPr>
            <p:nvPr/>
          </p:nvCxnSpPr>
          <p:spPr>
            <a:xfrm flipV="1">
              <a:off x="2171234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>
              <a:stCxn id="56" idx="3"/>
              <a:endCxn id="4" idx="2"/>
            </p:cNvCxnSpPr>
            <p:nvPr/>
          </p:nvCxnSpPr>
          <p:spPr>
            <a:xfrm flipV="1">
              <a:off x="2171234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>
              <a:off x="3940007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/>
            <p:nvPr/>
          </p:nvCxnSpPr>
          <p:spPr>
            <a:xfrm>
              <a:off x="3940007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/>
            <p:cNvCxnSpPr/>
            <p:nvPr/>
          </p:nvCxnSpPr>
          <p:spPr>
            <a:xfrm>
              <a:off x="3940007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/>
            <p:nvPr/>
          </p:nvCxnSpPr>
          <p:spPr>
            <a:xfrm>
              <a:off x="3940007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/>
            <p:nvPr/>
          </p:nvCxnSpPr>
          <p:spPr>
            <a:xfrm>
              <a:off x="3940007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單箭頭接點 91"/>
            <p:cNvCxnSpPr/>
            <p:nvPr/>
          </p:nvCxnSpPr>
          <p:spPr>
            <a:xfrm>
              <a:off x="3940007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92"/>
            <p:cNvCxnSpPr/>
            <p:nvPr/>
          </p:nvCxnSpPr>
          <p:spPr>
            <a:xfrm>
              <a:off x="3940007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單箭頭接點 93"/>
            <p:cNvCxnSpPr/>
            <p:nvPr/>
          </p:nvCxnSpPr>
          <p:spPr>
            <a:xfrm flipV="1">
              <a:off x="3940007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單箭頭接點 94"/>
            <p:cNvCxnSpPr/>
            <p:nvPr/>
          </p:nvCxnSpPr>
          <p:spPr>
            <a:xfrm>
              <a:off x="3940007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/>
            <p:cNvCxnSpPr/>
            <p:nvPr/>
          </p:nvCxnSpPr>
          <p:spPr>
            <a:xfrm flipV="1">
              <a:off x="3940007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單箭頭接點 96"/>
            <p:cNvCxnSpPr/>
            <p:nvPr/>
          </p:nvCxnSpPr>
          <p:spPr>
            <a:xfrm flipV="1">
              <a:off x="3940007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單箭頭接點 97"/>
            <p:cNvCxnSpPr/>
            <p:nvPr/>
          </p:nvCxnSpPr>
          <p:spPr>
            <a:xfrm flipV="1">
              <a:off x="3940007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V="1">
              <a:off x="3940007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V="1">
              <a:off x="3940007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>
              <a:off x="7162454" y="3451153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>
              <a:off x="7162454" y="4292030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直線單箭頭接點 120"/>
          <p:cNvCxnSpPr/>
          <p:nvPr/>
        </p:nvCxnSpPr>
        <p:spPr>
          <a:xfrm flipV="1">
            <a:off x="2649437" y="3206860"/>
            <a:ext cx="1245635" cy="5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/>
          <p:cNvCxnSpPr/>
          <p:nvPr/>
        </p:nvCxnSpPr>
        <p:spPr>
          <a:xfrm flipV="1">
            <a:off x="4439720" y="3192846"/>
            <a:ext cx="1245635" cy="5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>
            <a:stCxn id="5" idx="6"/>
            <a:endCxn id="34" idx="2"/>
          </p:cNvCxnSpPr>
          <p:nvPr/>
        </p:nvCxnSpPr>
        <p:spPr>
          <a:xfrm flipV="1">
            <a:off x="4405026" y="1760371"/>
            <a:ext cx="1254787" cy="7355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444764" y="1500571"/>
            <a:ext cx="2321169" cy="523220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800" b="1" u="sng" dirty="0">
                <a:solidFill>
                  <a:srgbClr val="0000FF"/>
                </a:solidFill>
              </a:rPr>
              <a:t>Testing:</a:t>
            </a:r>
            <a:endParaRPr lang="zh-TW" altLang="en-US" sz="2800" b="1" u="sng" dirty="0">
              <a:solidFill>
                <a:srgbClr val="0000FF"/>
              </a:solidFill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685378" y="4278037"/>
            <a:ext cx="3369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b="1" dirty="0">
                <a:solidFill>
                  <a:srgbClr val="FF0000"/>
                </a:solidFill>
              </a:rPr>
              <a:t>No dropout</a:t>
            </a:r>
          </a:p>
        </p:txBody>
      </p:sp>
      <p:sp>
        <p:nvSpPr>
          <p:cNvPr id="73" name="文字方塊 72"/>
          <p:cNvSpPr txBox="1"/>
          <p:nvPr/>
        </p:nvSpPr>
        <p:spPr>
          <a:xfrm>
            <a:off x="1290209" y="4846911"/>
            <a:ext cx="5129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2400" dirty="0">
                <a:solidFill>
                  <a:srgbClr val="0000FF"/>
                </a:solidFill>
              </a:rPr>
              <a:t>If the dropout rate at training is p%, all the weights times (1-p)%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1290209" y="5746509"/>
                <a:ext cx="785379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TW" sz="2400" dirty="0">
                    <a:solidFill>
                      <a:srgbClr val="0000FF"/>
                    </a:solidFill>
                  </a:rPr>
                  <a:t>Assume that the dropout rate is 50%. </a:t>
                </a:r>
              </a:p>
              <a:p>
                <a:r>
                  <a:rPr lang="en-US" altLang="zh-TW" sz="2400" dirty="0">
                    <a:solidFill>
                      <a:srgbClr val="0000FF"/>
                    </a:solidFill>
                  </a:rPr>
                  <a:t>     If a weight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TW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0000FF"/>
                    </a:solidFill>
                  </a:rPr>
                  <a:t>by training, set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zh-TW" alt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0000FF"/>
                    </a:solidFill>
                  </a:rPr>
                  <a:t>for testing.</a:t>
                </a:r>
                <a:endParaRPr lang="zh-TW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209" y="5746509"/>
                <a:ext cx="7853791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1087" t="-5882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04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3" grpId="0"/>
      <p:bldP spid="77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- Intuitive Reason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2369918" y="1505394"/>
            <a:ext cx="5723548" cy="2641997"/>
            <a:chOff x="1904899" y="2535995"/>
            <a:chExt cx="5723548" cy="2641997"/>
          </a:xfrm>
        </p:grpSpPr>
        <p:sp>
          <p:nvSpPr>
            <p:cNvPr id="5" name="橢圓 4"/>
            <p:cNvSpPr/>
            <p:nvPr/>
          </p:nvSpPr>
          <p:spPr>
            <a:xfrm>
              <a:off x="3430053" y="2570711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/>
            <p:cNvSpPr/>
            <p:nvPr/>
          </p:nvSpPr>
          <p:spPr>
            <a:xfrm>
              <a:off x="3430053" y="3271530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430053" y="396978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3430053" y="466803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6636734" y="318360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橢圓 9"/>
            <p:cNvSpPr/>
            <p:nvPr/>
          </p:nvSpPr>
          <p:spPr>
            <a:xfrm>
              <a:off x="6636734" y="4022539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904899" y="2670896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單箭頭接點 11"/>
            <p:cNvCxnSpPr>
              <a:stCxn id="11" idx="3"/>
              <a:endCxn id="5" idx="2"/>
            </p:cNvCxnSpPr>
            <p:nvPr/>
          </p:nvCxnSpPr>
          <p:spPr>
            <a:xfrm>
              <a:off x="2171234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11" idx="3"/>
              <a:endCxn id="6" idx="2"/>
            </p:cNvCxnSpPr>
            <p:nvPr/>
          </p:nvCxnSpPr>
          <p:spPr>
            <a:xfrm>
              <a:off x="2171234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11" idx="3"/>
              <a:endCxn id="7" idx="2"/>
            </p:cNvCxnSpPr>
            <p:nvPr/>
          </p:nvCxnSpPr>
          <p:spPr>
            <a:xfrm>
              <a:off x="2171234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>
              <a:stCxn id="11" idx="3"/>
              <a:endCxn id="8" idx="2"/>
            </p:cNvCxnSpPr>
            <p:nvPr/>
          </p:nvCxnSpPr>
          <p:spPr>
            <a:xfrm>
              <a:off x="2171234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endCxn id="9" idx="2"/>
            </p:cNvCxnSpPr>
            <p:nvPr/>
          </p:nvCxnSpPr>
          <p:spPr>
            <a:xfrm flipV="1">
              <a:off x="5704749" y="3438582"/>
              <a:ext cx="931985" cy="1064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endCxn id="9" idx="2"/>
            </p:cNvCxnSpPr>
            <p:nvPr/>
          </p:nvCxnSpPr>
          <p:spPr>
            <a:xfrm>
              <a:off x="5704748" y="2781725"/>
              <a:ext cx="931986" cy="6568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endCxn id="10" idx="2"/>
            </p:cNvCxnSpPr>
            <p:nvPr/>
          </p:nvCxnSpPr>
          <p:spPr>
            <a:xfrm>
              <a:off x="5704749" y="2825688"/>
              <a:ext cx="931985" cy="14518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0" idx="2"/>
            </p:cNvCxnSpPr>
            <p:nvPr/>
          </p:nvCxnSpPr>
          <p:spPr>
            <a:xfrm>
              <a:off x="5704748" y="3580539"/>
              <a:ext cx="931986" cy="6969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9" idx="2"/>
            </p:cNvCxnSpPr>
            <p:nvPr/>
          </p:nvCxnSpPr>
          <p:spPr>
            <a:xfrm flipV="1">
              <a:off x="5704749" y="3438582"/>
              <a:ext cx="931985" cy="7861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0" idx="2"/>
            </p:cNvCxnSpPr>
            <p:nvPr/>
          </p:nvCxnSpPr>
          <p:spPr>
            <a:xfrm>
              <a:off x="5704749" y="4224761"/>
              <a:ext cx="931985" cy="527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9" idx="2"/>
            </p:cNvCxnSpPr>
            <p:nvPr/>
          </p:nvCxnSpPr>
          <p:spPr>
            <a:xfrm flipV="1">
              <a:off x="5704748" y="3438582"/>
              <a:ext cx="931986" cy="14567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0" idx="2"/>
            </p:cNvCxnSpPr>
            <p:nvPr/>
          </p:nvCxnSpPr>
          <p:spPr>
            <a:xfrm flipV="1">
              <a:off x="5704749" y="4277516"/>
              <a:ext cx="931985" cy="6454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8" idx="2"/>
              <a:endCxn id="5" idx="2"/>
            </p:cNvCxnSpPr>
            <p:nvPr/>
          </p:nvCxnSpPr>
          <p:spPr>
            <a:xfrm flipV="1">
              <a:off x="2038067" y="2825688"/>
              <a:ext cx="1391986" cy="7992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28" idx="3"/>
              <a:endCxn id="6" idx="2"/>
            </p:cNvCxnSpPr>
            <p:nvPr/>
          </p:nvCxnSpPr>
          <p:spPr>
            <a:xfrm>
              <a:off x="2171234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28" idx="3"/>
              <a:endCxn id="7" idx="2"/>
            </p:cNvCxnSpPr>
            <p:nvPr/>
          </p:nvCxnSpPr>
          <p:spPr>
            <a:xfrm>
              <a:off x="2171234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28" idx="3"/>
              <a:endCxn id="8" idx="2"/>
            </p:cNvCxnSpPr>
            <p:nvPr/>
          </p:nvCxnSpPr>
          <p:spPr>
            <a:xfrm>
              <a:off x="2171234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1904899" y="3358623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5194794" y="253599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5194794" y="323681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1" name="橢圓 30"/>
            <p:cNvSpPr/>
            <p:nvPr/>
          </p:nvSpPr>
          <p:spPr>
            <a:xfrm>
              <a:off x="5194794" y="393506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" name="橢圓 31"/>
            <p:cNvSpPr/>
            <p:nvPr/>
          </p:nvSpPr>
          <p:spPr>
            <a:xfrm>
              <a:off x="5194794" y="4633322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904899" y="4113217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904899" y="4792619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5" name="直線單箭頭接點 34"/>
            <p:cNvCxnSpPr>
              <a:stCxn id="34" idx="3"/>
              <a:endCxn id="8" idx="2"/>
            </p:cNvCxnSpPr>
            <p:nvPr/>
          </p:nvCxnSpPr>
          <p:spPr>
            <a:xfrm flipV="1">
              <a:off x="2171234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>
              <a:stCxn id="33" idx="3"/>
              <a:endCxn id="8" idx="2"/>
            </p:cNvCxnSpPr>
            <p:nvPr/>
          </p:nvCxnSpPr>
          <p:spPr>
            <a:xfrm>
              <a:off x="2171234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34" idx="3"/>
              <a:endCxn id="7" idx="2"/>
            </p:cNvCxnSpPr>
            <p:nvPr/>
          </p:nvCxnSpPr>
          <p:spPr>
            <a:xfrm flipV="1">
              <a:off x="2171234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>
              <a:stCxn id="34" idx="3"/>
              <a:endCxn id="6" idx="2"/>
            </p:cNvCxnSpPr>
            <p:nvPr/>
          </p:nvCxnSpPr>
          <p:spPr>
            <a:xfrm flipV="1">
              <a:off x="2171234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34" idx="3"/>
              <a:endCxn id="5" idx="2"/>
            </p:cNvCxnSpPr>
            <p:nvPr/>
          </p:nvCxnSpPr>
          <p:spPr>
            <a:xfrm flipV="1">
              <a:off x="2171234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33" idx="3"/>
              <a:endCxn id="6" idx="2"/>
            </p:cNvCxnSpPr>
            <p:nvPr/>
          </p:nvCxnSpPr>
          <p:spPr>
            <a:xfrm flipV="1">
              <a:off x="2171234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3" idx="3"/>
              <a:endCxn id="5" idx="2"/>
            </p:cNvCxnSpPr>
            <p:nvPr/>
          </p:nvCxnSpPr>
          <p:spPr>
            <a:xfrm flipV="1">
              <a:off x="2171234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/>
            <p:nvPr/>
          </p:nvCxnSpPr>
          <p:spPr>
            <a:xfrm>
              <a:off x="3940007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/>
            <p:nvPr/>
          </p:nvCxnSpPr>
          <p:spPr>
            <a:xfrm>
              <a:off x="3940007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/>
            <p:nvPr/>
          </p:nvCxnSpPr>
          <p:spPr>
            <a:xfrm>
              <a:off x="3940007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3940007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3940007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單箭頭接點 46"/>
            <p:cNvCxnSpPr/>
            <p:nvPr/>
          </p:nvCxnSpPr>
          <p:spPr>
            <a:xfrm>
              <a:off x="3940007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單箭頭接點 47"/>
            <p:cNvCxnSpPr/>
            <p:nvPr/>
          </p:nvCxnSpPr>
          <p:spPr>
            <a:xfrm>
              <a:off x="3940007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 flipV="1">
              <a:off x="3940007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3940007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 flipV="1">
              <a:off x="3940007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/>
            <p:cNvCxnSpPr/>
            <p:nvPr/>
          </p:nvCxnSpPr>
          <p:spPr>
            <a:xfrm flipV="1">
              <a:off x="3940007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 flipV="1">
              <a:off x="3940007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V="1">
              <a:off x="3940007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flipV="1">
              <a:off x="3940007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>
              <a:off x="7162454" y="3451153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>
              <a:off x="7162454" y="4292030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線單箭頭接點 57"/>
          <p:cNvCxnSpPr/>
          <p:nvPr/>
        </p:nvCxnSpPr>
        <p:spPr>
          <a:xfrm flipV="1">
            <a:off x="2649437" y="3206860"/>
            <a:ext cx="1245635" cy="5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V="1">
            <a:off x="4439720" y="3192846"/>
            <a:ext cx="1245635" cy="5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6" idx="6"/>
            <a:endCxn id="29" idx="2"/>
          </p:cNvCxnSpPr>
          <p:nvPr/>
        </p:nvCxnSpPr>
        <p:spPr>
          <a:xfrm flipV="1">
            <a:off x="4405026" y="1760371"/>
            <a:ext cx="1254787" cy="7355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1010343" y="4199046"/>
            <a:ext cx="7300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dirty="0"/>
              <a:t>When teams up, if everyone expect the partner will do the work, nothing will be done finally.</a:t>
            </a:r>
          </a:p>
        </p:txBody>
      </p:sp>
      <p:sp>
        <p:nvSpPr>
          <p:cNvPr id="65" name="文字方塊 64"/>
          <p:cNvSpPr txBox="1"/>
          <p:nvPr/>
        </p:nvSpPr>
        <p:spPr>
          <a:xfrm>
            <a:off x="1010343" y="5054083"/>
            <a:ext cx="7059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dirty="0"/>
              <a:t>However, if you know your partner will dropout, you will do better.</a:t>
            </a:r>
          </a:p>
        </p:txBody>
      </p:sp>
      <p:sp>
        <p:nvSpPr>
          <p:cNvPr id="66" name="雲朵形圖說文字 65"/>
          <p:cNvSpPr/>
          <p:nvPr/>
        </p:nvSpPr>
        <p:spPr>
          <a:xfrm>
            <a:off x="5084933" y="1307531"/>
            <a:ext cx="2795038" cy="1491167"/>
          </a:xfrm>
          <a:prstGeom prst="cloudCallout">
            <a:avLst>
              <a:gd name="adj1" fmla="val -80009"/>
              <a:gd name="adj2" fmla="val 29984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bg1"/>
                </a:solidFill>
              </a:rPr>
              <a:t>Partner</a:t>
            </a:r>
          </a:p>
          <a:p>
            <a:pPr algn="ctr"/>
            <a:endParaRPr lang="en-US" altLang="zh-TW" sz="2000" dirty="0">
              <a:solidFill>
                <a:schemeClr val="bg1"/>
              </a:solidFill>
            </a:endParaRPr>
          </a:p>
        </p:txBody>
      </p:sp>
      <p:grpSp>
        <p:nvGrpSpPr>
          <p:cNvPr id="82" name="群組 81"/>
          <p:cNvGrpSpPr/>
          <p:nvPr/>
        </p:nvGrpSpPr>
        <p:grpSpPr>
          <a:xfrm>
            <a:off x="3965370" y="1600600"/>
            <a:ext cx="365326" cy="367349"/>
            <a:chOff x="-1866900" y="1906630"/>
            <a:chExt cx="365326" cy="367349"/>
          </a:xfrm>
        </p:grpSpPr>
        <p:cxnSp>
          <p:nvCxnSpPr>
            <p:cNvPr id="83" name="直線接點 82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群組 84"/>
          <p:cNvGrpSpPr/>
          <p:nvPr/>
        </p:nvGrpSpPr>
        <p:grpSpPr>
          <a:xfrm>
            <a:off x="3970602" y="3010485"/>
            <a:ext cx="365326" cy="367349"/>
            <a:chOff x="-1866900" y="1906630"/>
            <a:chExt cx="365326" cy="367349"/>
          </a:xfrm>
        </p:grpSpPr>
        <p:cxnSp>
          <p:nvCxnSpPr>
            <p:cNvPr id="86" name="直線接點 85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群組 87"/>
          <p:cNvGrpSpPr/>
          <p:nvPr/>
        </p:nvGrpSpPr>
        <p:grpSpPr>
          <a:xfrm>
            <a:off x="5732127" y="2981602"/>
            <a:ext cx="365326" cy="367349"/>
            <a:chOff x="-1866900" y="1906630"/>
            <a:chExt cx="365326" cy="367349"/>
          </a:xfrm>
        </p:grpSpPr>
        <p:cxnSp>
          <p:nvCxnSpPr>
            <p:cNvPr id="89" name="直線接點 88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接點 89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群組 90"/>
          <p:cNvGrpSpPr/>
          <p:nvPr/>
        </p:nvGrpSpPr>
        <p:grpSpPr>
          <a:xfrm>
            <a:off x="5741551" y="3674023"/>
            <a:ext cx="365326" cy="367349"/>
            <a:chOff x="-1866900" y="1906630"/>
            <a:chExt cx="365326" cy="367349"/>
          </a:xfrm>
        </p:grpSpPr>
        <p:cxnSp>
          <p:nvCxnSpPr>
            <p:cNvPr id="92" name="直線接點 91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93"/>
          <p:cNvGrpSpPr/>
          <p:nvPr/>
        </p:nvGrpSpPr>
        <p:grpSpPr>
          <a:xfrm>
            <a:off x="2316154" y="3023685"/>
            <a:ext cx="365326" cy="367349"/>
            <a:chOff x="-1866900" y="1906630"/>
            <a:chExt cx="365326" cy="367349"/>
          </a:xfrm>
        </p:grpSpPr>
        <p:cxnSp>
          <p:nvCxnSpPr>
            <p:cNvPr id="95" name="直線接點 9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96"/>
          <p:cNvGrpSpPr/>
          <p:nvPr/>
        </p:nvGrpSpPr>
        <p:grpSpPr>
          <a:xfrm>
            <a:off x="2339885" y="2294637"/>
            <a:ext cx="365326" cy="367349"/>
            <a:chOff x="-1866900" y="1906630"/>
            <a:chExt cx="365326" cy="367349"/>
          </a:xfrm>
        </p:grpSpPr>
        <p:cxnSp>
          <p:nvCxnSpPr>
            <p:cNvPr id="98" name="直線接點 97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文字方塊 99"/>
          <p:cNvSpPr txBox="1"/>
          <p:nvPr/>
        </p:nvSpPr>
        <p:spPr>
          <a:xfrm>
            <a:off x="1027238" y="5892791"/>
            <a:ext cx="7332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dirty="0"/>
              <a:t>When testing, no one dropout actually, so obtaining good results eventually.</a:t>
            </a:r>
          </a:p>
        </p:txBody>
      </p:sp>
    </p:spTree>
    <p:extLst>
      <p:ext uri="{BB962C8B-B14F-4D97-AF65-F5344CB8AC3E}">
        <p14:creationId xmlns:p14="http://schemas.microsoft.com/office/powerpoint/2010/main" val="139727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5" grpId="0"/>
      <p:bldP spid="66" grpId="0" animBg="1"/>
      <p:bldP spid="100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- Intuitive Reason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Why the weights should multiply (1-p)% (dropout rate) when testing?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74552" y="2636369"/>
            <a:ext cx="268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i="1" u="sng" dirty="0"/>
              <a:t>Training of Dropout</a:t>
            </a:r>
            <a:endParaRPr lang="en-US" altLang="zh-TW" sz="2400" dirty="0"/>
          </a:p>
        </p:txBody>
      </p:sp>
      <p:sp>
        <p:nvSpPr>
          <p:cNvPr id="5" name="矩形 4"/>
          <p:cNvSpPr/>
          <p:nvPr/>
        </p:nvSpPr>
        <p:spPr>
          <a:xfrm>
            <a:off x="4557486" y="2617200"/>
            <a:ext cx="2544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i="1" u="sng" dirty="0"/>
              <a:t>Testing of Dropout</a:t>
            </a:r>
            <a:endParaRPr lang="en-US" altLang="zh-TW" sz="2400" dirty="0"/>
          </a:p>
        </p:txBody>
      </p:sp>
      <p:sp>
        <p:nvSpPr>
          <p:cNvPr id="6" name="橢圓 5"/>
          <p:cNvSpPr/>
          <p:nvPr/>
        </p:nvSpPr>
        <p:spPr>
          <a:xfrm>
            <a:off x="3183636" y="4715913"/>
            <a:ext cx="509954" cy="4993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1328616" y="3658807"/>
            <a:ext cx="509954" cy="4993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1328616" y="4443730"/>
            <a:ext cx="509954" cy="4993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1332203" y="5225867"/>
            <a:ext cx="509954" cy="4993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1328616" y="6056849"/>
            <a:ext cx="509954" cy="4993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橢圓 20"/>
          <p:cNvSpPr/>
          <p:nvPr/>
        </p:nvSpPr>
        <p:spPr>
          <a:xfrm>
            <a:off x="6676216" y="4763324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橢圓 21"/>
          <p:cNvSpPr/>
          <p:nvPr/>
        </p:nvSpPr>
        <p:spPr>
          <a:xfrm>
            <a:off x="4821196" y="3706218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橢圓 22"/>
          <p:cNvSpPr/>
          <p:nvPr/>
        </p:nvSpPr>
        <p:spPr>
          <a:xfrm>
            <a:off x="4821196" y="4491141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橢圓 23"/>
          <p:cNvSpPr/>
          <p:nvPr/>
        </p:nvSpPr>
        <p:spPr>
          <a:xfrm>
            <a:off x="4824783" y="5273278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橢圓 24"/>
          <p:cNvSpPr/>
          <p:nvPr/>
        </p:nvSpPr>
        <p:spPr>
          <a:xfrm>
            <a:off x="4821196" y="6104260"/>
            <a:ext cx="509954" cy="509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/>
          <p:cNvCxnSpPr>
            <a:stCxn id="7" idx="6"/>
            <a:endCxn id="6" idx="2"/>
          </p:cNvCxnSpPr>
          <p:nvPr/>
        </p:nvCxnSpPr>
        <p:spPr>
          <a:xfrm>
            <a:off x="1838570" y="3908493"/>
            <a:ext cx="1345066" cy="105710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8" idx="6"/>
            <a:endCxn id="6" idx="2"/>
          </p:cNvCxnSpPr>
          <p:nvPr/>
        </p:nvCxnSpPr>
        <p:spPr>
          <a:xfrm>
            <a:off x="1838570" y="4693416"/>
            <a:ext cx="1345066" cy="272183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9" idx="6"/>
            <a:endCxn id="6" idx="2"/>
          </p:cNvCxnSpPr>
          <p:nvPr/>
        </p:nvCxnSpPr>
        <p:spPr>
          <a:xfrm flipV="1">
            <a:off x="1842157" y="4965599"/>
            <a:ext cx="1341479" cy="50995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6" idx="2"/>
          </p:cNvCxnSpPr>
          <p:nvPr/>
        </p:nvCxnSpPr>
        <p:spPr>
          <a:xfrm flipV="1">
            <a:off x="1842157" y="4965599"/>
            <a:ext cx="1341479" cy="1316587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5334737" y="3961195"/>
            <a:ext cx="1345066" cy="105710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5334737" y="4746118"/>
            <a:ext cx="1345066" cy="272183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5338324" y="5018301"/>
            <a:ext cx="1341479" cy="50995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5338324" y="5018301"/>
            <a:ext cx="1341479" cy="131129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2193010" y="3889532"/>
                <a:ext cx="421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010" y="3889532"/>
                <a:ext cx="421847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0145" r="-5797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2212493" y="4402799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493" y="4402799"/>
                <a:ext cx="428964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0000" r="-5714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2212493" y="4842442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493" y="4842442"/>
                <a:ext cx="428964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0000" r="-5714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2217174" y="5296178"/>
                <a:ext cx="4196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174" y="5296178"/>
                <a:ext cx="419602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0145" r="-57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2989097" y="4471471"/>
                <a:ext cx="2232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097" y="4471471"/>
                <a:ext cx="223266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5678049" y="3930535"/>
                <a:ext cx="421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049" y="3930535"/>
                <a:ext cx="421847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8571" r="-4286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5697532" y="4443802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532" y="4443802"/>
                <a:ext cx="428964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10000" r="-5714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5697532" y="4883445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532" y="4883445"/>
                <a:ext cx="428964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10000" r="-5714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5702213" y="5337181"/>
                <a:ext cx="4196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213" y="5337181"/>
                <a:ext cx="419602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8696" r="-57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6487532" y="4443802"/>
                <a:ext cx="3259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532" y="4443802"/>
                <a:ext cx="325923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11111" r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/>
          <p:cNvGrpSpPr/>
          <p:nvPr/>
        </p:nvGrpSpPr>
        <p:grpSpPr>
          <a:xfrm>
            <a:off x="1372335" y="4480280"/>
            <a:ext cx="365326" cy="359725"/>
            <a:chOff x="-1866900" y="1906630"/>
            <a:chExt cx="365326" cy="367349"/>
          </a:xfrm>
        </p:grpSpPr>
        <p:cxnSp>
          <p:nvCxnSpPr>
            <p:cNvPr id="64" name="直線接點 63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群組 65"/>
          <p:cNvGrpSpPr/>
          <p:nvPr/>
        </p:nvGrpSpPr>
        <p:grpSpPr>
          <a:xfrm>
            <a:off x="1400930" y="6169344"/>
            <a:ext cx="365326" cy="359725"/>
            <a:chOff x="-1866900" y="1906630"/>
            <a:chExt cx="365326" cy="367349"/>
          </a:xfrm>
        </p:grpSpPr>
        <p:cxnSp>
          <p:nvCxnSpPr>
            <p:cNvPr id="67" name="直線接點 66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1880908" y="4575851"/>
            <a:ext cx="265418" cy="261349"/>
            <a:chOff x="-1866900" y="1906630"/>
            <a:chExt cx="365326" cy="367349"/>
          </a:xfrm>
        </p:grpSpPr>
        <p:cxnSp>
          <p:nvCxnSpPr>
            <p:cNvPr id="70" name="直線接點 69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1953079" y="5909368"/>
            <a:ext cx="265418" cy="261349"/>
            <a:chOff x="-1866900" y="1906630"/>
            <a:chExt cx="365326" cy="367349"/>
          </a:xfrm>
        </p:grpSpPr>
        <p:cxnSp>
          <p:nvCxnSpPr>
            <p:cNvPr id="73" name="直線接點 72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字方塊 74"/>
          <p:cNvSpPr txBox="1"/>
          <p:nvPr/>
        </p:nvSpPr>
        <p:spPr>
          <a:xfrm>
            <a:off x="689067" y="3083049"/>
            <a:ext cx="3826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Assume dropout rate is 50%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4922768" y="3952462"/>
                <a:ext cx="75931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768" y="3952462"/>
                <a:ext cx="759310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8730" r="-6349" b="-634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/>
              <p:cNvSpPr txBox="1"/>
              <p:nvPr/>
            </p:nvSpPr>
            <p:spPr>
              <a:xfrm>
                <a:off x="4932876" y="4454728"/>
                <a:ext cx="75931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4" name="文字方塊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876" y="4454728"/>
                <a:ext cx="759310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7874" r="-6299" b="-645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4922768" y="4897772"/>
                <a:ext cx="75931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768" y="4897772"/>
                <a:ext cx="75931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8730" r="-6349" b="-634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4946139" y="5351695"/>
                <a:ext cx="75931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139" y="5351695"/>
                <a:ext cx="75931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7874" r="-6299" b="-645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 88"/>
          <p:cNvSpPr/>
          <p:nvPr/>
        </p:nvSpPr>
        <p:spPr>
          <a:xfrm>
            <a:off x="4620486" y="3039464"/>
            <a:ext cx="1628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No dropout</a:t>
            </a:r>
            <a:endParaRPr lang="zh-TW" altLang="en-US" sz="2400" dirty="0"/>
          </a:p>
        </p:txBody>
      </p:sp>
      <p:grpSp>
        <p:nvGrpSpPr>
          <p:cNvPr id="92" name="群組 91"/>
          <p:cNvGrpSpPr/>
          <p:nvPr/>
        </p:nvGrpSpPr>
        <p:grpSpPr>
          <a:xfrm>
            <a:off x="6201845" y="3449355"/>
            <a:ext cx="2900409" cy="870244"/>
            <a:chOff x="6201845" y="3487455"/>
            <a:chExt cx="2900409" cy="870244"/>
          </a:xfrm>
        </p:grpSpPr>
        <p:sp>
          <p:nvSpPr>
            <p:cNvPr id="87" name="矩形 86"/>
            <p:cNvSpPr/>
            <p:nvPr/>
          </p:nvSpPr>
          <p:spPr>
            <a:xfrm>
              <a:off x="6201845" y="3487455"/>
              <a:ext cx="290040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Weights from training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/>
                <p:cNvSpPr txBox="1"/>
                <p:nvPr/>
              </p:nvSpPr>
              <p:spPr>
                <a:xfrm>
                  <a:off x="6991194" y="3896034"/>
                  <a:ext cx="162506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88" name="文字方塊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194" y="3896034"/>
                  <a:ext cx="1625065" cy="461665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向右箭號 89"/>
            <p:cNvSpPr/>
            <p:nvPr/>
          </p:nvSpPr>
          <p:spPr>
            <a:xfrm>
              <a:off x="6575506" y="3949120"/>
              <a:ext cx="585426" cy="38595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5942302" y="5706513"/>
            <a:ext cx="3176126" cy="913826"/>
            <a:chOff x="5942302" y="5744613"/>
            <a:chExt cx="3176126" cy="9138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/>
                <p:cNvSpPr txBox="1"/>
                <p:nvPr/>
              </p:nvSpPr>
              <p:spPr>
                <a:xfrm>
                  <a:off x="6962599" y="6196774"/>
                  <a:ext cx="162506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7" name="文字方塊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599" y="6196774"/>
                  <a:ext cx="1625065" cy="461665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矩形 77"/>
            <p:cNvSpPr/>
            <p:nvPr/>
          </p:nvSpPr>
          <p:spPr>
            <a:xfrm>
              <a:off x="5942302" y="5744613"/>
              <a:ext cx="31761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Weights multiply (1-p)%</a:t>
              </a:r>
              <a:endParaRPr lang="zh-TW" altLang="en-US" sz="2400" dirty="0"/>
            </a:p>
          </p:txBody>
        </p:sp>
        <p:sp>
          <p:nvSpPr>
            <p:cNvPr id="91" name="向右箭號 90"/>
            <p:cNvSpPr/>
            <p:nvPr/>
          </p:nvSpPr>
          <p:spPr>
            <a:xfrm>
              <a:off x="6648268" y="6231691"/>
              <a:ext cx="585426" cy="38595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95" name="直線接點 94"/>
          <p:cNvCxnSpPr/>
          <p:nvPr/>
        </p:nvCxnSpPr>
        <p:spPr>
          <a:xfrm>
            <a:off x="4423021" y="2636369"/>
            <a:ext cx="0" cy="4221631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11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40" grpId="0"/>
      <p:bldP spid="41" grpId="0"/>
      <p:bldP spid="42" grpId="0"/>
      <p:bldP spid="43" grpId="0"/>
      <p:bldP spid="44" grpId="0"/>
      <p:bldP spid="54" grpId="0"/>
      <p:bldP spid="55" grpId="0"/>
      <p:bldP spid="56" grpId="0"/>
      <p:bldP spid="57" grpId="0"/>
      <p:bldP spid="58" grpId="0"/>
      <p:bldP spid="75" grpId="0"/>
      <p:bldP spid="79" grpId="0" animBg="1"/>
      <p:bldP spid="84" grpId="0" animBg="1"/>
      <p:bldP spid="85" grpId="0" animBg="1"/>
      <p:bldP spid="86" grpId="0" animBg="1"/>
      <p:bldP spid="89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643719" y="1835554"/>
            <a:ext cx="222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Ensemble</a:t>
            </a:r>
            <a:endParaRPr lang="zh-TW" altLang="en-US" sz="2800" b="1" i="1" u="sng" dirty="0"/>
          </a:p>
        </p:txBody>
      </p:sp>
      <p:sp>
        <p:nvSpPr>
          <p:cNvPr id="4" name="矩形 3"/>
          <p:cNvSpPr/>
          <p:nvPr/>
        </p:nvSpPr>
        <p:spPr>
          <a:xfrm>
            <a:off x="1274513" y="3787421"/>
            <a:ext cx="1352550" cy="11239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Network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53" name="矩形 252"/>
          <p:cNvSpPr/>
          <p:nvPr/>
        </p:nvSpPr>
        <p:spPr>
          <a:xfrm>
            <a:off x="3061131" y="3782856"/>
            <a:ext cx="1352550" cy="11239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Network</a:t>
            </a:r>
          </a:p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254" name="矩形 253"/>
          <p:cNvSpPr/>
          <p:nvPr/>
        </p:nvSpPr>
        <p:spPr>
          <a:xfrm>
            <a:off x="4899455" y="3764724"/>
            <a:ext cx="1352550" cy="11239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Network</a:t>
            </a:r>
          </a:p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5" name="矩形 254"/>
          <p:cNvSpPr/>
          <p:nvPr/>
        </p:nvSpPr>
        <p:spPr>
          <a:xfrm>
            <a:off x="6737779" y="3782856"/>
            <a:ext cx="1352550" cy="11239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Network</a:t>
            </a:r>
          </a:p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1410532" y="5105203"/>
            <a:ext cx="6984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Train a bunch of networks with different structures</a:t>
            </a:r>
            <a:endParaRPr lang="zh-TW" altLang="en-US" sz="2400" dirty="0"/>
          </a:p>
        </p:txBody>
      </p:sp>
      <p:sp>
        <p:nvSpPr>
          <p:cNvPr id="10" name="橢圓 9"/>
          <p:cNvSpPr/>
          <p:nvPr/>
        </p:nvSpPr>
        <p:spPr>
          <a:xfrm>
            <a:off x="3920999" y="1306055"/>
            <a:ext cx="1654731" cy="104775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Training Set</a:t>
            </a:r>
            <a:endParaRPr lang="zh-TW" altLang="en-US" sz="2400" dirty="0"/>
          </a:p>
        </p:txBody>
      </p:sp>
      <p:sp>
        <p:nvSpPr>
          <p:cNvPr id="256" name="橢圓 255"/>
          <p:cNvSpPr/>
          <p:nvPr/>
        </p:nvSpPr>
        <p:spPr>
          <a:xfrm>
            <a:off x="1320788" y="2632509"/>
            <a:ext cx="126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Set</a:t>
            </a:r>
            <a:r>
              <a:rPr lang="zh-TW" altLang="en-US" sz="2400" dirty="0"/>
              <a:t> </a:t>
            </a:r>
            <a:r>
              <a:rPr lang="en-US" altLang="zh-TW" sz="2400" dirty="0"/>
              <a:t>1</a:t>
            </a:r>
          </a:p>
        </p:txBody>
      </p:sp>
      <p:sp>
        <p:nvSpPr>
          <p:cNvPr id="257" name="橢圓 256"/>
          <p:cNvSpPr/>
          <p:nvPr/>
        </p:nvSpPr>
        <p:spPr>
          <a:xfrm>
            <a:off x="3102837" y="2632509"/>
            <a:ext cx="126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Set 2</a:t>
            </a:r>
            <a:endParaRPr lang="zh-TW" altLang="en-US" sz="2400" dirty="0"/>
          </a:p>
        </p:txBody>
      </p:sp>
      <p:sp>
        <p:nvSpPr>
          <p:cNvPr id="258" name="橢圓 257"/>
          <p:cNvSpPr/>
          <p:nvPr/>
        </p:nvSpPr>
        <p:spPr>
          <a:xfrm>
            <a:off x="4945730" y="2642651"/>
            <a:ext cx="1260000" cy="720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Set 3</a:t>
            </a:r>
            <a:endParaRPr lang="zh-TW" altLang="en-US" sz="2400" dirty="0"/>
          </a:p>
        </p:txBody>
      </p:sp>
      <p:sp>
        <p:nvSpPr>
          <p:cNvPr id="259" name="橢圓 258"/>
          <p:cNvSpPr/>
          <p:nvPr/>
        </p:nvSpPr>
        <p:spPr>
          <a:xfrm>
            <a:off x="6784054" y="2642651"/>
            <a:ext cx="1260000" cy="720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Set 4</a:t>
            </a:r>
            <a:endParaRPr lang="zh-TW" altLang="en-US" sz="2400" dirty="0"/>
          </a:p>
        </p:txBody>
      </p:sp>
      <p:cxnSp>
        <p:nvCxnSpPr>
          <p:cNvPr id="260" name="直線單箭頭接點 259"/>
          <p:cNvCxnSpPr/>
          <p:nvPr/>
        </p:nvCxnSpPr>
        <p:spPr>
          <a:xfrm flipH="1">
            <a:off x="2305051" y="1964424"/>
            <a:ext cx="1695959" cy="6782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線單箭頭接點 260"/>
          <p:cNvCxnSpPr/>
          <p:nvPr/>
        </p:nvCxnSpPr>
        <p:spPr>
          <a:xfrm flipH="1">
            <a:off x="3802783" y="2283568"/>
            <a:ext cx="478720" cy="4297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線單箭頭接點 261"/>
          <p:cNvCxnSpPr/>
          <p:nvPr/>
        </p:nvCxnSpPr>
        <p:spPr>
          <a:xfrm>
            <a:off x="5253355" y="2257029"/>
            <a:ext cx="166076" cy="4728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線單箭頭接點 262"/>
          <p:cNvCxnSpPr/>
          <p:nvPr/>
        </p:nvCxnSpPr>
        <p:spPr>
          <a:xfrm>
            <a:off x="5497783" y="1964424"/>
            <a:ext cx="1532676" cy="7280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線單箭頭接點 263"/>
          <p:cNvCxnSpPr/>
          <p:nvPr/>
        </p:nvCxnSpPr>
        <p:spPr>
          <a:xfrm flipH="1">
            <a:off x="7414054" y="3280679"/>
            <a:ext cx="0" cy="54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線單箭頭接點 264"/>
          <p:cNvCxnSpPr/>
          <p:nvPr/>
        </p:nvCxnSpPr>
        <p:spPr>
          <a:xfrm flipH="1">
            <a:off x="3732838" y="3272294"/>
            <a:ext cx="0" cy="54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線單箭頭接點 265"/>
          <p:cNvCxnSpPr/>
          <p:nvPr/>
        </p:nvCxnSpPr>
        <p:spPr>
          <a:xfrm flipH="1">
            <a:off x="5588176" y="3280679"/>
            <a:ext cx="0" cy="54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線單箭頭接點 266"/>
          <p:cNvCxnSpPr/>
          <p:nvPr/>
        </p:nvCxnSpPr>
        <p:spPr>
          <a:xfrm flipH="1">
            <a:off x="1950788" y="3242856"/>
            <a:ext cx="0" cy="54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07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253" grpId="0" animBg="1"/>
      <p:bldP spid="254" grpId="0" animBg="1"/>
      <p:bldP spid="255" grpId="0" animBg="1"/>
      <p:bldP spid="5" grpId="0"/>
      <p:bldP spid="10" grpId="0" animBg="1"/>
      <p:bldP spid="256" grpId="0" animBg="1"/>
      <p:bldP spid="257" grpId="0" animBg="1"/>
      <p:bldP spid="258" grpId="0" animBg="1"/>
      <p:bldP spid="25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643719" y="1835554"/>
            <a:ext cx="222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Ensemble</a:t>
            </a:r>
            <a:endParaRPr lang="zh-TW" altLang="en-US" sz="2800" b="1" i="1" u="sng" dirty="0"/>
          </a:p>
        </p:txBody>
      </p:sp>
      <p:sp>
        <p:nvSpPr>
          <p:cNvPr id="3" name="文字方塊 2"/>
          <p:cNvSpPr txBox="1"/>
          <p:nvPr/>
        </p:nvSpPr>
        <p:spPr>
          <a:xfrm>
            <a:off x="1610949" y="5211606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27" name="矩形 26"/>
          <p:cNvSpPr/>
          <p:nvPr/>
        </p:nvSpPr>
        <p:spPr>
          <a:xfrm>
            <a:off x="1274513" y="3787421"/>
            <a:ext cx="1352550" cy="11239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Network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3061131" y="3782856"/>
            <a:ext cx="1352550" cy="11239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Network</a:t>
            </a:r>
          </a:p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4899455" y="3764724"/>
            <a:ext cx="1352550" cy="11239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Network</a:t>
            </a:r>
          </a:p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30" name="矩形 29"/>
          <p:cNvSpPr/>
          <p:nvPr/>
        </p:nvSpPr>
        <p:spPr>
          <a:xfrm>
            <a:off x="6737779" y="3782856"/>
            <a:ext cx="1352550" cy="11239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Network</a:t>
            </a:r>
          </a:p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3553027" y="2395768"/>
            <a:ext cx="2461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Testing data x</a:t>
            </a:r>
            <a:endParaRPr lang="zh-TW" altLang="en-US" sz="28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397567" y="5211606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248478" y="5211606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-25000" dirty="0"/>
              <a:t>3</a:t>
            </a:r>
            <a:endParaRPr lang="zh-TW" altLang="en-US" sz="2800" baseline="-25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7099389" y="5211606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-25000" dirty="0"/>
              <a:t>4</a:t>
            </a:r>
            <a:endParaRPr lang="zh-TW" altLang="en-US" sz="2800" baseline="-25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3359467" y="6172058"/>
            <a:ext cx="2461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average</a:t>
            </a:r>
            <a:endParaRPr lang="zh-TW" altLang="en-US" sz="2800" dirty="0"/>
          </a:p>
        </p:txBody>
      </p:sp>
      <p:cxnSp>
        <p:nvCxnSpPr>
          <p:cNvPr id="36" name="直線單箭頭接點 35"/>
          <p:cNvCxnSpPr/>
          <p:nvPr/>
        </p:nvCxnSpPr>
        <p:spPr>
          <a:xfrm flipH="1">
            <a:off x="2171837" y="2953827"/>
            <a:ext cx="1943507" cy="7973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3685768" y="2991941"/>
            <a:ext cx="727913" cy="8735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endCxn id="29" idx="0"/>
          </p:cNvCxnSpPr>
          <p:nvPr/>
        </p:nvCxnSpPr>
        <p:spPr>
          <a:xfrm>
            <a:off x="4899455" y="3033254"/>
            <a:ext cx="676275" cy="7314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endCxn id="30" idx="0"/>
          </p:cNvCxnSpPr>
          <p:nvPr/>
        </p:nvCxnSpPr>
        <p:spPr>
          <a:xfrm>
            <a:off x="5210378" y="2953827"/>
            <a:ext cx="2203676" cy="8290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>
            <a:off x="7395004" y="4926774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3713788" y="4918389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>
            <a:off x="5569126" y="4926774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>
            <a:off x="1931738" y="4888951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1988887" y="5755162"/>
            <a:ext cx="1855690" cy="6785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32" idx="2"/>
          </p:cNvCxnSpPr>
          <p:nvPr/>
        </p:nvCxnSpPr>
        <p:spPr>
          <a:xfrm>
            <a:off x="3775506" y="5734826"/>
            <a:ext cx="495348" cy="5536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34" idx="2"/>
          </p:cNvCxnSpPr>
          <p:nvPr/>
        </p:nvCxnSpPr>
        <p:spPr>
          <a:xfrm flipH="1">
            <a:off x="5222381" y="5734826"/>
            <a:ext cx="2254947" cy="6988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4823711" y="5696953"/>
            <a:ext cx="658527" cy="5914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95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/>
      <p:bldP spid="32" grpId="0"/>
      <p:bldP spid="33" grpId="0"/>
      <p:bldP spid="34" grpId="0"/>
      <p:bldP spid="3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grpSp>
        <p:nvGrpSpPr>
          <p:cNvPr id="448" name="群組 447"/>
          <p:cNvGrpSpPr/>
          <p:nvPr/>
        </p:nvGrpSpPr>
        <p:grpSpPr>
          <a:xfrm rot="5400000">
            <a:off x="-366709" y="3553743"/>
            <a:ext cx="2816562" cy="1283045"/>
            <a:chOff x="1660188" y="3148756"/>
            <a:chExt cx="2816562" cy="1283045"/>
          </a:xfrm>
        </p:grpSpPr>
        <p:sp>
          <p:nvSpPr>
            <p:cNvPr id="9" name="橢圓 8"/>
            <p:cNvSpPr/>
            <p:nvPr/>
          </p:nvSpPr>
          <p:spPr>
            <a:xfrm>
              <a:off x="2410717" y="3510713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3988727" y="346744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3988727" y="388028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60188" y="321514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" name="直線單箭頭接點 15"/>
            <p:cNvCxnSpPr>
              <a:stCxn id="14" idx="3"/>
              <a:endCxn id="9" idx="2"/>
            </p:cNvCxnSpPr>
            <p:nvPr/>
          </p:nvCxnSpPr>
          <p:spPr>
            <a:xfrm>
              <a:off x="1791252" y="3280673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14" idx="3"/>
            </p:cNvCxnSpPr>
            <p:nvPr/>
          </p:nvCxnSpPr>
          <p:spPr>
            <a:xfrm>
              <a:off x="1791252" y="3280673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523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12" idx="2"/>
            </p:cNvCxnSpPr>
            <p:nvPr/>
          </p:nvCxnSpPr>
          <p:spPr>
            <a:xfrm>
              <a:off x="3530096" y="3269680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3" idx="2"/>
            </p:cNvCxnSpPr>
            <p:nvPr/>
          </p:nvCxnSpPr>
          <p:spPr>
            <a:xfrm>
              <a:off x="3530097" y="3291314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13" idx="2"/>
            </p:cNvCxnSpPr>
            <p:nvPr/>
          </p:nvCxnSpPr>
          <p:spPr>
            <a:xfrm>
              <a:off x="3530096" y="3662777"/>
              <a:ext cx="458631" cy="34298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endCxn id="13" idx="2"/>
            </p:cNvCxnSpPr>
            <p:nvPr/>
          </p:nvCxnSpPr>
          <p:spPr>
            <a:xfrm>
              <a:off x="3530097" y="3979799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endCxn id="12" idx="2"/>
            </p:cNvCxnSpPr>
            <p:nvPr/>
          </p:nvCxnSpPr>
          <p:spPr>
            <a:xfrm flipV="1">
              <a:off x="3530096" y="3592920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endCxn id="13" idx="2"/>
            </p:cNvCxnSpPr>
            <p:nvPr/>
          </p:nvCxnSpPr>
          <p:spPr>
            <a:xfrm flipV="1">
              <a:off x="3530097" y="4005760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橢圓 31"/>
            <p:cNvSpPr/>
            <p:nvPr/>
          </p:nvSpPr>
          <p:spPr>
            <a:xfrm>
              <a:off x="3279148" y="314875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3279148" y="349363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3279148" y="38372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3279148" y="41808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1660188" y="392490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660188" y="42592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/>
            <p:cNvCxnSpPr>
              <a:stCxn id="37" idx="3"/>
            </p:cNvCxnSpPr>
            <p:nvPr/>
          </p:nvCxnSpPr>
          <p:spPr>
            <a:xfrm flipV="1">
              <a:off x="1791252" y="3979799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7" idx="3"/>
              <a:endCxn id="9" idx="2"/>
            </p:cNvCxnSpPr>
            <p:nvPr/>
          </p:nvCxnSpPr>
          <p:spPr>
            <a:xfrm flipV="1">
              <a:off x="1791252" y="3636188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6" idx="3"/>
              <a:endCxn id="9" idx="2"/>
            </p:cNvCxnSpPr>
            <p:nvPr/>
          </p:nvCxnSpPr>
          <p:spPr>
            <a:xfrm flipV="1">
              <a:off x="1791252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>
              <a:off x="2661666" y="3619104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2661666" y="3619104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2661666" y="3619104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2661666" y="3990440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 flipV="1">
              <a:off x="2661666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 flipV="1">
              <a:off x="2661666" y="3291314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>
              <a:off x="4247435" y="359910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4247435" y="40129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/>
            <p:nvPr/>
          </p:nvCxnSpPr>
          <p:spPr>
            <a:xfrm flipV="1">
              <a:off x="1797739" y="3986049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V="1">
              <a:off x="2678739" y="397915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9" idx="6"/>
              <a:endCxn id="32" idx="2"/>
            </p:cNvCxnSpPr>
            <p:nvPr/>
          </p:nvCxnSpPr>
          <p:spPr>
            <a:xfrm flipV="1">
              <a:off x="2661666" y="3274230"/>
              <a:ext cx="617482" cy="361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橢圓 248"/>
            <p:cNvSpPr/>
            <p:nvPr/>
          </p:nvSpPr>
          <p:spPr>
            <a:xfrm>
              <a:off x="2406838" y="383557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269" name="矩形 268"/>
          <p:cNvSpPr/>
          <p:nvPr/>
        </p:nvSpPr>
        <p:spPr>
          <a:xfrm>
            <a:off x="6917118" y="1772545"/>
            <a:ext cx="21927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800" b="1" i="1" u="sng" dirty="0"/>
              <a:t>Training of Dropout</a:t>
            </a:r>
            <a:endParaRPr lang="en-US" altLang="zh-TW" sz="2800" dirty="0"/>
          </a:p>
        </p:txBody>
      </p:sp>
      <p:grpSp>
        <p:nvGrpSpPr>
          <p:cNvPr id="451" name="群組 450"/>
          <p:cNvGrpSpPr/>
          <p:nvPr/>
        </p:nvGrpSpPr>
        <p:grpSpPr>
          <a:xfrm rot="5400000">
            <a:off x="2857969" y="3562286"/>
            <a:ext cx="2816562" cy="1265961"/>
            <a:chOff x="5222538" y="3182974"/>
            <a:chExt cx="2816562" cy="1265961"/>
          </a:xfrm>
        </p:grpSpPr>
        <p:sp>
          <p:nvSpPr>
            <p:cNvPr id="278" name="橢圓 277"/>
            <p:cNvSpPr/>
            <p:nvPr/>
          </p:nvSpPr>
          <p:spPr>
            <a:xfrm>
              <a:off x="5973067" y="318297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/>
            <p:cNvSpPr/>
            <p:nvPr/>
          </p:nvSpPr>
          <p:spPr>
            <a:xfrm>
              <a:off x="5973067" y="352784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0" name="橢圓 279"/>
            <p:cNvSpPr/>
            <p:nvPr/>
          </p:nvSpPr>
          <p:spPr>
            <a:xfrm>
              <a:off x="7551077" y="348457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1" name="橢圓 280"/>
            <p:cNvSpPr/>
            <p:nvPr/>
          </p:nvSpPr>
          <p:spPr>
            <a:xfrm>
              <a:off x="7551077" y="389741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2" name="矩形 281"/>
            <p:cNvSpPr/>
            <p:nvPr/>
          </p:nvSpPr>
          <p:spPr>
            <a:xfrm>
              <a:off x="5222538" y="323227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83" name="直線單箭頭接點 282"/>
            <p:cNvCxnSpPr>
              <a:stCxn id="282" idx="3"/>
              <a:endCxn id="278" idx="2"/>
            </p:cNvCxnSpPr>
            <p:nvPr/>
          </p:nvCxnSpPr>
          <p:spPr>
            <a:xfrm>
              <a:off x="5353602" y="3297807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線單箭頭接點 283"/>
            <p:cNvCxnSpPr>
              <a:stCxn id="282" idx="3"/>
              <a:endCxn id="279" idx="2"/>
            </p:cNvCxnSpPr>
            <p:nvPr/>
          </p:nvCxnSpPr>
          <p:spPr>
            <a:xfrm>
              <a:off x="5353602" y="3297807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線單箭頭接點 284"/>
            <p:cNvCxnSpPr>
              <a:stCxn id="282" idx="3"/>
            </p:cNvCxnSpPr>
            <p:nvPr/>
          </p:nvCxnSpPr>
          <p:spPr>
            <a:xfrm>
              <a:off x="5353602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線單箭頭接點 290"/>
            <p:cNvCxnSpPr>
              <a:endCxn id="280" idx="2"/>
            </p:cNvCxnSpPr>
            <p:nvPr/>
          </p:nvCxnSpPr>
          <p:spPr>
            <a:xfrm flipV="1">
              <a:off x="7092447" y="3610054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線單箭頭接點 291"/>
            <p:cNvCxnSpPr>
              <a:endCxn id="281" idx="2"/>
            </p:cNvCxnSpPr>
            <p:nvPr/>
          </p:nvCxnSpPr>
          <p:spPr>
            <a:xfrm>
              <a:off x="7092447" y="3996933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線單箭頭接點 292"/>
            <p:cNvCxnSpPr>
              <a:endCxn id="280" idx="2"/>
            </p:cNvCxnSpPr>
            <p:nvPr/>
          </p:nvCxnSpPr>
          <p:spPr>
            <a:xfrm flipV="1">
              <a:off x="7092446" y="3610054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線單箭頭接點 293"/>
            <p:cNvCxnSpPr>
              <a:endCxn id="281" idx="2"/>
            </p:cNvCxnSpPr>
            <p:nvPr/>
          </p:nvCxnSpPr>
          <p:spPr>
            <a:xfrm flipV="1">
              <a:off x="7092447" y="4022894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線單箭頭接點 294"/>
            <p:cNvCxnSpPr>
              <a:stCxn id="299" idx="2"/>
              <a:endCxn id="278" idx="2"/>
            </p:cNvCxnSpPr>
            <p:nvPr/>
          </p:nvCxnSpPr>
          <p:spPr>
            <a:xfrm flipV="1">
              <a:off x="5288070" y="3308448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線單箭頭接點 295"/>
            <p:cNvCxnSpPr>
              <a:stCxn id="299" idx="3"/>
              <a:endCxn id="279" idx="2"/>
            </p:cNvCxnSpPr>
            <p:nvPr/>
          </p:nvCxnSpPr>
          <p:spPr>
            <a:xfrm>
              <a:off x="5353602" y="3636238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線單箭頭接點 296"/>
            <p:cNvCxnSpPr>
              <a:stCxn id="299" idx="3"/>
            </p:cNvCxnSpPr>
            <p:nvPr/>
          </p:nvCxnSpPr>
          <p:spPr>
            <a:xfrm>
              <a:off x="5353602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矩形 298"/>
            <p:cNvSpPr/>
            <p:nvPr/>
          </p:nvSpPr>
          <p:spPr>
            <a:xfrm>
              <a:off x="5222538" y="357070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2" name="橢圓 301"/>
            <p:cNvSpPr/>
            <p:nvPr/>
          </p:nvSpPr>
          <p:spPr>
            <a:xfrm>
              <a:off x="6841498" y="385437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3" name="橢圓 302"/>
            <p:cNvSpPr/>
            <p:nvPr/>
          </p:nvSpPr>
          <p:spPr>
            <a:xfrm>
              <a:off x="6841498" y="419798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4" name="矩形 303"/>
            <p:cNvSpPr/>
            <p:nvPr/>
          </p:nvSpPr>
          <p:spPr>
            <a:xfrm>
              <a:off x="5222538" y="39420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5" name="矩形 304"/>
            <p:cNvSpPr/>
            <p:nvPr/>
          </p:nvSpPr>
          <p:spPr>
            <a:xfrm>
              <a:off x="5222538" y="427637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08" name="直線單箭頭接點 307"/>
            <p:cNvCxnSpPr>
              <a:stCxn id="305" idx="3"/>
            </p:cNvCxnSpPr>
            <p:nvPr/>
          </p:nvCxnSpPr>
          <p:spPr>
            <a:xfrm flipV="1">
              <a:off x="5353602" y="3996933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線單箭頭接點 308"/>
            <p:cNvCxnSpPr>
              <a:stCxn id="305" idx="3"/>
              <a:endCxn id="279" idx="2"/>
            </p:cNvCxnSpPr>
            <p:nvPr/>
          </p:nvCxnSpPr>
          <p:spPr>
            <a:xfrm flipV="1">
              <a:off x="5353602" y="3653322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線單箭頭接點 309"/>
            <p:cNvCxnSpPr>
              <a:stCxn id="305" idx="3"/>
              <a:endCxn id="278" idx="2"/>
            </p:cNvCxnSpPr>
            <p:nvPr/>
          </p:nvCxnSpPr>
          <p:spPr>
            <a:xfrm flipV="1">
              <a:off x="5353602" y="3308448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線單箭頭接點 310"/>
            <p:cNvCxnSpPr>
              <a:stCxn id="304" idx="3"/>
              <a:endCxn id="279" idx="2"/>
            </p:cNvCxnSpPr>
            <p:nvPr/>
          </p:nvCxnSpPr>
          <p:spPr>
            <a:xfrm flipV="1">
              <a:off x="5353602" y="3653322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線單箭頭接點 311"/>
            <p:cNvCxnSpPr>
              <a:stCxn id="304" idx="3"/>
              <a:endCxn id="278" idx="2"/>
            </p:cNvCxnSpPr>
            <p:nvPr/>
          </p:nvCxnSpPr>
          <p:spPr>
            <a:xfrm flipV="1">
              <a:off x="5353602" y="3308448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線單箭頭接點 314"/>
            <p:cNvCxnSpPr/>
            <p:nvPr/>
          </p:nvCxnSpPr>
          <p:spPr>
            <a:xfrm>
              <a:off x="6224016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線單箭頭接點 315"/>
            <p:cNvCxnSpPr/>
            <p:nvPr/>
          </p:nvCxnSpPr>
          <p:spPr>
            <a:xfrm>
              <a:off x="6224016" y="3297807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線單箭頭接點 317"/>
            <p:cNvCxnSpPr/>
            <p:nvPr/>
          </p:nvCxnSpPr>
          <p:spPr>
            <a:xfrm>
              <a:off x="6224016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線單箭頭接點 318"/>
            <p:cNvCxnSpPr/>
            <p:nvPr/>
          </p:nvCxnSpPr>
          <p:spPr>
            <a:xfrm>
              <a:off x="6224016" y="3636238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線單箭頭接點 320"/>
            <p:cNvCxnSpPr/>
            <p:nvPr/>
          </p:nvCxnSpPr>
          <p:spPr>
            <a:xfrm>
              <a:off x="6224016" y="4007574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線單箭頭接點 326"/>
            <p:cNvCxnSpPr/>
            <p:nvPr/>
          </p:nvCxnSpPr>
          <p:spPr>
            <a:xfrm>
              <a:off x="7809785" y="3616240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線單箭頭接點 327"/>
            <p:cNvCxnSpPr/>
            <p:nvPr/>
          </p:nvCxnSpPr>
          <p:spPr>
            <a:xfrm>
              <a:off x="7809785" y="403003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線單箭頭接點 274"/>
            <p:cNvCxnSpPr/>
            <p:nvPr/>
          </p:nvCxnSpPr>
          <p:spPr>
            <a:xfrm flipV="1">
              <a:off x="5360089" y="4003183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線單箭頭接點 275"/>
            <p:cNvCxnSpPr/>
            <p:nvPr/>
          </p:nvCxnSpPr>
          <p:spPr>
            <a:xfrm flipV="1">
              <a:off x="6241089" y="3996286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橢圓 271"/>
            <p:cNvSpPr/>
            <p:nvPr/>
          </p:nvSpPr>
          <p:spPr>
            <a:xfrm>
              <a:off x="5969188" y="385271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50" name="群組 449"/>
          <p:cNvGrpSpPr/>
          <p:nvPr/>
        </p:nvGrpSpPr>
        <p:grpSpPr>
          <a:xfrm rot="5400000">
            <a:off x="1385975" y="3696735"/>
            <a:ext cx="2816562" cy="965618"/>
            <a:chOff x="1660188" y="5222258"/>
            <a:chExt cx="2816562" cy="965618"/>
          </a:xfrm>
        </p:grpSpPr>
        <p:sp>
          <p:nvSpPr>
            <p:cNvPr id="339" name="橢圓 338"/>
            <p:cNvSpPr/>
            <p:nvPr/>
          </p:nvSpPr>
          <p:spPr>
            <a:xfrm>
              <a:off x="3988727" y="522225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0" name="橢圓 339"/>
            <p:cNvSpPr/>
            <p:nvPr/>
          </p:nvSpPr>
          <p:spPr>
            <a:xfrm>
              <a:off x="3988727" y="563509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50" name="直線單箭頭接點 349"/>
            <p:cNvCxnSpPr>
              <a:endCxn id="339" idx="2"/>
            </p:cNvCxnSpPr>
            <p:nvPr/>
          </p:nvCxnSpPr>
          <p:spPr>
            <a:xfrm flipV="1">
              <a:off x="3530097" y="5347733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線單箭頭接點 350"/>
            <p:cNvCxnSpPr>
              <a:endCxn id="340" idx="2"/>
            </p:cNvCxnSpPr>
            <p:nvPr/>
          </p:nvCxnSpPr>
          <p:spPr>
            <a:xfrm>
              <a:off x="3530097" y="5734612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線單箭頭接點 351"/>
            <p:cNvCxnSpPr>
              <a:endCxn id="339" idx="2"/>
            </p:cNvCxnSpPr>
            <p:nvPr/>
          </p:nvCxnSpPr>
          <p:spPr>
            <a:xfrm flipV="1">
              <a:off x="3530096" y="5347733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線單箭頭接點 352"/>
            <p:cNvCxnSpPr>
              <a:endCxn id="340" idx="2"/>
            </p:cNvCxnSpPr>
            <p:nvPr/>
          </p:nvCxnSpPr>
          <p:spPr>
            <a:xfrm flipV="1">
              <a:off x="3530097" y="5760573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橢圓 360"/>
            <p:cNvSpPr/>
            <p:nvPr/>
          </p:nvSpPr>
          <p:spPr>
            <a:xfrm>
              <a:off x="3279148" y="559205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2" name="橢圓 361"/>
            <p:cNvSpPr/>
            <p:nvPr/>
          </p:nvSpPr>
          <p:spPr>
            <a:xfrm>
              <a:off x="3279148" y="593566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3" name="矩形 362"/>
            <p:cNvSpPr/>
            <p:nvPr/>
          </p:nvSpPr>
          <p:spPr>
            <a:xfrm>
              <a:off x="1660188" y="567972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4" name="矩形 363"/>
            <p:cNvSpPr/>
            <p:nvPr/>
          </p:nvSpPr>
          <p:spPr>
            <a:xfrm>
              <a:off x="1660188" y="601405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65" name="直線單箭頭接點 364"/>
            <p:cNvCxnSpPr>
              <a:stCxn id="364" idx="3"/>
            </p:cNvCxnSpPr>
            <p:nvPr/>
          </p:nvCxnSpPr>
          <p:spPr>
            <a:xfrm flipV="1">
              <a:off x="1791252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線單箭頭接點 365"/>
            <p:cNvCxnSpPr>
              <a:stCxn id="363" idx="3"/>
            </p:cNvCxnSpPr>
            <p:nvPr/>
          </p:nvCxnSpPr>
          <p:spPr>
            <a:xfrm>
              <a:off x="1791252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線單箭頭接點 366"/>
            <p:cNvCxnSpPr>
              <a:stCxn id="364" idx="3"/>
            </p:cNvCxnSpPr>
            <p:nvPr/>
          </p:nvCxnSpPr>
          <p:spPr>
            <a:xfrm flipV="1">
              <a:off x="1791252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線單箭頭接點 378"/>
            <p:cNvCxnSpPr/>
            <p:nvPr/>
          </p:nvCxnSpPr>
          <p:spPr>
            <a:xfrm flipV="1">
              <a:off x="2661666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線單箭頭接點 379"/>
            <p:cNvCxnSpPr/>
            <p:nvPr/>
          </p:nvCxnSpPr>
          <p:spPr>
            <a:xfrm>
              <a:off x="2661666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線單箭頭接點 380"/>
            <p:cNvCxnSpPr/>
            <p:nvPr/>
          </p:nvCxnSpPr>
          <p:spPr>
            <a:xfrm flipV="1">
              <a:off x="2661666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線單箭頭接點 385"/>
            <p:cNvCxnSpPr/>
            <p:nvPr/>
          </p:nvCxnSpPr>
          <p:spPr>
            <a:xfrm>
              <a:off x="4247435" y="5353919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線單箭頭接點 386"/>
            <p:cNvCxnSpPr/>
            <p:nvPr/>
          </p:nvCxnSpPr>
          <p:spPr>
            <a:xfrm>
              <a:off x="4247435" y="5767715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線單箭頭接點 333"/>
            <p:cNvCxnSpPr/>
            <p:nvPr/>
          </p:nvCxnSpPr>
          <p:spPr>
            <a:xfrm flipV="1">
              <a:off x="1797739" y="574086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線單箭頭接點 334"/>
            <p:cNvCxnSpPr/>
            <p:nvPr/>
          </p:nvCxnSpPr>
          <p:spPr>
            <a:xfrm flipV="1">
              <a:off x="2678739" y="5733965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橢圓 330"/>
            <p:cNvSpPr/>
            <p:nvPr/>
          </p:nvSpPr>
          <p:spPr>
            <a:xfrm>
              <a:off x="2406838" y="559039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32" name="橢圓 331"/>
            <p:cNvSpPr/>
            <p:nvPr/>
          </p:nvSpPr>
          <p:spPr>
            <a:xfrm>
              <a:off x="2405946" y="593692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447" name="文字方塊 446"/>
          <p:cNvSpPr txBox="1"/>
          <p:nvPr/>
        </p:nvSpPr>
        <p:spPr>
          <a:xfrm>
            <a:off x="325491" y="1852132"/>
            <a:ext cx="1440000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minibatch</a:t>
            </a:r>
            <a:r>
              <a:rPr lang="en-US" altLang="zh-TW" sz="2400" dirty="0"/>
              <a:t> 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grpSp>
        <p:nvGrpSpPr>
          <p:cNvPr id="452" name="群組 451"/>
          <p:cNvGrpSpPr/>
          <p:nvPr/>
        </p:nvGrpSpPr>
        <p:grpSpPr>
          <a:xfrm rot="5400000">
            <a:off x="4981975" y="3201460"/>
            <a:ext cx="2816562" cy="2026283"/>
            <a:chOff x="5238336" y="4137476"/>
            <a:chExt cx="2816562" cy="2026283"/>
          </a:xfrm>
        </p:grpSpPr>
        <p:sp>
          <p:nvSpPr>
            <p:cNvPr id="396" name="橢圓 395"/>
            <p:cNvSpPr/>
            <p:nvPr/>
          </p:nvSpPr>
          <p:spPr>
            <a:xfrm>
              <a:off x="5988865" y="489653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8" name="橢圓 397"/>
            <p:cNvSpPr/>
            <p:nvPr/>
          </p:nvSpPr>
          <p:spPr>
            <a:xfrm>
              <a:off x="7566875" y="51981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99" name="橢圓 398"/>
            <p:cNvSpPr/>
            <p:nvPr/>
          </p:nvSpPr>
          <p:spPr>
            <a:xfrm>
              <a:off x="7566875" y="561098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00" name="矩形 399"/>
            <p:cNvSpPr/>
            <p:nvPr/>
          </p:nvSpPr>
          <p:spPr>
            <a:xfrm>
              <a:off x="5238336" y="4945837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1" name="直線單箭頭接點 400"/>
            <p:cNvCxnSpPr>
              <a:stCxn id="400" idx="3"/>
              <a:endCxn id="396" idx="2"/>
            </p:cNvCxnSpPr>
            <p:nvPr/>
          </p:nvCxnSpPr>
          <p:spPr>
            <a:xfrm>
              <a:off x="5369400" y="5011369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線單箭頭接點 403"/>
            <p:cNvCxnSpPr>
              <a:stCxn id="400" idx="3"/>
            </p:cNvCxnSpPr>
            <p:nvPr/>
          </p:nvCxnSpPr>
          <p:spPr>
            <a:xfrm>
              <a:off x="5369400" y="5011369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線單箭頭接點 405"/>
            <p:cNvCxnSpPr>
              <a:endCxn id="398" idx="2"/>
            </p:cNvCxnSpPr>
            <p:nvPr/>
          </p:nvCxnSpPr>
          <p:spPr>
            <a:xfrm>
              <a:off x="7108244" y="5000376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線單箭頭接點 406"/>
            <p:cNvCxnSpPr>
              <a:endCxn id="399" idx="2"/>
            </p:cNvCxnSpPr>
            <p:nvPr/>
          </p:nvCxnSpPr>
          <p:spPr>
            <a:xfrm>
              <a:off x="7108245" y="5022010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線單箭頭接點 410"/>
            <p:cNvCxnSpPr>
              <a:endCxn id="398" idx="2"/>
            </p:cNvCxnSpPr>
            <p:nvPr/>
          </p:nvCxnSpPr>
          <p:spPr>
            <a:xfrm flipV="1">
              <a:off x="7108244" y="5323616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線單箭頭接點 411"/>
            <p:cNvCxnSpPr>
              <a:endCxn id="399" idx="2"/>
            </p:cNvCxnSpPr>
            <p:nvPr/>
          </p:nvCxnSpPr>
          <p:spPr>
            <a:xfrm flipV="1">
              <a:off x="7108245" y="5736456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線單箭頭接點 412"/>
            <p:cNvCxnSpPr>
              <a:stCxn id="417" idx="2"/>
              <a:endCxn id="396" idx="2"/>
            </p:cNvCxnSpPr>
            <p:nvPr/>
          </p:nvCxnSpPr>
          <p:spPr>
            <a:xfrm flipV="1">
              <a:off x="5303868" y="5022010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線單箭頭接點 415"/>
            <p:cNvCxnSpPr>
              <a:stCxn id="417" idx="3"/>
            </p:cNvCxnSpPr>
            <p:nvPr/>
          </p:nvCxnSpPr>
          <p:spPr>
            <a:xfrm>
              <a:off x="5369400" y="5349800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矩形 416"/>
            <p:cNvSpPr/>
            <p:nvPr/>
          </p:nvSpPr>
          <p:spPr>
            <a:xfrm>
              <a:off x="5238336" y="528426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8" name="橢圓 417"/>
            <p:cNvSpPr/>
            <p:nvPr/>
          </p:nvSpPr>
          <p:spPr>
            <a:xfrm>
              <a:off x="6857296" y="48794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1" name="橢圓 420"/>
            <p:cNvSpPr/>
            <p:nvPr/>
          </p:nvSpPr>
          <p:spPr>
            <a:xfrm>
              <a:off x="6857296" y="591154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22" name="矩形 421"/>
            <p:cNvSpPr/>
            <p:nvPr/>
          </p:nvSpPr>
          <p:spPr>
            <a:xfrm>
              <a:off x="5238336" y="5655604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3" name="矩形 422"/>
            <p:cNvSpPr/>
            <p:nvPr/>
          </p:nvSpPr>
          <p:spPr>
            <a:xfrm>
              <a:off x="5238336" y="598993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4" name="直線單箭頭接點 423"/>
            <p:cNvCxnSpPr>
              <a:stCxn id="423" idx="3"/>
            </p:cNvCxnSpPr>
            <p:nvPr/>
          </p:nvCxnSpPr>
          <p:spPr>
            <a:xfrm flipV="1">
              <a:off x="5369400" y="6054106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線單箭頭接點 424"/>
            <p:cNvCxnSpPr>
              <a:stCxn id="422" idx="3"/>
            </p:cNvCxnSpPr>
            <p:nvPr/>
          </p:nvCxnSpPr>
          <p:spPr>
            <a:xfrm>
              <a:off x="5369400" y="5721136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線單箭頭接點 427"/>
            <p:cNvCxnSpPr>
              <a:stCxn id="423" idx="3"/>
              <a:endCxn id="396" idx="2"/>
            </p:cNvCxnSpPr>
            <p:nvPr/>
          </p:nvCxnSpPr>
          <p:spPr>
            <a:xfrm flipV="1">
              <a:off x="5369400" y="5022010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線單箭頭接點 429"/>
            <p:cNvCxnSpPr>
              <a:stCxn id="422" idx="3"/>
              <a:endCxn id="396" idx="2"/>
            </p:cNvCxnSpPr>
            <p:nvPr/>
          </p:nvCxnSpPr>
          <p:spPr>
            <a:xfrm flipV="1">
              <a:off x="5369400" y="5022010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線單箭頭接點 430"/>
            <p:cNvCxnSpPr/>
            <p:nvPr/>
          </p:nvCxnSpPr>
          <p:spPr>
            <a:xfrm>
              <a:off x="6239814" y="5011369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線單箭頭接點 433"/>
            <p:cNvCxnSpPr/>
            <p:nvPr/>
          </p:nvCxnSpPr>
          <p:spPr>
            <a:xfrm>
              <a:off x="6239814" y="5011369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線單箭頭接點 437"/>
            <p:cNvCxnSpPr/>
            <p:nvPr/>
          </p:nvCxnSpPr>
          <p:spPr>
            <a:xfrm flipV="1">
              <a:off x="6239814" y="6054106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線單箭頭接點 441"/>
            <p:cNvCxnSpPr/>
            <p:nvPr/>
          </p:nvCxnSpPr>
          <p:spPr>
            <a:xfrm flipV="1">
              <a:off x="6239814" y="5022010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線單箭頭接點 444"/>
            <p:cNvCxnSpPr/>
            <p:nvPr/>
          </p:nvCxnSpPr>
          <p:spPr>
            <a:xfrm>
              <a:off x="7825583" y="53298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線單箭頭接點 445"/>
            <p:cNvCxnSpPr/>
            <p:nvPr/>
          </p:nvCxnSpPr>
          <p:spPr>
            <a:xfrm>
              <a:off x="7825583" y="5743598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橢圓 390"/>
            <p:cNvSpPr/>
            <p:nvPr/>
          </p:nvSpPr>
          <p:spPr>
            <a:xfrm>
              <a:off x="5984094" y="591281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49" name="文字方塊 448"/>
            <p:cNvSpPr txBox="1"/>
            <p:nvPr/>
          </p:nvSpPr>
          <p:spPr>
            <a:xfrm>
              <a:off x="6063855" y="4137476"/>
              <a:ext cx="9642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sp>
        <p:nvSpPr>
          <p:cNvPr id="453" name="文字方塊 452"/>
          <p:cNvSpPr txBox="1"/>
          <p:nvPr/>
        </p:nvSpPr>
        <p:spPr>
          <a:xfrm>
            <a:off x="1113457" y="5741959"/>
            <a:ext cx="7351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800" dirty="0"/>
              <a:t>Using one mini-batch to train one network</a:t>
            </a:r>
            <a:endParaRPr lang="zh-TW" altLang="en-US" sz="2800" dirty="0"/>
          </a:p>
        </p:txBody>
      </p:sp>
      <p:sp>
        <p:nvSpPr>
          <p:cNvPr id="454" name="文字方塊 453"/>
          <p:cNvSpPr txBox="1"/>
          <p:nvPr/>
        </p:nvSpPr>
        <p:spPr>
          <a:xfrm>
            <a:off x="1088193" y="6205586"/>
            <a:ext cx="7018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800" dirty="0"/>
              <a:t>Some parameters in the network are shared</a:t>
            </a:r>
            <a:endParaRPr lang="zh-TW" altLang="en-US" sz="2800" dirty="0"/>
          </a:p>
        </p:txBody>
      </p:sp>
      <p:sp>
        <p:nvSpPr>
          <p:cNvPr id="455" name="文字方塊 454"/>
          <p:cNvSpPr txBox="1"/>
          <p:nvPr/>
        </p:nvSpPr>
        <p:spPr>
          <a:xfrm>
            <a:off x="1982924" y="1847804"/>
            <a:ext cx="1440000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minibatch</a:t>
            </a:r>
            <a:r>
              <a:rPr lang="en-US" altLang="zh-TW" sz="2400" dirty="0"/>
              <a:t> </a:t>
            </a:r>
          </a:p>
          <a:p>
            <a:pPr algn="ctr"/>
            <a:r>
              <a:rPr lang="en-US" altLang="zh-TW" sz="2400" dirty="0"/>
              <a:t>2</a:t>
            </a:r>
            <a:endParaRPr lang="zh-TW" altLang="en-US" sz="2400" baseline="-25000" dirty="0"/>
          </a:p>
        </p:txBody>
      </p:sp>
      <p:sp>
        <p:nvSpPr>
          <p:cNvPr id="456" name="文字方塊 455"/>
          <p:cNvSpPr txBox="1"/>
          <p:nvPr/>
        </p:nvSpPr>
        <p:spPr>
          <a:xfrm>
            <a:off x="3634658" y="1852132"/>
            <a:ext cx="1440000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minibatch</a:t>
            </a:r>
            <a:r>
              <a:rPr lang="en-US" altLang="zh-TW" sz="2400" dirty="0"/>
              <a:t> </a:t>
            </a:r>
          </a:p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457" name="文字方塊 456"/>
          <p:cNvSpPr txBox="1"/>
          <p:nvPr/>
        </p:nvSpPr>
        <p:spPr>
          <a:xfrm>
            <a:off x="5283616" y="1834101"/>
            <a:ext cx="1440000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minibatch</a:t>
            </a:r>
            <a:r>
              <a:rPr lang="en-US" altLang="zh-TW" sz="2400" dirty="0"/>
              <a:t> </a:t>
            </a:r>
          </a:p>
          <a:p>
            <a:pPr algn="ctr"/>
            <a:r>
              <a:rPr lang="en-US" altLang="zh-TW" sz="2400" dirty="0"/>
              <a:t>4</a:t>
            </a:r>
            <a:endParaRPr lang="zh-TW" altLang="en-US" sz="2400" baseline="-25000" dirty="0"/>
          </a:p>
        </p:txBody>
      </p:sp>
      <p:sp>
        <p:nvSpPr>
          <p:cNvPr id="515" name="文字方塊 514"/>
          <p:cNvSpPr txBox="1"/>
          <p:nvPr/>
        </p:nvSpPr>
        <p:spPr>
          <a:xfrm>
            <a:off x="7134165" y="2979863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M neurons</a:t>
            </a:r>
            <a:endParaRPr lang="zh-TW" altLang="en-US" sz="2800" dirty="0"/>
          </a:p>
        </p:txBody>
      </p:sp>
      <p:sp>
        <p:nvSpPr>
          <p:cNvPr id="516" name="文字方塊 515"/>
          <p:cNvSpPr txBox="1"/>
          <p:nvPr/>
        </p:nvSpPr>
        <p:spPr>
          <a:xfrm>
            <a:off x="7134165" y="4390223"/>
            <a:ext cx="1828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2</a:t>
            </a:r>
            <a:r>
              <a:rPr lang="en-US" altLang="zh-TW" sz="2800" baseline="30000" dirty="0"/>
              <a:t>M </a:t>
            </a:r>
            <a:r>
              <a:rPr lang="en-US" altLang="zh-TW" sz="2800" dirty="0"/>
              <a:t>possible networks</a:t>
            </a:r>
            <a:endParaRPr lang="zh-TW" altLang="en-US" sz="2800" baseline="30000" dirty="0"/>
          </a:p>
        </p:txBody>
      </p:sp>
      <p:sp>
        <p:nvSpPr>
          <p:cNvPr id="517" name="向下箭號 516"/>
          <p:cNvSpPr/>
          <p:nvPr/>
        </p:nvSpPr>
        <p:spPr>
          <a:xfrm>
            <a:off x="7784576" y="3503083"/>
            <a:ext cx="501874" cy="88714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50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/>
      <p:bldP spid="447" grpId="0" animBg="1"/>
      <p:bldP spid="453" grpId="0"/>
      <p:bldP spid="454" grpId="0"/>
      <p:bldP spid="455" grpId="0" animBg="1"/>
      <p:bldP spid="456" grpId="0" animBg="1"/>
      <p:bldP spid="457" grpId="0" animBg="1"/>
      <p:bldP spid="515" grpId="0"/>
      <p:bldP spid="516" grpId="0"/>
      <p:bldP spid="517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5562189" y="2515915"/>
            <a:ext cx="3330744" cy="32487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grpSp>
        <p:nvGrpSpPr>
          <p:cNvPr id="448" name="群組 447"/>
          <p:cNvGrpSpPr/>
          <p:nvPr/>
        </p:nvGrpSpPr>
        <p:grpSpPr>
          <a:xfrm rot="5400000">
            <a:off x="-366709" y="3553743"/>
            <a:ext cx="2816562" cy="1283045"/>
            <a:chOff x="1660188" y="3148756"/>
            <a:chExt cx="2816562" cy="1283045"/>
          </a:xfrm>
        </p:grpSpPr>
        <p:sp>
          <p:nvSpPr>
            <p:cNvPr id="9" name="橢圓 8"/>
            <p:cNvSpPr/>
            <p:nvPr/>
          </p:nvSpPr>
          <p:spPr>
            <a:xfrm>
              <a:off x="2410717" y="3510713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3988727" y="346744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3988727" y="388028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60188" y="321514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" name="直線單箭頭接點 15"/>
            <p:cNvCxnSpPr>
              <a:stCxn id="14" idx="3"/>
              <a:endCxn id="9" idx="2"/>
            </p:cNvCxnSpPr>
            <p:nvPr/>
          </p:nvCxnSpPr>
          <p:spPr>
            <a:xfrm>
              <a:off x="1791252" y="3280673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14" idx="3"/>
            </p:cNvCxnSpPr>
            <p:nvPr/>
          </p:nvCxnSpPr>
          <p:spPr>
            <a:xfrm>
              <a:off x="1791252" y="3280673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523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12" idx="2"/>
            </p:cNvCxnSpPr>
            <p:nvPr/>
          </p:nvCxnSpPr>
          <p:spPr>
            <a:xfrm>
              <a:off x="3530096" y="3269680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3" idx="2"/>
            </p:cNvCxnSpPr>
            <p:nvPr/>
          </p:nvCxnSpPr>
          <p:spPr>
            <a:xfrm>
              <a:off x="3530097" y="3291314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13" idx="2"/>
            </p:cNvCxnSpPr>
            <p:nvPr/>
          </p:nvCxnSpPr>
          <p:spPr>
            <a:xfrm>
              <a:off x="3530096" y="3662777"/>
              <a:ext cx="458631" cy="34298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endCxn id="13" idx="2"/>
            </p:cNvCxnSpPr>
            <p:nvPr/>
          </p:nvCxnSpPr>
          <p:spPr>
            <a:xfrm>
              <a:off x="3530097" y="3979799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endCxn id="12" idx="2"/>
            </p:cNvCxnSpPr>
            <p:nvPr/>
          </p:nvCxnSpPr>
          <p:spPr>
            <a:xfrm flipV="1">
              <a:off x="3530096" y="3592920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endCxn id="13" idx="2"/>
            </p:cNvCxnSpPr>
            <p:nvPr/>
          </p:nvCxnSpPr>
          <p:spPr>
            <a:xfrm flipV="1">
              <a:off x="3530097" y="4005760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橢圓 31"/>
            <p:cNvSpPr/>
            <p:nvPr/>
          </p:nvSpPr>
          <p:spPr>
            <a:xfrm>
              <a:off x="3279148" y="314875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3279148" y="349363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3279148" y="38372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3279148" y="41808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1660188" y="392490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660188" y="42592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/>
            <p:cNvCxnSpPr>
              <a:stCxn id="37" idx="3"/>
            </p:cNvCxnSpPr>
            <p:nvPr/>
          </p:nvCxnSpPr>
          <p:spPr>
            <a:xfrm flipV="1">
              <a:off x="1791252" y="3979799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7" idx="3"/>
              <a:endCxn id="9" idx="2"/>
            </p:cNvCxnSpPr>
            <p:nvPr/>
          </p:nvCxnSpPr>
          <p:spPr>
            <a:xfrm flipV="1">
              <a:off x="1791252" y="3636188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6" idx="3"/>
              <a:endCxn id="9" idx="2"/>
            </p:cNvCxnSpPr>
            <p:nvPr/>
          </p:nvCxnSpPr>
          <p:spPr>
            <a:xfrm flipV="1">
              <a:off x="1791252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>
              <a:off x="2661666" y="3619104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2661666" y="3619104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2661666" y="3619104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2661666" y="3990440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 flipV="1">
              <a:off x="2661666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 flipV="1">
              <a:off x="2661666" y="3291314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>
              <a:off x="4247435" y="359910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4247435" y="40129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/>
            <p:nvPr/>
          </p:nvCxnSpPr>
          <p:spPr>
            <a:xfrm flipV="1">
              <a:off x="1797739" y="3986049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V="1">
              <a:off x="2678739" y="397915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9" idx="6"/>
              <a:endCxn id="32" idx="2"/>
            </p:cNvCxnSpPr>
            <p:nvPr/>
          </p:nvCxnSpPr>
          <p:spPr>
            <a:xfrm flipV="1">
              <a:off x="2661666" y="3274230"/>
              <a:ext cx="617482" cy="361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橢圓 248"/>
            <p:cNvSpPr/>
            <p:nvPr/>
          </p:nvSpPr>
          <p:spPr>
            <a:xfrm>
              <a:off x="2406838" y="383557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51" name="群組 450"/>
          <p:cNvGrpSpPr/>
          <p:nvPr/>
        </p:nvGrpSpPr>
        <p:grpSpPr>
          <a:xfrm rot="5400000">
            <a:off x="2857969" y="3562286"/>
            <a:ext cx="2816562" cy="1265961"/>
            <a:chOff x="5222538" y="3182974"/>
            <a:chExt cx="2816562" cy="1265961"/>
          </a:xfrm>
        </p:grpSpPr>
        <p:sp>
          <p:nvSpPr>
            <p:cNvPr id="278" name="橢圓 277"/>
            <p:cNvSpPr/>
            <p:nvPr/>
          </p:nvSpPr>
          <p:spPr>
            <a:xfrm>
              <a:off x="5973067" y="318297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/>
            <p:cNvSpPr/>
            <p:nvPr/>
          </p:nvSpPr>
          <p:spPr>
            <a:xfrm>
              <a:off x="5973067" y="352784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0" name="橢圓 279"/>
            <p:cNvSpPr/>
            <p:nvPr/>
          </p:nvSpPr>
          <p:spPr>
            <a:xfrm>
              <a:off x="7551077" y="348457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1" name="橢圓 280"/>
            <p:cNvSpPr/>
            <p:nvPr/>
          </p:nvSpPr>
          <p:spPr>
            <a:xfrm>
              <a:off x="7551077" y="389741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2" name="矩形 281"/>
            <p:cNvSpPr/>
            <p:nvPr/>
          </p:nvSpPr>
          <p:spPr>
            <a:xfrm>
              <a:off x="5222538" y="323227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83" name="直線單箭頭接點 282"/>
            <p:cNvCxnSpPr>
              <a:stCxn id="282" idx="3"/>
              <a:endCxn id="278" idx="2"/>
            </p:cNvCxnSpPr>
            <p:nvPr/>
          </p:nvCxnSpPr>
          <p:spPr>
            <a:xfrm>
              <a:off x="5353602" y="3297807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線單箭頭接點 283"/>
            <p:cNvCxnSpPr>
              <a:stCxn id="282" idx="3"/>
              <a:endCxn id="279" idx="2"/>
            </p:cNvCxnSpPr>
            <p:nvPr/>
          </p:nvCxnSpPr>
          <p:spPr>
            <a:xfrm>
              <a:off x="5353602" y="3297807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線單箭頭接點 284"/>
            <p:cNvCxnSpPr>
              <a:stCxn id="282" idx="3"/>
            </p:cNvCxnSpPr>
            <p:nvPr/>
          </p:nvCxnSpPr>
          <p:spPr>
            <a:xfrm>
              <a:off x="5353602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線單箭頭接點 290"/>
            <p:cNvCxnSpPr>
              <a:endCxn id="280" idx="2"/>
            </p:cNvCxnSpPr>
            <p:nvPr/>
          </p:nvCxnSpPr>
          <p:spPr>
            <a:xfrm flipV="1">
              <a:off x="7092447" y="3610054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線單箭頭接點 291"/>
            <p:cNvCxnSpPr>
              <a:endCxn id="281" idx="2"/>
            </p:cNvCxnSpPr>
            <p:nvPr/>
          </p:nvCxnSpPr>
          <p:spPr>
            <a:xfrm>
              <a:off x="7092447" y="3996933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線單箭頭接點 292"/>
            <p:cNvCxnSpPr>
              <a:endCxn id="280" idx="2"/>
            </p:cNvCxnSpPr>
            <p:nvPr/>
          </p:nvCxnSpPr>
          <p:spPr>
            <a:xfrm flipV="1">
              <a:off x="7092446" y="3610054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線單箭頭接點 293"/>
            <p:cNvCxnSpPr>
              <a:endCxn id="281" idx="2"/>
            </p:cNvCxnSpPr>
            <p:nvPr/>
          </p:nvCxnSpPr>
          <p:spPr>
            <a:xfrm flipV="1">
              <a:off x="7092447" y="4022894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線單箭頭接點 294"/>
            <p:cNvCxnSpPr>
              <a:stCxn id="299" idx="2"/>
              <a:endCxn id="278" idx="2"/>
            </p:cNvCxnSpPr>
            <p:nvPr/>
          </p:nvCxnSpPr>
          <p:spPr>
            <a:xfrm flipV="1">
              <a:off x="5288070" y="3308448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線單箭頭接點 295"/>
            <p:cNvCxnSpPr>
              <a:stCxn id="299" idx="3"/>
              <a:endCxn id="279" idx="2"/>
            </p:cNvCxnSpPr>
            <p:nvPr/>
          </p:nvCxnSpPr>
          <p:spPr>
            <a:xfrm>
              <a:off x="5353602" y="3636238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線單箭頭接點 296"/>
            <p:cNvCxnSpPr>
              <a:stCxn id="299" idx="3"/>
            </p:cNvCxnSpPr>
            <p:nvPr/>
          </p:nvCxnSpPr>
          <p:spPr>
            <a:xfrm>
              <a:off x="5353602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矩形 298"/>
            <p:cNvSpPr/>
            <p:nvPr/>
          </p:nvSpPr>
          <p:spPr>
            <a:xfrm>
              <a:off x="5222538" y="357070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2" name="橢圓 301"/>
            <p:cNvSpPr/>
            <p:nvPr/>
          </p:nvSpPr>
          <p:spPr>
            <a:xfrm>
              <a:off x="6841498" y="385437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3" name="橢圓 302"/>
            <p:cNvSpPr/>
            <p:nvPr/>
          </p:nvSpPr>
          <p:spPr>
            <a:xfrm>
              <a:off x="6841498" y="419798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4" name="矩形 303"/>
            <p:cNvSpPr/>
            <p:nvPr/>
          </p:nvSpPr>
          <p:spPr>
            <a:xfrm>
              <a:off x="5222538" y="39420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5" name="矩形 304"/>
            <p:cNvSpPr/>
            <p:nvPr/>
          </p:nvSpPr>
          <p:spPr>
            <a:xfrm>
              <a:off x="5222538" y="427637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08" name="直線單箭頭接點 307"/>
            <p:cNvCxnSpPr>
              <a:stCxn id="305" idx="3"/>
            </p:cNvCxnSpPr>
            <p:nvPr/>
          </p:nvCxnSpPr>
          <p:spPr>
            <a:xfrm flipV="1">
              <a:off x="5353602" y="3996933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線單箭頭接點 308"/>
            <p:cNvCxnSpPr>
              <a:stCxn id="305" idx="3"/>
              <a:endCxn id="279" idx="2"/>
            </p:cNvCxnSpPr>
            <p:nvPr/>
          </p:nvCxnSpPr>
          <p:spPr>
            <a:xfrm flipV="1">
              <a:off x="5353602" y="3653322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線單箭頭接點 309"/>
            <p:cNvCxnSpPr>
              <a:stCxn id="305" idx="3"/>
              <a:endCxn id="278" idx="2"/>
            </p:cNvCxnSpPr>
            <p:nvPr/>
          </p:nvCxnSpPr>
          <p:spPr>
            <a:xfrm flipV="1">
              <a:off x="5353602" y="3308448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線單箭頭接點 310"/>
            <p:cNvCxnSpPr>
              <a:stCxn id="304" idx="3"/>
              <a:endCxn id="279" idx="2"/>
            </p:cNvCxnSpPr>
            <p:nvPr/>
          </p:nvCxnSpPr>
          <p:spPr>
            <a:xfrm flipV="1">
              <a:off x="5353602" y="3653322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線單箭頭接點 311"/>
            <p:cNvCxnSpPr>
              <a:stCxn id="304" idx="3"/>
              <a:endCxn id="278" idx="2"/>
            </p:cNvCxnSpPr>
            <p:nvPr/>
          </p:nvCxnSpPr>
          <p:spPr>
            <a:xfrm flipV="1">
              <a:off x="5353602" y="3308448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線單箭頭接點 314"/>
            <p:cNvCxnSpPr/>
            <p:nvPr/>
          </p:nvCxnSpPr>
          <p:spPr>
            <a:xfrm>
              <a:off x="6224016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線單箭頭接點 315"/>
            <p:cNvCxnSpPr/>
            <p:nvPr/>
          </p:nvCxnSpPr>
          <p:spPr>
            <a:xfrm>
              <a:off x="6224016" y="3297807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線單箭頭接點 317"/>
            <p:cNvCxnSpPr/>
            <p:nvPr/>
          </p:nvCxnSpPr>
          <p:spPr>
            <a:xfrm>
              <a:off x="6224016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線單箭頭接點 318"/>
            <p:cNvCxnSpPr/>
            <p:nvPr/>
          </p:nvCxnSpPr>
          <p:spPr>
            <a:xfrm>
              <a:off x="6224016" y="3636238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線單箭頭接點 320"/>
            <p:cNvCxnSpPr/>
            <p:nvPr/>
          </p:nvCxnSpPr>
          <p:spPr>
            <a:xfrm>
              <a:off x="6224016" y="4007574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線單箭頭接點 326"/>
            <p:cNvCxnSpPr/>
            <p:nvPr/>
          </p:nvCxnSpPr>
          <p:spPr>
            <a:xfrm>
              <a:off x="7809785" y="3616240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線單箭頭接點 327"/>
            <p:cNvCxnSpPr/>
            <p:nvPr/>
          </p:nvCxnSpPr>
          <p:spPr>
            <a:xfrm>
              <a:off x="7809785" y="403003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線單箭頭接點 274"/>
            <p:cNvCxnSpPr/>
            <p:nvPr/>
          </p:nvCxnSpPr>
          <p:spPr>
            <a:xfrm flipV="1">
              <a:off x="5360089" y="4003183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線單箭頭接點 275"/>
            <p:cNvCxnSpPr/>
            <p:nvPr/>
          </p:nvCxnSpPr>
          <p:spPr>
            <a:xfrm flipV="1">
              <a:off x="6241089" y="3996286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橢圓 271"/>
            <p:cNvSpPr/>
            <p:nvPr/>
          </p:nvSpPr>
          <p:spPr>
            <a:xfrm>
              <a:off x="5969188" y="385271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50" name="群組 449"/>
          <p:cNvGrpSpPr/>
          <p:nvPr/>
        </p:nvGrpSpPr>
        <p:grpSpPr>
          <a:xfrm rot="5400000">
            <a:off x="1385975" y="3696735"/>
            <a:ext cx="2816562" cy="965618"/>
            <a:chOff x="1660188" y="5222258"/>
            <a:chExt cx="2816562" cy="965618"/>
          </a:xfrm>
        </p:grpSpPr>
        <p:sp>
          <p:nvSpPr>
            <p:cNvPr id="339" name="橢圓 338"/>
            <p:cNvSpPr/>
            <p:nvPr/>
          </p:nvSpPr>
          <p:spPr>
            <a:xfrm>
              <a:off x="3988727" y="522225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0" name="橢圓 339"/>
            <p:cNvSpPr/>
            <p:nvPr/>
          </p:nvSpPr>
          <p:spPr>
            <a:xfrm>
              <a:off x="3988727" y="563509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50" name="直線單箭頭接點 349"/>
            <p:cNvCxnSpPr>
              <a:endCxn id="339" idx="2"/>
            </p:cNvCxnSpPr>
            <p:nvPr/>
          </p:nvCxnSpPr>
          <p:spPr>
            <a:xfrm flipV="1">
              <a:off x="3530097" y="5347733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線單箭頭接點 350"/>
            <p:cNvCxnSpPr>
              <a:endCxn id="340" idx="2"/>
            </p:cNvCxnSpPr>
            <p:nvPr/>
          </p:nvCxnSpPr>
          <p:spPr>
            <a:xfrm>
              <a:off x="3530097" y="5734612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線單箭頭接點 351"/>
            <p:cNvCxnSpPr>
              <a:endCxn id="339" idx="2"/>
            </p:cNvCxnSpPr>
            <p:nvPr/>
          </p:nvCxnSpPr>
          <p:spPr>
            <a:xfrm flipV="1">
              <a:off x="3530096" y="5347733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線單箭頭接點 352"/>
            <p:cNvCxnSpPr>
              <a:endCxn id="340" idx="2"/>
            </p:cNvCxnSpPr>
            <p:nvPr/>
          </p:nvCxnSpPr>
          <p:spPr>
            <a:xfrm flipV="1">
              <a:off x="3530097" y="5760573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橢圓 360"/>
            <p:cNvSpPr/>
            <p:nvPr/>
          </p:nvSpPr>
          <p:spPr>
            <a:xfrm>
              <a:off x="3279148" y="559205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2" name="橢圓 361"/>
            <p:cNvSpPr/>
            <p:nvPr/>
          </p:nvSpPr>
          <p:spPr>
            <a:xfrm>
              <a:off x="3279148" y="593566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3" name="矩形 362"/>
            <p:cNvSpPr/>
            <p:nvPr/>
          </p:nvSpPr>
          <p:spPr>
            <a:xfrm>
              <a:off x="1660188" y="567972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4" name="矩形 363"/>
            <p:cNvSpPr/>
            <p:nvPr/>
          </p:nvSpPr>
          <p:spPr>
            <a:xfrm>
              <a:off x="1660188" y="601405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65" name="直線單箭頭接點 364"/>
            <p:cNvCxnSpPr>
              <a:stCxn id="364" idx="3"/>
            </p:cNvCxnSpPr>
            <p:nvPr/>
          </p:nvCxnSpPr>
          <p:spPr>
            <a:xfrm flipV="1">
              <a:off x="1791252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線單箭頭接點 365"/>
            <p:cNvCxnSpPr>
              <a:stCxn id="363" idx="3"/>
            </p:cNvCxnSpPr>
            <p:nvPr/>
          </p:nvCxnSpPr>
          <p:spPr>
            <a:xfrm>
              <a:off x="1791252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線單箭頭接點 366"/>
            <p:cNvCxnSpPr>
              <a:stCxn id="364" idx="3"/>
            </p:cNvCxnSpPr>
            <p:nvPr/>
          </p:nvCxnSpPr>
          <p:spPr>
            <a:xfrm flipV="1">
              <a:off x="1791252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線單箭頭接點 378"/>
            <p:cNvCxnSpPr/>
            <p:nvPr/>
          </p:nvCxnSpPr>
          <p:spPr>
            <a:xfrm flipV="1">
              <a:off x="2661666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線單箭頭接點 379"/>
            <p:cNvCxnSpPr/>
            <p:nvPr/>
          </p:nvCxnSpPr>
          <p:spPr>
            <a:xfrm>
              <a:off x="2661666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線單箭頭接點 380"/>
            <p:cNvCxnSpPr/>
            <p:nvPr/>
          </p:nvCxnSpPr>
          <p:spPr>
            <a:xfrm flipV="1">
              <a:off x="2661666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線單箭頭接點 385"/>
            <p:cNvCxnSpPr/>
            <p:nvPr/>
          </p:nvCxnSpPr>
          <p:spPr>
            <a:xfrm>
              <a:off x="4247435" y="5353919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線單箭頭接點 386"/>
            <p:cNvCxnSpPr/>
            <p:nvPr/>
          </p:nvCxnSpPr>
          <p:spPr>
            <a:xfrm>
              <a:off x="4247435" y="5767715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線單箭頭接點 333"/>
            <p:cNvCxnSpPr/>
            <p:nvPr/>
          </p:nvCxnSpPr>
          <p:spPr>
            <a:xfrm flipV="1">
              <a:off x="1797739" y="574086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線單箭頭接點 334"/>
            <p:cNvCxnSpPr/>
            <p:nvPr/>
          </p:nvCxnSpPr>
          <p:spPr>
            <a:xfrm flipV="1">
              <a:off x="2678739" y="5733965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橢圓 330"/>
            <p:cNvSpPr/>
            <p:nvPr/>
          </p:nvSpPr>
          <p:spPr>
            <a:xfrm>
              <a:off x="2406838" y="559039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32" name="橢圓 331"/>
            <p:cNvSpPr/>
            <p:nvPr/>
          </p:nvSpPr>
          <p:spPr>
            <a:xfrm>
              <a:off x="2405946" y="593692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456" name="文字方塊 455"/>
          <p:cNvSpPr txBox="1"/>
          <p:nvPr/>
        </p:nvSpPr>
        <p:spPr>
          <a:xfrm>
            <a:off x="3550762" y="1801949"/>
            <a:ext cx="2042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testing data x</a:t>
            </a:r>
            <a:endParaRPr lang="zh-TW" altLang="en-US" sz="2400" baseline="-25000" dirty="0"/>
          </a:p>
        </p:txBody>
      </p:sp>
      <p:sp>
        <p:nvSpPr>
          <p:cNvPr id="139" name="矩形 138"/>
          <p:cNvSpPr/>
          <p:nvPr/>
        </p:nvSpPr>
        <p:spPr>
          <a:xfrm>
            <a:off x="294842" y="1589029"/>
            <a:ext cx="29410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i="1" u="sng" dirty="0"/>
              <a:t>Testing of Dropout</a:t>
            </a:r>
            <a:endParaRPr lang="en-US" altLang="zh-TW" sz="2800" dirty="0"/>
          </a:p>
        </p:txBody>
      </p:sp>
      <p:sp>
        <p:nvSpPr>
          <p:cNvPr id="140" name="文字方塊 139"/>
          <p:cNvSpPr txBox="1"/>
          <p:nvPr/>
        </p:nvSpPr>
        <p:spPr>
          <a:xfrm rot="5400000">
            <a:off x="4753630" y="3944577"/>
            <a:ext cx="964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1543010" y="6234302"/>
            <a:ext cx="2461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average</a:t>
            </a:r>
            <a:endParaRPr lang="zh-TW" altLang="en-US" sz="2400" dirty="0"/>
          </a:p>
        </p:txBody>
      </p:sp>
      <p:cxnSp>
        <p:nvCxnSpPr>
          <p:cNvPr id="142" name="直線單箭頭接點 141"/>
          <p:cNvCxnSpPr/>
          <p:nvPr/>
        </p:nvCxnSpPr>
        <p:spPr>
          <a:xfrm flipH="1">
            <a:off x="1261193" y="2265579"/>
            <a:ext cx="2475008" cy="46635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 flipH="1">
            <a:off x="2864225" y="2289348"/>
            <a:ext cx="871977" cy="4265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/>
          <p:nvPr/>
        </p:nvCxnSpPr>
        <p:spPr>
          <a:xfrm>
            <a:off x="3710789" y="2289348"/>
            <a:ext cx="567922" cy="45313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文字方塊 150"/>
          <p:cNvSpPr txBox="1"/>
          <p:nvPr/>
        </p:nvSpPr>
        <p:spPr>
          <a:xfrm>
            <a:off x="692250" y="5488889"/>
            <a:ext cx="755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152" name="文字方塊 151"/>
          <p:cNvSpPr txBox="1"/>
          <p:nvPr/>
        </p:nvSpPr>
        <p:spPr>
          <a:xfrm>
            <a:off x="2598515" y="5533856"/>
            <a:ext cx="755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153" name="文字方塊 152"/>
          <p:cNvSpPr txBox="1"/>
          <p:nvPr/>
        </p:nvSpPr>
        <p:spPr>
          <a:xfrm>
            <a:off x="3968737" y="5516071"/>
            <a:ext cx="755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-25000" dirty="0"/>
              <a:t>3</a:t>
            </a:r>
            <a:endParaRPr lang="zh-TW" altLang="en-US" sz="2400" baseline="-25000" dirty="0"/>
          </a:p>
        </p:txBody>
      </p:sp>
      <p:cxnSp>
        <p:nvCxnSpPr>
          <p:cNvPr id="154" name="直線單箭頭接點 153"/>
          <p:cNvCxnSpPr/>
          <p:nvPr/>
        </p:nvCxnSpPr>
        <p:spPr>
          <a:xfrm>
            <a:off x="1212747" y="5995521"/>
            <a:ext cx="910217" cy="37798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>
            <a:stCxn id="152" idx="2"/>
          </p:cNvCxnSpPr>
          <p:nvPr/>
        </p:nvCxnSpPr>
        <p:spPr>
          <a:xfrm flipH="1">
            <a:off x="2920178" y="5995521"/>
            <a:ext cx="56276" cy="3530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/>
          <p:nvPr/>
        </p:nvCxnSpPr>
        <p:spPr>
          <a:xfrm flipH="1">
            <a:off x="3417942" y="5976372"/>
            <a:ext cx="833815" cy="39713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群組 163"/>
          <p:cNvGrpSpPr/>
          <p:nvPr/>
        </p:nvGrpSpPr>
        <p:grpSpPr>
          <a:xfrm rot="5400000">
            <a:off x="4923459" y="3546428"/>
            <a:ext cx="2893086" cy="1335452"/>
            <a:chOff x="7997554" y="1461721"/>
            <a:chExt cx="5723548" cy="2641997"/>
          </a:xfrm>
        </p:grpSpPr>
        <p:grpSp>
          <p:nvGrpSpPr>
            <p:cNvPr id="165" name="群組 164"/>
            <p:cNvGrpSpPr/>
            <p:nvPr/>
          </p:nvGrpSpPr>
          <p:grpSpPr>
            <a:xfrm>
              <a:off x="7997554" y="1461721"/>
              <a:ext cx="5723548" cy="2641997"/>
              <a:chOff x="1904899" y="2535995"/>
              <a:chExt cx="5723548" cy="2641997"/>
            </a:xfrm>
          </p:grpSpPr>
          <p:sp>
            <p:nvSpPr>
              <p:cNvPr id="169" name="橢圓 168"/>
              <p:cNvSpPr/>
              <p:nvPr/>
            </p:nvSpPr>
            <p:spPr>
              <a:xfrm>
                <a:off x="3430053" y="2570711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0" name="橢圓 169"/>
              <p:cNvSpPr/>
              <p:nvPr/>
            </p:nvSpPr>
            <p:spPr>
              <a:xfrm>
                <a:off x="3430053" y="3271530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1" name="橢圓 170"/>
              <p:cNvSpPr/>
              <p:nvPr/>
            </p:nvSpPr>
            <p:spPr>
              <a:xfrm>
                <a:off x="3430053" y="3969784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2" name="橢圓 171"/>
              <p:cNvSpPr/>
              <p:nvPr/>
            </p:nvSpPr>
            <p:spPr>
              <a:xfrm>
                <a:off x="3430053" y="4668038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3" name="橢圓 172"/>
              <p:cNvSpPr/>
              <p:nvPr/>
            </p:nvSpPr>
            <p:spPr>
              <a:xfrm>
                <a:off x="6636734" y="3183605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4" name="橢圓 173"/>
              <p:cNvSpPr/>
              <p:nvPr/>
            </p:nvSpPr>
            <p:spPr>
              <a:xfrm>
                <a:off x="6636734" y="4022539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1904899" y="2670896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76" name="直線單箭頭接點 175"/>
              <p:cNvCxnSpPr>
                <a:stCxn id="175" idx="3"/>
                <a:endCxn id="169" idx="2"/>
              </p:cNvCxnSpPr>
              <p:nvPr/>
            </p:nvCxnSpPr>
            <p:spPr>
              <a:xfrm>
                <a:off x="2171234" y="2804064"/>
                <a:ext cx="1258819" cy="21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線單箭頭接點 176"/>
              <p:cNvCxnSpPr>
                <a:stCxn id="175" idx="3"/>
                <a:endCxn id="170" idx="2"/>
              </p:cNvCxnSpPr>
              <p:nvPr/>
            </p:nvCxnSpPr>
            <p:spPr>
              <a:xfrm>
                <a:off x="2171234" y="2804064"/>
                <a:ext cx="1258819" cy="7224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線單箭頭接點 177"/>
              <p:cNvCxnSpPr>
                <a:stCxn id="175" idx="3"/>
                <a:endCxn id="171" idx="2"/>
              </p:cNvCxnSpPr>
              <p:nvPr/>
            </p:nvCxnSpPr>
            <p:spPr>
              <a:xfrm>
                <a:off x="2171234" y="2804064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線單箭頭接點 178"/>
              <p:cNvCxnSpPr>
                <a:stCxn id="175" idx="3"/>
                <a:endCxn id="172" idx="2"/>
              </p:cNvCxnSpPr>
              <p:nvPr/>
            </p:nvCxnSpPr>
            <p:spPr>
              <a:xfrm>
                <a:off x="2171234" y="2804064"/>
                <a:ext cx="1258819" cy="211895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線單箭頭接點 179"/>
              <p:cNvCxnSpPr>
                <a:endCxn id="173" idx="2"/>
              </p:cNvCxnSpPr>
              <p:nvPr/>
            </p:nvCxnSpPr>
            <p:spPr>
              <a:xfrm flipV="1">
                <a:off x="5704749" y="3438582"/>
                <a:ext cx="931985" cy="1064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線單箭頭接點 180"/>
              <p:cNvCxnSpPr>
                <a:endCxn id="173" idx="2"/>
              </p:cNvCxnSpPr>
              <p:nvPr/>
            </p:nvCxnSpPr>
            <p:spPr>
              <a:xfrm>
                <a:off x="5704748" y="2781725"/>
                <a:ext cx="931986" cy="6568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單箭頭接點 181"/>
              <p:cNvCxnSpPr>
                <a:endCxn id="174" idx="2"/>
              </p:cNvCxnSpPr>
              <p:nvPr/>
            </p:nvCxnSpPr>
            <p:spPr>
              <a:xfrm>
                <a:off x="5704749" y="2825688"/>
                <a:ext cx="931985" cy="145182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單箭頭接點 182"/>
              <p:cNvCxnSpPr>
                <a:endCxn id="174" idx="2"/>
              </p:cNvCxnSpPr>
              <p:nvPr/>
            </p:nvCxnSpPr>
            <p:spPr>
              <a:xfrm>
                <a:off x="5704748" y="3580539"/>
                <a:ext cx="931986" cy="6969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線單箭頭接點 183"/>
              <p:cNvCxnSpPr>
                <a:endCxn id="173" idx="2"/>
              </p:cNvCxnSpPr>
              <p:nvPr/>
            </p:nvCxnSpPr>
            <p:spPr>
              <a:xfrm flipV="1">
                <a:off x="5704749" y="3438582"/>
                <a:ext cx="931985" cy="78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線單箭頭接點 184"/>
              <p:cNvCxnSpPr>
                <a:endCxn id="174" idx="2"/>
              </p:cNvCxnSpPr>
              <p:nvPr/>
            </p:nvCxnSpPr>
            <p:spPr>
              <a:xfrm>
                <a:off x="5704749" y="4224761"/>
                <a:ext cx="931985" cy="527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線單箭頭接點 185"/>
              <p:cNvCxnSpPr>
                <a:endCxn id="173" idx="2"/>
              </p:cNvCxnSpPr>
              <p:nvPr/>
            </p:nvCxnSpPr>
            <p:spPr>
              <a:xfrm flipV="1">
                <a:off x="5704748" y="3438582"/>
                <a:ext cx="931986" cy="14567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單箭頭接點 186"/>
              <p:cNvCxnSpPr>
                <a:endCxn id="174" idx="2"/>
              </p:cNvCxnSpPr>
              <p:nvPr/>
            </p:nvCxnSpPr>
            <p:spPr>
              <a:xfrm flipV="1">
                <a:off x="5704749" y="4277516"/>
                <a:ext cx="931985" cy="6454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單箭頭接點 187"/>
              <p:cNvCxnSpPr>
                <a:stCxn id="192" idx="2"/>
                <a:endCxn id="169" idx="2"/>
              </p:cNvCxnSpPr>
              <p:nvPr/>
            </p:nvCxnSpPr>
            <p:spPr>
              <a:xfrm flipV="1">
                <a:off x="2038067" y="2825688"/>
                <a:ext cx="1391986" cy="7992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單箭頭接點 188"/>
              <p:cNvCxnSpPr>
                <a:stCxn id="192" idx="3"/>
                <a:endCxn id="170" idx="2"/>
              </p:cNvCxnSpPr>
              <p:nvPr/>
            </p:nvCxnSpPr>
            <p:spPr>
              <a:xfrm>
                <a:off x="2171234" y="3491791"/>
                <a:ext cx="1258819" cy="347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線單箭頭接點 189"/>
              <p:cNvCxnSpPr>
                <a:stCxn id="192" idx="3"/>
                <a:endCxn id="171" idx="2"/>
              </p:cNvCxnSpPr>
              <p:nvPr/>
            </p:nvCxnSpPr>
            <p:spPr>
              <a:xfrm>
                <a:off x="2171234" y="3491791"/>
                <a:ext cx="1258819" cy="7329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單箭頭接點 190"/>
              <p:cNvCxnSpPr>
                <a:stCxn id="192" idx="3"/>
                <a:endCxn id="172" idx="2"/>
              </p:cNvCxnSpPr>
              <p:nvPr/>
            </p:nvCxnSpPr>
            <p:spPr>
              <a:xfrm>
                <a:off x="2171234" y="3491791"/>
                <a:ext cx="1258819" cy="14312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矩形 191"/>
              <p:cNvSpPr/>
              <p:nvPr/>
            </p:nvSpPr>
            <p:spPr>
              <a:xfrm>
                <a:off x="1904899" y="3358623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橢圓 192"/>
              <p:cNvSpPr/>
              <p:nvPr/>
            </p:nvSpPr>
            <p:spPr>
              <a:xfrm>
                <a:off x="5194794" y="2535995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4" name="橢圓 193"/>
              <p:cNvSpPr/>
              <p:nvPr/>
            </p:nvSpPr>
            <p:spPr>
              <a:xfrm>
                <a:off x="5194794" y="3236814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5" name="橢圓 194"/>
              <p:cNvSpPr/>
              <p:nvPr/>
            </p:nvSpPr>
            <p:spPr>
              <a:xfrm>
                <a:off x="5194794" y="3935068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6" name="橢圓 195"/>
              <p:cNvSpPr/>
              <p:nvPr/>
            </p:nvSpPr>
            <p:spPr>
              <a:xfrm>
                <a:off x="5194794" y="4633322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1904899" y="4113217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1904899" y="4792619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99" name="直線單箭頭接點 198"/>
              <p:cNvCxnSpPr>
                <a:stCxn id="198" idx="3"/>
                <a:endCxn id="172" idx="2"/>
              </p:cNvCxnSpPr>
              <p:nvPr/>
            </p:nvCxnSpPr>
            <p:spPr>
              <a:xfrm flipV="1">
                <a:off x="2171234" y="4923015"/>
                <a:ext cx="1258819" cy="277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線單箭頭接點 199"/>
              <p:cNvCxnSpPr>
                <a:stCxn id="197" idx="3"/>
                <a:endCxn id="172" idx="2"/>
              </p:cNvCxnSpPr>
              <p:nvPr/>
            </p:nvCxnSpPr>
            <p:spPr>
              <a:xfrm>
                <a:off x="2171234" y="4246385"/>
                <a:ext cx="1258819" cy="67663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線單箭頭接點 200"/>
              <p:cNvCxnSpPr>
                <a:stCxn id="198" idx="3"/>
                <a:endCxn id="171" idx="2"/>
              </p:cNvCxnSpPr>
              <p:nvPr/>
            </p:nvCxnSpPr>
            <p:spPr>
              <a:xfrm flipV="1">
                <a:off x="2171234" y="4224761"/>
                <a:ext cx="1258819" cy="7010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線單箭頭接點 201"/>
              <p:cNvCxnSpPr>
                <a:stCxn id="198" idx="3"/>
                <a:endCxn id="170" idx="2"/>
              </p:cNvCxnSpPr>
              <p:nvPr/>
            </p:nvCxnSpPr>
            <p:spPr>
              <a:xfrm flipV="1">
                <a:off x="2171234" y="3526507"/>
                <a:ext cx="1258819" cy="13992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線單箭頭接點 202"/>
              <p:cNvCxnSpPr>
                <a:stCxn id="198" idx="3"/>
                <a:endCxn id="169" idx="2"/>
              </p:cNvCxnSpPr>
              <p:nvPr/>
            </p:nvCxnSpPr>
            <p:spPr>
              <a:xfrm flipV="1">
                <a:off x="2171234" y="2825688"/>
                <a:ext cx="1258819" cy="21000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線單箭頭接點 203"/>
              <p:cNvCxnSpPr>
                <a:stCxn id="197" idx="3"/>
                <a:endCxn id="170" idx="2"/>
              </p:cNvCxnSpPr>
              <p:nvPr/>
            </p:nvCxnSpPr>
            <p:spPr>
              <a:xfrm flipV="1">
                <a:off x="2171234" y="3526507"/>
                <a:ext cx="1258819" cy="7198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線單箭頭接點 204"/>
              <p:cNvCxnSpPr>
                <a:stCxn id="197" idx="3"/>
                <a:endCxn id="169" idx="2"/>
              </p:cNvCxnSpPr>
              <p:nvPr/>
            </p:nvCxnSpPr>
            <p:spPr>
              <a:xfrm flipV="1">
                <a:off x="2171234" y="2825688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單箭頭接點 205"/>
              <p:cNvCxnSpPr/>
              <p:nvPr/>
            </p:nvCxnSpPr>
            <p:spPr>
              <a:xfrm>
                <a:off x="3940007" y="2804064"/>
                <a:ext cx="1258819" cy="21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線單箭頭接點 206"/>
              <p:cNvCxnSpPr/>
              <p:nvPr/>
            </p:nvCxnSpPr>
            <p:spPr>
              <a:xfrm>
                <a:off x="3940007" y="2804064"/>
                <a:ext cx="1258819" cy="7224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單箭頭接點 207"/>
              <p:cNvCxnSpPr/>
              <p:nvPr/>
            </p:nvCxnSpPr>
            <p:spPr>
              <a:xfrm>
                <a:off x="3940007" y="2804064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線單箭頭接點 208"/>
              <p:cNvCxnSpPr/>
              <p:nvPr/>
            </p:nvCxnSpPr>
            <p:spPr>
              <a:xfrm>
                <a:off x="3940007" y="2804064"/>
                <a:ext cx="1258819" cy="211895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線單箭頭接點 209"/>
              <p:cNvCxnSpPr/>
              <p:nvPr/>
            </p:nvCxnSpPr>
            <p:spPr>
              <a:xfrm>
                <a:off x="3940007" y="3491791"/>
                <a:ext cx="1258819" cy="347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線單箭頭接點 210"/>
              <p:cNvCxnSpPr/>
              <p:nvPr/>
            </p:nvCxnSpPr>
            <p:spPr>
              <a:xfrm>
                <a:off x="3940007" y="3491791"/>
                <a:ext cx="1258819" cy="7329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線單箭頭接點 211"/>
              <p:cNvCxnSpPr/>
              <p:nvPr/>
            </p:nvCxnSpPr>
            <p:spPr>
              <a:xfrm>
                <a:off x="3940007" y="3491791"/>
                <a:ext cx="1258819" cy="14312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線單箭頭接點 212"/>
              <p:cNvCxnSpPr/>
              <p:nvPr/>
            </p:nvCxnSpPr>
            <p:spPr>
              <a:xfrm flipV="1">
                <a:off x="3940007" y="4923015"/>
                <a:ext cx="1258819" cy="277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線單箭頭接點 213"/>
              <p:cNvCxnSpPr/>
              <p:nvPr/>
            </p:nvCxnSpPr>
            <p:spPr>
              <a:xfrm>
                <a:off x="3940007" y="4246385"/>
                <a:ext cx="1258819" cy="67663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線單箭頭接點 214"/>
              <p:cNvCxnSpPr/>
              <p:nvPr/>
            </p:nvCxnSpPr>
            <p:spPr>
              <a:xfrm flipV="1">
                <a:off x="3940007" y="4224761"/>
                <a:ext cx="1258819" cy="7010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線單箭頭接點 215"/>
              <p:cNvCxnSpPr/>
              <p:nvPr/>
            </p:nvCxnSpPr>
            <p:spPr>
              <a:xfrm flipV="1">
                <a:off x="3940007" y="3526507"/>
                <a:ext cx="1258819" cy="13992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線單箭頭接點 216"/>
              <p:cNvCxnSpPr/>
              <p:nvPr/>
            </p:nvCxnSpPr>
            <p:spPr>
              <a:xfrm flipV="1">
                <a:off x="3940007" y="2825688"/>
                <a:ext cx="1258819" cy="21000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線單箭頭接點 217"/>
              <p:cNvCxnSpPr/>
              <p:nvPr/>
            </p:nvCxnSpPr>
            <p:spPr>
              <a:xfrm flipV="1">
                <a:off x="3940007" y="3526507"/>
                <a:ext cx="1258819" cy="7198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線單箭頭接點 218"/>
              <p:cNvCxnSpPr/>
              <p:nvPr/>
            </p:nvCxnSpPr>
            <p:spPr>
              <a:xfrm flipV="1">
                <a:off x="3940007" y="2825688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線單箭頭接點 219"/>
              <p:cNvCxnSpPr/>
              <p:nvPr/>
            </p:nvCxnSpPr>
            <p:spPr>
              <a:xfrm>
                <a:off x="7162454" y="3451153"/>
                <a:ext cx="46599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線單箭頭接點 220"/>
              <p:cNvCxnSpPr/>
              <p:nvPr/>
            </p:nvCxnSpPr>
            <p:spPr>
              <a:xfrm>
                <a:off x="7162454" y="4292030"/>
                <a:ext cx="46599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" name="直線單箭頭接點 165"/>
            <p:cNvCxnSpPr/>
            <p:nvPr/>
          </p:nvCxnSpPr>
          <p:spPr>
            <a:xfrm flipV="1">
              <a:off x="8277073" y="3163187"/>
              <a:ext cx="1245635" cy="53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單箭頭接點 166"/>
            <p:cNvCxnSpPr/>
            <p:nvPr/>
          </p:nvCxnSpPr>
          <p:spPr>
            <a:xfrm flipV="1">
              <a:off x="10067356" y="3149173"/>
              <a:ext cx="1245635" cy="53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線單箭頭接點 167"/>
            <p:cNvCxnSpPr>
              <a:stCxn id="170" idx="6"/>
              <a:endCxn id="193" idx="2"/>
            </p:cNvCxnSpPr>
            <p:nvPr/>
          </p:nvCxnSpPr>
          <p:spPr>
            <a:xfrm flipV="1">
              <a:off x="10032662" y="1716698"/>
              <a:ext cx="1254787" cy="7355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字方塊 29"/>
          <p:cNvSpPr txBox="1"/>
          <p:nvPr/>
        </p:nvSpPr>
        <p:spPr>
          <a:xfrm>
            <a:off x="7362663" y="3343821"/>
            <a:ext cx="1292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the weights multiply (1-p)%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713451" y="6161139"/>
            <a:ext cx="933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FF0000"/>
                </a:solidFill>
              </a:rPr>
              <a:t>≈</a:t>
            </a:r>
          </a:p>
        </p:txBody>
      </p:sp>
      <p:sp>
        <p:nvSpPr>
          <p:cNvPr id="226" name="文字方塊 225"/>
          <p:cNvSpPr txBox="1"/>
          <p:nvPr/>
        </p:nvSpPr>
        <p:spPr>
          <a:xfrm>
            <a:off x="5988754" y="6168113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endParaRPr lang="zh-TW" altLang="en-US" sz="2800" baseline="-25000" dirty="0"/>
          </a:p>
        </p:txBody>
      </p:sp>
      <p:cxnSp>
        <p:nvCxnSpPr>
          <p:cNvPr id="229" name="直線單箭頭接點 228"/>
          <p:cNvCxnSpPr/>
          <p:nvPr/>
        </p:nvCxnSpPr>
        <p:spPr>
          <a:xfrm>
            <a:off x="5492560" y="2269719"/>
            <a:ext cx="869756" cy="4502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單箭頭接點 229"/>
          <p:cNvCxnSpPr/>
          <p:nvPr/>
        </p:nvCxnSpPr>
        <p:spPr>
          <a:xfrm>
            <a:off x="6369354" y="5768954"/>
            <a:ext cx="0" cy="4531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50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2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More about dropout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2">
              <a:spcBef>
                <a:spcPts val="1000"/>
              </a:spcBef>
            </a:pPr>
            <a:r>
              <a:rPr lang="en-US" altLang="zh-TW" sz="2400" dirty="0"/>
              <a:t>More reference for dropout </a:t>
            </a:r>
            <a:r>
              <a:rPr lang="en-US" altLang="zh-TW" sz="1800" dirty="0">
                <a:solidFill>
                  <a:srgbClr val="0000FF"/>
                </a:solidFill>
              </a:rPr>
              <a:t>[</a:t>
            </a:r>
            <a:r>
              <a:rPr lang="en-US" altLang="zh-TW" sz="1800" dirty="0" err="1">
                <a:solidFill>
                  <a:srgbClr val="0000FF"/>
                </a:solidFill>
              </a:rPr>
              <a:t>Nitish</a:t>
            </a:r>
            <a:r>
              <a:rPr lang="en-US" altLang="zh-TW" sz="1800" dirty="0">
                <a:solidFill>
                  <a:srgbClr val="0000FF"/>
                </a:solidFill>
              </a:rPr>
              <a:t> Srivastava, JMLR’14] [Pierre </a:t>
            </a:r>
            <a:r>
              <a:rPr lang="en-US" altLang="zh-TW" sz="1800" dirty="0" err="1">
                <a:solidFill>
                  <a:srgbClr val="0000FF"/>
                </a:solidFill>
              </a:rPr>
              <a:t>Baldi</a:t>
            </a:r>
            <a:r>
              <a:rPr lang="en-US" altLang="zh-TW" sz="1800" dirty="0">
                <a:solidFill>
                  <a:srgbClr val="0000FF"/>
                </a:solidFill>
              </a:rPr>
              <a:t>, NIPS’13][Geoffrey E. Hinton, arXiv’12]</a:t>
            </a:r>
          </a:p>
          <a:p>
            <a:pPr marL="228600" lvl="2">
              <a:spcBef>
                <a:spcPts val="1000"/>
              </a:spcBef>
            </a:pPr>
            <a:r>
              <a:rPr lang="en-US" altLang="zh-TW" sz="2400" dirty="0"/>
              <a:t>Dropout works better with </a:t>
            </a:r>
            <a:r>
              <a:rPr lang="en-US" altLang="zh-TW" sz="2400" dirty="0" err="1"/>
              <a:t>Maxout</a:t>
            </a:r>
            <a:r>
              <a:rPr lang="en-US" altLang="zh-TW" sz="2400" dirty="0"/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[Ian J. </a:t>
            </a:r>
            <a:r>
              <a:rPr lang="en-US" altLang="zh-TW" sz="1800" dirty="0" err="1">
                <a:solidFill>
                  <a:srgbClr val="0000FF"/>
                </a:solidFill>
              </a:rPr>
              <a:t>Goodfellow</a:t>
            </a:r>
            <a:r>
              <a:rPr lang="en-US" altLang="zh-TW" sz="1800" dirty="0">
                <a:solidFill>
                  <a:srgbClr val="0000FF"/>
                </a:solidFill>
              </a:rPr>
              <a:t>, ICML’13]</a:t>
            </a:r>
          </a:p>
          <a:p>
            <a:pPr marL="228600" lvl="2">
              <a:spcBef>
                <a:spcPts val="1000"/>
              </a:spcBef>
            </a:pPr>
            <a:r>
              <a:rPr lang="en-US" altLang="zh-TW" sz="2400" dirty="0" err="1"/>
              <a:t>Dropconnect</a:t>
            </a:r>
            <a:r>
              <a:rPr lang="en-US" altLang="zh-TW" sz="2400" dirty="0"/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[Li Wan, </a:t>
            </a:r>
            <a:r>
              <a:rPr lang="en-US" altLang="zh-TW" sz="1800" i="1" dirty="0">
                <a:solidFill>
                  <a:srgbClr val="0000FF"/>
                </a:solidFill>
              </a:rPr>
              <a:t>ICML’13</a:t>
            </a:r>
            <a:r>
              <a:rPr lang="en-US" altLang="zh-TW" sz="1800" dirty="0">
                <a:solidFill>
                  <a:srgbClr val="0000FF"/>
                </a:solidFill>
              </a:rPr>
              <a:t>]</a:t>
            </a:r>
          </a:p>
          <a:p>
            <a:pPr marL="685800" lvl="3">
              <a:spcBef>
                <a:spcPts val="1000"/>
              </a:spcBef>
            </a:pPr>
            <a:r>
              <a:rPr lang="en-US" altLang="zh-TW" sz="2200" dirty="0"/>
              <a:t>Dropout delete neurons</a:t>
            </a:r>
          </a:p>
          <a:p>
            <a:pPr marL="685800" lvl="3">
              <a:spcBef>
                <a:spcPts val="1000"/>
              </a:spcBef>
            </a:pPr>
            <a:r>
              <a:rPr lang="en-US" altLang="zh-TW" sz="2200" dirty="0" err="1"/>
              <a:t>Dropconnect</a:t>
            </a:r>
            <a:r>
              <a:rPr lang="en-US" altLang="zh-TW" sz="2200" dirty="0"/>
              <a:t> deletes the connection between neurons</a:t>
            </a:r>
          </a:p>
          <a:p>
            <a:pPr marL="228600" lvl="2">
              <a:spcBef>
                <a:spcPts val="1000"/>
              </a:spcBef>
            </a:pPr>
            <a:r>
              <a:rPr lang="en-US" altLang="zh-TW" sz="2400" dirty="0"/>
              <a:t>Annealed dropout </a:t>
            </a:r>
            <a:r>
              <a:rPr lang="en-US" altLang="zh-TW" sz="1800" dirty="0">
                <a:solidFill>
                  <a:srgbClr val="0000FF"/>
                </a:solidFill>
              </a:rPr>
              <a:t>[S.J. Rennie, SLT’14]</a:t>
            </a:r>
          </a:p>
          <a:p>
            <a:pPr marL="685800" lvl="3">
              <a:spcBef>
                <a:spcPts val="1000"/>
              </a:spcBef>
            </a:pPr>
            <a:r>
              <a:rPr lang="en-US" altLang="zh-TW" sz="2200" dirty="0"/>
              <a:t>Dropout rate decreases by epochs</a:t>
            </a:r>
          </a:p>
          <a:p>
            <a:pPr marL="228600" lvl="2">
              <a:spcBef>
                <a:spcPts val="1000"/>
              </a:spcBef>
            </a:pPr>
            <a:r>
              <a:rPr lang="en-US" altLang="zh-TW" sz="2400" dirty="0"/>
              <a:t>Standout </a:t>
            </a:r>
            <a:r>
              <a:rPr lang="en-US" altLang="zh-TW" sz="1800" dirty="0">
                <a:solidFill>
                  <a:srgbClr val="0000FF"/>
                </a:solidFill>
              </a:rPr>
              <a:t>[J. Ba, NISP’13]</a:t>
            </a:r>
          </a:p>
          <a:p>
            <a:pPr marL="685800" lvl="3">
              <a:spcBef>
                <a:spcPts val="1000"/>
              </a:spcBef>
            </a:pPr>
            <a:r>
              <a:rPr lang="en-US" altLang="zh-TW" sz="2200" dirty="0"/>
              <a:t>Each neural has different dropout rate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66392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812475"/>
            <a:ext cx="7772400" cy="2387600"/>
          </a:xfrm>
        </p:spPr>
        <p:txBody>
          <a:bodyPr>
            <a:noAutofit/>
          </a:bodyPr>
          <a:lstStyle/>
          <a:p>
            <a:r>
              <a:rPr lang="en-US" altLang="zh-TW" dirty="0"/>
              <a:t>Part IV:</a:t>
            </a:r>
            <a:br>
              <a:rPr lang="en-US" altLang="zh-TW" dirty="0"/>
            </a:br>
            <a:r>
              <a:rPr lang="en-US" altLang="zh-TW" dirty="0">
                <a:solidFill>
                  <a:srgbClr val="0000FF"/>
                </a:solidFill>
              </a:rPr>
              <a:t>Neural Network </a:t>
            </a:r>
            <a:br>
              <a:rPr lang="en-US" altLang="zh-TW" dirty="0">
                <a:solidFill>
                  <a:srgbClr val="0000FF"/>
                </a:solidFill>
              </a:rPr>
            </a:br>
            <a:r>
              <a:rPr lang="en-US" altLang="zh-TW" dirty="0">
                <a:solidFill>
                  <a:srgbClr val="0000FF"/>
                </a:solidFill>
              </a:rPr>
              <a:t>with Memory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251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線單箭頭接點 25"/>
          <p:cNvCxnSpPr/>
          <p:nvPr/>
        </p:nvCxnSpPr>
        <p:spPr>
          <a:xfrm>
            <a:off x="5030259" y="4141521"/>
            <a:ext cx="1161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5030259" y="4613913"/>
            <a:ext cx="1161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5030259" y="5081110"/>
            <a:ext cx="1161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5030259" y="5561405"/>
            <a:ext cx="1161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needs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Name Entity Recognition</a:t>
            </a:r>
          </a:p>
          <a:p>
            <a:pPr lvl="1"/>
            <a:r>
              <a:rPr lang="en-US" altLang="zh-TW" sz="2800" dirty="0"/>
              <a:t>Detecting named entities like name of people, locations, organization, etc. in a sentence.</a:t>
            </a:r>
            <a:endParaRPr lang="zh-TW" altLang="en-US" sz="2800" dirty="0"/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715733" y="4271197"/>
            <a:ext cx="9941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apple</a:t>
            </a:r>
            <a:endParaRPr lang="zh-TW" altLang="en-US" sz="2800" dirty="0"/>
          </a:p>
        </p:txBody>
      </p:sp>
      <p:grpSp>
        <p:nvGrpSpPr>
          <p:cNvPr id="22" name="群組 21"/>
          <p:cNvGrpSpPr/>
          <p:nvPr/>
        </p:nvGrpSpPr>
        <p:grpSpPr>
          <a:xfrm>
            <a:off x="2258615" y="3672008"/>
            <a:ext cx="575293" cy="2271040"/>
            <a:chOff x="3034071" y="2981269"/>
            <a:chExt cx="575293" cy="2271040"/>
          </a:xfrm>
        </p:grpSpPr>
        <p:grpSp>
          <p:nvGrpSpPr>
            <p:cNvPr id="6" name="群組 5"/>
            <p:cNvGrpSpPr/>
            <p:nvPr/>
          </p:nvGrpSpPr>
          <p:grpSpPr>
            <a:xfrm>
              <a:off x="3034071" y="2981269"/>
              <a:ext cx="575293" cy="2271040"/>
              <a:chOff x="5720500" y="4355531"/>
              <a:chExt cx="575293" cy="2271040"/>
            </a:xfrm>
          </p:grpSpPr>
          <p:grpSp>
            <p:nvGrpSpPr>
              <p:cNvPr id="9" name="群組 8"/>
              <p:cNvGrpSpPr/>
              <p:nvPr/>
            </p:nvGrpSpPr>
            <p:grpSpPr>
              <a:xfrm rot="5400000">
                <a:off x="4872627" y="5203404"/>
                <a:ext cx="2271040" cy="575293"/>
                <a:chOff x="-1832607" y="4524680"/>
                <a:chExt cx="3547224" cy="898573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-1832607" y="4713636"/>
                  <a:ext cx="3547224" cy="709617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橢圓 11"/>
                <p:cNvSpPr/>
                <p:nvPr/>
              </p:nvSpPr>
              <p:spPr>
                <a:xfrm>
                  <a:off x="-1671298" y="4820782"/>
                  <a:ext cx="495300" cy="495300"/>
                </a:xfrm>
                <a:prstGeom prst="ellipse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橢圓 12"/>
                <p:cNvSpPr/>
                <p:nvPr/>
              </p:nvSpPr>
              <p:spPr>
                <a:xfrm>
                  <a:off x="-966448" y="4820782"/>
                  <a:ext cx="495300" cy="495300"/>
                </a:xfrm>
                <a:prstGeom prst="ellipse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文字方塊 13"/>
                <p:cNvSpPr txBox="1"/>
                <p:nvPr/>
              </p:nvSpPr>
              <p:spPr>
                <a:xfrm>
                  <a:off x="368324" y="4524680"/>
                  <a:ext cx="662543" cy="8172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800" b="1" dirty="0"/>
                    <a:t>…</a:t>
                  </a:r>
                  <a:endParaRPr lang="zh-TW" altLang="en-US" sz="2800" b="1" dirty="0"/>
                </a:p>
              </p:txBody>
            </p:sp>
          </p:grpSp>
          <p:sp>
            <p:nvSpPr>
              <p:cNvPr id="10" name="橢圓 9"/>
              <p:cNvSpPr/>
              <p:nvPr/>
            </p:nvSpPr>
            <p:spPr>
              <a:xfrm rot="5400000">
                <a:off x="5789104" y="5354358"/>
                <a:ext cx="317106" cy="317107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橢圓 14"/>
            <p:cNvSpPr/>
            <p:nvPr/>
          </p:nvSpPr>
          <p:spPr>
            <a:xfrm rot="5400000">
              <a:off x="3102673" y="4841638"/>
              <a:ext cx="317106" cy="317107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3075987" y="3481851"/>
              <a:ext cx="304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3100373" y="3912318"/>
              <a:ext cx="304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088896" y="4790641"/>
              <a:ext cx="304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3093991" y="3022546"/>
              <a:ext cx="304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</p:grpSp>
      <p:sp>
        <p:nvSpPr>
          <p:cNvPr id="23" name="矩形 22"/>
          <p:cNvSpPr/>
          <p:nvPr/>
        </p:nvSpPr>
        <p:spPr>
          <a:xfrm>
            <a:off x="3468956" y="3871564"/>
            <a:ext cx="1760281" cy="19156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DNN</a:t>
            </a:r>
            <a:endParaRPr lang="zh-TW" altLang="en-US" sz="2800" dirty="0"/>
          </a:p>
        </p:txBody>
      </p:sp>
      <p:sp>
        <p:nvSpPr>
          <p:cNvPr id="24" name="向右箭號 23"/>
          <p:cNvSpPr/>
          <p:nvPr/>
        </p:nvSpPr>
        <p:spPr>
          <a:xfrm>
            <a:off x="2763727" y="4403422"/>
            <a:ext cx="635047" cy="8897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6731610" y="3870338"/>
            <a:ext cx="132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people</a:t>
            </a:r>
            <a:endParaRPr lang="zh-TW" altLang="en-US" sz="28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6689886" y="4393558"/>
            <a:ext cx="156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location</a:t>
            </a:r>
            <a:endParaRPr lang="zh-TW" altLang="en-US" sz="28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6731610" y="4849180"/>
            <a:ext cx="2071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organization</a:t>
            </a:r>
            <a:endParaRPr lang="zh-TW" altLang="en-US" sz="28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6799485" y="5326264"/>
            <a:ext cx="125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none</a:t>
            </a:r>
            <a:endParaRPr lang="zh-TW" altLang="en-US" sz="2800" dirty="0"/>
          </a:p>
        </p:txBody>
      </p:sp>
      <p:sp>
        <p:nvSpPr>
          <p:cNvPr id="34" name="弧形箭號 (上彎) 33"/>
          <p:cNvSpPr/>
          <p:nvPr/>
        </p:nvSpPr>
        <p:spPr>
          <a:xfrm rot="1530119">
            <a:off x="897402" y="5026114"/>
            <a:ext cx="1373658" cy="7061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05558" y="4883416"/>
            <a:ext cx="584982" cy="3946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0.5</a:t>
            </a:r>
            <a:endParaRPr lang="zh-TW" altLang="en-US" sz="2400" dirty="0"/>
          </a:p>
        </p:txBody>
      </p:sp>
      <p:sp>
        <p:nvSpPr>
          <p:cNvPr id="37" name="矩形 36"/>
          <p:cNvSpPr/>
          <p:nvPr/>
        </p:nvSpPr>
        <p:spPr>
          <a:xfrm>
            <a:off x="6212985" y="5367634"/>
            <a:ext cx="584982" cy="3946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0.3</a:t>
            </a:r>
            <a:endParaRPr lang="zh-TW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205558" y="4401901"/>
            <a:ext cx="584982" cy="3946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0.1</a:t>
            </a:r>
            <a:endParaRPr lang="zh-TW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6212985" y="3930689"/>
            <a:ext cx="584982" cy="3946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0.1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9863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 animBg="1"/>
      <p:bldP spid="24" grpId="0" animBg="1"/>
      <p:bldP spid="30" grpId="0"/>
      <p:bldP spid="31" grpId="0"/>
      <p:bldP spid="32" grpId="0"/>
      <p:bldP spid="33" grpId="0"/>
      <p:bldP spid="34" grpId="0" animBg="1"/>
      <p:bldP spid="35" grpId="0" animBg="1"/>
      <p:bldP spid="37" grpId="0" animBg="1"/>
      <p:bldP spid="38" grpId="0" animBg="1"/>
      <p:bldP spid="3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needs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Name Entity Recognition</a:t>
            </a:r>
          </a:p>
          <a:p>
            <a:pPr lvl="1"/>
            <a:r>
              <a:rPr lang="en-US" altLang="zh-TW" sz="2800" dirty="0"/>
              <a:t>Detecting named entities like name of people, locations, organization, etc. in a sentence.</a:t>
            </a:r>
            <a:endParaRPr lang="zh-TW" altLang="en-US" sz="2800" dirty="0"/>
          </a:p>
        </p:txBody>
      </p:sp>
      <p:cxnSp>
        <p:nvCxnSpPr>
          <p:cNvPr id="24" name="直線單箭頭接點 23"/>
          <p:cNvCxnSpPr/>
          <p:nvPr/>
        </p:nvCxnSpPr>
        <p:spPr>
          <a:xfrm flipV="1">
            <a:off x="1135529" y="401900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V="1">
            <a:off x="2555692" y="401900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3898474" y="401900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4884946" y="401900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816021" y="5177159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167424" y="5177159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511679" y="5177159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496678" y="5177159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r>
              <a:rPr lang="en-US" altLang="zh-TW" sz="2800" baseline="30000" dirty="0"/>
              <a:t>4</a:t>
            </a:r>
            <a:endParaRPr lang="zh-TW" altLang="en-US" sz="2800" baseline="30000" dirty="0"/>
          </a:p>
        </p:txBody>
      </p:sp>
      <p:sp>
        <p:nvSpPr>
          <p:cNvPr id="5" name="矩形 4"/>
          <p:cNvSpPr/>
          <p:nvPr/>
        </p:nvSpPr>
        <p:spPr>
          <a:xfrm>
            <a:off x="797980" y="5516477"/>
            <a:ext cx="7920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the      president      of      apple      eats      an      apple</a:t>
            </a:r>
            <a:endParaRPr lang="zh-TW" altLang="en-US" sz="28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735533" y="5177159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r>
              <a:rPr lang="en-US" altLang="zh-TW" sz="2800" baseline="30000" dirty="0"/>
              <a:t>5</a:t>
            </a:r>
            <a:endParaRPr lang="zh-TW" altLang="en-US" sz="2800" baseline="30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696697" y="5177159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r>
              <a:rPr lang="en-US" altLang="zh-TW" sz="2800" baseline="30000" dirty="0"/>
              <a:t>6</a:t>
            </a:r>
            <a:endParaRPr lang="zh-TW" altLang="en-US" sz="2800" baseline="30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7717928" y="5177159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r>
              <a:rPr lang="en-US" altLang="zh-TW" sz="2800" baseline="30000" dirty="0"/>
              <a:t>7</a:t>
            </a:r>
            <a:endParaRPr lang="zh-TW" altLang="en-US" sz="2800" baseline="30000" dirty="0"/>
          </a:p>
        </p:txBody>
      </p:sp>
      <p:cxnSp>
        <p:nvCxnSpPr>
          <p:cNvPr id="38" name="直線單箭頭接點 37"/>
          <p:cNvCxnSpPr/>
          <p:nvPr/>
        </p:nvCxnSpPr>
        <p:spPr>
          <a:xfrm flipV="1">
            <a:off x="6034989" y="401900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7029043" y="401900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8098583" y="401900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503158" y="3111995"/>
            <a:ext cx="83257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TW" sz="2400" b="0" dirty="0">
                <a:solidFill>
                  <a:srgbClr val="0000FF"/>
                </a:solidFill>
                <a:ea typeface="新細明體" panose="02020500000000000000" pitchFamily="18" charset="-120"/>
              </a:rPr>
              <a:t>ORG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822501" y="3541610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173904" y="3541610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3518159" y="3541610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4503158" y="3541610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30000" dirty="0"/>
              <a:t>4</a:t>
            </a:r>
            <a:endParaRPr lang="zh-TW" altLang="en-US" sz="2800" baseline="300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742013" y="3541610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30000" dirty="0"/>
              <a:t>5</a:t>
            </a:r>
            <a:endParaRPr lang="zh-TW" altLang="en-US" sz="2800" baseline="300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6703177" y="3541610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30000" dirty="0"/>
              <a:t>6</a:t>
            </a:r>
            <a:endParaRPr lang="zh-TW" altLang="en-US" sz="2800" baseline="30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7724408" y="3541610"/>
            <a:ext cx="7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30000" dirty="0"/>
              <a:t>7</a:t>
            </a:r>
            <a:endParaRPr lang="zh-TW" altLang="en-US" sz="2800" baseline="30000" dirty="0"/>
          </a:p>
        </p:txBody>
      </p: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7606766" y="3125044"/>
            <a:ext cx="103776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TW" sz="2400" b="0" dirty="0">
                <a:solidFill>
                  <a:schemeClr val="bg2">
                    <a:lumMod val="25000"/>
                  </a:schemeClr>
                </a:solidFill>
                <a:ea typeface="新細明體" panose="02020500000000000000" pitchFamily="18" charset="-120"/>
              </a:rPr>
              <a:t>NONE</a:t>
            </a:r>
          </a:p>
        </p:txBody>
      </p:sp>
      <p:sp>
        <p:nvSpPr>
          <p:cNvPr id="6" name="矩形 5"/>
          <p:cNvSpPr/>
          <p:nvPr/>
        </p:nvSpPr>
        <p:spPr>
          <a:xfrm>
            <a:off x="719125" y="4270785"/>
            <a:ext cx="814944" cy="643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DNN</a:t>
            </a:r>
            <a:endParaRPr lang="zh-TW" altLang="en-US" sz="2400" dirty="0"/>
          </a:p>
        </p:txBody>
      </p:sp>
      <p:sp>
        <p:nvSpPr>
          <p:cNvPr id="58" name="矩形 57"/>
          <p:cNvSpPr/>
          <p:nvPr/>
        </p:nvSpPr>
        <p:spPr>
          <a:xfrm>
            <a:off x="2138094" y="4270785"/>
            <a:ext cx="814944" cy="643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DNN</a:t>
            </a:r>
            <a:endParaRPr lang="zh-TW" altLang="en-US" sz="2400" dirty="0"/>
          </a:p>
        </p:txBody>
      </p:sp>
      <p:sp>
        <p:nvSpPr>
          <p:cNvPr id="59" name="矩形 58"/>
          <p:cNvSpPr/>
          <p:nvPr/>
        </p:nvSpPr>
        <p:spPr>
          <a:xfrm>
            <a:off x="3476729" y="4270785"/>
            <a:ext cx="814944" cy="643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DNN</a:t>
            </a:r>
            <a:endParaRPr lang="zh-TW" altLang="en-US" sz="2400" dirty="0"/>
          </a:p>
        </p:txBody>
      </p:sp>
      <p:sp>
        <p:nvSpPr>
          <p:cNvPr id="60" name="矩形 59"/>
          <p:cNvSpPr/>
          <p:nvPr/>
        </p:nvSpPr>
        <p:spPr>
          <a:xfrm>
            <a:off x="4471180" y="4270785"/>
            <a:ext cx="814944" cy="643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DNN</a:t>
            </a:r>
            <a:endParaRPr lang="zh-TW" altLang="en-US" sz="2400" dirty="0"/>
          </a:p>
        </p:txBody>
      </p:sp>
      <p:sp>
        <p:nvSpPr>
          <p:cNvPr id="61" name="矩形 60"/>
          <p:cNvSpPr/>
          <p:nvPr/>
        </p:nvSpPr>
        <p:spPr>
          <a:xfrm>
            <a:off x="5617010" y="4270785"/>
            <a:ext cx="814944" cy="643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DNN</a:t>
            </a:r>
            <a:endParaRPr lang="zh-TW" altLang="en-US" sz="2400" dirty="0"/>
          </a:p>
        </p:txBody>
      </p:sp>
      <p:sp>
        <p:nvSpPr>
          <p:cNvPr id="62" name="矩形 61"/>
          <p:cNvSpPr/>
          <p:nvPr/>
        </p:nvSpPr>
        <p:spPr>
          <a:xfrm>
            <a:off x="6583316" y="4270785"/>
            <a:ext cx="814944" cy="643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DNN</a:t>
            </a:r>
            <a:endParaRPr lang="zh-TW" altLang="en-US" sz="2400" dirty="0"/>
          </a:p>
        </p:txBody>
      </p:sp>
      <p:sp>
        <p:nvSpPr>
          <p:cNvPr id="63" name="矩形 62"/>
          <p:cNvSpPr/>
          <p:nvPr/>
        </p:nvSpPr>
        <p:spPr>
          <a:xfrm>
            <a:off x="7671348" y="4270785"/>
            <a:ext cx="814944" cy="643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DNN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397598" y="3164522"/>
            <a:ext cx="983233" cy="28134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547108" y="3164522"/>
            <a:ext cx="1049571" cy="28134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/>
        </p:nvSpPr>
        <p:spPr>
          <a:xfrm>
            <a:off x="2796115" y="6117956"/>
            <a:ext cx="3328988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800" dirty="0"/>
              <a:t>DNN needs memory!</a:t>
            </a:r>
            <a:endParaRPr lang="zh-TW" altLang="en-US" sz="2800" dirty="0"/>
          </a:p>
        </p:txBody>
      </p:sp>
      <p:cxnSp>
        <p:nvCxnSpPr>
          <p:cNvPr id="51" name="直線接點 50"/>
          <p:cNvCxnSpPr/>
          <p:nvPr/>
        </p:nvCxnSpPr>
        <p:spPr>
          <a:xfrm>
            <a:off x="1768589" y="5946924"/>
            <a:ext cx="2333325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5714437" y="5946924"/>
            <a:ext cx="1637266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3059823" y="3104822"/>
            <a:ext cx="947325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target</a:t>
            </a:r>
            <a:endParaRPr lang="zh-TW" altLang="en-US" sz="24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6237881" y="3071239"/>
            <a:ext cx="947325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target</a:t>
            </a:r>
            <a:endParaRPr lang="zh-TW" altLang="en-US" sz="2400" dirty="0"/>
          </a:p>
        </p:txBody>
      </p:sp>
      <p:sp>
        <p:nvSpPr>
          <p:cNvPr id="9" name="向右箭號 8"/>
          <p:cNvSpPr/>
          <p:nvPr/>
        </p:nvSpPr>
        <p:spPr>
          <a:xfrm>
            <a:off x="4027556" y="3173021"/>
            <a:ext cx="496349" cy="3770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向右箭號 66"/>
          <p:cNvSpPr/>
          <p:nvPr/>
        </p:nvSpPr>
        <p:spPr>
          <a:xfrm>
            <a:off x="7201231" y="3147110"/>
            <a:ext cx="496349" cy="3770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14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5" grpId="0"/>
      <p:bldP spid="35" grpId="0"/>
      <p:bldP spid="36" grpId="0"/>
      <p:bldP spid="37" grpId="0"/>
      <p:bldP spid="41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7" grpId="0"/>
      <p:bldP spid="6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7" grpId="0" animBg="1"/>
      <p:bldP spid="64" grpId="0" animBg="1"/>
      <p:bldP spid="50" grpId="0" animBg="1"/>
      <p:bldP spid="8" grpId="0" animBg="1"/>
      <p:bldP spid="65" grpId="0" animBg="1"/>
      <p:bldP spid="9" grpId="0" animBg="1"/>
      <p:bldP spid="67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Recurrent Neural Network (RNN)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7105362" y="2341884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5458376" y="2338561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5593299" y="5593146"/>
            <a:ext cx="342900" cy="461962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550" name="方程式" r:id="rId4" imgW="152280" imgH="215640" progId="Equation.3">
                    <p:embed/>
                  </p:oleObj>
                </mc:Choice>
                <mc:Fallback>
                  <p:oleObj name="方程式" r:id="rId4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7200563" y="5595243"/>
            <a:ext cx="376238" cy="461963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551" name="方程式" r:id="rId6" imgW="164880" imgH="215640" progId="Equation.3">
                    <p:embed/>
                  </p:oleObj>
                </mc:Choice>
                <mc:Fallback>
                  <p:oleObj name="方程式" r:id="rId6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5529475" y="401648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rot="16200000">
            <a:off x="7077170" y="4027765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rot="16200000">
            <a:off x="5495801" y="233856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rot="16200000">
            <a:off x="7068477" y="2319639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6070547" y="4322261"/>
            <a:ext cx="1037222" cy="163830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816313"/>
              </p:ext>
            </p:extLst>
          </p:nvPr>
        </p:nvGraphicFramePr>
        <p:xfrm>
          <a:off x="7243483" y="1442330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52" name="方程式" r:id="rId8" imgW="177480" imgH="215640" progId="Equation.3">
                  <p:embed/>
                </p:oleObj>
              </mc:Choice>
              <mc:Fallback>
                <p:oleObj name="方程式" r:id="rId8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483" y="1442330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936436"/>
              </p:ext>
            </p:extLst>
          </p:nvPr>
        </p:nvGraphicFramePr>
        <p:xfrm>
          <a:off x="5660021" y="147477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53" name="方程式" r:id="rId10" imgW="164880" imgH="215640" progId="Equation.3">
                  <p:embed/>
                </p:oleObj>
              </mc:Choice>
              <mc:Fallback>
                <p:oleObj name="方程式" r:id="rId10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21" y="147477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2100363" y="4001430"/>
            <a:ext cx="342900" cy="461962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0205579"/>
                </p:ext>
              </p:extLst>
            </p:nvPr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554" name="方程式" r:id="rId12" imgW="152280" imgH="215640" progId="Equation.3">
                    <p:embed/>
                  </p:oleObj>
                </mc:Choice>
                <mc:Fallback>
                  <p:oleObj name="方程式" r:id="rId12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3707627" y="4003465"/>
            <a:ext cx="391033" cy="461963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2238380"/>
                </p:ext>
              </p:extLst>
            </p:nvPr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555" name="方程式" r:id="rId14" imgW="177480" imgH="215640" progId="Equation.3">
                    <p:embed/>
                  </p:oleObj>
                </mc:Choice>
                <mc:Fallback>
                  <p:oleObj name="方程式" r:id="rId14" imgW="177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" name="文字方塊 60"/>
          <p:cNvSpPr txBox="1"/>
          <p:nvPr/>
        </p:nvSpPr>
        <p:spPr>
          <a:xfrm>
            <a:off x="768493" y="5554242"/>
            <a:ext cx="41452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Memory can be considered as  another input.</a:t>
            </a:r>
            <a:endParaRPr lang="zh-TW" altLang="en-US" sz="28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768493" y="2167669"/>
            <a:ext cx="44069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The output of hidden layer are stored in the memory.</a:t>
            </a:r>
            <a:endParaRPr lang="zh-TW" altLang="en-US" sz="2800" dirty="0"/>
          </a:p>
        </p:txBody>
      </p:sp>
      <p:grpSp>
        <p:nvGrpSpPr>
          <p:cNvPr id="64" name="群組 63"/>
          <p:cNvGrpSpPr/>
          <p:nvPr/>
        </p:nvGrpSpPr>
        <p:grpSpPr>
          <a:xfrm rot="16200000">
            <a:off x="6070547" y="2659736"/>
            <a:ext cx="1037222" cy="163830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3892550" y="4445000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 70"/>
          <p:cNvSpPr/>
          <p:nvPr/>
        </p:nvSpPr>
        <p:spPr>
          <a:xfrm>
            <a:off x="3879850" y="4457700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手繪多邊形 71"/>
          <p:cNvSpPr/>
          <p:nvPr/>
        </p:nvSpPr>
        <p:spPr>
          <a:xfrm>
            <a:off x="2266950" y="4445000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2279650" y="4445000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5573306" y="2447890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7157654" y="2436920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7177305" y="4121795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5605998" y="4129696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2305318" y="3347672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627316" y="3169401"/>
            <a:ext cx="96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copy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47" name="手繪多邊形 46"/>
          <p:cNvSpPr/>
          <p:nvPr/>
        </p:nvSpPr>
        <p:spPr>
          <a:xfrm>
            <a:off x="3916717" y="3346269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067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3" grpId="0"/>
      <p:bldP spid="70" grpId="0" animBg="1"/>
      <p:bldP spid="71" grpId="0" animBg="1"/>
      <p:bldP spid="72" grpId="0" animBg="1"/>
      <p:bldP spid="73" grpId="0" animBg="1"/>
      <p:bldP spid="3" grpId="0" animBg="1"/>
      <p:bldP spid="16" grpId="0"/>
      <p:bldP spid="47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300713" y="4332825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1319762" y="3184614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1300713" y="2063255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/>
        </p:nvSpPr>
        <p:spPr>
          <a:xfrm>
            <a:off x="4070811" y="4318418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4089860" y="3204713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/>
        </p:nvSpPr>
        <p:spPr>
          <a:xfrm>
            <a:off x="2546929" y="3160395"/>
            <a:ext cx="1080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4089860" y="2070789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6887601" y="4324636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6906650" y="3210931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5363719" y="3204713"/>
            <a:ext cx="1080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6929603" y="2089741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向上箭號 70"/>
          <p:cNvSpPr/>
          <p:nvPr/>
        </p:nvSpPr>
        <p:spPr>
          <a:xfrm>
            <a:off x="1644914" y="3681537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向上箭號 73"/>
          <p:cNvSpPr/>
          <p:nvPr/>
        </p:nvSpPr>
        <p:spPr>
          <a:xfrm>
            <a:off x="1644915" y="2537953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669793" y="2585594"/>
            <a:ext cx="1047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copy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8" name="手繪多邊形 77"/>
          <p:cNvSpPr/>
          <p:nvPr/>
        </p:nvSpPr>
        <p:spPr>
          <a:xfrm flipH="1">
            <a:off x="2380712" y="2929263"/>
            <a:ext cx="672579" cy="31961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文字方塊 78"/>
          <p:cNvSpPr txBox="1"/>
          <p:nvPr/>
        </p:nvSpPr>
        <p:spPr>
          <a:xfrm>
            <a:off x="5436782" y="2585594"/>
            <a:ext cx="1047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copy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435041" y="4307910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4176074" y="431841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7015817" y="4314901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384466" y="2049351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196323" y="203053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060029" y="2054799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937674" y="5809350"/>
            <a:ext cx="546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Output </a:t>
            </a:r>
            <a:r>
              <a:rPr lang="en-US" altLang="zh-TW" sz="2400" dirty="0" err="1">
                <a:solidFill>
                  <a:srgbClr val="0000FF"/>
                </a:solidFill>
              </a:rPr>
              <a:t>y</a:t>
            </a:r>
            <a:r>
              <a:rPr lang="en-US" altLang="zh-TW" sz="2400" baseline="30000" dirty="0" err="1">
                <a:solidFill>
                  <a:srgbClr val="0000FF"/>
                </a:solidFill>
              </a:rPr>
              <a:t>i</a:t>
            </a:r>
            <a:r>
              <a:rPr lang="en-US" altLang="zh-TW" sz="2400" dirty="0">
                <a:solidFill>
                  <a:srgbClr val="0000FF"/>
                </a:solidFill>
              </a:rPr>
              <a:t> depends on x</a:t>
            </a:r>
            <a:r>
              <a:rPr lang="en-US" altLang="zh-TW" sz="2400" baseline="30000" dirty="0">
                <a:solidFill>
                  <a:srgbClr val="0000FF"/>
                </a:solidFill>
              </a:rPr>
              <a:t>1</a:t>
            </a:r>
            <a:r>
              <a:rPr lang="en-US" altLang="zh-TW" sz="2400" dirty="0">
                <a:solidFill>
                  <a:srgbClr val="0000FF"/>
                </a:solidFill>
              </a:rPr>
              <a:t>, x</a:t>
            </a:r>
            <a:r>
              <a:rPr lang="en-US" altLang="zh-TW" sz="2400" baseline="30000" dirty="0">
                <a:solidFill>
                  <a:srgbClr val="0000FF"/>
                </a:solidFill>
              </a:rPr>
              <a:t>2</a:t>
            </a:r>
            <a:r>
              <a:rPr lang="en-US" altLang="zh-TW" sz="2400" dirty="0">
                <a:solidFill>
                  <a:srgbClr val="0000FF"/>
                </a:solidFill>
              </a:rPr>
              <a:t>, …… x</a:t>
            </a:r>
            <a:r>
              <a:rPr lang="en-US" altLang="zh-TW" sz="2400" baseline="30000" dirty="0">
                <a:solidFill>
                  <a:srgbClr val="0000FF"/>
                </a:solidFill>
              </a:rPr>
              <a:t>i</a:t>
            </a:r>
            <a:endParaRPr lang="zh-TW" altLang="en-US" sz="2400" baseline="30000" dirty="0">
              <a:solidFill>
                <a:srgbClr val="0000FF"/>
              </a:solidFill>
            </a:endParaRPr>
          </a:p>
        </p:txBody>
      </p:sp>
      <p:sp>
        <p:nvSpPr>
          <p:cNvPr id="87" name="向上箭號 86"/>
          <p:cNvSpPr/>
          <p:nvPr/>
        </p:nvSpPr>
        <p:spPr>
          <a:xfrm>
            <a:off x="4439929" y="3708366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向上箭號 87"/>
          <p:cNvSpPr/>
          <p:nvPr/>
        </p:nvSpPr>
        <p:spPr>
          <a:xfrm>
            <a:off x="4439930" y="2564782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向上箭號 88"/>
          <p:cNvSpPr/>
          <p:nvPr/>
        </p:nvSpPr>
        <p:spPr>
          <a:xfrm>
            <a:off x="7257644" y="3712433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向上箭號 89"/>
          <p:cNvSpPr/>
          <p:nvPr/>
        </p:nvSpPr>
        <p:spPr>
          <a:xfrm>
            <a:off x="7257645" y="2568849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1873999" y="3782668"/>
            <a:ext cx="64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</a:t>
            </a:r>
            <a:r>
              <a:rPr lang="en-US" altLang="zh-TW" sz="2800" baseline="30000" dirty="0"/>
              <a:t>i</a:t>
            </a:r>
            <a:endParaRPr lang="zh-TW" altLang="en-US" sz="2800" baseline="300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3941824" y="2594406"/>
            <a:ext cx="64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</a:t>
            </a:r>
            <a:r>
              <a:rPr lang="en-US" altLang="zh-TW" sz="2800" baseline="30000" dirty="0"/>
              <a:t>o</a:t>
            </a:r>
            <a:endParaRPr lang="zh-TW" altLang="en-US" sz="2800" baseline="30000" dirty="0"/>
          </a:p>
        </p:txBody>
      </p:sp>
      <p:sp>
        <p:nvSpPr>
          <p:cNvPr id="45" name="弧形箭號 (上彎) 44"/>
          <p:cNvSpPr/>
          <p:nvPr/>
        </p:nvSpPr>
        <p:spPr>
          <a:xfrm>
            <a:off x="3102133" y="3636220"/>
            <a:ext cx="1381017" cy="568649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6" name="弧形箭號 (上彎) 45"/>
          <p:cNvSpPr/>
          <p:nvPr/>
        </p:nvSpPr>
        <p:spPr>
          <a:xfrm>
            <a:off x="5835814" y="3641482"/>
            <a:ext cx="1381017" cy="568649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432214" y="3632685"/>
            <a:ext cx="64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 err="1"/>
              <a:t>W</a:t>
            </a:r>
            <a:r>
              <a:rPr lang="en-US" altLang="zh-TW" sz="2800" baseline="30000" dirty="0" err="1"/>
              <a:t>h</a:t>
            </a:r>
            <a:endParaRPr lang="zh-TW" altLang="en-US" sz="2800" baseline="300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6163527" y="3607017"/>
            <a:ext cx="64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 err="1"/>
              <a:t>W</a:t>
            </a:r>
            <a:r>
              <a:rPr lang="en-US" altLang="zh-TW" sz="2800" baseline="30000" dirty="0" err="1"/>
              <a:t>h</a:t>
            </a:r>
            <a:endParaRPr lang="zh-TW" altLang="en-US" sz="2800" baseline="30000" dirty="0"/>
          </a:p>
        </p:txBody>
      </p:sp>
      <p:sp>
        <p:nvSpPr>
          <p:cNvPr id="49" name="手繪多邊形 48"/>
          <p:cNvSpPr/>
          <p:nvPr/>
        </p:nvSpPr>
        <p:spPr>
          <a:xfrm flipH="1">
            <a:off x="5143498" y="2922301"/>
            <a:ext cx="672579" cy="31961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4667637" y="3794477"/>
            <a:ext cx="64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</a:t>
            </a:r>
            <a:r>
              <a:rPr lang="en-US" altLang="zh-TW" sz="2800" baseline="30000" dirty="0"/>
              <a:t>i</a:t>
            </a:r>
            <a:endParaRPr lang="zh-TW" altLang="en-US" sz="2800" baseline="300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7478199" y="3829964"/>
            <a:ext cx="64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</a:t>
            </a:r>
            <a:r>
              <a:rPr lang="en-US" altLang="zh-TW" sz="2800" baseline="30000" dirty="0"/>
              <a:t>i</a:t>
            </a:r>
            <a:endParaRPr lang="zh-TW" altLang="en-US" sz="2800" baseline="300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1170862" y="2592877"/>
            <a:ext cx="631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</a:t>
            </a:r>
            <a:r>
              <a:rPr lang="en-US" altLang="zh-TW" sz="2800" baseline="30000" dirty="0"/>
              <a:t>o</a:t>
            </a:r>
            <a:endParaRPr lang="zh-TW" altLang="en-US" sz="2800" baseline="300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6720887" y="2604726"/>
            <a:ext cx="642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W</a:t>
            </a:r>
            <a:r>
              <a:rPr lang="en-US" altLang="zh-TW" sz="2800" baseline="30000" dirty="0"/>
              <a:t>o</a:t>
            </a:r>
            <a:endParaRPr lang="zh-TW" altLang="en-US" sz="2800" baseline="30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1739554" y="2809602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731511" y="3139531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01157" y="3177432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4671698" y="2829527"/>
            <a:ext cx="572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7502539" y="2821145"/>
            <a:ext cx="572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962376" y="5181213"/>
            <a:ext cx="546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The same network is used again and again.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10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1" grpId="0" animBg="1"/>
      <p:bldP spid="57" grpId="0" animBg="1"/>
      <p:bldP spid="59" grpId="0" animBg="1"/>
      <p:bldP spid="60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 animBg="1"/>
      <p:bldP spid="74" grpId="0" animBg="1"/>
      <p:bldP spid="3" grpId="0"/>
      <p:bldP spid="78" grpId="0" animBg="1"/>
      <p:bldP spid="79" grpId="0"/>
      <p:bldP spid="6" grpId="0"/>
      <p:bldP spid="81" grpId="0"/>
      <p:bldP spid="82" grpId="0"/>
      <p:bldP spid="83" grpId="0"/>
      <p:bldP spid="84" grpId="0"/>
      <p:bldP spid="85" grpId="0"/>
      <p:bldP spid="7" grpId="0"/>
      <p:bldP spid="87" grpId="0" animBg="1"/>
      <p:bldP spid="88" grpId="0" animBg="1"/>
      <p:bldP spid="89" grpId="0" animBg="1"/>
      <p:bldP spid="90" grpId="0" animBg="1"/>
      <p:bldP spid="40" grpId="0"/>
      <p:bldP spid="42" grpId="0"/>
      <p:bldP spid="45" grpId="0" animBg="1"/>
      <p:bldP spid="46" grpId="0" animBg="1"/>
      <p:bldP spid="47" grpId="0"/>
      <p:bldP spid="48" grpId="0"/>
      <p:bldP spid="49" grpId="0" animBg="1"/>
      <p:bldP spid="50" grpId="0"/>
      <p:bldP spid="51" grpId="0"/>
      <p:bldP spid="53" grpId="0"/>
      <p:bldP spid="54" grpId="0"/>
      <p:bldP spid="56" grpId="0"/>
      <p:bldP spid="58" grpId="0"/>
      <p:bldP spid="61" grpId="0"/>
      <p:bldP spid="62" grpId="0"/>
      <p:bldP spid="63" grpId="0"/>
      <p:bldP spid="64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字方塊 49"/>
          <p:cNvSpPr txBox="1"/>
          <p:nvPr/>
        </p:nvSpPr>
        <p:spPr>
          <a:xfrm>
            <a:off x="2029802" y="2033656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L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4265522" y="204588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L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6501242" y="2020801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L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1575889" y="2553465"/>
            <a:ext cx="6372281" cy="2732479"/>
            <a:chOff x="6241433" y="2599271"/>
            <a:chExt cx="6372281" cy="2732479"/>
          </a:xfrm>
        </p:grpSpPr>
        <p:sp>
          <p:nvSpPr>
            <p:cNvPr id="80" name="矩形 79"/>
            <p:cNvSpPr/>
            <p:nvPr/>
          </p:nvSpPr>
          <p:spPr>
            <a:xfrm>
              <a:off x="6241433" y="4895000"/>
              <a:ext cx="1080000" cy="432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260482" y="3746789"/>
              <a:ext cx="1080000" cy="432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6283435" y="2625599"/>
              <a:ext cx="1080000" cy="432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8506494" y="4861217"/>
              <a:ext cx="1080000" cy="432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8525543" y="3747512"/>
              <a:ext cx="1080000" cy="432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8548496" y="2626322"/>
              <a:ext cx="1080000" cy="432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矩形 96"/>
            <p:cNvSpPr/>
            <p:nvPr/>
          </p:nvSpPr>
          <p:spPr>
            <a:xfrm>
              <a:off x="10749539" y="4860494"/>
              <a:ext cx="1080000" cy="432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矩形 97"/>
            <p:cNvSpPr/>
            <p:nvPr/>
          </p:nvSpPr>
          <p:spPr>
            <a:xfrm>
              <a:off x="10768588" y="3746789"/>
              <a:ext cx="1080000" cy="432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10791541" y="2625599"/>
              <a:ext cx="1080000" cy="432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向上箭號 99"/>
            <p:cNvSpPr/>
            <p:nvPr/>
          </p:nvSpPr>
          <p:spPr>
            <a:xfrm>
              <a:off x="6585634" y="4243712"/>
              <a:ext cx="386677" cy="57941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1" name="向上箭號 100"/>
            <p:cNvSpPr/>
            <p:nvPr/>
          </p:nvSpPr>
          <p:spPr>
            <a:xfrm>
              <a:off x="6585635" y="3100128"/>
              <a:ext cx="386677" cy="579410"/>
            </a:xfrm>
            <a:prstGeom prst="up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6375761" y="487008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8611757" y="4861217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10877755" y="4850759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3</a:t>
              </a:r>
              <a:endParaRPr lang="zh-TW" altLang="en-US" sz="2400" baseline="30000" dirty="0"/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6381031" y="2599271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sp>
          <p:nvSpPr>
            <p:cNvPr id="106" name="文字方塊 105"/>
            <p:cNvSpPr txBox="1"/>
            <p:nvPr/>
          </p:nvSpPr>
          <p:spPr>
            <a:xfrm>
              <a:off x="8661118" y="2610089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10877755" y="2610854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3</a:t>
              </a:r>
              <a:endParaRPr lang="zh-TW" altLang="en-US" sz="2400" baseline="30000" dirty="0"/>
            </a:p>
          </p:txBody>
        </p:sp>
        <p:sp>
          <p:nvSpPr>
            <p:cNvPr id="108" name="向上箭號 107"/>
            <p:cNvSpPr/>
            <p:nvPr/>
          </p:nvSpPr>
          <p:spPr>
            <a:xfrm>
              <a:off x="8875612" y="4251165"/>
              <a:ext cx="386677" cy="57941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" name="向上箭號 108"/>
            <p:cNvSpPr/>
            <p:nvPr/>
          </p:nvSpPr>
          <p:spPr>
            <a:xfrm>
              <a:off x="8875613" y="3107581"/>
              <a:ext cx="386677" cy="579410"/>
            </a:xfrm>
            <a:prstGeom prst="up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" name="向上箭號 109"/>
            <p:cNvSpPr/>
            <p:nvPr/>
          </p:nvSpPr>
          <p:spPr>
            <a:xfrm>
              <a:off x="11119582" y="4248291"/>
              <a:ext cx="386677" cy="57941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向上箭號 110"/>
            <p:cNvSpPr/>
            <p:nvPr/>
          </p:nvSpPr>
          <p:spPr>
            <a:xfrm>
              <a:off x="11119583" y="3104707"/>
              <a:ext cx="386677" cy="579410"/>
            </a:xfrm>
            <a:prstGeom prst="up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向右箭號 111"/>
            <p:cNvSpPr/>
            <p:nvPr/>
          </p:nvSpPr>
          <p:spPr>
            <a:xfrm>
              <a:off x="7503030" y="374675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3" name="向右箭號 112"/>
            <p:cNvSpPr/>
            <p:nvPr/>
          </p:nvSpPr>
          <p:spPr>
            <a:xfrm>
              <a:off x="9763251" y="3746754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5" name="文字方塊 114"/>
            <p:cNvSpPr txBox="1"/>
            <p:nvPr/>
          </p:nvSpPr>
          <p:spPr>
            <a:xfrm>
              <a:off x="6793514" y="4379999"/>
              <a:ext cx="6420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i</a:t>
              </a:r>
              <a:endParaRPr lang="zh-TW" altLang="en-US" sz="2400" baseline="30000" dirty="0"/>
            </a:p>
          </p:txBody>
        </p:sp>
        <p:sp>
          <p:nvSpPr>
            <p:cNvPr id="117" name="文字方塊 116"/>
            <p:cNvSpPr txBox="1"/>
            <p:nvPr/>
          </p:nvSpPr>
          <p:spPr>
            <a:xfrm>
              <a:off x="6833525" y="3192847"/>
              <a:ext cx="631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o</a:t>
              </a:r>
              <a:endParaRPr lang="zh-TW" altLang="en-US" sz="2400" baseline="30000" dirty="0"/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11722942" y="3592746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7627118" y="3410483"/>
              <a:ext cx="6420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W</a:t>
              </a:r>
              <a:r>
                <a:rPr lang="en-US" altLang="zh-TW" sz="2400" baseline="30000" dirty="0" err="1"/>
                <a:t>h</a:t>
              </a:r>
              <a:endParaRPr lang="zh-TW" altLang="en-US" sz="2400" baseline="30000" dirty="0"/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9838638" y="3423680"/>
              <a:ext cx="6420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W</a:t>
              </a:r>
              <a:r>
                <a:rPr lang="en-US" altLang="zh-TW" sz="2400" baseline="30000" dirty="0" err="1"/>
                <a:t>h</a:t>
              </a:r>
              <a:endParaRPr lang="zh-TW" altLang="en-US" sz="2400" baseline="30000" dirty="0"/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9078635" y="4379999"/>
              <a:ext cx="6420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i</a:t>
              </a:r>
              <a:endParaRPr lang="zh-TW" altLang="en-US" sz="2400" baseline="30000" dirty="0"/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9118646" y="3192847"/>
              <a:ext cx="631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o</a:t>
              </a:r>
              <a:endParaRPr lang="zh-TW" altLang="en-US" sz="2400" baseline="30000" dirty="0"/>
            </a:p>
          </p:txBody>
        </p:sp>
        <p:sp>
          <p:nvSpPr>
            <p:cNvPr id="124" name="文字方塊 123"/>
            <p:cNvSpPr txBox="1"/>
            <p:nvPr/>
          </p:nvSpPr>
          <p:spPr>
            <a:xfrm>
              <a:off x="11347716" y="4397901"/>
              <a:ext cx="6420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i</a:t>
              </a:r>
              <a:endParaRPr lang="zh-TW" altLang="en-US" sz="2400" baseline="30000" dirty="0"/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11387727" y="3210749"/>
              <a:ext cx="631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o</a:t>
              </a:r>
              <a:endParaRPr lang="zh-TW" altLang="en-US" sz="2400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/>
              <p:cNvSpPr/>
              <p:nvPr/>
            </p:nvSpPr>
            <p:spPr>
              <a:xfrm>
                <a:off x="1867097" y="1538673"/>
                <a:ext cx="57611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097" y="1538673"/>
                <a:ext cx="576119" cy="461665"/>
              </a:xfrm>
              <a:prstGeom prst="rect">
                <a:avLst/>
              </a:prstGeom>
              <a:blipFill rotWithShape="0">
                <a:blip r:embed="rId3"/>
                <a:stretch>
                  <a:fillRect t="-3947" r="-16842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/>
              <p:cNvSpPr/>
              <p:nvPr/>
            </p:nvSpPr>
            <p:spPr>
              <a:xfrm>
                <a:off x="4167313" y="1538673"/>
                <a:ext cx="5827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4" name="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313" y="1538673"/>
                <a:ext cx="582724" cy="461665"/>
              </a:xfrm>
              <a:prstGeom prst="rect">
                <a:avLst/>
              </a:prstGeom>
              <a:blipFill rotWithShape="0">
                <a:blip r:embed="rId4"/>
                <a:stretch>
                  <a:fillRect t="-3947" r="-16842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6428054" y="1558744"/>
                <a:ext cx="5827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054" y="1558744"/>
                <a:ext cx="582724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4000" r="-16667"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上-下雙向箭號 45"/>
          <p:cNvSpPr/>
          <p:nvPr/>
        </p:nvSpPr>
        <p:spPr>
          <a:xfrm>
            <a:off x="1972288" y="1985944"/>
            <a:ext cx="277545" cy="557090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上-下雙向箭號 47"/>
          <p:cNvSpPr/>
          <p:nvPr/>
        </p:nvSpPr>
        <p:spPr>
          <a:xfrm>
            <a:off x="4269919" y="1992638"/>
            <a:ext cx="277545" cy="557090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上-下雙向箭號 48"/>
          <p:cNvSpPr/>
          <p:nvPr/>
        </p:nvSpPr>
        <p:spPr>
          <a:xfrm>
            <a:off x="6502491" y="1998166"/>
            <a:ext cx="277545" cy="557090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/>
        </p:nvSpPr>
        <p:spPr>
          <a:xfrm>
            <a:off x="3251617" y="6063332"/>
            <a:ext cx="5664756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800" dirty="0"/>
              <a:t>Backpropagation through time (BPTT)</a:t>
            </a:r>
            <a:endParaRPr lang="zh-TW" altLang="en-US" sz="28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2059106" y="712707"/>
            <a:ext cx="3250637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How to train?</a:t>
            </a:r>
            <a:endParaRPr lang="zh-TW" altLang="en-US" sz="3200" dirty="0"/>
          </a:p>
        </p:txBody>
      </p:sp>
      <p:sp>
        <p:nvSpPr>
          <p:cNvPr id="54" name="矩形 53"/>
          <p:cNvSpPr/>
          <p:nvPr/>
        </p:nvSpPr>
        <p:spPr>
          <a:xfrm>
            <a:off x="2372166" y="1511296"/>
            <a:ext cx="93063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400" dirty="0"/>
              <a:t>target</a:t>
            </a:r>
            <a:endParaRPr lang="zh-TW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4705148" y="1501810"/>
            <a:ext cx="93063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400" dirty="0"/>
              <a:t>target</a:t>
            </a:r>
            <a:endParaRPr lang="zh-TW" altLang="en-US" sz="2400" dirty="0"/>
          </a:p>
        </p:txBody>
      </p:sp>
      <p:sp>
        <p:nvSpPr>
          <p:cNvPr id="56" name="矩形 55"/>
          <p:cNvSpPr/>
          <p:nvPr/>
        </p:nvSpPr>
        <p:spPr>
          <a:xfrm>
            <a:off x="6955028" y="1515082"/>
            <a:ext cx="93063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400" dirty="0"/>
              <a:t>target</a:t>
            </a:r>
            <a:endParaRPr lang="zh-TW" altLang="en-US" sz="2400" dirty="0"/>
          </a:p>
        </p:txBody>
      </p:sp>
      <p:sp>
        <p:nvSpPr>
          <p:cNvPr id="57" name="矩形 56"/>
          <p:cNvSpPr/>
          <p:nvPr/>
        </p:nvSpPr>
        <p:spPr>
          <a:xfrm>
            <a:off x="2257935" y="4351488"/>
            <a:ext cx="417003" cy="38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/>
        </p:nvSpPr>
        <p:spPr>
          <a:xfrm>
            <a:off x="2287184" y="3169884"/>
            <a:ext cx="417003" cy="38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3045031" y="3377873"/>
            <a:ext cx="417003" cy="38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173993" y="5473167"/>
            <a:ext cx="8478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Find the network parameters </a:t>
            </a:r>
            <a:r>
              <a:rPr lang="en-US" altLang="zh-TW" sz="2800"/>
              <a:t>to minimize </a:t>
            </a:r>
            <a:r>
              <a:rPr lang="en-US" altLang="zh-TW" sz="2800" dirty="0"/>
              <a:t>the total cost:</a:t>
            </a:r>
            <a:endParaRPr lang="zh-TW" altLang="en-US" sz="2800" dirty="0"/>
          </a:p>
        </p:txBody>
      </p:sp>
      <p:sp>
        <p:nvSpPr>
          <p:cNvPr id="61" name="矩形 60"/>
          <p:cNvSpPr/>
          <p:nvPr/>
        </p:nvSpPr>
        <p:spPr>
          <a:xfrm>
            <a:off x="4518880" y="4364366"/>
            <a:ext cx="417003" cy="38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4548129" y="3182762"/>
            <a:ext cx="417003" cy="38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5305976" y="3390751"/>
            <a:ext cx="417003" cy="38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6805230" y="4348884"/>
            <a:ext cx="417003" cy="38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6834479" y="3167280"/>
            <a:ext cx="417003" cy="38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424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2" grpId="0"/>
      <p:bldP spid="53" grpId="0"/>
      <p:bldP spid="43" grpId="0"/>
      <p:bldP spid="44" grpId="0"/>
      <p:bldP spid="45" grpId="0"/>
      <p:bldP spid="46" grpId="0" animBg="1"/>
      <p:bldP spid="48" grpId="0" animBg="1"/>
      <p:bldP spid="49" grpId="0" animBg="1"/>
      <p:bldP spid="51" grpId="0" animBg="1"/>
      <p:bldP spid="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4" grpId="0"/>
      <p:bldP spid="61" grpId="0" animBg="1"/>
      <p:bldP spid="62" grpId="0" animBg="1"/>
      <p:bldP spid="63" grpId="0" animBg="1"/>
      <p:bldP spid="65" grpId="0" animBg="1"/>
      <p:bldP spid="66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803483" y="2814908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 course it can be deep …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25478" y="5627724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846988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108707" y="5633988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092132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上箭號 8"/>
          <p:cNvSpPr/>
          <p:nvPr/>
        </p:nvSpPr>
        <p:spPr>
          <a:xfrm>
            <a:off x="2172140" y="5185057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上箭號 9"/>
          <p:cNvSpPr/>
          <p:nvPr/>
        </p:nvSpPr>
        <p:spPr>
          <a:xfrm>
            <a:off x="4443126" y="5189636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右箭號 10"/>
          <p:cNvSpPr/>
          <p:nvPr/>
        </p:nvSpPr>
        <p:spPr>
          <a:xfrm>
            <a:off x="859202" y="4777250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右箭號 11"/>
          <p:cNvSpPr/>
          <p:nvPr/>
        </p:nvSpPr>
        <p:spPr>
          <a:xfrm>
            <a:off x="3086795" y="4783349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3542" y="4666455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314528" y="4635213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72901" y="5633988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356326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上箭號 16"/>
          <p:cNvSpPr/>
          <p:nvPr/>
        </p:nvSpPr>
        <p:spPr>
          <a:xfrm>
            <a:off x="6707320" y="5189636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右箭號 17"/>
          <p:cNvSpPr/>
          <p:nvPr/>
        </p:nvSpPr>
        <p:spPr>
          <a:xfrm>
            <a:off x="5350989" y="4783349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右箭號 18"/>
          <p:cNvSpPr/>
          <p:nvPr/>
        </p:nvSpPr>
        <p:spPr>
          <a:xfrm>
            <a:off x="7491452" y="4777250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1936664" y="5575605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x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231221" y="5590120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t+1</a:t>
            </a:r>
            <a:endParaRPr lang="zh-TW" altLang="en-US" sz="2400" baseline="30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525778" y="5587356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t+2</a:t>
            </a:r>
            <a:endParaRPr lang="zh-TW" altLang="en-US" sz="2400" baseline="30000" dirty="0"/>
          </a:p>
        </p:txBody>
      </p:sp>
      <p:sp>
        <p:nvSpPr>
          <p:cNvPr id="23" name="矩形 22"/>
          <p:cNvSpPr/>
          <p:nvPr/>
        </p:nvSpPr>
        <p:spPr>
          <a:xfrm>
            <a:off x="1825478" y="3866449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上箭號 23"/>
          <p:cNvSpPr/>
          <p:nvPr/>
        </p:nvSpPr>
        <p:spPr>
          <a:xfrm>
            <a:off x="2150630" y="4268122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向右箭號 24"/>
          <p:cNvSpPr/>
          <p:nvPr/>
        </p:nvSpPr>
        <p:spPr>
          <a:xfrm>
            <a:off x="837692" y="3860315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22032" y="3749520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 rot="5400000">
            <a:off x="1988364" y="3261946"/>
            <a:ext cx="8907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accent4"/>
                </a:solidFill>
              </a:rPr>
              <a:t>……</a:t>
            </a:r>
            <a:endParaRPr lang="zh-TW" altLang="en-US" sz="2800" baseline="-25000" dirty="0">
              <a:solidFill>
                <a:schemeClr val="accent4"/>
              </a:solidFill>
            </a:endParaRPr>
          </a:p>
        </p:txBody>
      </p:sp>
      <p:sp>
        <p:nvSpPr>
          <p:cNvPr id="28" name="向上箭號 27"/>
          <p:cNvSpPr/>
          <p:nvPr/>
        </p:nvSpPr>
        <p:spPr>
          <a:xfrm>
            <a:off x="2150629" y="2329933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1803967" y="1928302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1911692" y="187744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y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sp>
        <p:nvSpPr>
          <p:cNvPr id="32" name="向右箭號 31"/>
          <p:cNvSpPr/>
          <p:nvPr/>
        </p:nvSpPr>
        <p:spPr>
          <a:xfrm>
            <a:off x="815697" y="2808774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37" y="2697979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074017" y="280877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4096012" y="3860315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上箭號 35"/>
          <p:cNvSpPr/>
          <p:nvPr/>
        </p:nvSpPr>
        <p:spPr>
          <a:xfrm>
            <a:off x="4421164" y="4261988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右箭號 36"/>
          <p:cNvSpPr/>
          <p:nvPr/>
        </p:nvSpPr>
        <p:spPr>
          <a:xfrm>
            <a:off x="3108226" y="3854181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 rot="5400000">
            <a:off x="4258898" y="3255812"/>
            <a:ext cx="8907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accent4"/>
                </a:solidFill>
              </a:rPr>
              <a:t>……</a:t>
            </a:r>
            <a:endParaRPr lang="zh-TW" altLang="en-US" sz="2800" baseline="-25000" dirty="0">
              <a:solidFill>
                <a:schemeClr val="accent4"/>
              </a:solidFill>
            </a:endParaRPr>
          </a:p>
        </p:txBody>
      </p:sp>
      <p:sp>
        <p:nvSpPr>
          <p:cNvPr id="39" name="向上箭號 38"/>
          <p:cNvSpPr/>
          <p:nvPr/>
        </p:nvSpPr>
        <p:spPr>
          <a:xfrm>
            <a:off x="4421163" y="2323799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4074501" y="1922168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2226" y="1871314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t+1</a:t>
            </a:r>
            <a:endParaRPr lang="zh-TW" altLang="en-US" sz="2400" baseline="30000" dirty="0"/>
          </a:p>
        </p:txBody>
      </p:sp>
      <p:sp>
        <p:nvSpPr>
          <p:cNvPr id="42" name="向右箭號 41"/>
          <p:cNvSpPr/>
          <p:nvPr/>
        </p:nvSpPr>
        <p:spPr>
          <a:xfrm>
            <a:off x="3086231" y="2802640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/>
          <p:cNvSpPr/>
          <p:nvPr/>
        </p:nvSpPr>
        <p:spPr>
          <a:xfrm>
            <a:off x="6303044" y="2802640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/>
          <p:cNvSpPr/>
          <p:nvPr/>
        </p:nvSpPr>
        <p:spPr>
          <a:xfrm>
            <a:off x="6325039" y="3854181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向上箭號 44"/>
          <p:cNvSpPr/>
          <p:nvPr/>
        </p:nvSpPr>
        <p:spPr>
          <a:xfrm>
            <a:off x="6650191" y="4255854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向右箭號 45"/>
          <p:cNvSpPr/>
          <p:nvPr/>
        </p:nvSpPr>
        <p:spPr>
          <a:xfrm>
            <a:off x="5337253" y="3848047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/>
          <p:cNvSpPr txBox="1"/>
          <p:nvPr/>
        </p:nvSpPr>
        <p:spPr>
          <a:xfrm rot="5400000">
            <a:off x="6487925" y="3249678"/>
            <a:ext cx="8907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accent4"/>
                </a:solidFill>
              </a:rPr>
              <a:t>……</a:t>
            </a:r>
            <a:endParaRPr lang="zh-TW" altLang="en-US" sz="2800" baseline="-25000" dirty="0">
              <a:solidFill>
                <a:schemeClr val="accent4"/>
              </a:solidFill>
            </a:endParaRPr>
          </a:p>
        </p:txBody>
      </p:sp>
      <p:sp>
        <p:nvSpPr>
          <p:cNvPr id="48" name="向上箭號 47"/>
          <p:cNvSpPr/>
          <p:nvPr/>
        </p:nvSpPr>
        <p:spPr>
          <a:xfrm>
            <a:off x="6650190" y="2317665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6303528" y="1916034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6411253" y="1865180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t+2</a:t>
            </a:r>
            <a:endParaRPr lang="zh-TW" altLang="en-US" sz="2400" baseline="30000" dirty="0"/>
          </a:p>
        </p:txBody>
      </p:sp>
      <p:sp>
        <p:nvSpPr>
          <p:cNvPr id="51" name="向右箭號 50"/>
          <p:cNvSpPr/>
          <p:nvPr/>
        </p:nvSpPr>
        <p:spPr>
          <a:xfrm>
            <a:off x="5315258" y="2796506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/>
          <p:cNvSpPr txBox="1"/>
          <p:nvPr/>
        </p:nvSpPr>
        <p:spPr>
          <a:xfrm>
            <a:off x="8293712" y="3681750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53" name="向右箭號 52"/>
          <p:cNvSpPr/>
          <p:nvPr/>
        </p:nvSpPr>
        <p:spPr>
          <a:xfrm>
            <a:off x="7470636" y="3823787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/>
          <p:cNvSpPr txBox="1"/>
          <p:nvPr/>
        </p:nvSpPr>
        <p:spPr>
          <a:xfrm>
            <a:off x="8314528" y="2630915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55" name="向右箭號 54"/>
          <p:cNvSpPr/>
          <p:nvPr/>
        </p:nvSpPr>
        <p:spPr>
          <a:xfrm>
            <a:off x="7491452" y="2772952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8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 animBg="1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 rot="5400000" flipH="1" flipV="1">
            <a:off x="2489422" y="3849961"/>
            <a:ext cx="1057792" cy="36111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 rot="5400000" flipH="1" flipV="1">
            <a:off x="4733519" y="3873357"/>
            <a:ext cx="1057792" cy="36111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/>
        </p:nvSpPr>
        <p:spPr>
          <a:xfrm rot="5400000" flipH="1" flipV="1">
            <a:off x="7005143" y="3848150"/>
            <a:ext cx="1057792" cy="36111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Bidirectional RNN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891181" y="3784546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t+1</a:t>
            </a:r>
            <a:endParaRPr lang="zh-TW" altLang="en-US" sz="2400" baseline="30000" dirty="0"/>
          </a:p>
        </p:txBody>
      </p:sp>
      <p:grpSp>
        <p:nvGrpSpPr>
          <p:cNvPr id="8" name="群組 7"/>
          <p:cNvGrpSpPr/>
          <p:nvPr/>
        </p:nvGrpSpPr>
        <p:grpSpPr>
          <a:xfrm>
            <a:off x="-32272" y="4691952"/>
            <a:ext cx="9161758" cy="1358775"/>
            <a:chOff x="-79576" y="5208739"/>
            <a:chExt cx="9161758" cy="1358775"/>
          </a:xfrm>
        </p:grpSpPr>
        <p:sp>
          <p:nvSpPr>
            <p:cNvPr id="9" name="矩形 8"/>
            <p:cNvSpPr/>
            <p:nvPr/>
          </p:nvSpPr>
          <p:spPr>
            <a:xfrm>
              <a:off x="1702360" y="6201250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723870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985589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969014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向上箭號 12"/>
            <p:cNvSpPr/>
            <p:nvPr/>
          </p:nvSpPr>
          <p:spPr>
            <a:xfrm>
              <a:off x="2049022" y="5758583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向上箭號 13"/>
            <p:cNvSpPr/>
            <p:nvPr/>
          </p:nvSpPr>
          <p:spPr>
            <a:xfrm>
              <a:off x="4320008" y="5763162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73608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向右箭號 15"/>
            <p:cNvSpPr/>
            <p:nvPr/>
          </p:nvSpPr>
          <p:spPr>
            <a:xfrm>
              <a:off x="2963677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-79576" y="5239981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8191410" y="5208739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249783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233208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向上箭號 20"/>
            <p:cNvSpPr/>
            <p:nvPr/>
          </p:nvSpPr>
          <p:spPr>
            <a:xfrm>
              <a:off x="6584202" y="5763162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5227871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736833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" name="群組 23"/>
          <p:cNvGrpSpPr/>
          <p:nvPr/>
        </p:nvGrpSpPr>
        <p:grpSpPr>
          <a:xfrm rot="10800000">
            <a:off x="-32272" y="1950445"/>
            <a:ext cx="9161758" cy="1358775"/>
            <a:chOff x="-79576" y="5208739"/>
            <a:chExt cx="9161758" cy="1358775"/>
          </a:xfrm>
        </p:grpSpPr>
        <p:sp>
          <p:nvSpPr>
            <p:cNvPr id="25" name="矩形 24"/>
            <p:cNvSpPr/>
            <p:nvPr/>
          </p:nvSpPr>
          <p:spPr>
            <a:xfrm>
              <a:off x="1702360" y="6201250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723870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985589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969014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向上箭號 28"/>
            <p:cNvSpPr/>
            <p:nvPr/>
          </p:nvSpPr>
          <p:spPr>
            <a:xfrm>
              <a:off x="2049022" y="5758583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向上箭號 29"/>
            <p:cNvSpPr/>
            <p:nvPr/>
          </p:nvSpPr>
          <p:spPr>
            <a:xfrm>
              <a:off x="4320008" y="5763162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向右箭號 30"/>
            <p:cNvSpPr/>
            <p:nvPr/>
          </p:nvSpPr>
          <p:spPr>
            <a:xfrm>
              <a:off x="73608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向右箭號 31"/>
            <p:cNvSpPr/>
            <p:nvPr/>
          </p:nvSpPr>
          <p:spPr>
            <a:xfrm>
              <a:off x="2963677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-79576" y="5239981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8191410" y="5208739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249783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233208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向上箭號 36"/>
            <p:cNvSpPr/>
            <p:nvPr/>
          </p:nvSpPr>
          <p:spPr>
            <a:xfrm>
              <a:off x="6584202" y="5763162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向右箭號 37"/>
            <p:cNvSpPr/>
            <p:nvPr/>
          </p:nvSpPr>
          <p:spPr>
            <a:xfrm>
              <a:off x="5227871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向右箭號 38"/>
            <p:cNvSpPr/>
            <p:nvPr/>
          </p:nvSpPr>
          <p:spPr>
            <a:xfrm>
              <a:off x="736833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0" name="文字方塊 39"/>
          <p:cNvSpPr txBox="1"/>
          <p:nvPr/>
        </p:nvSpPr>
        <p:spPr>
          <a:xfrm>
            <a:off x="7194569" y="3797875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t+2</a:t>
            </a:r>
            <a:endParaRPr lang="zh-TW" altLang="en-US" sz="2400" baseline="300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587793" y="3797875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y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sp>
        <p:nvSpPr>
          <p:cNvPr id="46" name="右彎箭號 45"/>
          <p:cNvSpPr/>
          <p:nvPr/>
        </p:nvSpPr>
        <p:spPr>
          <a:xfrm>
            <a:off x="2192758" y="4049780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1854154" y="564476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x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4155407" y="5646859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t+1</a:t>
            </a:r>
            <a:endParaRPr lang="zh-TW" altLang="en-US" sz="2400" baseline="300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6449830" y="5644767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t+2</a:t>
            </a:r>
            <a:endParaRPr lang="zh-TW" altLang="en-US" sz="2400" baseline="300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854703" y="190023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x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4126928" y="1916843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t+1</a:t>
            </a:r>
            <a:endParaRPr lang="zh-TW" altLang="en-US" sz="2400" baseline="300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6450379" y="1900237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t+2</a:t>
            </a:r>
            <a:endParaRPr lang="zh-TW" altLang="en-US" sz="2400" baseline="30000" dirty="0"/>
          </a:p>
        </p:txBody>
      </p:sp>
      <p:sp>
        <p:nvSpPr>
          <p:cNvPr id="54" name="右彎箭號 53"/>
          <p:cNvSpPr/>
          <p:nvPr/>
        </p:nvSpPr>
        <p:spPr>
          <a:xfrm flipV="1">
            <a:off x="2203123" y="3259437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6" name="右彎箭號 55"/>
          <p:cNvSpPr/>
          <p:nvPr/>
        </p:nvSpPr>
        <p:spPr>
          <a:xfrm>
            <a:off x="4436855" y="4073176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7" name="右彎箭號 56"/>
          <p:cNvSpPr/>
          <p:nvPr/>
        </p:nvSpPr>
        <p:spPr>
          <a:xfrm flipV="1">
            <a:off x="4447220" y="3282833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9" name="右彎箭號 58"/>
          <p:cNvSpPr/>
          <p:nvPr/>
        </p:nvSpPr>
        <p:spPr>
          <a:xfrm>
            <a:off x="6708479" y="4047969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0" name="右彎箭號 59"/>
          <p:cNvSpPr/>
          <p:nvPr/>
        </p:nvSpPr>
        <p:spPr>
          <a:xfrm flipV="1">
            <a:off x="6718844" y="3257626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00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5" grpId="0" animBg="1"/>
      <p:bldP spid="58" grpId="0" animBg="1"/>
      <p:bldP spid="4" grpId="0"/>
      <p:bldP spid="40" grpId="0"/>
      <p:bldP spid="44" grpId="0"/>
      <p:bldP spid="46" grpId="0" animBg="1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6" grpId="0" animBg="1"/>
      <p:bldP spid="57" grpId="0" animBg="1"/>
      <p:bldP spid="59" grpId="0" animBg="1"/>
      <p:bldP spid="60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218012" y="5073419"/>
                <a:ext cx="49186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12" y="5073419"/>
                <a:ext cx="4918654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Matrix Operation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群組 60"/>
          <p:cNvGrpSpPr/>
          <p:nvPr/>
        </p:nvGrpSpPr>
        <p:grpSpPr>
          <a:xfrm>
            <a:off x="748793" y="1896413"/>
            <a:ext cx="342900" cy="461962"/>
            <a:chOff x="1882729" y="2137119"/>
            <a:chExt cx="342900" cy="461962"/>
          </a:xfrm>
        </p:grpSpPr>
        <p:sp>
          <p:nvSpPr>
            <p:cNvPr id="17" name="矩形 1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8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62" name="方程式" r:id="rId5" imgW="152280" imgH="215640" progId="Equation.3">
                    <p:embed/>
                  </p:oleObj>
                </mc:Choice>
                <mc:Fallback>
                  <p:oleObj name="方程式" r:id="rId5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群組 59"/>
          <p:cNvGrpSpPr/>
          <p:nvPr/>
        </p:nvGrpSpPr>
        <p:grpSpPr>
          <a:xfrm>
            <a:off x="717550" y="3550586"/>
            <a:ext cx="376238" cy="461963"/>
            <a:chOff x="1876911" y="2719848"/>
            <a:chExt cx="376238" cy="461963"/>
          </a:xfrm>
        </p:grpSpPr>
        <p:sp>
          <p:nvSpPr>
            <p:cNvPr id="16" name="矩形 15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9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63" name="方程式" r:id="rId7" imgW="164880" imgH="215640" progId="Equation.3">
                    <p:embed/>
                  </p:oleObj>
                </mc:Choice>
                <mc:Fallback>
                  <p:oleObj name="方程式" r:id="rId7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0" name="Object 12"/>
          <p:cNvGraphicFramePr>
            <a:graphicFrameLocks noChangeAspect="1"/>
          </p:cNvGraphicFramePr>
          <p:nvPr>
            <p:extLst/>
          </p:nvPr>
        </p:nvGraphicFramePr>
        <p:xfrm>
          <a:off x="8307921" y="349448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4" name="方程式" r:id="rId9" imgW="177480" imgH="215640" progId="Equation.3">
                  <p:embed/>
                </p:oleObj>
              </mc:Choice>
              <mc:Fallback>
                <p:oleObj name="方程式" r:id="rId9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7921" y="349448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2"/>
          <p:cNvGraphicFramePr>
            <a:graphicFrameLocks noChangeAspect="1"/>
          </p:cNvGraphicFramePr>
          <p:nvPr>
            <p:extLst/>
          </p:nvPr>
        </p:nvGraphicFramePr>
        <p:xfrm>
          <a:off x="8320088" y="1838346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5" name="方程式" r:id="rId11" imgW="164880" imgH="215640" progId="Equation.3">
                  <p:embed/>
                </p:oleObj>
              </mc:Choice>
              <mc:Fallback>
                <p:oleObj name="方程式" r:id="rId11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088" y="1838346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/>
          <p:cNvSpPr txBox="1"/>
          <p:nvPr/>
        </p:nvSpPr>
        <p:spPr>
          <a:xfrm>
            <a:off x="741539" y="2284326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654570" y="3953033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-2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-1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grpSp>
        <p:nvGrpSpPr>
          <p:cNvPr id="123" name="群組 122"/>
          <p:cNvGrpSpPr/>
          <p:nvPr/>
        </p:nvGrpSpPr>
        <p:grpSpPr>
          <a:xfrm>
            <a:off x="2471151" y="2274449"/>
            <a:ext cx="458287" cy="838405"/>
            <a:chOff x="10102194" y="1939763"/>
            <a:chExt cx="458287" cy="838405"/>
          </a:xfrm>
        </p:grpSpPr>
        <p:sp>
          <p:nvSpPr>
            <p:cNvPr id="117" name="矩形 116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9" name="直線單箭頭接點 11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B050"/>
                  </a:solidFill>
                </a:rPr>
                <a:t>1</a:t>
              </a:r>
              <a:endParaRPr lang="zh-TW" altLang="en-US" sz="24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2480676" y="3823788"/>
            <a:ext cx="458287" cy="838405"/>
            <a:chOff x="10102194" y="1939763"/>
            <a:chExt cx="458287" cy="838405"/>
          </a:xfrm>
        </p:grpSpPr>
        <p:sp>
          <p:nvSpPr>
            <p:cNvPr id="132" name="矩形 13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3" name="直線單箭頭接點 13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字方塊 13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B050"/>
                  </a:solidFill>
                </a:rPr>
                <a:t>0</a:t>
              </a:r>
              <a:endParaRPr lang="zh-TW" altLang="en-US" sz="2400" dirty="0">
                <a:solidFill>
                  <a:srgbClr val="00B050"/>
                </a:solidFill>
              </a:endParaRPr>
            </a:p>
          </p:txBody>
        </p:sp>
      </p:grpSp>
      <p:sp>
        <p:nvSpPr>
          <p:cNvPr id="135" name="文字方塊 134"/>
          <p:cNvSpPr txBox="1"/>
          <p:nvPr/>
        </p:nvSpPr>
        <p:spPr>
          <a:xfrm>
            <a:off x="2410434" y="1640959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2296396" y="3244826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131369" y="3207558"/>
            <a:ext cx="81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635333" y="4932535"/>
                <a:ext cx="810478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33" y="4932535"/>
                <a:ext cx="810478" cy="71564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1871121" y="4931041"/>
                <a:ext cx="1636025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121" y="4931041"/>
                <a:ext cx="1636025" cy="71564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640994" y="5085249"/>
                <a:ext cx="3494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994" y="5085249"/>
                <a:ext cx="349455" cy="43088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5141874" y="4921977"/>
                <a:ext cx="542776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874" y="4921977"/>
                <a:ext cx="542776" cy="718466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6758905" y="4919562"/>
                <a:ext cx="1014059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905" y="4919562"/>
                <a:ext cx="1014059" cy="718466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90636" y="5017185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636" y="5017185"/>
                <a:ext cx="534121" cy="52322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888272" y="4840257"/>
            <a:ext cx="1629686" cy="8770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W</a:t>
            </a:r>
            <a:endParaRPr lang="zh-TW" altLang="en-US" sz="2800" dirty="0"/>
          </a:p>
        </p:txBody>
      </p:sp>
      <p:sp>
        <p:nvSpPr>
          <p:cNvPr id="75" name="矩形 74"/>
          <p:cNvSpPr/>
          <p:nvPr/>
        </p:nvSpPr>
        <p:spPr>
          <a:xfrm>
            <a:off x="3681497" y="4850071"/>
            <a:ext cx="521712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x</a:t>
            </a:r>
            <a:endParaRPr lang="zh-TW" altLang="en-US" sz="2800" dirty="0"/>
          </a:p>
        </p:txBody>
      </p:sp>
      <p:sp>
        <p:nvSpPr>
          <p:cNvPr id="76" name="矩形 75"/>
          <p:cNvSpPr/>
          <p:nvPr/>
        </p:nvSpPr>
        <p:spPr>
          <a:xfrm>
            <a:off x="6985569" y="4841435"/>
            <a:ext cx="483392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a</a:t>
            </a:r>
            <a:endParaRPr lang="zh-TW" altLang="en-US" sz="2800" dirty="0"/>
          </a:p>
        </p:txBody>
      </p:sp>
      <p:sp>
        <p:nvSpPr>
          <p:cNvPr id="77" name="矩形 76"/>
          <p:cNvSpPr/>
          <p:nvPr/>
        </p:nvSpPr>
        <p:spPr>
          <a:xfrm>
            <a:off x="5170117" y="4862169"/>
            <a:ext cx="483392" cy="8770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b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0753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8" grpId="0"/>
      <p:bldP spid="7" grpId="0" animBg="1"/>
      <p:bldP spid="75" grpId="0" animBg="1"/>
      <p:bldP spid="76" grpId="0" animBg="1"/>
      <p:bldP spid="77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Steep learning curve</a:t>
            </a:r>
          </a:p>
          <a:p>
            <a:r>
              <a:rPr lang="en-US" dirty="0"/>
              <a:t>Some problems more amenable to deep learning than other applications</a:t>
            </a:r>
          </a:p>
          <a:p>
            <a:r>
              <a:rPr lang="en-US" dirty="0"/>
              <a:t>Simpler models may be sufficient for certain problem domains</a:t>
            </a:r>
          </a:p>
          <a:p>
            <a:r>
              <a:rPr lang="en-US" dirty="0"/>
              <a:t>Regression models?</a:t>
            </a:r>
          </a:p>
          <a:p>
            <a:r>
              <a:rPr lang="en-US" dirty="0"/>
              <a:t>Unless you are working with images, the models are very hard to explain (compared with a decision tree)</a:t>
            </a:r>
          </a:p>
          <a:p>
            <a:pPr lvl="1"/>
            <a:r>
              <a:rPr lang="en-US" dirty="0"/>
              <a:t>What does neuron 524 do?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21835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Deep Learning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53340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Deeplearning.Net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Code, tutorials, papers</a:t>
            </a:r>
            <a:endParaRPr lang="en-US" dirty="0">
              <a:hlinkClick r:id=""/>
            </a:endParaRPr>
          </a:p>
          <a:p>
            <a:pPr lvl="1"/>
            <a:r>
              <a:rPr lang="en-US" dirty="0">
                <a:hlinkClick r:id=""/>
              </a:rPr>
              <a:t>http://deeplearning.net/</a:t>
            </a:r>
            <a:endParaRPr lang="en-US" dirty="0"/>
          </a:p>
          <a:p>
            <a:r>
              <a:rPr lang="en-US" dirty="0" err="1"/>
              <a:t>Theano</a:t>
            </a:r>
            <a:r>
              <a:rPr lang="en-US" dirty="0"/>
              <a:t> (</a:t>
            </a:r>
            <a:r>
              <a:rPr lang="en-US" dirty="0" err="1"/>
              <a:t>Cuda</a:t>
            </a:r>
            <a:r>
              <a:rPr lang="en-US" dirty="0"/>
              <a:t> + Python also):</a:t>
            </a:r>
          </a:p>
          <a:p>
            <a:pPr lvl="1"/>
            <a:r>
              <a:rPr lang="en-US" dirty="0"/>
              <a:t>Comprehensive tutorials</a:t>
            </a:r>
          </a:p>
          <a:p>
            <a:pPr lvl="1"/>
            <a:r>
              <a:rPr lang="en-US" dirty="0"/>
              <a:t>Symbolic programming (like </a:t>
            </a:r>
            <a:r>
              <a:rPr lang="en-US" dirty="0" err="1"/>
              <a:t>SymPy</a:t>
            </a:r>
            <a:r>
              <a:rPr lang="en-US" dirty="0"/>
              <a:t>) can be a little confusing</a:t>
            </a:r>
          </a:p>
          <a:p>
            <a:pPr lvl="1"/>
            <a:r>
              <a:rPr lang="en-US" dirty="0">
                <a:hlinkClick r:id="rId2"/>
              </a:rPr>
              <a:t>http://deeplearning.net/software/theano/</a:t>
            </a:r>
            <a:endParaRPr lang="en-US" dirty="0"/>
          </a:p>
          <a:p>
            <a:r>
              <a:rPr lang="en-US" dirty="0"/>
              <a:t>Toronto groups’ code (</a:t>
            </a:r>
            <a:r>
              <a:rPr lang="en-US" dirty="0" err="1"/>
              <a:t>Cuda</a:t>
            </a:r>
            <a:r>
              <a:rPr lang="en-US" dirty="0"/>
              <a:t> + Python):</a:t>
            </a:r>
          </a:p>
          <a:p>
            <a:pPr lvl="1"/>
            <a:r>
              <a:rPr lang="en-US" dirty="0"/>
              <a:t>Easier to understand than </a:t>
            </a:r>
            <a:r>
              <a:rPr lang="en-US" dirty="0" err="1"/>
              <a:t>Theano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https://github.com/nitishsrivastava/deepnet</a:t>
            </a:r>
            <a:endParaRPr lang="en-US" dirty="0"/>
          </a:p>
          <a:p>
            <a:r>
              <a:rPr lang="en-US" dirty="0"/>
              <a:t>www.socher.org</a:t>
            </a:r>
          </a:p>
          <a:p>
            <a:pPr lvl="1"/>
            <a:r>
              <a:rPr lang="en-US" dirty="0"/>
              <a:t>All of Richard </a:t>
            </a:r>
            <a:r>
              <a:rPr lang="en-US" dirty="0" err="1"/>
              <a:t>Socher’s</a:t>
            </a:r>
            <a:r>
              <a:rPr lang="en-US" dirty="0"/>
              <a:t> research papers and code (mainly </a:t>
            </a:r>
            <a:r>
              <a:rPr lang="en-US" dirty="0" err="1"/>
              <a:t>Matlab</a:t>
            </a:r>
            <a:r>
              <a:rPr lang="en-US" dirty="0"/>
              <a:t>, some java)</a:t>
            </a:r>
          </a:p>
          <a:p>
            <a:pPr lvl="1"/>
            <a:r>
              <a:rPr lang="en-US" dirty="0"/>
              <a:t>Links to his tutorials on YouTube on Deep Learning and NLP</a:t>
            </a:r>
          </a:p>
          <a:p>
            <a:r>
              <a:rPr lang="en-US" dirty="0"/>
              <a:t>The SENNA system developed by </a:t>
            </a:r>
            <a:r>
              <a:rPr lang="en-US" dirty="0" err="1"/>
              <a:t>Collobert</a:t>
            </a:r>
            <a:r>
              <a:rPr lang="en-US" dirty="0"/>
              <a:t> and Weston</a:t>
            </a:r>
          </a:p>
          <a:p>
            <a:pPr lvl="1"/>
            <a:r>
              <a:rPr lang="en-US" dirty="0">
                <a:hlinkClick r:id="rId4"/>
              </a:rPr>
              <a:t>http://ronan.collobert.com/senna/</a:t>
            </a:r>
            <a:endParaRPr lang="en-US" dirty="0"/>
          </a:p>
          <a:p>
            <a:pPr lvl="1"/>
            <a:r>
              <a:rPr lang="en-US" dirty="0"/>
              <a:t>A pretty complete NLP system (for download) that uses Deep Learning to perform NER, POS tagging, parsing, chunking and SRL</a:t>
            </a:r>
          </a:p>
          <a:p>
            <a:pPr lvl="1"/>
            <a:r>
              <a:rPr lang="en-US" dirty="0"/>
              <a:t>Contains the word embeddings file so you can use their word embeddings in your own work</a:t>
            </a:r>
          </a:p>
        </p:txBody>
      </p:sp>
    </p:spTree>
    <p:extLst>
      <p:ext uri="{BB962C8B-B14F-4D97-AF65-F5344CB8AC3E}">
        <p14:creationId xmlns:p14="http://schemas.microsoft.com/office/powerpoint/2010/main" val="126552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7622</TotalTime>
  <Words>6512</Words>
  <Application>Microsoft Office PowerPoint</Application>
  <PresentationFormat>On-screen Show (4:3)</PresentationFormat>
  <Paragraphs>1918</Paragraphs>
  <Slides>118</Slides>
  <Notes>57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118</vt:i4>
      </vt:variant>
    </vt:vector>
  </HeadingPairs>
  <TitlesOfParts>
    <vt:vector size="132" baseType="lpstr">
      <vt:lpstr>新細明體</vt:lpstr>
      <vt:lpstr>Arial</vt:lpstr>
      <vt:lpstr>Calibri</vt:lpstr>
      <vt:lpstr>Calibri Light</vt:lpstr>
      <vt:lpstr>Cambria Math</vt:lpstr>
      <vt:lpstr>Georgia</vt:lpstr>
      <vt:lpstr>Times</vt:lpstr>
      <vt:lpstr>Times</vt:lpstr>
      <vt:lpstr>Times New Roman</vt:lpstr>
      <vt:lpstr>Wingdings</vt:lpstr>
      <vt:lpstr>Office Theme</vt:lpstr>
      <vt:lpstr>方程式</vt:lpstr>
      <vt:lpstr>Microsoft Clip Gallery</vt:lpstr>
      <vt:lpstr>Microsoft Formel 3.0</vt:lpstr>
      <vt:lpstr>Associative-Memory Networks</vt:lpstr>
      <vt:lpstr>Associative Network Types</vt:lpstr>
      <vt:lpstr>Associative Network Types (2)</vt:lpstr>
      <vt:lpstr>Hebb’s Rule</vt:lpstr>
      <vt:lpstr>Correlated Field Components</vt:lpstr>
      <vt:lpstr>Quantifying Hebb’s Rule</vt:lpstr>
      <vt:lpstr>Matrix Representation</vt:lpstr>
      <vt:lpstr>Auto-Associative Memory</vt:lpstr>
      <vt:lpstr>Hetero-Associative Memory</vt:lpstr>
      <vt:lpstr>Hopfield Networks</vt:lpstr>
      <vt:lpstr>Hopfield Network Example</vt:lpstr>
      <vt:lpstr>Hopfield Network Example (2)</vt:lpstr>
      <vt:lpstr>Using Matrices</vt:lpstr>
      <vt:lpstr>Matrices (2)</vt:lpstr>
      <vt:lpstr>Hopfield Network Example (3)</vt:lpstr>
      <vt:lpstr>Hopfield Network Example (4)</vt:lpstr>
      <vt:lpstr>Hopfield Network Example (5)</vt:lpstr>
      <vt:lpstr>Hopfield Network Example (6)</vt:lpstr>
      <vt:lpstr>Associative Retrieval = Search</vt:lpstr>
      <vt:lpstr>Storage Capacity of Hopfield Networks</vt:lpstr>
      <vt:lpstr>Hopfield Nets in the Brain??</vt:lpstr>
      <vt:lpstr>Things to Remember</vt:lpstr>
      <vt:lpstr>Deep Learning</vt:lpstr>
      <vt:lpstr>Deep Learning</vt:lpstr>
      <vt:lpstr>Deep Learning</vt:lpstr>
      <vt:lpstr>Deep Learning</vt:lpstr>
      <vt:lpstr>Deep-Learning is Typically –</vt:lpstr>
      <vt:lpstr>Why? –  Achieved State of the Art in a Number of Different Areas</vt:lpstr>
      <vt:lpstr>Application Areas</vt:lpstr>
      <vt:lpstr>Deep vs Shallow Networks</vt:lpstr>
      <vt:lpstr>Deep Network</vt:lpstr>
      <vt:lpstr>Traditional Supervised Machine Learning Approach</vt:lpstr>
      <vt:lpstr>Unsupervised Training</vt:lpstr>
      <vt:lpstr>Unsupervised Feature Learning</vt:lpstr>
      <vt:lpstr>Unsupervised Learning - Distributed Representations</vt:lpstr>
      <vt:lpstr>Local Representation</vt:lpstr>
      <vt:lpstr>Distributed Representation</vt:lpstr>
      <vt:lpstr>Hierarchical Representations</vt:lpstr>
      <vt:lpstr>Hierarchical Representations</vt:lpstr>
      <vt:lpstr>PowerPoint Presentation</vt:lpstr>
      <vt:lpstr>Deep learning  attracts lots of attention.</vt:lpstr>
      <vt:lpstr>Three questions:  Model Cost Train </vt:lpstr>
      <vt:lpstr>Example Application</vt:lpstr>
      <vt:lpstr>Handwriting Digit Recognition</vt:lpstr>
      <vt:lpstr>Example Application</vt:lpstr>
      <vt:lpstr>Element of Neural Network </vt:lpstr>
      <vt:lpstr>Neural Network</vt:lpstr>
      <vt:lpstr>Example of Neural Network </vt:lpstr>
      <vt:lpstr>Example of Neural Network </vt:lpstr>
      <vt:lpstr>Example of Neural Network </vt:lpstr>
      <vt:lpstr>Matrix Operation</vt:lpstr>
      <vt:lpstr>Neural Network </vt:lpstr>
      <vt:lpstr>Neural Network </vt:lpstr>
      <vt:lpstr>Softmax</vt:lpstr>
      <vt:lpstr>Softmax</vt:lpstr>
      <vt:lpstr>How to set network parameters</vt:lpstr>
      <vt:lpstr>Training Data</vt:lpstr>
      <vt:lpstr>Cost</vt:lpstr>
      <vt:lpstr>Total Cost</vt:lpstr>
      <vt:lpstr>Gradient Descent</vt:lpstr>
      <vt:lpstr>Gradient Descent</vt:lpstr>
      <vt:lpstr>Local Minima</vt:lpstr>
      <vt:lpstr>Besides local minima ……</vt:lpstr>
      <vt:lpstr>In physical world ……</vt:lpstr>
      <vt:lpstr>Momentum</vt:lpstr>
      <vt:lpstr>Mini-batch</vt:lpstr>
      <vt:lpstr>Mini-batch</vt:lpstr>
      <vt:lpstr>Mini-batch</vt:lpstr>
      <vt:lpstr>Backpropagation</vt:lpstr>
      <vt:lpstr>Part II: Why Deep?</vt:lpstr>
      <vt:lpstr>Deeper is Better?</vt:lpstr>
      <vt:lpstr>Universality Theorem</vt:lpstr>
      <vt:lpstr>Fat + Short v.s. Thin + Tall</vt:lpstr>
      <vt:lpstr>Fat + Short v.s. Thin + Tall</vt:lpstr>
      <vt:lpstr>Why Deep?</vt:lpstr>
      <vt:lpstr>Why Deep?</vt:lpstr>
      <vt:lpstr>PowerPoint Presentation</vt:lpstr>
      <vt:lpstr>Part III: Tips for Training DNN</vt:lpstr>
      <vt:lpstr>Recipe for Learning</vt:lpstr>
      <vt:lpstr>Recipe for Learning</vt:lpstr>
      <vt:lpstr>Recipe for Learning</vt:lpstr>
      <vt:lpstr>Part III: Tips for Training DNN</vt:lpstr>
      <vt:lpstr>ReLU</vt:lpstr>
      <vt:lpstr>Vanishing Gradient Problem</vt:lpstr>
      <vt:lpstr>Vanishing Gradient Problem</vt:lpstr>
      <vt:lpstr>ReLU</vt:lpstr>
      <vt:lpstr>ReLU</vt:lpstr>
      <vt:lpstr>Maxout </vt:lpstr>
      <vt:lpstr>Maxout </vt:lpstr>
      <vt:lpstr>Part III: Tips for Training DNN</vt:lpstr>
      <vt:lpstr>Learning Rate</vt:lpstr>
      <vt:lpstr>Learning Rate</vt:lpstr>
      <vt:lpstr>Adagrad</vt:lpstr>
      <vt:lpstr>Adagrad</vt:lpstr>
      <vt:lpstr>PowerPoint Presentation</vt:lpstr>
      <vt:lpstr>Not the whole story ……</vt:lpstr>
      <vt:lpstr>Part III: Tips for Training DNN</vt:lpstr>
      <vt:lpstr>Dropout</vt:lpstr>
      <vt:lpstr>Dropout</vt:lpstr>
      <vt:lpstr>Dropout</vt:lpstr>
      <vt:lpstr>Dropout - Intuitive Reason</vt:lpstr>
      <vt:lpstr>Dropout - Intuitive Reason</vt:lpstr>
      <vt:lpstr>Dropout is a kind of ensemble.</vt:lpstr>
      <vt:lpstr>Dropout is a kind of ensemble.</vt:lpstr>
      <vt:lpstr>Dropout is a kind of ensemble.</vt:lpstr>
      <vt:lpstr>Dropout is a kind of ensemble.</vt:lpstr>
      <vt:lpstr>More about dropout</vt:lpstr>
      <vt:lpstr>Part IV: Neural Network  with Memory</vt:lpstr>
      <vt:lpstr>Neural Network needs Memory</vt:lpstr>
      <vt:lpstr>Neural Network needs Memory</vt:lpstr>
      <vt:lpstr>Recurrent Neural Network (RNN)</vt:lpstr>
      <vt:lpstr>RNN</vt:lpstr>
      <vt:lpstr>RNN</vt:lpstr>
      <vt:lpstr>Of course it can be deep …</vt:lpstr>
      <vt:lpstr>Bidirectional RNN</vt:lpstr>
      <vt:lpstr>Matrix Operation</vt:lpstr>
      <vt:lpstr>Disadvantages of Deep Learning</vt:lpstr>
      <vt:lpstr>Useful Deep Learning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Tutorial</dc:title>
  <dc:creator>Lee Hung-yi</dc:creator>
  <cp:lastModifiedBy>royi itzhak</cp:lastModifiedBy>
  <cp:revision>362</cp:revision>
  <dcterms:created xsi:type="dcterms:W3CDTF">2015-11-25T01:31:24Z</dcterms:created>
  <dcterms:modified xsi:type="dcterms:W3CDTF">2016-05-01T23:49:16Z</dcterms:modified>
</cp:coreProperties>
</file>